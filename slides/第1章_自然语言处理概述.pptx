
<file path=[Content_Types].xml><?xml version="1.0" encoding="utf-8"?>
<Types xmlns="http://schemas.openxmlformats.org/package/2006/content-types">
  <Default Extension="xml" ContentType="application/xml"/>
  <Default Extension="jpeg" ContentType="image/jpeg"/>
  <Default Extension="JPG" ContentType="image/.jpg"/>
  <Default Extension="png" ContentType="image/png"/>
  <Default Extension="emf" ContentType="image/x-emf"/>
  <Default Extension="tiff" ContentType="image/tiff"/>
  <Default Extension="rels" ContentType="application/vnd.openxmlformats-package.relationships+xml"/>
  <Override PartName="/customXml/itemProps3.xml" ContentType="application/vnd.openxmlformats-officedocument.customXmlProperties+xml"/>
  <Override PartName="/docProps/app.xml" ContentType="application/vnd.openxmlformats-officedocument.extended-properties+xml"/>
  <Override PartName="/docProps/core.xml" ContentType="application/vnd.openxmlformats-package.core-properties+xml"/>
  <Override PartName="/docProps/custom.xml" ContentType="application/vnd.openxmlformats-officedocument.custom-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ppt/notesSlides/notesSlide32.xml" ContentType="application/vnd.openxmlformats-officedocument.presentationml.notesSlide+xml"/>
  <Override PartName="/ppt/notesSlides/notesSlide33.xml" ContentType="application/vnd.openxmlformats-officedocument.presentationml.notesSlide+xml"/>
  <Override PartName="/ppt/notesSlides/notesSlide34.xml" ContentType="application/vnd.openxmlformats-officedocument.presentationml.notesSlide+xml"/>
  <Override PartName="/ppt/notesSlides/notesSlide35.xml" ContentType="application/vnd.openxmlformats-officedocument.presentationml.notesSlide+xml"/>
  <Override PartName="/ppt/notesSlides/notesSlide36.xml" ContentType="application/vnd.openxmlformats-officedocument.presentationml.notesSlide+xml"/>
  <Override PartName="/ppt/notesSlides/notesSlide37.xml" ContentType="application/vnd.openxmlformats-officedocument.presentationml.notesSlide+xml"/>
  <Override PartName="/ppt/notesSlides/notesSlide38.xml" ContentType="application/vnd.openxmlformats-officedocument.presentationml.notesSlide+xml"/>
  <Override PartName="/ppt/notesSlides/notesSlide39.xml" ContentType="application/vnd.openxmlformats-officedocument.presentationml.notesSlide+xml"/>
  <Override PartName="/ppt/notesSlides/notesSlide4.xml" ContentType="application/vnd.openxmlformats-officedocument.presentationml.notesSlide+xml"/>
  <Override PartName="/ppt/notesSlides/notesSlide40.xml" ContentType="application/vnd.openxmlformats-officedocument.presentationml.notesSlide+xml"/>
  <Override PartName="/ppt/notesSlides/notesSlide41.xml" ContentType="application/vnd.openxmlformats-officedocument.presentationml.notesSlide+xml"/>
  <Override PartName="/ppt/notesSlides/notesSlide42.xml" ContentType="application/vnd.openxmlformats-officedocument.presentationml.notesSlide+xml"/>
  <Override PartName="/ppt/notesSlides/notesSlide43.xml" ContentType="application/vnd.openxmlformats-officedocument.presentationml.notesSlide+xml"/>
  <Override PartName="/ppt/notesSlides/notesSlide44.xml" ContentType="application/vnd.openxmlformats-officedocument.presentationml.notesSlide+xml"/>
  <Override PartName="/ppt/notesSlides/notesSlide45.xml" ContentType="application/vnd.openxmlformats-officedocument.presentationml.notesSlide+xml"/>
  <Override PartName="/ppt/notesSlides/notesSlide46.xml" ContentType="application/vnd.openxmlformats-officedocument.presentationml.notesSlide+xml"/>
  <Override PartName="/ppt/notesSlides/notesSlide47.xml" ContentType="application/vnd.openxmlformats-officedocument.presentationml.notesSlide+xml"/>
  <Override PartName="/ppt/notesSlides/notesSlide48.xml" ContentType="application/vnd.openxmlformats-officedocument.presentationml.notesSlide+xml"/>
  <Override PartName="/ppt/notesSlides/notesSlide49.xml" ContentType="application/vnd.openxmlformats-officedocument.presentationml.notesSlide+xml"/>
  <Override PartName="/ppt/notesSlides/notesSlide5.xml" ContentType="application/vnd.openxmlformats-officedocument.presentationml.notesSlide+xml"/>
  <Override PartName="/ppt/notesSlides/notesSlide50.xml" ContentType="application/vnd.openxmlformats-officedocument.presentationml.notesSlide+xml"/>
  <Override PartName="/ppt/notesSlides/notesSlide51.xml" ContentType="application/vnd.openxmlformats-officedocument.presentationml.notesSlide+xml"/>
  <Override PartName="/ppt/notesSlides/notesSlide52.xml" ContentType="application/vnd.openxmlformats-officedocument.presentationml.notesSlide+xml"/>
  <Override PartName="/ppt/notesSlides/notesSlide53.xml" ContentType="application/vnd.openxmlformats-officedocument.presentationml.notesSlide+xml"/>
  <Override PartName="/ppt/notesSlides/notesSlide54.xml" ContentType="application/vnd.openxmlformats-officedocument.presentationml.notesSlide+xml"/>
  <Override PartName="/ppt/notesSlides/notesSlide55.xml" ContentType="application/vnd.openxmlformats-officedocument.presentationml.notesSlide+xml"/>
  <Override PartName="/ppt/notesSlides/notesSlide56.xml" ContentType="application/vnd.openxmlformats-officedocument.presentationml.notesSlide+xml"/>
  <Override PartName="/ppt/notesSlides/notesSlide57.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00.xml" ContentType="application/vnd.openxmlformats-officedocument.presentationml.slide+xml"/>
  <Override PartName="/ppt/slides/slide101.xml" ContentType="application/vnd.openxmlformats-officedocument.presentationml.slide+xml"/>
  <Override PartName="/ppt/slides/slide102.xml" ContentType="application/vnd.openxmlformats-officedocument.presentationml.slide+xml"/>
  <Override PartName="/ppt/slides/slide103.xml" ContentType="application/vnd.openxmlformats-officedocument.presentationml.slide+xml"/>
  <Override PartName="/ppt/slides/slide104.xml" ContentType="application/vnd.openxmlformats-officedocument.presentationml.slide+xml"/>
  <Override PartName="/ppt/slides/slide105.xml" ContentType="application/vnd.openxmlformats-officedocument.presentationml.slide+xml"/>
  <Override PartName="/ppt/slides/slide106.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xml" ContentType="application/vnd.openxmlformats-officedocument.presentationml.slide+xml"/>
  <Override PartName="/ppt/slides/slide50.xml" ContentType="application/vnd.openxmlformats-officedocument.presentationml.slide+xml"/>
  <Override PartName="/ppt/slides/slide51.xml" ContentType="application/vnd.openxmlformats-officedocument.presentationml.slide+xml"/>
  <Override PartName="/ppt/slides/slide52.xml" ContentType="application/vnd.openxmlformats-officedocument.presentationml.slide+xml"/>
  <Override PartName="/ppt/slides/slide53.xml" ContentType="application/vnd.openxmlformats-officedocument.presentationml.slide+xml"/>
  <Override PartName="/ppt/slides/slide54.xml" ContentType="application/vnd.openxmlformats-officedocument.presentationml.slide+xml"/>
  <Override PartName="/ppt/slides/slide55.xml" ContentType="application/vnd.openxmlformats-officedocument.presentationml.slide+xml"/>
  <Override PartName="/ppt/slides/slide56.xml" ContentType="application/vnd.openxmlformats-officedocument.presentationml.slide+xml"/>
  <Override PartName="/ppt/slides/slide57.xml" ContentType="application/vnd.openxmlformats-officedocument.presentationml.slide+xml"/>
  <Override PartName="/ppt/slides/slide58.xml" ContentType="application/vnd.openxmlformats-officedocument.presentationml.slide+xml"/>
  <Override PartName="/ppt/slides/slide59.xml" ContentType="application/vnd.openxmlformats-officedocument.presentationml.slide+xml"/>
  <Override PartName="/ppt/slides/slide6.xml" ContentType="application/vnd.openxmlformats-officedocument.presentationml.slide+xml"/>
  <Override PartName="/ppt/slides/slide60.xml" ContentType="application/vnd.openxmlformats-officedocument.presentationml.slide+xml"/>
  <Override PartName="/ppt/slides/slide61.xml" ContentType="application/vnd.openxmlformats-officedocument.presentationml.slide+xml"/>
  <Override PartName="/ppt/slides/slide62.xml" ContentType="application/vnd.openxmlformats-officedocument.presentationml.slide+xml"/>
  <Override PartName="/ppt/slides/slide63.xml" ContentType="application/vnd.openxmlformats-officedocument.presentationml.slide+xml"/>
  <Override PartName="/ppt/slides/slide64.xml" ContentType="application/vnd.openxmlformats-officedocument.presentationml.slide+xml"/>
  <Override PartName="/ppt/slides/slide65.xml" ContentType="application/vnd.openxmlformats-officedocument.presentationml.slide+xml"/>
  <Override PartName="/ppt/slides/slide66.xml" ContentType="application/vnd.openxmlformats-officedocument.presentationml.slide+xml"/>
  <Override PartName="/ppt/slides/slide67.xml" ContentType="application/vnd.openxmlformats-officedocument.presentationml.slide+xml"/>
  <Override PartName="/ppt/slides/slide68.xml" ContentType="application/vnd.openxmlformats-officedocument.presentationml.slide+xml"/>
  <Override PartName="/ppt/slides/slide69.xml" ContentType="application/vnd.openxmlformats-officedocument.presentationml.slide+xml"/>
  <Override PartName="/ppt/slides/slide7.xml" ContentType="application/vnd.openxmlformats-officedocument.presentationml.slide+xml"/>
  <Override PartName="/ppt/slides/slide70.xml" ContentType="application/vnd.openxmlformats-officedocument.presentationml.slide+xml"/>
  <Override PartName="/ppt/slides/slide71.xml" ContentType="application/vnd.openxmlformats-officedocument.presentationml.slide+xml"/>
  <Override PartName="/ppt/slides/slide72.xml" ContentType="application/vnd.openxmlformats-officedocument.presentationml.slide+xml"/>
  <Override PartName="/ppt/slides/slide73.xml" ContentType="application/vnd.openxmlformats-officedocument.presentationml.slide+xml"/>
  <Override PartName="/ppt/slides/slide74.xml" ContentType="application/vnd.openxmlformats-officedocument.presentationml.slide+xml"/>
  <Override PartName="/ppt/slides/slide75.xml" ContentType="application/vnd.openxmlformats-officedocument.presentationml.slide+xml"/>
  <Override PartName="/ppt/slides/slide76.xml" ContentType="application/vnd.openxmlformats-officedocument.presentationml.slide+xml"/>
  <Override PartName="/ppt/slides/slide77.xml" ContentType="application/vnd.openxmlformats-officedocument.presentationml.slide+xml"/>
  <Override PartName="/ppt/slides/slide78.xml" ContentType="application/vnd.openxmlformats-officedocument.presentationml.slide+xml"/>
  <Override PartName="/ppt/slides/slide79.xml" ContentType="application/vnd.openxmlformats-officedocument.presentationml.slide+xml"/>
  <Override PartName="/ppt/slides/slide8.xml" ContentType="application/vnd.openxmlformats-officedocument.presentationml.slide+xml"/>
  <Override PartName="/ppt/slides/slide80.xml" ContentType="application/vnd.openxmlformats-officedocument.presentationml.slide+xml"/>
  <Override PartName="/ppt/slides/slide81.xml" ContentType="application/vnd.openxmlformats-officedocument.presentationml.slide+xml"/>
  <Override PartName="/ppt/slides/slide82.xml" ContentType="application/vnd.openxmlformats-officedocument.presentationml.slide+xml"/>
  <Override PartName="/ppt/slides/slide83.xml" ContentType="application/vnd.openxmlformats-officedocument.presentationml.slide+xml"/>
  <Override PartName="/ppt/slides/slide84.xml" ContentType="application/vnd.openxmlformats-officedocument.presentationml.slide+xml"/>
  <Override PartName="/ppt/slides/slide85.xml" ContentType="application/vnd.openxmlformats-officedocument.presentationml.slide+xml"/>
  <Override PartName="/ppt/slides/slide86.xml" ContentType="application/vnd.openxmlformats-officedocument.presentationml.slide+xml"/>
  <Override PartName="/ppt/slides/slide87.xml" ContentType="application/vnd.openxmlformats-officedocument.presentationml.slide+xml"/>
  <Override PartName="/ppt/slides/slide88.xml" ContentType="application/vnd.openxmlformats-officedocument.presentationml.slide+xml"/>
  <Override PartName="/ppt/slides/slide89.xml" ContentType="application/vnd.openxmlformats-officedocument.presentationml.slide+xml"/>
  <Override PartName="/ppt/slides/slide9.xml" ContentType="application/vnd.openxmlformats-officedocument.presentationml.slide+xml"/>
  <Override PartName="/ppt/slides/slide90.xml" ContentType="application/vnd.openxmlformats-officedocument.presentationml.slide+xml"/>
  <Override PartName="/ppt/slides/slide91.xml" ContentType="application/vnd.openxmlformats-officedocument.presentationml.slide+xml"/>
  <Override PartName="/ppt/slides/slide92.xml" ContentType="application/vnd.openxmlformats-officedocument.presentationml.slide+xml"/>
  <Override PartName="/ppt/slides/slide93.xml" ContentType="application/vnd.openxmlformats-officedocument.presentationml.slide+xml"/>
  <Override PartName="/ppt/slides/slide94.xml" ContentType="application/vnd.openxmlformats-officedocument.presentationml.slide+xml"/>
  <Override PartName="/ppt/slides/slide95.xml" ContentType="application/vnd.openxmlformats-officedocument.presentationml.slide+xml"/>
  <Override PartName="/ppt/slides/slide96.xml" ContentType="application/vnd.openxmlformats-officedocument.presentationml.slide+xml"/>
  <Override PartName="/ppt/slides/slide97.xml" ContentType="application/vnd.openxmlformats-officedocument.presentationml.slide+xml"/>
  <Override PartName="/ppt/slides/slide98.xml" ContentType="application/vnd.openxmlformats-officedocument.presentationml.slide+xml"/>
  <Override PartName="/ppt/slides/slide99.xml" ContentType="application/vnd.openxmlformats-officedocument.presentationml.slide+xml"/>
  <Override PartName="/ppt/tableStyles.xml" ContentType="application/vnd.openxmlformats-officedocument.presentationml.tableStyles+xml"/>
  <Override PartName="/ppt/tags/tag1.xml" ContentType="application/vnd.openxmlformats-officedocument.presentationml.tags+xml"/>
  <Override PartName="/ppt/tags/tag2.xml" ContentType="application/vnd.openxmlformats-officedocument.presentationml.tags+xml"/>
  <Override PartName="/ppt/tags/tag4.xml" ContentType="application/vnd.openxmlformats-officedocument.presentationml.tag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4" Type="http://schemas.openxmlformats.org/package/2006/relationships/metadata/thumbnail" Target="docProps/thumbnail.jpeg"/><Relationship Id="rId3" Type="http://schemas.openxmlformats.org/package/2006/relationships/metadata/core-properties" Target="docProps/core.xml"/><Relationship Id="rId2" Type="http://schemas.openxmlformats.org/officeDocument/2006/relationships/extended-properties" Target="docProps/app.xml"/><Relationship Id="rId5"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showSpecialPlsOnTitleSld="0">
  <p:sldMasterIdLst>
    <p:sldMasterId id="2147483648" r:id="rId1"/>
  </p:sldMasterIdLst>
  <p:notesMasterIdLst>
    <p:notesMasterId r:id="rId4"/>
  </p:notesMasterIdLst>
  <p:sldIdLst>
    <p:sldId id="257" r:id="rId3"/>
    <p:sldId id="258" r:id="rId5"/>
    <p:sldId id="343" r:id="rId6"/>
    <p:sldId id="453" r:id="rId7"/>
    <p:sldId id="410" r:id="rId8"/>
    <p:sldId id="411" r:id="rId9"/>
    <p:sldId id="301" r:id="rId10"/>
    <p:sldId id="266" r:id="rId11"/>
    <p:sldId id="412" r:id="rId12"/>
    <p:sldId id="447" r:id="rId13"/>
    <p:sldId id="304" r:id="rId14"/>
    <p:sldId id="305" r:id="rId15"/>
    <p:sldId id="415" r:id="rId16"/>
    <p:sldId id="344" r:id="rId17"/>
    <p:sldId id="357" r:id="rId18"/>
    <p:sldId id="416" r:id="rId19"/>
    <p:sldId id="370" r:id="rId20"/>
    <p:sldId id="460" r:id="rId21"/>
    <p:sldId id="371" r:id="rId22"/>
    <p:sldId id="430" r:id="rId23"/>
    <p:sldId id="431" r:id="rId24"/>
    <p:sldId id="432" r:id="rId25"/>
    <p:sldId id="434" r:id="rId26"/>
    <p:sldId id="372" r:id="rId27"/>
    <p:sldId id="418" r:id="rId28"/>
    <p:sldId id="373" r:id="rId29"/>
    <p:sldId id="420" r:id="rId30"/>
    <p:sldId id="454" r:id="rId31"/>
    <p:sldId id="363" r:id="rId32"/>
    <p:sldId id="419" r:id="rId33"/>
    <p:sldId id="327" r:id="rId34"/>
    <p:sldId id="445" r:id="rId35"/>
    <p:sldId id="328" r:id="rId36"/>
    <p:sldId id="378" r:id="rId37"/>
    <p:sldId id="377" r:id="rId38"/>
    <p:sldId id="421" r:id="rId39"/>
    <p:sldId id="380" r:id="rId40"/>
    <p:sldId id="379" r:id="rId41"/>
    <p:sldId id="381" r:id="rId42"/>
    <p:sldId id="433" r:id="rId43"/>
    <p:sldId id="382" r:id="rId44"/>
    <p:sldId id="383" r:id="rId45"/>
    <p:sldId id="435" r:id="rId46"/>
    <p:sldId id="422" r:id="rId47"/>
    <p:sldId id="384" r:id="rId48"/>
    <p:sldId id="386" r:id="rId49"/>
    <p:sldId id="385" r:id="rId50"/>
    <p:sldId id="387" r:id="rId51"/>
    <p:sldId id="346" r:id="rId52"/>
    <p:sldId id="391" r:id="rId53"/>
    <p:sldId id="436" r:id="rId54"/>
    <p:sldId id="455" r:id="rId55"/>
    <p:sldId id="393" r:id="rId56"/>
    <p:sldId id="446" r:id="rId57"/>
    <p:sldId id="394" r:id="rId58"/>
    <p:sldId id="395" r:id="rId59"/>
    <p:sldId id="392" r:id="rId60"/>
    <p:sldId id="396" r:id="rId61"/>
    <p:sldId id="397" r:id="rId62"/>
    <p:sldId id="437" r:id="rId63"/>
    <p:sldId id="398" r:id="rId64"/>
    <p:sldId id="399" r:id="rId65"/>
    <p:sldId id="456" r:id="rId66"/>
    <p:sldId id="400" r:id="rId67"/>
    <p:sldId id="401" r:id="rId68"/>
    <p:sldId id="440" r:id="rId69"/>
    <p:sldId id="443" r:id="rId70"/>
    <p:sldId id="402" r:id="rId71"/>
    <p:sldId id="403" r:id="rId72"/>
    <p:sldId id="404" r:id="rId73"/>
    <p:sldId id="405" r:id="rId74"/>
    <p:sldId id="406" r:id="rId75"/>
    <p:sldId id="441" r:id="rId76"/>
    <p:sldId id="442" r:id="rId77"/>
    <p:sldId id="407" r:id="rId78"/>
    <p:sldId id="390" r:id="rId79"/>
    <p:sldId id="375" r:id="rId80"/>
    <p:sldId id="427" r:id="rId81"/>
    <p:sldId id="276" r:id="rId82"/>
    <p:sldId id="457" r:id="rId83"/>
    <p:sldId id="444" r:id="rId84"/>
    <p:sldId id="307" r:id="rId85"/>
    <p:sldId id="278" r:id="rId86"/>
    <p:sldId id="425" r:id="rId87"/>
    <p:sldId id="426" r:id="rId88"/>
    <p:sldId id="428" r:id="rId89"/>
    <p:sldId id="462" r:id="rId90"/>
    <p:sldId id="464" r:id="rId91"/>
    <p:sldId id="463" r:id="rId92"/>
    <p:sldId id="347" r:id="rId93"/>
    <p:sldId id="260" r:id="rId94"/>
    <p:sldId id="438" r:id="rId95"/>
    <p:sldId id="461" r:id="rId96"/>
    <p:sldId id="439" r:id="rId97"/>
    <p:sldId id="319" r:id="rId98"/>
    <p:sldId id="458" r:id="rId99"/>
    <p:sldId id="348" r:id="rId100"/>
    <p:sldId id="349" r:id="rId101"/>
    <p:sldId id="350" r:id="rId102"/>
    <p:sldId id="351" r:id="rId103"/>
    <p:sldId id="352" r:id="rId104"/>
    <p:sldId id="429" r:id="rId105"/>
    <p:sldId id="451" r:id="rId106"/>
    <p:sldId id="452" r:id="rId107"/>
    <p:sldId id="450" r:id="rId108"/>
    <p:sldId id="340" r:id="rId109"/>
  </p:sldIdLst>
  <p:sldSz cx="9144000" cy="5143500" type="screen16x9"/>
  <p:notesSz cx="6858000" cy="9144000"/>
  <p:custDataLst>
    <p:tags r:id="rId115"/>
  </p:custDataLst>
  <p:defaultTextStyle>
    <a:defPPr>
      <a:defRPr lang="zh-CN"/>
    </a:defPPr>
    <a:lvl1pPr algn="l" rtl="0" fontAlgn="base">
      <a:spcBef>
        <a:spcPct val="0"/>
      </a:spcBef>
      <a:spcAft>
        <a:spcPct val="0"/>
      </a:spcAft>
      <a:defRPr b="1" kern="1200">
        <a:solidFill>
          <a:schemeClr val="tx1"/>
        </a:solidFill>
        <a:latin typeface="Arial" panose="020B0604020202090204" pitchFamily="34" charset="0"/>
        <a:ea typeface="宋体" pitchFamily="2" charset="-122"/>
        <a:cs typeface="+mn-cs"/>
      </a:defRPr>
    </a:lvl1pPr>
    <a:lvl2pPr marL="457200" algn="l" rtl="0" fontAlgn="base">
      <a:spcBef>
        <a:spcPct val="0"/>
      </a:spcBef>
      <a:spcAft>
        <a:spcPct val="0"/>
      </a:spcAft>
      <a:defRPr b="1" kern="1200">
        <a:solidFill>
          <a:schemeClr val="tx1"/>
        </a:solidFill>
        <a:latin typeface="Arial" panose="020B0604020202090204" pitchFamily="34" charset="0"/>
        <a:ea typeface="宋体" pitchFamily="2" charset="-122"/>
        <a:cs typeface="+mn-cs"/>
      </a:defRPr>
    </a:lvl2pPr>
    <a:lvl3pPr marL="914400" algn="l" rtl="0" fontAlgn="base">
      <a:spcBef>
        <a:spcPct val="0"/>
      </a:spcBef>
      <a:spcAft>
        <a:spcPct val="0"/>
      </a:spcAft>
      <a:defRPr b="1" kern="1200">
        <a:solidFill>
          <a:schemeClr val="tx1"/>
        </a:solidFill>
        <a:latin typeface="Arial" panose="020B0604020202090204" pitchFamily="34" charset="0"/>
        <a:ea typeface="宋体" pitchFamily="2" charset="-122"/>
        <a:cs typeface="+mn-cs"/>
      </a:defRPr>
    </a:lvl3pPr>
    <a:lvl4pPr marL="1371600" algn="l" rtl="0" fontAlgn="base">
      <a:spcBef>
        <a:spcPct val="0"/>
      </a:spcBef>
      <a:spcAft>
        <a:spcPct val="0"/>
      </a:spcAft>
      <a:defRPr b="1" kern="1200">
        <a:solidFill>
          <a:schemeClr val="tx1"/>
        </a:solidFill>
        <a:latin typeface="Arial" panose="020B0604020202090204" pitchFamily="34" charset="0"/>
        <a:ea typeface="宋体" pitchFamily="2" charset="-122"/>
        <a:cs typeface="+mn-cs"/>
      </a:defRPr>
    </a:lvl4pPr>
    <a:lvl5pPr marL="1828800" algn="l" rtl="0" fontAlgn="base">
      <a:spcBef>
        <a:spcPct val="0"/>
      </a:spcBef>
      <a:spcAft>
        <a:spcPct val="0"/>
      </a:spcAft>
      <a:defRPr b="1" kern="1200">
        <a:solidFill>
          <a:schemeClr val="tx1"/>
        </a:solidFill>
        <a:latin typeface="Arial" panose="020B0604020202090204" pitchFamily="34" charset="0"/>
        <a:ea typeface="宋体" pitchFamily="2" charset="-122"/>
        <a:cs typeface="+mn-cs"/>
      </a:defRPr>
    </a:lvl5pPr>
    <a:lvl6pPr marL="2286000" algn="l" defTabSz="914400" rtl="0" eaLnBrk="1" latinLnBrk="0" hangingPunct="1">
      <a:defRPr b="1" kern="1200">
        <a:solidFill>
          <a:schemeClr val="tx1"/>
        </a:solidFill>
        <a:latin typeface="Arial" panose="020B0604020202090204" pitchFamily="34" charset="0"/>
        <a:ea typeface="宋体" pitchFamily="2" charset="-122"/>
        <a:cs typeface="+mn-cs"/>
      </a:defRPr>
    </a:lvl6pPr>
    <a:lvl7pPr marL="2743200" algn="l" defTabSz="914400" rtl="0" eaLnBrk="1" latinLnBrk="0" hangingPunct="1">
      <a:defRPr b="1" kern="1200">
        <a:solidFill>
          <a:schemeClr val="tx1"/>
        </a:solidFill>
        <a:latin typeface="Arial" panose="020B0604020202090204" pitchFamily="34" charset="0"/>
        <a:ea typeface="宋体" pitchFamily="2" charset="-122"/>
        <a:cs typeface="+mn-cs"/>
      </a:defRPr>
    </a:lvl7pPr>
    <a:lvl8pPr marL="3200400" algn="l" defTabSz="914400" rtl="0" eaLnBrk="1" latinLnBrk="0" hangingPunct="1">
      <a:defRPr b="1" kern="1200">
        <a:solidFill>
          <a:schemeClr val="tx1"/>
        </a:solidFill>
        <a:latin typeface="Arial" panose="020B0604020202090204" pitchFamily="34" charset="0"/>
        <a:ea typeface="宋体" pitchFamily="2" charset="-122"/>
        <a:cs typeface="+mn-cs"/>
      </a:defRPr>
    </a:lvl8pPr>
    <a:lvl9pPr marL="3657600" algn="l" defTabSz="914400" rtl="0" eaLnBrk="1" latinLnBrk="0" hangingPunct="1">
      <a:defRPr b="1" kern="1200">
        <a:solidFill>
          <a:schemeClr val="tx1"/>
        </a:solidFill>
        <a:latin typeface="Arial" panose="020B0604020202090204" pitchFamily="34" charset="0"/>
        <a:ea typeface="宋体" pitchFamily="2" charset="-122"/>
        <a:cs typeface="+mn-cs"/>
      </a:defRPr>
    </a:lvl9pPr>
  </p:defaultTextStyle>
  <p:extLst>
    <p:ext uri="{EFAFB233-063F-42B5-8137-9DF3F51BA10A}">
      <p15:sldGuideLst xmlns:p15="http://schemas.microsoft.com/office/powerpoint/2012/main">
        <p15:guide id="1" orient="horz" pos="1620" userDrawn="1">
          <p15:clr>
            <a:srgbClr val="A4A3A4"/>
          </p15:clr>
        </p15:guide>
        <p15:guide id="2" pos="2871" userDrawn="1">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clrMru>
    <a:srgbClr val="3333FF"/>
    <a:srgbClr val="0000FF"/>
    <a:srgbClr val="008000"/>
    <a:srgbClr val="004C41"/>
    <a:srgbClr val="CECCCC"/>
    <a:srgbClr val="009900"/>
    <a:srgbClr val="00382E"/>
    <a:srgbClr val="8CC345"/>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2367" autoAdjust="0"/>
    <p:restoredTop sz="96311" autoAdjust="0"/>
  </p:normalViewPr>
  <p:slideViewPr>
    <p:cSldViewPr snapToGrid="0" showGuides="1">
      <p:cViewPr varScale="1">
        <p:scale>
          <a:sx n="117" d="100"/>
          <a:sy n="117" d="100"/>
        </p:scale>
        <p:origin x="68" y="444"/>
      </p:cViewPr>
      <p:guideLst>
        <p:guide orient="horz" pos="1620"/>
        <p:guide pos="2871"/>
      </p:guideLst>
    </p:cSldViewPr>
  </p:slideViewPr>
  <p:notesTextViewPr>
    <p:cViewPr>
      <p:scale>
        <a:sx n="1" d="1"/>
        <a:sy n="1" d="1"/>
      </p:scale>
      <p:origin x="0" y="0"/>
    </p:cViewPr>
  </p:notesTextViewPr>
  <p:sorterViewPr>
    <p:cViewPr>
      <p:scale>
        <a:sx n="186" d="100"/>
        <a:sy n="186" d="100"/>
      </p:scale>
      <p:origin x="0" y="0"/>
    </p:cViewPr>
  </p:sorterViewPr>
  <p:notesViewPr>
    <p:cSldViewPr snapToGrid="0">
      <p:cViewPr varScale="1">
        <p:scale>
          <a:sx n="83" d="100"/>
          <a:sy n="83" d="100"/>
        </p:scale>
        <p:origin x="3212" y="48"/>
      </p:cViewPr>
      <p:guideLst/>
    </p:cSldViewPr>
  </p:notesViewPr>
  <p:gridSpacing cx="72008" cy="72008"/>
</p:viewPr>
</file>

<file path=ppt/_rels/presentation.xml.rels><?xml version="1.0" encoding="UTF-8" standalone="yes"?>
<Relationships xmlns="http://schemas.openxmlformats.org/package/2006/relationships"><Relationship Id="rId99" Type="http://schemas.openxmlformats.org/officeDocument/2006/relationships/slide" Target="slides/slide96.xml"/><Relationship Id="rId98" Type="http://schemas.openxmlformats.org/officeDocument/2006/relationships/slide" Target="slides/slide95.xml"/><Relationship Id="rId97" Type="http://schemas.openxmlformats.org/officeDocument/2006/relationships/slide" Target="slides/slide94.xml"/><Relationship Id="rId96" Type="http://schemas.openxmlformats.org/officeDocument/2006/relationships/slide" Target="slides/slide93.xml"/><Relationship Id="rId95" Type="http://schemas.openxmlformats.org/officeDocument/2006/relationships/slide" Target="slides/slide92.xml"/><Relationship Id="rId94" Type="http://schemas.openxmlformats.org/officeDocument/2006/relationships/slide" Target="slides/slide91.xml"/><Relationship Id="rId93" Type="http://schemas.openxmlformats.org/officeDocument/2006/relationships/slide" Target="slides/slide90.xml"/><Relationship Id="rId92" Type="http://schemas.openxmlformats.org/officeDocument/2006/relationships/slide" Target="slides/slide89.xml"/><Relationship Id="rId91" Type="http://schemas.openxmlformats.org/officeDocument/2006/relationships/slide" Target="slides/slide88.xml"/><Relationship Id="rId90" Type="http://schemas.openxmlformats.org/officeDocument/2006/relationships/slide" Target="slides/slide87.xml"/><Relationship Id="rId9" Type="http://schemas.openxmlformats.org/officeDocument/2006/relationships/slide" Target="slides/slide6.xml"/><Relationship Id="rId89" Type="http://schemas.openxmlformats.org/officeDocument/2006/relationships/slide" Target="slides/slide86.xml"/><Relationship Id="rId88" Type="http://schemas.openxmlformats.org/officeDocument/2006/relationships/slide" Target="slides/slide85.xml"/><Relationship Id="rId87" Type="http://schemas.openxmlformats.org/officeDocument/2006/relationships/slide" Target="slides/slide84.xml"/><Relationship Id="rId86" Type="http://schemas.openxmlformats.org/officeDocument/2006/relationships/slide" Target="slides/slide83.xml"/><Relationship Id="rId85" Type="http://schemas.openxmlformats.org/officeDocument/2006/relationships/slide" Target="slides/slide82.xml"/><Relationship Id="rId84" Type="http://schemas.openxmlformats.org/officeDocument/2006/relationships/slide" Target="slides/slide81.xml"/><Relationship Id="rId83" Type="http://schemas.openxmlformats.org/officeDocument/2006/relationships/slide" Target="slides/slide80.xml"/><Relationship Id="rId82" Type="http://schemas.openxmlformats.org/officeDocument/2006/relationships/slide" Target="slides/slide79.xml"/><Relationship Id="rId81" Type="http://schemas.openxmlformats.org/officeDocument/2006/relationships/slide" Target="slides/slide78.xml"/><Relationship Id="rId80" Type="http://schemas.openxmlformats.org/officeDocument/2006/relationships/slide" Target="slides/slide77.xml"/><Relationship Id="rId8" Type="http://schemas.openxmlformats.org/officeDocument/2006/relationships/slide" Target="slides/slide5.xml"/><Relationship Id="rId79" Type="http://schemas.openxmlformats.org/officeDocument/2006/relationships/slide" Target="slides/slide76.xml"/><Relationship Id="rId78" Type="http://schemas.openxmlformats.org/officeDocument/2006/relationships/slide" Target="slides/slide75.xml"/><Relationship Id="rId77" Type="http://schemas.openxmlformats.org/officeDocument/2006/relationships/slide" Target="slides/slide74.xml"/><Relationship Id="rId76" Type="http://schemas.openxmlformats.org/officeDocument/2006/relationships/slide" Target="slides/slide73.xml"/><Relationship Id="rId75" Type="http://schemas.openxmlformats.org/officeDocument/2006/relationships/slide" Target="slides/slide72.xml"/><Relationship Id="rId74" Type="http://schemas.openxmlformats.org/officeDocument/2006/relationships/slide" Target="slides/slide71.xml"/><Relationship Id="rId73" Type="http://schemas.openxmlformats.org/officeDocument/2006/relationships/slide" Target="slides/slide70.xml"/><Relationship Id="rId72" Type="http://schemas.openxmlformats.org/officeDocument/2006/relationships/slide" Target="slides/slide69.xml"/><Relationship Id="rId71" Type="http://schemas.openxmlformats.org/officeDocument/2006/relationships/slide" Target="slides/slide68.xml"/><Relationship Id="rId70" Type="http://schemas.openxmlformats.org/officeDocument/2006/relationships/slide" Target="slides/slide67.xml"/><Relationship Id="rId7" Type="http://schemas.openxmlformats.org/officeDocument/2006/relationships/slide" Target="slides/slide4.xml"/><Relationship Id="rId69" Type="http://schemas.openxmlformats.org/officeDocument/2006/relationships/slide" Target="slides/slide66.xml"/><Relationship Id="rId68" Type="http://schemas.openxmlformats.org/officeDocument/2006/relationships/slide" Target="slides/slide65.xml"/><Relationship Id="rId67" Type="http://schemas.openxmlformats.org/officeDocument/2006/relationships/slide" Target="slides/slide64.xml"/><Relationship Id="rId66" Type="http://schemas.openxmlformats.org/officeDocument/2006/relationships/slide" Target="slides/slide63.xml"/><Relationship Id="rId65" Type="http://schemas.openxmlformats.org/officeDocument/2006/relationships/slide" Target="slides/slide62.xml"/><Relationship Id="rId64" Type="http://schemas.openxmlformats.org/officeDocument/2006/relationships/slide" Target="slides/slide61.xml"/><Relationship Id="rId63" Type="http://schemas.openxmlformats.org/officeDocument/2006/relationships/slide" Target="slides/slide60.xml"/><Relationship Id="rId62" Type="http://schemas.openxmlformats.org/officeDocument/2006/relationships/slide" Target="slides/slide59.xml"/><Relationship Id="rId61" Type="http://schemas.openxmlformats.org/officeDocument/2006/relationships/slide" Target="slides/slide58.xml"/><Relationship Id="rId60" Type="http://schemas.openxmlformats.org/officeDocument/2006/relationships/slide" Target="slides/slide57.xml"/><Relationship Id="rId6" Type="http://schemas.openxmlformats.org/officeDocument/2006/relationships/slide" Target="slides/slide3.xml"/><Relationship Id="rId59" Type="http://schemas.openxmlformats.org/officeDocument/2006/relationships/slide" Target="slides/slide56.xml"/><Relationship Id="rId58" Type="http://schemas.openxmlformats.org/officeDocument/2006/relationships/slide" Target="slides/slide55.xml"/><Relationship Id="rId57" Type="http://schemas.openxmlformats.org/officeDocument/2006/relationships/slide" Target="slides/slide54.xml"/><Relationship Id="rId56" Type="http://schemas.openxmlformats.org/officeDocument/2006/relationships/slide" Target="slides/slide53.xml"/><Relationship Id="rId55" Type="http://schemas.openxmlformats.org/officeDocument/2006/relationships/slide" Target="slides/slide52.xml"/><Relationship Id="rId54" Type="http://schemas.openxmlformats.org/officeDocument/2006/relationships/slide" Target="slides/slide51.xml"/><Relationship Id="rId53" Type="http://schemas.openxmlformats.org/officeDocument/2006/relationships/slide" Target="slides/slide50.xml"/><Relationship Id="rId52" Type="http://schemas.openxmlformats.org/officeDocument/2006/relationships/slide" Target="slides/slide49.xml"/><Relationship Id="rId51" Type="http://schemas.openxmlformats.org/officeDocument/2006/relationships/slide" Target="slides/slide48.xml"/><Relationship Id="rId50" Type="http://schemas.openxmlformats.org/officeDocument/2006/relationships/slide" Target="slides/slide47.xml"/><Relationship Id="rId5" Type="http://schemas.openxmlformats.org/officeDocument/2006/relationships/slide" Target="slides/slide2.xml"/><Relationship Id="rId49" Type="http://schemas.openxmlformats.org/officeDocument/2006/relationships/slide" Target="slides/slide46.xml"/><Relationship Id="rId48" Type="http://schemas.openxmlformats.org/officeDocument/2006/relationships/slide" Target="slides/slide45.xml"/><Relationship Id="rId47" Type="http://schemas.openxmlformats.org/officeDocument/2006/relationships/slide" Target="slides/slide44.xml"/><Relationship Id="rId46" Type="http://schemas.openxmlformats.org/officeDocument/2006/relationships/slide" Target="slides/slide43.xml"/><Relationship Id="rId45" Type="http://schemas.openxmlformats.org/officeDocument/2006/relationships/slide" Target="slides/slide42.xml"/><Relationship Id="rId44" Type="http://schemas.openxmlformats.org/officeDocument/2006/relationships/slide" Target="slides/slide41.xml"/><Relationship Id="rId43" Type="http://schemas.openxmlformats.org/officeDocument/2006/relationships/slide" Target="slides/slide40.xml"/><Relationship Id="rId42" Type="http://schemas.openxmlformats.org/officeDocument/2006/relationships/slide" Target="slides/slide39.xml"/><Relationship Id="rId41" Type="http://schemas.openxmlformats.org/officeDocument/2006/relationships/slide" Target="slides/slide38.xml"/><Relationship Id="rId40" Type="http://schemas.openxmlformats.org/officeDocument/2006/relationships/slide" Target="slides/slide37.xml"/><Relationship Id="rId4" Type="http://schemas.openxmlformats.org/officeDocument/2006/relationships/notesMaster" Target="notesMasters/notesMaster1.xml"/><Relationship Id="rId39" Type="http://schemas.openxmlformats.org/officeDocument/2006/relationships/slide" Target="slides/slide36.xml"/><Relationship Id="rId38" Type="http://schemas.openxmlformats.org/officeDocument/2006/relationships/slide" Target="slides/slide35.xml"/><Relationship Id="rId37" Type="http://schemas.openxmlformats.org/officeDocument/2006/relationships/slide" Target="slides/slide34.xml"/><Relationship Id="rId36" Type="http://schemas.openxmlformats.org/officeDocument/2006/relationships/slide" Target="slides/slide33.xml"/><Relationship Id="rId35" Type="http://schemas.openxmlformats.org/officeDocument/2006/relationships/slide" Target="slides/slide32.xml"/><Relationship Id="rId34" Type="http://schemas.openxmlformats.org/officeDocument/2006/relationships/slide" Target="slides/slide31.xml"/><Relationship Id="rId33" Type="http://schemas.openxmlformats.org/officeDocument/2006/relationships/slide" Target="slides/slide30.xml"/><Relationship Id="rId32" Type="http://schemas.openxmlformats.org/officeDocument/2006/relationships/slide" Target="slides/slide29.xml"/><Relationship Id="rId31" Type="http://schemas.openxmlformats.org/officeDocument/2006/relationships/slide" Target="slides/slide28.xml"/><Relationship Id="rId30" Type="http://schemas.openxmlformats.org/officeDocument/2006/relationships/slide" Target="slides/slide27.xml"/><Relationship Id="rId3" Type="http://schemas.openxmlformats.org/officeDocument/2006/relationships/slide" Target="slides/slide1.xml"/><Relationship Id="rId29" Type="http://schemas.openxmlformats.org/officeDocument/2006/relationships/slide" Target="slides/slide26.xml"/><Relationship Id="rId28" Type="http://schemas.openxmlformats.org/officeDocument/2006/relationships/slide" Target="slides/slide25.xml"/><Relationship Id="rId27" Type="http://schemas.openxmlformats.org/officeDocument/2006/relationships/slide" Target="slides/slide24.xml"/><Relationship Id="rId26" Type="http://schemas.openxmlformats.org/officeDocument/2006/relationships/slide" Target="slides/slide23.xml"/><Relationship Id="rId25" Type="http://schemas.openxmlformats.org/officeDocument/2006/relationships/slide" Target="slides/slide22.xml"/><Relationship Id="rId24" Type="http://schemas.openxmlformats.org/officeDocument/2006/relationships/slide" Target="slides/slide21.xml"/><Relationship Id="rId23" Type="http://schemas.openxmlformats.org/officeDocument/2006/relationships/slide" Target="slides/slide20.xml"/><Relationship Id="rId22" Type="http://schemas.openxmlformats.org/officeDocument/2006/relationships/slide" Target="slides/slide19.xml"/><Relationship Id="rId21" Type="http://schemas.openxmlformats.org/officeDocument/2006/relationships/slide" Target="slides/slide18.xml"/><Relationship Id="rId20" Type="http://schemas.openxmlformats.org/officeDocument/2006/relationships/slide" Target="slides/slide17.xml"/><Relationship Id="rId2" Type="http://schemas.openxmlformats.org/officeDocument/2006/relationships/theme" Target="theme/theme1.xml"/><Relationship Id="rId19" Type="http://schemas.openxmlformats.org/officeDocument/2006/relationships/slide" Target="slides/slide16.xml"/><Relationship Id="rId18" Type="http://schemas.openxmlformats.org/officeDocument/2006/relationships/slide" Target="slides/slide15.xml"/><Relationship Id="rId17" Type="http://schemas.openxmlformats.org/officeDocument/2006/relationships/slide" Target="slides/slide14.xml"/><Relationship Id="rId16" Type="http://schemas.openxmlformats.org/officeDocument/2006/relationships/slide" Target="slides/slide13.xml"/><Relationship Id="rId15" Type="http://schemas.openxmlformats.org/officeDocument/2006/relationships/slide" Target="slides/slide12.xml"/><Relationship Id="rId14" Type="http://schemas.openxmlformats.org/officeDocument/2006/relationships/slide" Target="slides/slide11.xml"/><Relationship Id="rId13" Type="http://schemas.openxmlformats.org/officeDocument/2006/relationships/slide" Target="slides/slide10.xml"/><Relationship Id="rId12" Type="http://schemas.openxmlformats.org/officeDocument/2006/relationships/slide" Target="slides/slide9.xml"/><Relationship Id="rId115" Type="http://schemas.openxmlformats.org/officeDocument/2006/relationships/tags" Target="tags/tag4.xml"/><Relationship Id="rId114" Type="http://schemas.openxmlformats.org/officeDocument/2006/relationships/customXml" Target="../customXml/item1.xml"/><Relationship Id="rId113" Type="http://schemas.openxmlformats.org/officeDocument/2006/relationships/customXmlProps" Target="../customXml/itemProps3.xml"/><Relationship Id="rId112" Type="http://schemas.openxmlformats.org/officeDocument/2006/relationships/tableStyles" Target="tableStyles.xml"/><Relationship Id="rId111" Type="http://schemas.openxmlformats.org/officeDocument/2006/relationships/viewProps" Target="viewProps.xml"/><Relationship Id="rId110" Type="http://schemas.openxmlformats.org/officeDocument/2006/relationships/presProps" Target="presProps.xml"/><Relationship Id="rId11" Type="http://schemas.openxmlformats.org/officeDocument/2006/relationships/slide" Target="slides/slide8.xml"/><Relationship Id="rId109" Type="http://schemas.openxmlformats.org/officeDocument/2006/relationships/slide" Target="slides/slide106.xml"/><Relationship Id="rId108" Type="http://schemas.openxmlformats.org/officeDocument/2006/relationships/slide" Target="slides/slide105.xml"/><Relationship Id="rId107" Type="http://schemas.openxmlformats.org/officeDocument/2006/relationships/slide" Target="slides/slide104.xml"/><Relationship Id="rId106" Type="http://schemas.openxmlformats.org/officeDocument/2006/relationships/slide" Target="slides/slide103.xml"/><Relationship Id="rId105" Type="http://schemas.openxmlformats.org/officeDocument/2006/relationships/slide" Target="slides/slide102.xml"/><Relationship Id="rId104" Type="http://schemas.openxmlformats.org/officeDocument/2006/relationships/slide" Target="slides/slide101.xml"/><Relationship Id="rId103" Type="http://schemas.openxmlformats.org/officeDocument/2006/relationships/slide" Target="slides/slide100.xml"/><Relationship Id="rId102" Type="http://schemas.openxmlformats.org/officeDocument/2006/relationships/slide" Target="slides/slide99.xml"/><Relationship Id="rId101" Type="http://schemas.openxmlformats.org/officeDocument/2006/relationships/slide" Target="slides/slide98.xml"/><Relationship Id="rId100" Type="http://schemas.openxmlformats.org/officeDocument/2006/relationships/slide" Target="slides/slide97.xml"/><Relationship Id="rId10" Type="http://schemas.openxmlformats.org/officeDocument/2006/relationships/slide" Target="slides/slide7.xml"/><Relationship Id="rId1" Type="http://schemas.openxmlformats.org/officeDocument/2006/relationships/slideMaster" Target="slideMasters/slideMaster1.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页眉占位符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zh-CN" altLang="en-US"/>
          </a:p>
        </p:txBody>
      </p:sp>
      <p:sp>
        <p:nvSpPr>
          <p:cNvPr id="3" name="日期占位符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0F21E4B3-EC4C-453A-9EA7-43FCD1B5DA28}" type="datetimeFigureOut">
              <a:rPr lang="zh-CN" altLang="en-US" smtClean="0"/>
            </a:fld>
            <a:endParaRPr lang="zh-CN" altLang="en-US"/>
          </a:p>
        </p:txBody>
      </p:sp>
      <p:sp>
        <p:nvSpPr>
          <p:cNvPr id="4" name="幻灯片图像占位符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zh-CN" altLang="en-US"/>
          </a:p>
        </p:txBody>
      </p:sp>
      <p:sp>
        <p:nvSpPr>
          <p:cNvPr id="5" name="备注占位符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zh-CN" altLang="en-US"/>
              <a:t>编辑母版文本样式</a:t>
            </a:r>
            <a:endParaRPr lang="zh-CN" altLang="en-US"/>
          </a:p>
          <a:p>
            <a:pPr lvl="1"/>
            <a:r>
              <a:rPr lang="zh-CN" altLang="en-US"/>
              <a:t>第二级</a:t>
            </a:r>
            <a:endParaRPr lang="zh-CN" altLang="en-US"/>
          </a:p>
          <a:p>
            <a:pPr lvl="2"/>
            <a:r>
              <a:rPr lang="zh-CN" altLang="en-US"/>
              <a:t>第三级</a:t>
            </a:r>
            <a:endParaRPr lang="zh-CN" altLang="en-US"/>
          </a:p>
          <a:p>
            <a:pPr lvl="3"/>
            <a:r>
              <a:rPr lang="zh-CN" altLang="en-US"/>
              <a:t>第四级</a:t>
            </a:r>
            <a:endParaRPr lang="zh-CN" altLang="en-US"/>
          </a:p>
          <a:p>
            <a:pPr lvl="4"/>
            <a:r>
              <a:rPr lang="zh-CN" altLang="en-US"/>
              <a:t>第五级</a:t>
            </a:r>
            <a:endParaRPr lang="zh-CN" altLang="en-US"/>
          </a:p>
        </p:txBody>
      </p:sp>
      <p:sp>
        <p:nvSpPr>
          <p:cNvPr id="6" name="页脚占位符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zh-CN" altLang="en-US"/>
          </a:p>
        </p:txBody>
      </p:sp>
      <p:sp>
        <p:nvSpPr>
          <p:cNvPr id="7" name="灯片编号占位符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B12A2F4-AB12-47ED-9A6B-E61F9EF43DC8}" type="slidenum">
              <a:rPr lang="zh-CN" altLang="en-US" smtClean="0"/>
            </a:fld>
            <a:endParaRPr lang="zh-CN" altLang="en-US"/>
          </a:p>
        </p:txBody>
      </p:sp>
    </p:spTree>
  </p:cSld>
  <p:clrMap bg1="lt1" tx1="dk1" bg2="lt2" tx2="dk2" accent1="accent1" accent2="accent2" accent3="accent3" accent4="accent4" accent5="accent5" accent6="accent6" hlink="hlink" folHlink="folHlink"/>
  <p:notesStyle>
    <a:lvl1pPr marL="0" algn="l" defTabSz="685800" rtl="0" eaLnBrk="1" latinLnBrk="0" hangingPunct="1">
      <a:defRPr sz="900" kern="1200">
        <a:solidFill>
          <a:schemeClr val="tx1"/>
        </a:solidFill>
        <a:latin typeface="+mn-lt"/>
        <a:ea typeface="+mn-ea"/>
        <a:cs typeface="+mn-cs"/>
      </a:defRPr>
    </a:lvl1pPr>
    <a:lvl2pPr marL="342900" algn="l" defTabSz="685800" rtl="0" eaLnBrk="1" latinLnBrk="0" hangingPunct="1">
      <a:defRPr sz="900" kern="1200">
        <a:solidFill>
          <a:schemeClr val="tx1"/>
        </a:solidFill>
        <a:latin typeface="+mn-lt"/>
        <a:ea typeface="+mn-ea"/>
        <a:cs typeface="+mn-cs"/>
      </a:defRPr>
    </a:lvl2pPr>
    <a:lvl3pPr marL="685800" algn="l" defTabSz="685800" rtl="0" eaLnBrk="1" latinLnBrk="0" hangingPunct="1">
      <a:defRPr sz="900" kern="1200">
        <a:solidFill>
          <a:schemeClr val="tx1"/>
        </a:solidFill>
        <a:latin typeface="+mn-lt"/>
        <a:ea typeface="+mn-ea"/>
        <a:cs typeface="+mn-cs"/>
      </a:defRPr>
    </a:lvl3pPr>
    <a:lvl4pPr marL="1028700" algn="l" defTabSz="685800" rtl="0" eaLnBrk="1" latinLnBrk="0" hangingPunct="1">
      <a:defRPr sz="900" kern="1200">
        <a:solidFill>
          <a:schemeClr val="tx1"/>
        </a:solidFill>
        <a:latin typeface="+mn-lt"/>
        <a:ea typeface="+mn-ea"/>
        <a:cs typeface="+mn-cs"/>
      </a:defRPr>
    </a:lvl4pPr>
    <a:lvl5pPr marL="1371600" algn="l" defTabSz="685800" rtl="0" eaLnBrk="1" latinLnBrk="0" hangingPunct="1">
      <a:defRPr sz="900" kern="1200">
        <a:solidFill>
          <a:schemeClr val="tx1"/>
        </a:solidFill>
        <a:latin typeface="+mn-lt"/>
        <a:ea typeface="+mn-ea"/>
        <a:cs typeface="+mn-cs"/>
      </a:defRPr>
    </a:lvl5pPr>
    <a:lvl6pPr marL="1714500" algn="l" defTabSz="685800" rtl="0" eaLnBrk="1" latinLnBrk="0" hangingPunct="1">
      <a:defRPr sz="900" kern="1200">
        <a:solidFill>
          <a:schemeClr val="tx1"/>
        </a:solidFill>
        <a:latin typeface="+mn-lt"/>
        <a:ea typeface="+mn-ea"/>
        <a:cs typeface="+mn-cs"/>
      </a:defRPr>
    </a:lvl6pPr>
    <a:lvl7pPr marL="2057400" algn="l" defTabSz="685800" rtl="0" eaLnBrk="1" latinLnBrk="0" hangingPunct="1">
      <a:defRPr sz="900" kern="1200">
        <a:solidFill>
          <a:schemeClr val="tx1"/>
        </a:solidFill>
        <a:latin typeface="+mn-lt"/>
        <a:ea typeface="+mn-ea"/>
        <a:cs typeface="+mn-cs"/>
      </a:defRPr>
    </a:lvl7pPr>
    <a:lvl8pPr marL="2400300" algn="l" defTabSz="685800" rtl="0" eaLnBrk="1" latinLnBrk="0" hangingPunct="1">
      <a:defRPr sz="900" kern="1200">
        <a:solidFill>
          <a:schemeClr val="tx1"/>
        </a:solidFill>
        <a:latin typeface="+mn-lt"/>
        <a:ea typeface="+mn-ea"/>
        <a:cs typeface="+mn-cs"/>
      </a:defRPr>
    </a:lvl8pPr>
    <a:lvl9pPr marL="2743200" algn="l" defTabSz="685800" rtl="0" eaLnBrk="1" latinLnBrk="0" hangingPunct="1">
      <a:defRPr sz="9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7.xml"/></Relationships>
</file>

<file path=ppt/notesSlides/_rels/notesSlide5.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8.xml"/></Relationships>
</file>

<file path=ppt/notesSlides/_rels/notesSlide6.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4.xml"/></Relationships>
</file>

<file path=ppt/notesSlides/_rels/notesSlide7.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5.xml"/></Relationships>
</file>

<file path=ppt/notesSlides/_rels/notesSlide8.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7.xml"/></Relationships>
</file>

<file path=ppt/notesSlides/_rels/notesSlide9.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8.xml"/></Relationships>
</file>

<file path=ppt/notesSlides/_rels/notesSlide10.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9.xml"/></Relationships>
</file>

<file path=ppt/notesSlides/_rels/notesSlide11.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24.xml"/></Relationships>
</file>

<file path=ppt/notesSlides/_rels/notesSlide12.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26.xml"/></Relationships>
</file>

<file path=ppt/notesSlides/_rels/notesSlide13.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34.xml"/></Relationships>
</file>

<file path=ppt/notesSlides/_rels/notesSlide14.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35.xml"/></Relationships>
</file>

<file path=ppt/notesSlides/_rels/notesSlide15.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37.xml"/></Relationships>
</file>

<file path=ppt/notesSlides/_rels/notesSlide16.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38.xml"/></Relationships>
</file>

<file path=ppt/notesSlides/_rels/notesSlide17.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39.xml"/></Relationships>
</file>

<file path=ppt/notesSlides/_rels/notesSlide18.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41.xml"/></Relationships>
</file>

<file path=ppt/notesSlides/_rels/notesSlide19.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42.xml"/></Relationships>
</file>

<file path=ppt/notesSlides/_rels/notesSlide20.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45.xml"/></Relationships>
</file>

<file path=ppt/notesSlides/_rels/notesSlide21.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46.xml"/></Relationships>
</file>

<file path=ppt/notesSlides/_rels/notesSlide22.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47.xml"/></Relationships>
</file>

<file path=ppt/notesSlides/_rels/notesSlide23.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48.xml"/></Relationships>
</file>

<file path=ppt/notesSlides/_rels/notesSlide24.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49.xml"/></Relationships>
</file>

<file path=ppt/notesSlides/_rels/notesSlide25.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50.xml"/></Relationships>
</file>

<file path=ppt/notesSlides/_rels/notesSlide26.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53.xml"/></Relationships>
</file>

<file path=ppt/notesSlides/_rels/notesSlide27.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54.xml"/></Relationships>
</file>

<file path=ppt/notesSlides/_rels/notesSlide28.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55.xml"/></Relationships>
</file>

<file path=ppt/notesSlides/_rels/notesSlide29.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56.xml"/></Relationships>
</file>

<file path=ppt/notesSlides/_rels/notesSlide30.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57.xml"/></Relationships>
</file>

<file path=ppt/notesSlides/_rels/notesSlide31.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58.xml"/></Relationships>
</file>

<file path=ppt/notesSlides/_rels/notesSlide32.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59.xml"/></Relationships>
</file>

<file path=ppt/notesSlides/_rels/notesSlide33.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61.xml"/></Relationships>
</file>

<file path=ppt/notesSlides/_rels/notesSlide34.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62.xml"/></Relationships>
</file>

<file path=ppt/notesSlides/_rels/notesSlide35.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63.xml"/></Relationships>
</file>

<file path=ppt/notesSlides/_rels/notesSlide36.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64.xml"/></Relationships>
</file>

<file path=ppt/notesSlides/_rels/notesSlide37.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65.xml"/></Relationships>
</file>

<file path=ppt/notesSlides/_rels/notesSlide38.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68.xml"/></Relationships>
</file>

<file path=ppt/notesSlides/_rels/notesSlide39.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69.xml"/></Relationships>
</file>

<file path=ppt/notesSlides/_rels/notesSlide40.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70.xml"/></Relationships>
</file>

<file path=ppt/notesSlides/_rels/notesSlide41.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71.xml"/></Relationships>
</file>

<file path=ppt/notesSlides/_rels/notesSlide42.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72.xml"/></Relationships>
</file>

<file path=ppt/notesSlides/_rels/notesSlide43.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75.xml"/></Relationships>
</file>

<file path=ppt/notesSlides/_rels/notesSlide44.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76.xml"/></Relationships>
</file>

<file path=ppt/notesSlides/_rels/notesSlide45.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77.xml"/></Relationships>
</file>

<file path=ppt/notesSlides/_rels/notesSlide46.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79.xml"/></Relationships>
</file>

<file path=ppt/notesSlides/_rels/notesSlide47.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82.xml"/></Relationships>
</file>

<file path=ppt/notesSlides/_rels/notesSlide48.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83.xml"/></Relationships>
</file>

<file path=ppt/notesSlides/_rels/notesSlide49.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90.xml"/></Relationships>
</file>

<file path=ppt/notesSlides/_rels/notesSlide50.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91.xml"/></Relationships>
</file>

<file path=ppt/notesSlides/_rels/notesSlide51.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95.xml"/></Relationships>
</file>

<file path=ppt/notesSlides/_rels/notesSlide52.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97.xml"/></Relationships>
</file>

<file path=ppt/notesSlides/_rels/notesSlide53.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98.xml"/></Relationships>
</file>

<file path=ppt/notesSlides/_rels/notesSlide54.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99.xml"/></Relationships>
</file>

<file path=ppt/notesSlides/_rels/notesSlide55.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00.xml"/></Relationships>
</file>

<file path=ppt/notesSlides/_rels/notesSlide56.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01.xml"/></Relationships>
</file>

<file path=ppt/notesSlides/_rels/notesSlide57.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06.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a:xfrm>
            <a:off x="685800" y="1143000"/>
            <a:ext cx="5486400" cy="3086100"/>
          </a:xfrm>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10"/>
          </p:nvPr>
        </p:nvSpPr>
        <p:spPr/>
        <p:txBody>
          <a:bodyPr/>
          <a:lstStyle/>
          <a:p>
            <a:fld id="{DA6B9D0F-9225-4952-8434-38C29095FB54}" type="slidenum">
              <a:rPr lang="zh-CN" altLang="en-US" smtClean="0"/>
            </a:fld>
            <a:endParaRPr lang="zh-CN" altLang="en-US"/>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a:xfrm>
            <a:off x="685800" y="1143000"/>
            <a:ext cx="5486400" cy="3086100"/>
          </a:xfrm>
        </p:spPr>
      </p:sp>
      <p:sp>
        <p:nvSpPr>
          <p:cNvPr id="3" name="备注占位符 2"/>
          <p:cNvSpPr>
            <a:spLocks noGrp="1"/>
          </p:cNvSpPr>
          <p:nvPr>
            <p:ph type="body" idx="1"/>
          </p:nvPr>
        </p:nvSpPr>
        <p:spPr/>
        <p:txBody>
          <a:bodyPr/>
          <a:lstStyle/>
          <a:p>
            <a:endParaRPr lang="zh-CN" altLang="en-US"/>
          </a:p>
        </p:txBody>
      </p:sp>
      <p:sp>
        <p:nvSpPr>
          <p:cNvPr id="4" name="灯片编号占位符 3"/>
          <p:cNvSpPr>
            <a:spLocks noGrp="1"/>
          </p:cNvSpPr>
          <p:nvPr>
            <p:ph type="sldNum" sz="quarter" idx="10"/>
          </p:nvPr>
        </p:nvSpPr>
        <p:spPr/>
        <p:txBody>
          <a:bodyPr/>
          <a:lstStyle/>
          <a:p>
            <a:fld id="{DA6B9D0F-9225-4952-8434-38C29095FB54}" type="slidenum">
              <a:rPr lang="zh-CN" altLang="en-US" smtClean="0"/>
            </a:fld>
            <a:endParaRPr lang="zh-CN" altLang="en-US"/>
          </a:p>
        </p:txBody>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a:xfrm>
            <a:off x="685800" y="1143000"/>
            <a:ext cx="5486400" cy="3086100"/>
          </a:xfrm>
        </p:spPr>
      </p:sp>
      <p:sp>
        <p:nvSpPr>
          <p:cNvPr id="3" name="备注占位符 2"/>
          <p:cNvSpPr>
            <a:spLocks noGrp="1"/>
          </p:cNvSpPr>
          <p:nvPr>
            <p:ph type="body" idx="1"/>
          </p:nvPr>
        </p:nvSpPr>
        <p:spPr/>
        <p:txBody>
          <a:bodyPr/>
          <a:lstStyle/>
          <a:p>
            <a:endParaRPr lang="zh-CN" altLang="en-US"/>
          </a:p>
        </p:txBody>
      </p:sp>
      <p:sp>
        <p:nvSpPr>
          <p:cNvPr id="4" name="灯片编号占位符 3"/>
          <p:cNvSpPr>
            <a:spLocks noGrp="1"/>
          </p:cNvSpPr>
          <p:nvPr>
            <p:ph type="sldNum" sz="quarter" idx="10"/>
          </p:nvPr>
        </p:nvSpPr>
        <p:spPr/>
        <p:txBody>
          <a:bodyPr/>
          <a:lstStyle/>
          <a:p>
            <a:fld id="{DA6B9D0F-9225-4952-8434-38C29095FB54}" type="slidenum">
              <a:rPr lang="zh-CN" altLang="en-US" smtClean="0"/>
            </a:fld>
            <a:endParaRPr lang="zh-CN" altLang="en-US"/>
          </a:p>
        </p:txBody>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a:xfrm>
            <a:off x="685800" y="1143000"/>
            <a:ext cx="5486400" cy="3086100"/>
          </a:xfrm>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10"/>
          </p:nvPr>
        </p:nvSpPr>
        <p:spPr/>
        <p:txBody>
          <a:bodyPr/>
          <a:lstStyle/>
          <a:p>
            <a:fld id="{9E25CCD2-8AA5-4194-9AC7-958C19EB8E58}" type="slidenum">
              <a:rPr lang="zh-CN" altLang="en-US" smtClean="0"/>
            </a:fld>
            <a:endParaRPr lang="zh-CN" altLang="en-US"/>
          </a:p>
        </p:txBody>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a:xfrm>
            <a:off x="685800" y="1143000"/>
            <a:ext cx="5486400" cy="3086100"/>
          </a:xfrm>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10"/>
          </p:nvPr>
        </p:nvSpPr>
        <p:spPr/>
        <p:txBody>
          <a:bodyPr/>
          <a:lstStyle/>
          <a:p>
            <a:fld id="{9E25CCD2-8AA5-4194-9AC7-958C19EB8E58}" type="slidenum">
              <a:rPr lang="zh-CN" altLang="en-US" smtClean="0"/>
            </a:fld>
            <a:endParaRPr lang="zh-CN" altLang="en-US"/>
          </a:p>
        </p:txBody>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a:xfrm>
            <a:off x="685800" y="1143000"/>
            <a:ext cx="5486400" cy="3086100"/>
          </a:xfrm>
        </p:spPr>
      </p:sp>
      <p:sp>
        <p:nvSpPr>
          <p:cNvPr id="3" name="备注占位符 2"/>
          <p:cNvSpPr>
            <a:spLocks noGrp="1"/>
          </p:cNvSpPr>
          <p:nvPr>
            <p:ph type="body" idx="1"/>
          </p:nvPr>
        </p:nvSpPr>
        <p:spPr/>
        <p:txBody>
          <a:bodyPr/>
          <a:lstStyle/>
          <a:p>
            <a:endParaRPr lang="zh-CN" altLang="en-US"/>
          </a:p>
        </p:txBody>
      </p:sp>
      <p:sp>
        <p:nvSpPr>
          <p:cNvPr id="4" name="灯片编号占位符 3"/>
          <p:cNvSpPr>
            <a:spLocks noGrp="1"/>
          </p:cNvSpPr>
          <p:nvPr>
            <p:ph type="sldNum" sz="quarter" idx="10"/>
          </p:nvPr>
        </p:nvSpPr>
        <p:spPr/>
        <p:txBody>
          <a:bodyPr/>
          <a:lstStyle/>
          <a:p>
            <a:fld id="{DA6B9D0F-9225-4952-8434-38C29095FB54}" type="slidenum">
              <a:rPr lang="zh-CN" altLang="en-US" smtClean="0"/>
            </a:fld>
            <a:endParaRPr lang="zh-CN" altLang="en-US"/>
          </a:p>
        </p:txBody>
      </p:sp>
    </p:spTree>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a:xfrm>
            <a:off x="685800" y="1143000"/>
            <a:ext cx="5486400" cy="3086100"/>
          </a:xfrm>
        </p:spPr>
      </p:sp>
      <p:sp>
        <p:nvSpPr>
          <p:cNvPr id="3" name="备注占位符 2"/>
          <p:cNvSpPr>
            <a:spLocks noGrp="1"/>
          </p:cNvSpPr>
          <p:nvPr>
            <p:ph type="body" idx="1"/>
          </p:nvPr>
        </p:nvSpPr>
        <p:spPr/>
        <p:txBody>
          <a:bodyPr/>
          <a:lstStyle/>
          <a:p>
            <a:endParaRPr lang="zh-CN" altLang="en-US"/>
          </a:p>
        </p:txBody>
      </p:sp>
      <p:sp>
        <p:nvSpPr>
          <p:cNvPr id="4" name="灯片编号占位符 3"/>
          <p:cNvSpPr>
            <a:spLocks noGrp="1"/>
          </p:cNvSpPr>
          <p:nvPr>
            <p:ph type="sldNum" sz="quarter" idx="10"/>
          </p:nvPr>
        </p:nvSpPr>
        <p:spPr/>
        <p:txBody>
          <a:bodyPr/>
          <a:lstStyle/>
          <a:p>
            <a:fld id="{DA6B9D0F-9225-4952-8434-38C29095FB54}" type="slidenum">
              <a:rPr lang="zh-CN" altLang="en-US" smtClean="0"/>
            </a:fld>
            <a:endParaRPr lang="zh-CN" altLang="en-US"/>
          </a:p>
        </p:txBody>
      </p:sp>
    </p:spTree>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a:xfrm>
            <a:off x="685800" y="1143000"/>
            <a:ext cx="5486400" cy="3086100"/>
          </a:xfrm>
        </p:spPr>
      </p:sp>
      <p:sp>
        <p:nvSpPr>
          <p:cNvPr id="3" name="备注占位符 2"/>
          <p:cNvSpPr>
            <a:spLocks noGrp="1"/>
          </p:cNvSpPr>
          <p:nvPr>
            <p:ph type="body" idx="1"/>
          </p:nvPr>
        </p:nvSpPr>
        <p:spPr/>
        <p:txBody>
          <a:bodyPr/>
          <a:lstStyle/>
          <a:p>
            <a:endParaRPr lang="zh-CN" altLang="en-US"/>
          </a:p>
        </p:txBody>
      </p:sp>
      <p:sp>
        <p:nvSpPr>
          <p:cNvPr id="4" name="灯片编号占位符 3"/>
          <p:cNvSpPr>
            <a:spLocks noGrp="1"/>
          </p:cNvSpPr>
          <p:nvPr>
            <p:ph type="sldNum" sz="quarter" idx="10"/>
          </p:nvPr>
        </p:nvSpPr>
        <p:spPr/>
        <p:txBody>
          <a:bodyPr/>
          <a:lstStyle/>
          <a:p>
            <a:fld id="{DA6B9D0F-9225-4952-8434-38C29095FB54}" type="slidenum">
              <a:rPr lang="zh-CN" altLang="en-US" smtClean="0"/>
            </a:fld>
            <a:endParaRPr lang="zh-CN" altLang="en-US"/>
          </a:p>
        </p:txBody>
      </p:sp>
    </p:spTree>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a:xfrm>
            <a:off x="685800" y="1143000"/>
            <a:ext cx="5486400" cy="3086100"/>
          </a:xfrm>
        </p:spPr>
      </p:sp>
      <p:sp>
        <p:nvSpPr>
          <p:cNvPr id="3" name="备注占位符 2"/>
          <p:cNvSpPr>
            <a:spLocks noGrp="1"/>
          </p:cNvSpPr>
          <p:nvPr>
            <p:ph type="body" idx="1"/>
          </p:nvPr>
        </p:nvSpPr>
        <p:spPr/>
        <p:txBody>
          <a:bodyPr/>
          <a:lstStyle/>
          <a:p>
            <a:endParaRPr lang="zh-CN" altLang="en-US"/>
          </a:p>
        </p:txBody>
      </p:sp>
      <p:sp>
        <p:nvSpPr>
          <p:cNvPr id="4" name="灯片编号占位符 3"/>
          <p:cNvSpPr>
            <a:spLocks noGrp="1"/>
          </p:cNvSpPr>
          <p:nvPr>
            <p:ph type="sldNum" sz="quarter" idx="10"/>
          </p:nvPr>
        </p:nvSpPr>
        <p:spPr/>
        <p:txBody>
          <a:bodyPr/>
          <a:lstStyle/>
          <a:p>
            <a:fld id="{DA6B9D0F-9225-4952-8434-38C29095FB54}" type="slidenum">
              <a:rPr lang="zh-CN" altLang="en-US" smtClean="0"/>
            </a:fld>
            <a:endParaRPr lang="zh-CN" altLang="en-US"/>
          </a:p>
        </p:txBody>
      </p:sp>
    </p:spTree>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a:xfrm>
            <a:off x="685800" y="1143000"/>
            <a:ext cx="5486400" cy="3086100"/>
          </a:xfrm>
        </p:spPr>
      </p:sp>
      <p:sp>
        <p:nvSpPr>
          <p:cNvPr id="3" name="备注占位符 2"/>
          <p:cNvSpPr>
            <a:spLocks noGrp="1"/>
          </p:cNvSpPr>
          <p:nvPr>
            <p:ph type="body" idx="1"/>
          </p:nvPr>
        </p:nvSpPr>
        <p:spPr/>
        <p:txBody>
          <a:bodyPr/>
          <a:lstStyle/>
          <a:p>
            <a:endParaRPr lang="zh-CN" altLang="en-US"/>
          </a:p>
        </p:txBody>
      </p:sp>
      <p:sp>
        <p:nvSpPr>
          <p:cNvPr id="4" name="灯片编号占位符 3"/>
          <p:cNvSpPr>
            <a:spLocks noGrp="1"/>
          </p:cNvSpPr>
          <p:nvPr>
            <p:ph type="sldNum" sz="quarter" idx="10"/>
          </p:nvPr>
        </p:nvSpPr>
        <p:spPr/>
        <p:txBody>
          <a:bodyPr/>
          <a:lstStyle/>
          <a:p>
            <a:fld id="{DA6B9D0F-9225-4952-8434-38C29095FB54}" type="slidenum">
              <a:rPr lang="zh-CN" altLang="en-US" smtClean="0"/>
            </a:fld>
            <a:endParaRPr lang="zh-CN" altLang="en-US"/>
          </a:p>
        </p:txBody>
      </p:sp>
    </p:spTree>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a:xfrm>
            <a:off x="685800" y="1143000"/>
            <a:ext cx="5486400" cy="3086100"/>
          </a:xfrm>
        </p:spPr>
      </p:sp>
      <p:sp>
        <p:nvSpPr>
          <p:cNvPr id="3" name="备注占位符 2"/>
          <p:cNvSpPr>
            <a:spLocks noGrp="1"/>
          </p:cNvSpPr>
          <p:nvPr>
            <p:ph type="body" idx="1"/>
          </p:nvPr>
        </p:nvSpPr>
        <p:spPr/>
        <p:txBody>
          <a:bodyPr/>
          <a:lstStyle/>
          <a:p>
            <a:r>
              <a:rPr lang="zh-CN" altLang="en-US" dirty="0"/>
              <a:t>智能助手</a:t>
            </a:r>
            <a:r>
              <a:rPr lang="en-US" altLang="zh-CN" dirty="0" err="1"/>
              <a:t>siri</a:t>
            </a:r>
            <a:r>
              <a:rPr lang="zh-CN" altLang="en-US" dirty="0"/>
              <a:t> 小度，小爱同学，天猫精灵，客服机器人</a:t>
            </a:r>
            <a:endParaRPr lang="zh-CN" altLang="en-US" dirty="0"/>
          </a:p>
        </p:txBody>
      </p:sp>
      <p:sp>
        <p:nvSpPr>
          <p:cNvPr id="4" name="灯片编号占位符 3"/>
          <p:cNvSpPr>
            <a:spLocks noGrp="1"/>
          </p:cNvSpPr>
          <p:nvPr>
            <p:ph type="sldNum" sz="quarter" idx="10"/>
          </p:nvPr>
        </p:nvSpPr>
        <p:spPr/>
        <p:txBody>
          <a:bodyPr/>
          <a:lstStyle/>
          <a:p>
            <a:fld id="{DA6B9D0F-9225-4952-8434-38C29095FB54}" type="slidenum">
              <a:rPr lang="zh-CN" altLang="en-US" smtClean="0"/>
            </a:fld>
            <a:endParaRPr lang="zh-CN" altLang="en-US"/>
          </a:p>
        </p:txBody>
      </p:sp>
    </p:spTree>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a:xfrm>
            <a:off x="685800" y="1143000"/>
            <a:ext cx="5486400" cy="3086100"/>
          </a:xfrm>
        </p:spPr>
      </p:sp>
      <p:sp>
        <p:nvSpPr>
          <p:cNvPr id="3" name="备注占位符 2"/>
          <p:cNvSpPr>
            <a:spLocks noGrp="1"/>
          </p:cNvSpPr>
          <p:nvPr>
            <p:ph type="body" idx="1"/>
          </p:nvPr>
        </p:nvSpPr>
        <p:spPr/>
        <p:txBody>
          <a:bodyPr/>
          <a:lstStyle/>
          <a:p>
            <a:endParaRPr lang="zh-CN" altLang="en-US"/>
          </a:p>
        </p:txBody>
      </p:sp>
      <p:sp>
        <p:nvSpPr>
          <p:cNvPr id="4" name="灯片编号占位符 3"/>
          <p:cNvSpPr>
            <a:spLocks noGrp="1"/>
          </p:cNvSpPr>
          <p:nvPr>
            <p:ph type="sldNum" sz="quarter" idx="10"/>
          </p:nvPr>
        </p:nvSpPr>
        <p:spPr/>
        <p:txBody>
          <a:bodyPr/>
          <a:lstStyle/>
          <a:p>
            <a:fld id="{DA6B9D0F-9225-4952-8434-38C29095FB54}" type="slidenum">
              <a:rPr lang="zh-CN" altLang="en-US" smtClean="0"/>
            </a:fld>
            <a:endParaRPr lang="zh-CN" altLang="en-US"/>
          </a:p>
        </p:txBody>
      </p:sp>
    </p:spTree>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a:xfrm>
            <a:off x="685800" y="1143000"/>
            <a:ext cx="5486400" cy="3086100"/>
          </a:xfrm>
        </p:spPr>
      </p:sp>
      <p:sp>
        <p:nvSpPr>
          <p:cNvPr id="3" name="备注占位符 2"/>
          <p:cNvSpPr>
            <a:spLocks noGrp="1"/>
          </p:cNvSpPr>
          <p:nvPr>
            <p:ph type="body" idx="1"/>
          </p:nvPr>
        </p:nvSpPr>
        <p:spPr/>
        <p:txBody>
          <a:bodyPr/>
          <a:lstStyle/>
          <a:p>
            <a:endParaRPr lang="zh-CN" altLang="en-US"/>
          </a:p>
        </p:txBody>
      </p:sp>
      <p:sp>
        <p:nvSpPr>
          <p:cNvPr id="4" name="灯片编号占位符 3"/>
          <p:cNvSpPr>
            <a:spLocks noGrp="1"/>
          </p:cNvSpPr>
          <p:nvPr>
            <p:ph type="sldNum" sz="quarter" idx="10"/>
          </p:nvPr>
        </p:nvSpPr>
        <p:spPr/>
        <p:txBody>
          <a:bodyPr/>
          <a:lstStyle/>
          <a:p>
            <a:fld id="{DA6B9D0F-9225-4952-8434-38C29095FB54}" type="slidenum">
              <a:rPr lang="zh-CN" altLang="en-US" smtClean="0"/>
            </a:fld>
            <a:endParaRPr lang="zh-CN" altLang="en-US"/>
          </a:p>
        </p:txBody>
      </p:sp>
    </p:spTree>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a:xfrm>
            <a:off x="685800" y="1143000"/>
            <a:ext cx="5486400" cy="3086100"/>
          </a:xfrm>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10"/>
          </p:nvPr>
        </p:nvSpPr>
        <p:spPr/>
        <p:txBody>
          <a:bodyPr/>
          <a:lstStyle/>
          <a:p>
            <a:fld id="{DA6B9D0F-9225-4952-8434-38C29095FB54}" type="slidenum">
              <a:rPr lang="zh-CN" altLang="en-US" smtClean="0"/>
            </a:fld>
            <a:endParaRPr lang="zh-CN" altLang="en-US"/>
          </a:p>
        </p:txBody>
      </p:sp>
    </p:spTree>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a:xfrm>
            <a:off x="685800" y="1143000"/>
            <a:ext cx="5486400" cy="3086100"/>
          </a:xfrm>
        </p:spPr>
      </p:sp>
      <p:sp>
        <p:nvSpPr>
          <p:cNvPr id="3" name="备注占位符 2"/>
          <p:cNvSpPr>
            <a:spLocks noGrp="1"/>
          </p:cNvSpPr>
          <p:nvPr>
            <p:ph type="body" idx="1"/>
          </p:nvPr>
        </p:nvSpPr>
        <p:spPr/>
        <p:txBody>
          <a:bodyPr/>
          <a:lstStyle/>
          <a:p>
            <a:endParaRPr lang="zh-CN" altLang="en-US"/>
          </a:p>
        </p:txBody>
      </p:sp>
      <p:sp>
        <p:nvSpPr>
          <p:cNvPr id="4" name="灯片编号占位符 3"/>
          <p:cNvSpPr>
            <a:spLocks noGrp="1"/>
          </p:cNvSpPr>
          <p:nvPr>
            <p:ph type="sldNum" sz="quarter" idx="10"/>
          </p:nvPr>
        </p:nvSpPr>
        <p:spPr/>
        <p:txBody>
          <a:bodyPr/>
          <a:lstStyle/>
          <a:p>
            <a:fld id="{DA6B9D0F-9225-4952-8434-38C29095FB54}" type="slidenum">
              <a:rPr lang="zh-CN" altLang="en-US" smtClean="0"/>
            </a:fld>
            <a:endParaRPr lang="zh-CN" altLang="en-US"/>
          </a:p>
        </p:txBody>
      </p:sp>
    </p:spTree>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a:xfrm>
            <a:off x="685800" y="1143000"/>
            <a:ext cx="5486400" cy="3086100"/>
          </a:xfrm>
        </p:spPr>
      </p:sp>
      <p:sp>
        <p:nvSpPr>
          <p:cNvPr id="3" name="备注占位符 2"/>
          <p:cNvSpPr>
            <a:spLocks noGrp="1"/>
          </p:cNvSpPr>
          <p:nvPr>
            <p:ph type="body" idx="1"/>
          </p:nvPr>
        </p:nvSpPr>
        <p:spPr/>
        <p:txBody>
          <a:bodyPr/>
          <a:lstStyle/>
          <a:p>
            <a:pPr marL="0" marR="0" lvl="0" indent="0" algn="l" defTabSz="685800" rtl="0" eaLnBrk="1" fontAlgn="auto" latinLnBrk="0" hangingPunct="1">
              <a:lnSpc>
                <a:spcPct val="100000"/>
              </a:lnSpc>
              <a:spcBef>
                <a:spcPts val="0"/>
              </a:spcBef>
              <a:spcAft>
                <a:spcPts val="0"/>
              </a:spcAft>
              <a:buClrTx/>
              <a:buSzTx/>
              <a:buFontTx/>
              <a:buNone/>
              <a:defRPr/>
            </a:pPr>
            <a:r>
              <a:rPr lang="zh-CN" altLang="en-US" dirty="0"/>
              <a:t>自然语言处理目前也已经有很多应用，但是有些应用还不尽人意。为什么呢？主要是</a:t>
            </a:r>
            <a:r>
              <a:rPr lang="zh-CN" altLang="en-US" sz="900" b="1" dirty="0">
                <a:solidFill>
                  <a:srgbClr val="004C41"/>
                </a:solidFill>
                <a:latin typeface="+mn-lt"/>
                <a:ea typeface="+mn-ea"/>
                <a:cs typeface="+mn-ea"/>
                <a:sym typeface="+mn-lt"/>
              </a:rPr>
              <a:t>自然语言处理属于认知智能任务</a:t>
            </a:r>
            <a:endParaRPr lang="zh-CN" altLang="en-US" sz="900" b="1" dirty="0">
              <a:solidFill>
                <a:srgbClr val="004C41"/>
              </a:solidFill>
              <a:latin typeface="+mn-lt"/>
              <a:ea typeface="+mn-ea"/>
              <a:cs typeface="+mn-ea"/>
              <a:sym typeface="+mn-lt"/>
            </a:endParaRPr>
          </a:p>
          <a:p>
            <a:r>
              <a:rPr lang="zh-CN" altLang="en-US" dirty="0"/>
              <a:t>目前，人们普遍认为人工智能的发展经历了从运算智能到感知智能，再到认知智能三个发展阶段。运算智能关注的是机器的基础运算和存储能力，在这方面，机器已经完胜人类。感知智能则强调机器的模式识别能力，如语音的识别以及图像的识别</a:t>
            </a:r>
            <a:r>
              <a:rPr lang="en-US" altLang="zh-CN" dirty="0"/>
              <a:t>,</a:t>
            </a:r>
            <a:r>
              <a:rPr lang="zh-CN" altLang="en-US" dirty="0"/>
              <a:t>目前机器在感知智能上的水平基本达到甚至超过了人类的水平。然而</a:t>
            </a:r>
            <a:r>
              <a:rPr lang="en-US" altLang="zh-CN" dirty="0"/>
              <a:t>,</a:t>
            </a:r>
            <a:r>
              <a:rPr lang="zh-CN" altLang="en-US" dirty="0"/>
              <a:t>在涉及自然语言处理以及常识建模和推理等研究的认知智能上，机器与人类还有很大的差距。</a:t>
            </a:r>
            <a:endParaRPr lang="zh-CN" altLang="en-US" dirty="0"/>
          </a:p>
        </p:txBody>
      </p:sp>
      <p:sp>
        <p:nvSpPr>
          <p:cNvPr id="4" name="灯片编号占位符 3"/>
          <p:cNvSpPr>
            <a:spLocks noGrp="1"/>
          </p:cNvSpPr>
          <p:nvPr>
            <p:ph type="sldNum" sz="quarter" idx="10"/>
          </p:nvPr>
        </p:nvSpPr>
        <p:spPr/>
        <p:txBody>
          <a:bodyPr/>
          <a:lstStyle/>
          <a:p>
            <a:fld id="{DA6B9D0F-9225-4952-8434-38C29095FB54}" type="slidenum">
              <a:rPr lang="zh-CN" altLang="en-US" smtClean="0"/>
            </a:fld>
            <a:endParaRPr lang="zh-CN" altLang="en-US"/>
          </a:p>
        </p:txBody>
      </p:sp>
    </p:spTree>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a:xfrm>
            <a:off x="685800" y="1143000"/>
            <a:ext cx="5486400" cy="3086100"/>
          </a:xfrm>
        </p:spPr>
      </p:sp>
      <p:sp>
        <p:nvSpPr>
          <p:cNvPr id="3" name="备注占位符 2"/>
          <p:cNvSpPr>
            <a:spLocks noGrp="1"/>
          </p:cNvSpPr>
          <p:nvPr>
            <p:ph type="body" idx="1"/>
          </p:nvPr>
        </p:nvSpPr>
        <p:spPr/>
        <p:txBody>
          <a:bodyPr/>
          <a:lstStyle/>
          <a:p>
            <a:r>
              <a:rPr lang="zh-CN" altLang="en-US" dirty="0"/>
              <a:t>为什么计算机在处理自然语言时会如此困难呢？这主要是因为自然语言具有高度的抽象性、近乎无穷变化的语义组合性、无处不在的歧义性和进化性</a:t>
            </a:r>
            <a:r>
              <a:rPr lang="en-US" altLang="zh-CN" dirty="0"/>
              <a:t>,</a:t>
            </a:r>
            <a:r>
              <a:rPr lang="zh-CN" altLang="en-US" dirty="0"/>
              <a:t>以及理解语言通常需要背景知识和推理能力等，下面分别进行具体的介绍。</a:t>
            </a:r>
            <a:endParaRPr lang="zh-CN" altLang="en-US" dirty="0"/>
          </a:p>
        </p:txBody>
      </p:sp>
      <p:sp>
        <p:nvSpPr>
          <p:cNvPr id="4" name="灯片编号占位符 3"/>
          <p:cNvSpPr>
            <a:spLocks noGrp="1"/>
          </p:cNvSpPr>
          <p:nvPr>
            <p:ph type="sldNum" sz="quarter" idx="10"/>
          </p:nvPr>
        </p:nvSpPr>
        <p:spPr/>
        <p:txBody>
          <a:bodyPr/>
          <a:lstStyle/>
          <a:p>
            <a:fld id="{DA6B9D0F-9225-4952-8434-38C29095FB54}" type="slidenum">
              <a:rPr lang="zh-CN" altLang="en-US" smtClean="0"/>
            </a:fld>
            <a:endParaRPr lang="zh-CN" altLang="en-US"/>
          </a:p>
        </p:txBody>
      </p:sp>
    </p:spTree>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a:xfrm>
            <a:off x="685800" y="1143000"/>
            <a:ext cx="5486400" cy="3086100"/>
          </a:xfrm>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10"/>
          </p:nvPr>
        </p:nvSpPr>
        <p:spPr/>
        <p:txBody>
          <a:bodyPr/>
          <a:lstStyle/>
          <a:p>
            <a:fld id="{DA6B9D0F-9225-4952-8434-38C29095FB54}" type="slidenum">
              <a:rPr lang="zh-CN" altLang="en-US" smtClean="0"/>
            </a:fld>
            <a:endParaRPr lang="zh-CN" altLang="en-US"/>
          </a:p>
        </p:txBody>
      </p:sp>
    </p:spTree>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a:xfrm>
            <a:off x="685800" y="1143000"/>
            <a:ext cx="5486400" cy="3086100"/>
          </a:xfrm>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10"/>
          </p:nvPr>
        </p:nvSpPr>
        <p:spPr/>
        <p:txBody>
          <a:bodyPr/>
          <a:lstStyle/>
          <a:p>
            <a:fld id="{DA6B9D0F-9225-4952-8434-38C29095FB54}" type="slidenum">
              <a:rPr lang="zh-CN" altLang="en-US" smtClean="0"/>
            </a:fld>
            <a:endParaRPr lang="zh-CN" altLang="en-US"/>
          </a:p>
        </p:txBody>
      </p:sp>
    </p:spTree>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a:xfrm>
            <a:off x="685800" y="1143000"/>
            <a:ext cx="5486400" cy="3086100"/>
          </a:xfrm>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10"/>
          </p:nvPr>
        </p:nvSpPr>
        <p:spPr/>
        <p:txBody>
          <a:bodyPr/>
          <a:lstStyle/>
          <a:p>
            <a:fld id="{DA6B9D0F-9225-4952-8434-38C29095FB54}" type="slidenum">
              <a:rPr lang="zh-CN" altLang="en-US" smtClean="0"/>
            </a:fld>
            <a:endParaRPr lang="zh-CN" altLang="en-US"/>
          </a:p>
        </p:txBody>
      </p:sp>
    </p:spTree>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a:xfrm>
            <a:off x="685800" y="1143000"/>
            <a:ext cx="5486400" cy="3086100"/>
          </a:xfrm>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10"/>
          </p:nvPr>
        </p:nvSpPr>
        <p:spPr/>
        <p:txBody>
          <a:bodyPr/>
          <a:lstStyle/>
          <a:p>
            <a:fld id="{DA6B9D0F-9225-4952-8434-38C29095FB54}" type="slidenum">
              <a:rPr lang="zh-CN" altLang="en-US" smtClean="0"/>
            </a:fld>
            <a:endParaRPr lang="zh-CN" altLang="en-US"/>
          </a:p>
        </p:txBody>
      </p:sp>
    </p:spTree>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a:xfrm>
            <a:off x="685800" y="1143000"/>
            <a:ext cx="5486400" cy="3086100"/>
          </a:xfrm>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10"/>
          </p:nvPr>
        </p:nvSpPr>
        <p:spPr/>
        <p:txBody>
          <a:bodyPr/>
          <a:lstStyle/>
          <a:p>
            <a:fld id="{DA6B9D0F-9225-4952-8434-38C29095FB54}" type="slidenum">
              <a:rPr lang="zh-CN" altLang="en-US" smtClean="0"/>
            </a:fld>
            <a:endParaRPr lang="zh-CN" altLang="en-US"/>
          </a:p>
        </p:txBody>
      </p:sp>
    </p:spTree>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a:xfrm>
            <a:off x="685800" y="1143000"/>
            <a:ext cx="5486400" cy="3086100"/>
          </a:xfrm>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10"/>
          </p:nvPr>
        </p:nvSpPr>
        <p:spPr/>
        <p:txBody>
          <a:bodyPr/>
          <a:lstStyle/>
          <a:p>
            <a:fld id="{DA6B9D0F-9225-4952-8434-38C29095FB54}" type="slidenum">
              <a:rPr lang="zh-CN" altLang="en-US" smtClean="0"/>
            </a:fld>
            <a:endParaRPr lang="zh-CN" altLang="en-US"/>
          </a:p>
        </p:txBody>
      </p:sp>
    </p:spTree>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a:xfrm>
            <a:off x="685800" y="1143000"/>
            <a:ext cx="5486400" cy="3086100"/>
          </a:xfrm>
        </p:spPr>
      </p:sp>
      <p:sp>
        <p:nvSpPr>
          <p:cNvPr id="3" name="备注占位符 2"/>
          <p:cNvSpPr>
            <a:spLocks noGrp="1"/>
          </p:cNvSpPr>
          <p:nvPr>
            <p:ph type="body" idx="1"/>
          </p:nvPr>
        </p:nvSpPr>
        <p:spPr/>
        <p:txBody>
          <a:bodyPr/>
          <a:lstStyle/>
          <a:p>
            <a:r>
              <a:rPr lang="zh-CN" altLang="en-US" dirty="0"/>
              <a:t>机器能够很好的理解和生成</a:t>
            </a:r>
            <a:endParaRPr lang="zh-CN" altLang="en-US" dirty="0"/>
          </a:p>
        </p:txBody>
      </p:sp>
      <p:sp>
        <p:nvSpPr>
          <p:cNvPr id="4" name="灯片编号占位符 3"/>
          <p:cNvSpPr>
            <a:spLocks noGrp="1"/>
          </p:cNvSpPr>
          <p:nvPr>
            <p:ph type="sldNum" sz="quarter" idx="10"/>
          </p:nvPr>
        </p:nvSpPr>
        <p:spPr/>
        <p:txBody>
          <a:bodyPr/>
          <a:lstStyle/>
          <a:p>
            <a:fld id="{DA6B9D0F-9225-4952-8434-38C29095FB54}" type="slidenum">
              <a:rPr lang="zh-CN" altLang="en-US" smtClean="0"/>
            </a:fld>
            <a:endParaRPr lang="zh-CN" altLang="en-US"/>
          </a:p>
        </p:txBody>
      </p:sp>
    </p:spTree>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a:xfrm>
            <a:off x="685800" y="1143000"/>
            <a:ext cx="5486400" cy="3086100"/>
          </a:xfrm>
        </p:spPr>
      </p:sp>
      <p:sp>
        <p:nvSpPr>
          <p:cNvPr id="3" name="备注占位符 2"/>
          <p:cNvSpPr>
            <a:spLocks noGrp="1"/>
          </p:cNvSpPr>
          <p:nvPr>
            <p:ph type="body" idx="1"/>
          </p:nvPr>
        </p:nvSpPr>
        <p:spPr/>
        <p:txBody>
          <a:bodyPr/>
          <a:lstStyle/>
          <a:p>
            <a:r>
              <a:rPr lang="en-US" altLang="zh-CN" dirty="0" err="1"/>
              <a:t>Nlp</a:t>
            </a:r>
            <a:r>
              <a:rPr lang="zh-CN" altLang="en-US" dirty="0"/>
              <a:t>有很多性质，因此它的研究也不是一成不变的，从低到高有很多任务层级。</a:t>
            </a:r>
            <a:endParaRPr lang="zh-CN" altLang="en-US" dirty="0"/>
          </a:p>
        </p:txBody>
      </p:sp>
      <p:sp>
        <p:nvSpPr>
          <p:cNvPr id="4" name="灯片编号占位符 3"/>
          <p:cNvSpPr>
            <a:spLocks noGrp="1"/>
          </p:cNvSpPr>
          <p:nvPr>
            <p:ph type="sldNum" sz="quarter" idx="10"/>
          </p:nvPr>
        </p:nvSpPr>
        <p:spPr/>
        <p:txBody>
          <a:bodyPr/>
          <a:lstStyle/>
          <a:p>
            <a:fld id="{DA6B9D0F-9225-4952-8434-38C29095FB54}" type="slidenum">
              <a:rPr lang="zh-CN" altLang="en-US" smtClean="0"/>
            </a:fld>
            <a:endParaRPr lang="zh-CN" altLang="en-US"/>
          </a:p>
        </p:txBody>
      </p:sp>
    </p:spTree>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a:xfrm>
            <a:off x="685800" y="1143000"/>
            <a:ext cx="5486400" cy="3086100"/>
          </a:xfrm>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10"/>
          </p:nvPr>
        </p:nvSpPr>
        <p:spPr/>
        <p:txBody>
          <a:bodyPr/>
          <a:lstStyle/>
          <a:p>
            <a:fld id="{DA6B9D0F-9225-4952-8434-38C29095FB54}" type="slidenum">
              <a:rPr lang="zh-CN" altLang="en-US" smtClean="0"/>
            </a:fld>
            <a:endParaRPr lang="zh-CN" altLang="en-US"/>
          </a:p>
        </p:txBody>
      </p:sp>
    </p:spTree>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a:xfrm>
            <a:off x="685800" y="1143000"/>
            <a:ext cx="5486400" cy="3086100"/>
          </a:xfrm>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10"/>
          </p:nvPr>
        </p:nvSpPr>
        <p:spPr/>
        <p:txBody>
          <a:bodyPr/>
          <a:lstStyle/>
          <a:p>
            <a:fld id="{DA6B9D0F-9225-4952-8434-38C29095FB54}" type="slidenum">
              <a:rPr lang="zh-CN" altLang="en-US" smtClean="0"/>
            </a:fld>
            <a:endParaRPr lang="zh-CN" altLang="en-US"/>
          </a:p>
        </p:txBody>
      </p:sp>
    </p:spTree>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a:xfrm>
            <a:off x="685800" y="1143000"/>
            <a:ext cx="5486400" cy="3086100"/>
          </a:xfrm>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10"/>
          </p:nvPr>
        </p:nvSpPr>
        <p:spPr/>
        <p:txBody>
          <a:bodyPr/>
          <a:lstStyle/>
          <a:p>
            <a:fld id="{DA6B9D0F-9225-4952-8434-38C29095FB54}" type="slidenum">
              <a:rPr lang="zh-CN" altLang="en-US" smtClean="0"/>
            </a:fld>
            <a:endParaRPr lang="zh-CN" altLang="en-US"/>
          </a:p>
        </p:txBody>
      </p:sp>
    </p:spTree>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a:xfrm>
            <a:off x="685800" y="1143000"/>
            <a:ext cx="5486400" cy="3086100"/>
          </a:xfrm>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10"/>
          </p:nvPr>
        </p:nvSpPr>
        <p:spPr/>
        <p:txBody>
          <a:bodyPr/>
          <a:lstStyle/>
          <a:p>
            <a:fld id="{DA6B9D0F-9225-4952-8434-38C29095FB54}" type="slidenum">
              <a:rPr lang="zh-CN" altLang="en-US" smtClean="0"/>
            </a:fld>
            <a:endParaRPr lang="zh-CN" altLang="en-US"/>
          </a:p>
        </p:txBody>
      </p:sp>
    </p:spTree>
  </p:cSld>
  <p:clrMapOvr>
    <a:masterClrMapping/>
  </p:clrMapOvr>
</p:notes>
</file>

<file path=ppt/notesSlides/notesSlide3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a:xfrm>
            <a:off x="685800" y="1143000"/>
            <a:ext cx="5486400" cy="3086100"/>
          </a:xfrm>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10"/>
          </p:nvPr>
        </p:nvSpPr>
        <p:spPr/>
        <p:txBody>
          <a:bodyPr/>
          <a:lstStyle/>
          <a:p>
            <a:fld id="{DA6B9D0F-9225-4952-8434-38C29095FB54}" type="slidenum">
              <a:rPr lang="zh-CN" altLang="en-US" smtClean="0"/>
            </a:fld>
            <a:endParaRPr lang="zh-CN" altLang="en-US"/>
          </a:p>
        </p:txBody>
      </p:sp>
    </p:spTree>
  </p:cSld>
  <p:clrMapOvr>
    <a:masterClrMapping/>
  </p:clrMapOvr>
</p:notes>
</file>

<file path=ppt/notesSlides/notesSlide3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a:xfrm>
            <a:off x="685800" y="1143000"/>
            <a:ext cx="5486400" cy="3086100"/>
          </a:xfrm>
        </p:spPr>
      </p:sp>
      <p:sp>
        <p:nvSpPr>
          <p:cNvPr id="3" name="备注占位符 2"/>
          <p:cNvSpPr>
            <a:spLocks noGrp="1"/>
          </p:cNvSpPr>
          <p:nvPr>
            <p:ph type="body" idx="1"/>
          </p:nvPr>
        </p:nvSpPr>
        <p:spPr/>
        <p:txBody>
          <a:bodyPr/>
          <a:lstStyle/>
          <a:p>
            <a:r>
              <a:rPr lang="zh-CN" altLang="en-US" dirty="0"/>
              <a:t>语义依存是句法分析和语义分析的结合</a:t>
            </a:r>
            <a:endParaRPr lang="zh-CN" altLang="en-US" dirty="0"/>
          </a:p>
        </p:txBody>
      </p:sp>
      <p:sp>
        <p:nvSpPr>
          <p:cNvPr id="4" name="灯片编号占位符 3"/>
          <p:cNvSpPr>
            <a:spLocks noGrp="1"/>
          </p:cNvSpPr>
          <p:nvPr>
            <p:ph type="sldNum" sz="quarter" idx="10"/>
          </p:nvPr>
        </p:nvSpPr>
        <p:spPr/>
        <p:txBody>
          <a:bodyPr/>
          <a:lstStyle/>
          <a:p>
            <a:fld id="{DA6B9D0F-9225-4952-8434-38C29095FB54}" type="slidenum">
              <a:rPr lang="zh-CN" altLang="en-US" smtClean="0"/>
            </a:fld>
            <a:endParaRPr lang="zh-CN" altLang="en-US"/>
          </a:p>
        </p:txBody>
      </p:sp>
    </p:spTree>
  </p:cSld>
  <p:clrMapOvr>
    <a:masterClrMapping/>
  </p:clrMapOvr>
</p:notes>
</file>

<file path=ppt/notesSlides/notesSlide3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a:xfrm>
            <a:off x="685800" y="1143000"/>
            <a:ext cx="5486400" cy="3086100"/>
          </a:xfrm>
        </p:spPr>
      </p:sp>
      <p:sp>
        <p:nvSpPr>
          <p:cNvPr id="3" name="备注占位符 2"/>
          <p:cNvSpPr>
            <a:spLocks noGrp="1"/>
          </p:cNvSpPr>
          <p:nvPr>
            <p:ph type="body" idx="1"/>
          </p:nvPr>
        </p:nvSpPr>
        <p:spPr/>
        <p:txBody>
          <a:bodyPr/>
          <a:lstStyle/>
          <a:p>
            <a:r>
              <a:rPr lang="zh-CN" altLang="en-US" dirty="0"/>
              <a:t>把非结构化的数据抽取为结构化的信息，像数据库一样，方便后面做检索，还是更进一步的计算。</a:t>
            </a:r>
            <a:endParaRPr lang="zh-CN" altLang="en-US" dirty="0"/>
          </a:p>
        </p:txBody>
      </p:sp>
      <p:sp>
        <p:nvSpPr>
          <p:cNvPr id="4" name="灯片编号占位符 3"/>
          <p:cNvSpPr>
            <a:spLocks noGrp="1"/>
          </p:cNvSpPr>
          <p:nvPr>
            <p:ph type="sldNum" sz="quarter" idx="10"/>
          </p:nvPr>
        </p:nvSpPr>
        <p:spPr/>
        <p:txBody>
          <a:bodyPr/>
          <a:lstStyle/>
          <a:p>
            <a:fld id="{DA6B9D0F-9225-4952-8434-38C29095FB54}" type="slidenum">
              <a:rPr lang="zh-CN" altLang="en-US" smtClean="0"/>
            </a:fld>
            <a:endParaRPr lang="zh-CN" altLang="en-US"/>
          </a:p>
        </p:txBody>
      </p:sp>
    </p:spTree>
  </p:cSld>
  <p:clrMapOvr>
    <a:masterClrMapping/>
  </p:clrMapOvr>
</p:notes>
</file>

<file path=ppt/notesSlides/notesSlide3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a:xfrm>
            <a:off x="685800" y="1143000"/>
            <a:ext cx="5486400" cy="3086100"/>
          </a:xfrm>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10"/>
          </p:nvPr>
        </p:nvSpPr>
        <p:spPr/>
        <p:txBody>
          <a:bodyPr/>
          <a:lstStyle/>
          <a:p>
            <a:fld id="{DA6B9D0F-9225-4952-8434-38C29095FB54}" type="slidenum">
              <a:rPr lang="zh-CN" altLang="en-US" smtClean="0"/>
            </a:fld>
            <a:endParaRPr lang="zh-CN" altLang="en-US"/>
          </a:p>
        </p:txBody>
      </p:sp>
    </p:spTree>
  </p:cSld>
  <p:clrMapOvr>
    <a:masterClrMapping/>
  </p:clrMapOvr>
</p:notes>
</file>

<file path=ppt/notesSlides/notesSlide3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a:xfrm>
            <a:off x="685800" y="1143000"/>
            <a:ext cx="5486400" cy="3086100"/>
          </a:xfrm>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10"/>
          </p:nvPr>
        </p:nvSpPr>
        <p:spPr/>
        <p:txBody>
          <a:bodyPr/>
          <a:lstStyle/>
          <a:p>
            <a:fld id="{DA6B9D0F-9225-4952-8434-38C29095FB54}" type="slidenum">
              <a:rPr lang="zh-CN" altLang="en-US" smtClean="0"/>
            </a:fld>
            <a:endParaRPr lang="zh-CN" altLang="en-US"/>
          </a:p>
        </p:txBody>
      </p:sp>
    </p:spTree>
  </p:cSld>
  <p:clrMapOvr>
    <a:masterClrMapping/>
  </p:clrMapOvr>
</p:notes>
</file>

<file path=ppt/notesSlides/notesSlide3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a:xfrm>
            <a:off x="685800" y="1143000"/>
            <a:ext cx="5486400" cy="3086100"/>
          </a:xfrm>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10"/>
          </p:nvPr>
        </p:nvSpPr>
        <p:spPr/>
        <p:txBody>
          <a:bodyPr/>
          <a:lstStyle/>
          <a:p>
            <a:fld id="{DA6B9D0F-9225-4952-8434-38C29095FB54}" type="slidenum">
              <a:rPr lang="zh-CN" altLang="en-US" smtClean="0"/>
            </a:fld>
            <a:endParaRPr lang="zh-CN" altLang="en-US"/>
          </a:p>
        </p:txBody>
      </p:sp>
    </p:spTree>
  </p:cSld>
  <p:clrMapOvr>
    <a:masterClrMapping/>
  </p:clrMapOvr>
</p:notes>
</file>

<file path=ppt/notesSlides/notesSlide3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a:xfrm>
            <a:off x="685800" y="1143000"/>
            <a:ext cx="5486400" cy="3086100"/>
          </a:xfrm>
        </p:spPr>
      </p:sp>
      <p:sp>
        <p:nvSpPr>
          <p:cNvPr id="3" name="备注占位符 2"/>
          <p:cNvSpPr>
            <a:spLocks noGrp="1"/>
          </p:cNvSpPr>
          <p:nvPr>
            <p:ph type="body" idx="1"/>
          </p:nvPr>
        </p:nvSpPr>
        <p:spPr/>
        <p:txBody>
          <a:bodyPr/>
          <a:lstStyle/>
          <a:p>
            <a:r>
              <a:rPr lang="zh-CN" altLang="en-US" b="0" i="0" u="none" strike="noStrike" dirty="0">
                <a:solidFill>
                  <a:srgbClr val="F73131"/>
                </a:solidFill>
                <a:effectLst/>
                <a:latin typeface="Arial" panose="020B0604020202090204" pitchFamily="34" charset="0"/>
              </a:rPr>
              <a:t>小冰</a:t>
            </a:r>
            <a:r>
              <a:rPr lang="zh-CN" altLang="en-US" b="0" i="0" u="none" strike="noStrike" dirty="0">
                <a:solidFill>
                  <a:srgbClr val="333333"/>
                </a:solidFill>
                <a:effectLst/>
                <a:latin typeface="Arial" panose="020B0604020202090204" pitchFamily="34" charset="0"/>
              </a:rPr>
              <a:t>是一套完整的、面向交互全程的人工智能交互主体基础框架，又叫</a:t>
            </a:r>
            <a:r>
              <a:rPr lang="zh-CN" altLang="en-US" b="0" i="0" u="none" strike="noStrike" dirty="0">
                <a:solidFill>
                  <a:srgbClr val="F73131"/>
                </a:solidFill>
                <a:effectLst/>
                <a:latin typeface="Arial" panose="020B0604020202090204" pitchFamily="34" charset="0"/>
              </a:rPr>
              <a:t>小冰</a:t>
            </a:r>
            <a:r>
              <a:rPr lang="zh-CN" altLang="en-US" b="0" i="0" u="none" strike="noStrike" dirty="0">
                <a:solidFill>
                  <a:srgbClr val="333333"/>
                </a:solidFill>
                <a:effectLst/>
                <a:latin typeface="Arial" panose="020B0604020202090204" pitchFamily="34" charset="0"/>
              </a:rPr>
              <a:t>框架（</a:t>
            </a:r>
            <a:r>
              <a:rPr lang="en-GB" altLang="zh-CN" b="0" i="0" u="none" strike="noStrike" dirty="0">
                <a:solidFill>
                  <a:srgbClr val="333333"/>
                </a:solidFill>
                <a:effectLst/>
                <a:latin typeface="Arial" panose="020B0604020202090204" pitchFamily="34" charset="0"/>
              </a:rPr>
              <a:t>Avatar Framework</a:t>
            </a:r>
            <a:r>
              <a:rPr lang="zh-CN" altLang="en-GB" b="0" i="0" u="none" strike="noStrike" dirty="0">
                <a:solidFill>
                  <a:srgbClr val="333333"/>
                </a:solidFill>
                <a:effectLst/>
                <a:latin typeface="Arial" panose="020B0604020202090204" pitchFamily="34" charset="0"/>
              </a:rPr>
              <a:t>），</a:t>
            </a:r>
            <a:r>
              <a:rPr lang="zh-CN" altLang="en-US" b="0" i="0" u="none" strike="noStrike" dirty="0">
                <a:solidFill>
                  <a:srgbClr val="333333"/>
                </a:solidFill>
                <a:effectLst/>
                <a:latin typeface="Arial" panose="020B0604020202090204" pitchFamily="34" charset="0"/>
              </a:rPr>
              <a:t>它包括核心对话引擎、多重交互感官、第三方内容的触发与第一方内容生成，和跨平台的部署解决方案。</a:t>
            </a:r>
            <a:endParaRPr lang="en-US" altLang="zh-CN" b="0" i="0" u="none" strike="noStrike" dirty="0">
              <a:solidFill>
                <a:srgbClr val="333333"/>
              </a:solidFill>
              <a:effectLst/>
              <a:latin typeface="Arial" panose="020B0604020202090204" pitchFamily="34" charset="0"/>
            </a:endParaRPr>
          </a:p>
          <a:p>
            <a:endParaRPr lang="en-US" altLang="zh-CN" b="0" i="0" u="none" strike="noStrike" dirty="0">
              <a:solidFill>
                <a:srgbClr val="333333"/>
              </a:solidFill>
              <a:effectLst/>
              <a:latin typeface="Arial" panose="020B0604020202090204" pitchFamily="34" charset="0"/>
            </a:endParaRPr>
          </a:p>
          <a:p>
            <a:r>
              <a:rPr lang="en-US" altLang="zh-CN" b="0" i="0" u="none" strike="noStrike" dirty="0" err="1">
                <a:solidFill>
                  <a:srgbClr val="333333"/>
                </a:solidFill>
                <a:effectLst/>
                <a:latin typeface="Arial" panose="020B0604020202090204" pitchFamily="34" charset="0"/>
              </a:rPr>
              <a:t>Qq</a:t>
            </a:r>
            <a:r>
              <a:rPr lang="zh-CN" altLang="en-US" b="0" i="0" u="none" strike="noStrike" dirty="0">
                <a:solidFill>
                  <a:srgbClr val="333333"/>
                </a:solidFill>
                <a:effectLst/>
                <a:latin typeface="Arial" panose="020B0604020202090204" pitchFamily="34" charset="0"/>
              </a:rPr>
              <a:t>小冰 哈工大笨笨</a:t>
            </a:r>
            <a:endParaRPr lang="en-US" altLang="zh-CN" b="0" i="0" u="none" strike="noStrike" dirty="0">
              <a:solidFill>
                <a:srgbClr val="333333"/>
              </a:solidFill>
              <a:effectLst/>
              <a:latin typeface="Arial" panose="020B0604020202090204" pitchFamily="34" charset="0"/>
            </a:endParaRPr>
          </a:p>
          <a:p>
            <a:endParaRPr lang="en-US" altLang="zh-CN" b="0" i="0" u="none" strike="noStrike" dirty="0">
              <a:solidFill>
                <a:srgbClr val="333333"/>
              </a:solidFill>
              <a:effectLst/>
              <a:latin typeface="Arial" panose="020B0604020202090204" pitchFamily="34" charset="0"/>
            </a:endParaRPr>
          </a:p>
          <a:p>
            <a:endParaRPr lang="en-US" altLang="zh-CN" b="0" i="0" u="none" strike="noStrike" dirty="0">
              <a:solidFill>
                <a:srgbClr val="333333"/>
              </a:solidFill>
              <a:effectLst/>
              <a:latin typeface="Arial" panose="020B0604020202090204" pitchFamily="34" charset="0"/>
            </a:endParaRPr>
          </a:p>
          <a:p>
            <a:r>
              <a:rPr lang="zh-CN" altLang="en-US" b="0" i="0" u="none" strike="noStrike" dirty="0">
                <a:solidFill>
                  <a:srgbClr val="333333"/>
                </a:solidFill>
                <a:effectLst/>
                <a:latin typeface="Arial" panose="020B0604020202090204" pitchFamily="34" charset="0"/>
              </a:rPr>
              <a:t>超级电脑“沃森”由</a:t>
            </a:r>
            <a:r>
              <a:rPr lang="en-GB" altLang="zh-CN" b="0" i="0" u="none" strike="noStrike" dirty="0">
                <a:solidFill>
                  <a:srgbClr val="333333"/>
                </a:solidFill>
                <a:effectLst/>
                <a:latin typeface="Arial" panose="020B0604020202090204" pitchFamily="34" charset="0"/>
              </a:rPr>
              <a:t>IBM</a:t>
            </a:r>
            <a:r>
              <a:rPr lang="zh-CN" altLang="en-US" b="0" i="0" u="none" strike="noStrike" dirty="0">
                <a:solidFill>
                  <a:srgbClr val="333333"/>
                </a:solidFill>
                <a:effectLst/>
                <a:latin typeface="Arial" panose="020B0604020202090204" pitchFamily="34" charset="0"/>
              </a:rPr>
              <a:t>公司和美国德克萨斯大学历时四年联合打造，电脑存储了海量的数据，而且拥有一套逻辑推理程序，可以推理出它认为最正确的答案。</a:t>
            </a:r>
            <a:r>
              <a:rPr lang="en-US" altLang="zh-CN" b="0" i="0" u="none" strike="noStrike" dirty="0">
                <a:solidFill>
                  <a:srgbClr val="333333"/>
                </a:solidFill>
                <a:effectLst/>
                <a:latin typeface="Arial" panose="020B0604020202090204" pitchFamily="34" charset="0"/>
              </a:rPr>
              <a:t>”</a:t>
            </a:r>
            <a:endParaRPr lang="en-US" altLang="zh-CN" b="0" i="0" u="none" strike="noStrike" dirty="0">
              <a:solidFill>
                <a:srgbClr val="333333"/>
              </a:solidFill>
              <a:effectLst/>
              <a:latin typeface="Arial" panose="020B0604020202090204" pitchFamily="34" charset="0"/>
            </a:endParaRPr>
          </a:p>
          <a:p>
            <a:r>
              <a:rPr lang="en-GB" altLang="zh-CN" b="0" i="0" u="none" strike="noStrike" dirty="0">
                <a:solidFill>
                  <a:srgbClr val="F73131"/>
                </a:solidFill>
                <a:effectLst/>
                <a:latin typeface="Arial" panose="020B0604020202090204" pitchFamily="34" charset="0"/>
              </a:rPr>
              <a:t>Wolfram Alpha</a:t>
            </a:r>
            <a:r>
              <a:rPr lang="zh-CN" altLang="en-US" b="0" i="0" u="none" strike="noStrike" dirty="0">
                <a:solidFill>
                  <a:srgbClr val="333333"/>
                </a:solidFill>
                <a:effectLst/>
                <a:latin typeface="Arial" panose="020B0604020202090204" pitchFamily="34" charset="0"/>
              </a:rPr>
              <a:t>一般指</a:t>
            </a:r>
            <a:r>
              <a:rPr lang="en-GB" altLang="zh-CN" b="0" i="0" u="none" strike="noStrike" dirty="0" err="1">
                <a:solidFill>
                  <a:srgbClr val="F73131"/>
                </a:solidFill>
                <a:effectLst/>
                <a:latin typeface="Arial" panose="020B0604020202090204" pitchFamily="34" charset="0"/>
              </a:rPr>
              <a:t>WolframAlpha</a:t>
            </a:r>
            <a:r>
              <a:rPr lang="zh-CN" altLang="en-GB" b="0" i="0" u="none" strike="noStrike" dirty="0">
                <a:solidFill>
                  <a:srgbClr val="333333"/>
                </a:solidFill>
                <a:effectLst/>
                <a:latin typeface="Arial" panose="020B0604020202090204" pitchFamily="34" charset="0"/>
              </a:rPr>
              <a:t>。 </a:t>
            </a:r>
            <a:r>
              <a:rPr lang="en-GB" altLang="zh-CN" b="0" i="0" u="none" strike="noStrike" dirty="0" err="1">
                <a:solidFill>
                  <a:srgbClr val="F73131"/>
                </a:solidFill>
                <a:effectLst/>
                <a:latin typeface="Arial" panose="020B0604020202090204" pitchFamily="34" charset="0"/>
              </a:rPr>
              <a:t>WolframAlpha</a:t>
            </a:r>
            <a:r>
              <a:rPr lang="zh-CN" altLang="en-US" b="0" i="0" u="none" strike="noStrike" dirty="0">
                <a:solidFill>
                  <a:srgbClr val="333333"/>
                </a:solidFill>
                <a:effectLst/>
                <a:latin typeface="Arial" panose="020B0604020202090204" pitchFamily="34" charset="0"/>
              </a:rPr>
              <a:t>是开发计算数学应用软件的沃尔夫勒姆研究公司开发出的新一代的搜索引擎，能根据问题直接给出答案的网站</a:t>
            </a:r>
            <a:endParaRPr lang="zh-CN" altLang="en-US" dirty="0"/>
          </a:p>
        </p:txBody>
      </p:sp>
      <p:sp>
        <p:nvSpPr>
          <p:cNvPr id="4" name="灯片编号占位符 3"/>
          <p:cNvSpPr>
            <a:spLocks noGrp="1"/>
          </p:cNvSpPr>
          <p:nvPr>
            <p:ph type="sldNum" sz="quarter" idx="10"/>
          </p:nvPr>
        </p:nvSpPr>
        <p:spPr/>
        <p:txBody>
          <a:bodyPr/>
          <a:lstStyle/>
          <a:p>
            <a:fld id="{DA6B9D0F-9225-4952-8434-38C29095FB54}" type="slidenum">
              <a:rPr lang="zh-CN" altLang="en-US" smtClean="0"/>
            </a:fld>
            <a:endParaRPr lang="zh-CN" altLang="en-US"/>
          </a:p>
        </p:txBody>
      </p:sp>
    </p:spTree>
  </p:cSld>
  <p:clrMapOvr>
    <a:masterClrMapping/>
  </p:clrMapOvr>
</p:notes>
</file>

<file path=ppt/notesSlides/notesSlide3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a:xfrm>
            <a:off x="685800" y="1143000"/>
            <a:ext cx="5486400" cy="3086100"/>
          </a:xfrm>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10"/>
          </p:nvPr>
        </p:nvSpPr>
        <p:spPr/>
        <p:txBody>
          <a:bodyPr/>
          <a:lstStyle/>
          <a:p>
            <a:fld id="{DA6B9D0F-9225-4952-8434-38C29095FB54}" type="slidenum">
              <a:rPr lang="zh-CN" altLang="en-US" smtClean="0"/>
            </a:fld>
            <a:endParaRPr lang="zh-CN" altLang="en-US"/>
          </a:p>
        </p:txBody>
      </p:sp>
    </p:spTree>
  </p:cSld>
  <p:clrMapOvr>
    <a:masterClrMapping/>
  </p:clrMapOvr>
</p:notes>
</file>

<file path=ppt/notesSlides/notesSlide3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a:xfrm>
            <a:off x="685800" y="1143000"/>
            <a:ext cx="5486400" cy="3086100"/>
          </a:xfrm>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10"/>
          </p:nvPr>
        </p:nvSpPr>
        <p:spPr/>
        <p:txBody>
          <a:bodyPr/>
          <a:lstStyle/>
          <a:p>
            <a:fld id="{DA6B9D0F-9225-4952-8434-38C29095FB54}" type="slidenum">
              <a:rPr lang="zh-CN" altLang="en-US" smtClean="0"/>
            </a:fld>
            <a:endParaRPr lang="zh-CN" altLang="en-US"/>
          </a:p>
        </p:txBody>
      </p:sp>
    </p:spTree>
  </p:cSld>
  <p:clrMapOvr>
    <a:masterClrMapping/>
  </p:clrMapOvr>
</p:notes>
</file>

<file path=ppt/notesSlides/notesSlide3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a:xfrm>
            <a:off x="685800" y="1143000"/>
            <a:ext cx="5486400" cy="3086100"/>
          </a:xfrm>
        </p:spPr>
      </p:sp>
      <p:sp>
        <p:nvSpPr>
          <p:cNvPr id="3" name="备注占位符 2"/>
          <p:cNvSpPr>
            <a:spLocks noGrp="1"/>
          </p:cNvSpPr>
          <p:nvPr>
            <p:ph type="body" idx="1"/>
          </p:nvPr>
        </p:nvSpPr>
        <p:spPr/>
        <p:txBody>
          <a:bodyPr/>
          <a:lstStyle/>
          <a:p>
            <a:r>
              <a:rPr lang="zh-CN" altLang="en-US"/>
              <a:t>复述关系是指在语言表达中，两个或多个句子、短语或词语之间存在的一种语义上的等价或近似等价关系，其中一个是另一个的复述。例如，“他很高兴”和“他非常开心”就是一种复述关系，因为它们表达的是相同的语义。</a:t>
            </a:r>
            <a:endParaRPr lang="zh-CN" altLang="en-US" dirty="0"/>
          </a:p>
        </p:txBody>
      </p:sp>
      <p:sp>
        <p:nvSpPr>
          <p:cNvPr id="4" name="灯片编号占位符 3"/>
          <p:cNvSpPr>
            <a:spLocks noGrp="1"/>
          </p:cNvSpPr>
          <p:nvPr>
            <p:ph type="sldNum" sz="quarter" idx="10"/>
          </p:nvPr>
        </p:nvSpPr>
        <p:spPr/>
        <p:txBody>
          <a:bodyPr/>
          <a:lstStyle/>
          <a:p>
            <a:fld id="{DA6B9D0F-9225-4952-8434-38C29095FB54}" type="slidenum">
              <a:rPr lang="zh-CN" altLang="en-US" smtClean="0"/>
            </a:fld>
            <a:endParaRPr lang="zh-CN" altLang="en-US"/>
          </a:p>
        </p:txBody>
      </p:sp>
    </p:spTree>
  </p:cSld>
  <p:clrMapOvr>
    <a:masterClrMapping/>
  </p:clrMapOvr>
</p:notes>
</file>

<file path=ppt/notesSlides/notesSlide4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a:xfrm>
            <a:off x="685800" y="1143000"/>
            <a:ext cx="5486400" cy="3086100"/>
          </a:xfrm>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10"/>
          </p:nvPr>
        </p:nvSpPr>
        <p:spPr/>
        <p:txBody>
          <a:bodyPr/>
          <a:lstStyle/>
          <a:p>
            <a:fld id="{DA6B9D0F-9225-4952-8434-38C29095FB54}" type="slidenum">
              <a:rPr lang="zh-CN" altLang="en-US" smtClean="0"/>
            </a:fld>
            <a:endParaRPr lang="zh-CN" altLang="en-US"/>
          </a:p>
        </p:txBody>
      </p:sp>
    </p:spTree>
  </p:cSld>
  <p:clrMapOvr>
    <a:masterClrMapping/>
  </p:clrMapOvr>
</p:notes>
</file>

<file path=ppt/notesSlides/notesSlide4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a:xfrm>
            <a:off x="685800" y="1143000"/>
            <a:ext cx="5486400" cy="3086100"/>
          </a:xfrm>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10"/>
          </p:nvPr>
        </p:nvSpPr>
        <p:spPr/>
        <p:txBody>
          <a:bodyPr/>
          <a:lstStyle/>
          <a:p>
            <a:fld id="{DA6B9D0F-9225-4952-8434-38C29095FB54}" type="slidenum">
              <a:rPr lang="zh-CN" altLang="en-US" smtClean="0"/>
            </a:fld>
            <a:endParaRPr lang="zh-CN" altLang="en-US"/>
          </a:p>
        </p:txBody>
      </p:sp>
    </p:spTree>
  </p:cSld>
  <p:clrMapOvr>
    <a:masterClrMapping/>
  </p:clrMapOvr>
</p:notes>
</file>

<file path=ppt/notesSlides/notesSlide4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a:xfrm>
            <a:off x="685800" y="1143000"/>
            <a:ext cx="5486400" cy="3086100"/>
          </a:xfrm>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10"/>
          </p:nvPr>
        </p:nvSpPr>
        <p:spPr/>
        <p:txBody>
          <a:bodyPr/>
          <a:lstStyle/>
          <a:p>
            <a:fld id="{DA6B9D0F-9225-4952-8434-38C29095FB54}" type="slidenum">
              <a:rPr lang="zh-CN" altLang="en-US" smtClean="0"/>
            </a:fld>
            <a:endParaRPr lang="zh-CN" altLang="en-US"/>
          </a:p>
        </p:txBody>
      </p:sp>
    </p:spTree>
  </p:cSld>
  <p:clrMapOvr>
    <a:masterClrMapping/>
  </p:clrMapOvr>
</p:notes>
</file>

<file path=ppt/notesSlides/notesSlide4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a:xfrm>
            <a:off x="685800" y="1143000"/>
            <a:ext cx="5486400" cy="3086100"/>
          </a:xfrm>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10"/>
          </p:nvPr>
        </p:nvSpPr>
        <p:spPr/>
        <p:txBody>
          <a:bodyPr/>
          <a:lstStyle/>
          <a:p>
            <a:fld id="{DA6B9D0F-9225-4952-8434-38C29095FB54}" type="slidenum">
              <a:rPr lang="zh-CN" altLang="en-US" smtClean="0"/>
            </a:fld>
            <a:endParaRPr lang="zh-CN" altLang="en-US"/>
          </a:p>
        </p:txBody>
      </p:sp>
    </p:spTree>
  </p:cSld>
  <p:clrMapOvr>
    <a:masterClrMapping/>
  </p:clrMapOvr>
</p:notes>
</file>

<file path=ppt/notesSlides/notesSlide4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a:xfrm>
            <a:off x="685800" y="1143000"/>
            <a:ext cx="5486400" cy="3086100"/>
          </a:xfrm>
        </p:spPr>
      </p:sp>
      <p:sp>
        <p:nvSpPr>
          <p:cNvPr id="3" name="备注占位符 2"/>
          <p:cNvSpPr>
            <a:spLocks noGrp="1"/>
          </p:cNvSpPr>
          <p:nvPr>
            <p:ph type="body" idx="1"/>
          </p:nvPr>
        </p:nvSpPr>
        <p:spPr/>
        <p:txBody>
          <a:bodyPr/>
          <a:lstStyle/>
          <a:p>
            <a:endParaRPr lang="zh-CN" altLang="en-US"/>
          </a:p>
        </p:txBody>
      </p:sp>
      <p:sp>
        <p:nvSpPr>
          <p:cNvPr id="4" name="灯片编号占位符 3"/>
          <p:cNvSpPr>
            <a:spLocks noGrp="1"/>
          </p:cNvSpPr>
          <p:nvPr>
            <p:ph type="sldNum" sz="quarter" idx="10"/>
          </p:nvPr>
        </p:nvSpPr>
        <p:spPr/>
        <p:txBody>
          <a:bodyPr/>
          <a:lstStyle/>
          <a:p>
            <a:fld id="{DA6B9D0F-9225-4952-8434-38C29095FB54}" type="slidenum">
              <a:rPr lang="zh-CN" altLang="en-US" smtClean="0"/>
            </a:fld>
            <a:endParaRPr lang="zh-CN" altLang="en-US"/>
          </a:p>
        </p:txBody>
      </p:sp>
    </p:spTree>
  </p:cSld>
  <p:clrMapOvr>
    <a:masterClrMapping/>
  </p:clrMapOvr>
</p:notes>
</file>

<file path=ppt/notesSlides/notesSlide4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a:xfrm>
            <a:off x="685800" y="1143000"/>
            <a:ext cx="5486400" cy="3086100"/>
          </a:xfrm>
        </p:spPr>
      </p:sp>
      <p:sp>
        <p:nvSpPr>
          <p:cNvPr id="3" name="备注占位符 2"/>
          <p:cNvSpPr>
            <a:spLocks noGrp="1"/>
          </p:cNvSpPr>
          <p:nvPr>
            <p:ph type="body" idx="1"/>
          </p:nvPr>
        </p:nvSpPr>
        <p:spPr/>
        <p:txBody>
          <a:bodyPr/>
          <a:lstStyle/>
          <a:p>
            <a:endParaRPr lang="zh-CN" altLang="en-US"/>
          </a:p>
        </p:txBody>
      </p:sp>
      <p:sp>
        <p:nvSpPr>
          <p:cNvPr id="4" name="灯片编号占位符 3"/>
          <p:cNvSpPr>
            <a:spLocks noGrp="1"/>
          </p:cNvSpPr>
          <p:nvPr>
            <p:ph type="sldNum" sz="quarter" idx="10"/>
          </p:nvPr>
        </p:nvSpPr>
        <p:spPr/>
        <p:txBody>
          <a:bodyPr/>
          <a:lstStyle/>
          <a:p>
            <a:fld id="{DA6B9D0F-9225-4952-8434-38C29095FB54}" type="slidenum">
              <a:rPr lang="zh-CN" altLang="en-US" smtClean="0"/>
            </a:fld>
            <a:endParaRPr lang="zh-CN" altLang="en-US"/>
          </a:p>
        </p:txBody>
      </p:sp>
    </p:spTree>
  </p:cSld>
  <p:clrMapOvr>
    <a:masterClrMapping/>
  </p:clrMapOvr>
</p:notes>
</file>

<file path=ppt/notesSlides/notesSlide4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a:xfrm>
            <a:off x="685800" y="1143000"/>
            <a:ext cx="5486400" cy="3086100"/>
          </a:xfrm>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10"/>
          </p:nvPr>
        </p:nvSpPr>
        <p:spPr/>
        <p:txBody>
          <a:bodyPr/>
          <a:lstStyle/>
          <a:p>
            <a:fld id="{9E25CCD2-8AA5-4194-9AC7-958C19EB8E58}" type="slidenum">
              <a:rPr lang="zh-CN" altLang="en-US" smtClean="0"/>
            </a:fld>
            <a:endParaRPr lang="zh-CN" altLang="en-US"/>
          </a:p>
        </p:txBody>
      </p:sp>
    </p:spTree>
  </p:cSld>
  <p:clrMapOvr>
    <a:masterClrMapping/>
  </p:clrMapOvr>
</p:notes>
</file>

<file path=ppt/notesSlides/notesSlide4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a:xfrm>
            <a:off x="685800" y="1143000"/>
            <a:ext cx="5486400" cy="3086100"/>
          </a:xfrm>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10"/>
          </p:nvPr>
        </p:nvSpPr>
        <p:spPr/>
        <p:txBody>
          <a:bodyPr/>
          <a:lstStyle/>
          <a:p>
            <a:fld id="{9E25CCD2-8AA5-4194-9AC7-958C19EB8E58}" type="slidenum">
              <a:rPr lang="zh-CN" altLang="en-US" smtClean="0"/>
            </a:fld>
            <a:endParaRPr lang="zh-CN" altLang="en-US"/>
          </a:p>
        </p:txBody>
      </p:sp>
    </p:spTree>
  </p:cSld>
  <p:clrMapOvr>
    <a:masterClrMapping/>
  </p:clrMapOvr>
</p:notes>
</file>

<file path=ppt/notesSlides/notesSlide4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a:xfrm>
            <a:off x="685800" y="1143000"/>
            <a:ext cx="5486400" cy="3086100"/>
          </a:xfrm>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10"/>
          </p:nvPr>
        </p:nvSpPr>
        <p:spPr/>
        <p:txBody>
          <a:bodyPr/>
          <a:lstStyle/>
          <a:p>
            <a:fld id="{9E25CCD2-8AA5-4194-9AC7-958C19EB8E58}" type="slidenum">
              <a:rPr lang="zh-CN" altLang="en-US" smtClean="0"/>
            </a:fld>
            <a:endParaRPr lang="zh-CN" altLang="en-US"/>
          </a:p>
        </p:txBody>
      </p:sp>
    </p:spTree>
  </p:cSld>
  <p:clrMapOvr>
    <a:masterClrMapping/>
  </p:clrMapOvr>
</p:notes>
</file>

<file path=ppt/notesSlides/notesSlide4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a:xfrm>
            <a:off x="685800" y="1143000"/>
            <a:ext cx="5486400" cy="3086100"/>
          </a:xfrm>
        </p:spPr>
      </p:sp>
      <p:sp>
        <p:nvSpPr>
          <p:cNvPr id="3" name="备注占位符 2"/>
          <p:cNvSpPr>
            <a:spLocks noGrp="1"/>
          </p:cNvSpPr>
          <p:nvPr>
            <p:ph type="body" idx="1"/>
          </p:nvPr>
        </p:nvSpPr>
        <p:spPr/>
        <p:txBody>
          <a:bodyPr/>
          <a:lstStyle/>
          <a:p>
            <a:endParaRPr lang="zh-CN" altLang="en-US"/>
          </a:p>
        </p:txBody>
      </p:sp>
      <p:sp>
        <p:nvSpPr>
          <p:cNvPr id="4" name="灯片编号占位符 3"/>
          <p:cNvSpPr>
            <a:spLocks noGrp="1"/>
          </p:cNvSpPr>
          <p:nvPr>
            <p:ph type="sldNum" sz="quarter" idx="10"/>
          </p:nvPr>
        </p:nvSpPr>
        <p:spPr/>
        <p:txBody>
          <a:bodyPr/>
          <a:lstStyle/>
          <a:p>
            <a:fld id="{DA6B9D0F-9225-4952-8434-38C29095FB54}" type="slidenum">
              <a:rPr lang="zh-CN" altLang="en-US" smtClean="0"/>
            </a:fld>
            <a:endParaRPr lang="zh-CN" altLang="en-US"/>
          </a:p>
        </p:txBody>
      </p:sp>
    </p:spTree>
  </p:cSld>
  <p:clrMapOvr>
    <a:masterClrMapping/>
  </p:clrMapOvr>
</p:notes>
</file>

<file path=ppt/notesSlides/notesSlide5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a:xfrm>
            <a:off x="685800" y="1143000"/>
            <a:ext cx="5486400" cy="3086100"/>
          </a:xfrm>
        </p:spPr>
      </p:sp>
      <p:sp>
        <p:nvSpPr>
          <p:cNvPr id="3" name="备注占位符 2"/>
          <p:cNvSpPr>
            <a:spLocks noGrp="1"/>
          </p:cNvSpPr>
          <p:nvPr>
            <p:ph type="body" idx="1"/>
          </p:nvPr>
        </p:nvSpPr>
        <p:spPr/>
        <p:txBody>
          <a:bodyPr/>
          <a:lstStyle/>
          <a:p>
            <a:endParaRPr lang="zh-CN" altLang="en-US"/>
          </a:p>
        </p:txBody>
      </p:sp>
      <p:sp>
        <p:nvSpPr>
          <p:cNvPr id="4" name="灯片编号占位符 3"/>
          <p:cNvSpPr>
            <a:spLocks noGrp="1"/>
          </p:cNvSpPr>
          <p:nvPr>
            <p:ph type="sldNum" sz="quarter" idx="10"/>
          </p:nvPr>
        </p:nvSpPr>
        <p:spPr/>
        <p:txBody>
          <a:bodyPr/>
          <a:lstStyle/>
          <a:p>
            <a:fld id="{DA6B9D0F-9225-4952-8434-38C29095FB54}" type="slidenum">
              <a:rPr lang="zh-CN" altLang="en-US" smtClean="0"/>
            </a:fld>
            <a:endParaRPr lang="zh-CN" altLang="en-US"/>
          </a:p>
        </p:txBody>
      </p:sp>
    </p:spTree>
  </p:cSld>
  <p:clrMapOvr>
    <a:masterClrMapping/>
  </p:clrMapOvr>
</p:notes>
</file>

<file path=ppt/notesSlides/notesSlide5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a:xfrm>
            <a:off x="685800" y="1143000"/>
            <a:ext cx="5486400" cy="3086100"/>
          </a:xfrm>
        </p:spPr>
      </p:sp>
      <p:sp>
        <p:nvSpPr>
          <p:cNvPr id="3" name="备注占位符 2"/>
          <p:cNvSpPr>
            <a:spLocks noGrp="1"/>
          </p:cNvSpPr>
          <p:nvPr>
            <p:ph type="body" idx="1"/>
          </p:nvPr>
        </p:nvSpPr>
        <p:spPr/>
        <p:txBody>
          <a:bodyPr/>
          <a:lstStyle/>
          <a:p>
            <a:endParaRPr lang="zh-CN" altLang="en-US"/>
          </a:p>
        </p:txBody>
      </p:sp>
      <p:sp>
        <p:nvSpPr>
          <p:cNvPr id="4" name="灯片编号占位符 3"/>
          <p:cNvSpPr>
            <a:spLocks noGrp="1"/>
          </p:cNvSpPr>
          <p:nvPr>
            <p:ph type="sldNum" sz="quarter" idx="10"/>
          </p:nvPr>
        </p:nvSpPr>
        <p:spPr/>
        <p:txBody>
          <a:bodyPr/>
          <a:lstStyle/>
          <a:p>
            <a:fld id="{DA6B9D0F-9225-4952-8434-38C29095FB54}" type="slidenum">
              <a:rPr lang="zh-CN" altLang="en-US" smtClean="0"/>
            </a:fld>
            <a:endParaRPr lang="zh-CN" altLang="en-US"/>
          </a:p>
        </p:txBody>
      </p:sp>
    </p:spTree>
  </p:cSld>
  <p:clrMapOvr>
    <a:masterClrMapping/>
  </p:clrMapOvr>
</p:notes>
</file>

<file path=ppt/notesSlides/notesSlide5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a:xfrm>
            <a:off x="685800" y="1143000"/>
            <a:ext cx="5486400" cy="3086100"/>
          </a:xfrm>
        </p:spPr>
      </p:sp>
      <p:sp>
        <p:nvSpPr>
          <p:cNvPr id="3" name="备注占位符 2"/>
          <p:cNvSpPr>
            <a:spLocks noGrp="1"/>
          </p:cNvSpPr>
          <p:nvPr>
            <p:ph type="body" idx="1"/>
          </p:nvPr>
        </p:nvSpPr>
        <p:spPr/>
        <p:txBody>
          <a:bodyPr/>
          <a:lstStyle/>
          <a:p>
            <a:endParaRPr lang="zh-CN" altLang="en-US"/>
          </a:p>
        </p:txBody>
      </p:sp>
      <p:sp>
        <p:nvSpPr>
          <p:cNvPr id="4" name="灯片编号占位符 3"/>
          <p:cNvSpPr>
            <a:spLocks noGrp="1"/>
          </p:cNvSpPr>
          <p:nvPr>
            <p:ph type="sldNum" sz="quarter" idx="10"/>
          </p:nvPr>
        </p:nvSpPr>
        <p:spPr/>
        <p:txBody>
          <a:bodyPr/>
          <a:lstStyle/>
          <a:p>
            <a:fld id="{DA6B9D0F-9225-4952-8434-38C29095FB54}" type="slidenum">
              <a:rPr lang="zh-CN" altLang="en-US" smtClean="0"/>
            </a:fld>
            <a:endParaRPr lang="zh-CN" altLang="en-US"/>
          </a:p>
        </p:txBody>
      </p:sp>
    </p:spTree>
  </p:cSld>
  <p:clrMapOvr>
    <a:masterClrMapping/>
  </p:clrMapOvr>
</p:notes>
</file>

<file path=ppt/notesSlides/notesSlide5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a:xfrm>
            <a:off x="685800" y="1143000"/>
            <a:ext cx="5486400" cy="3086100"/>
          </a:xfrm>
        </p:spPr>
      </p:sp>
      <p:sp>
        <p:nvSpPr>
          <p:cNvPr id="3" name="备注占位符 2"/>
          <p:cNvSpPr>
            <a:spLocks noGrp="1"/>
          </p:cNvSpPr>
          <p:nvPr>
            <p:ph type="body" idx="1"/>
          </p:nvPr>
        </p:nvSpPr>
        <p:spPr/>
        <p:txBody>
          <a:bodyPr/>
          <a:lstStyle/>
          <a:p>
            <a:endParaRPr lang="zh-CN" altLang="en-US"/>
          </a:p>
        </p:txBody>
      </p:sp>
      <p:sp>
        <p:nvSpPr>
          <p:cNvPr id="4" name="灯片编号占位符 3"/>
          <p:cNvSpPr>
            <a:spLocks noGrp="1"/>
          </p:cNvSpPr>
          <p:nvPr>
            <p:ph type="sldNum" sz="quarter" idx="10"/>
          </p:nvPr>
        </p:nvSpPr>
        <p:spPr/>
        <p:txBody>
          <a:bodyPr/>
          <a:lstStyle/>
          <a:p>
            <a:fld id="{DA6B9D0F-9225-4952-8434-38C29095FB54}" type="slidenum">
              <a:rPr lang="zh-CN" altLang="en-US" smtClean="0"/>
            </a:fld>
            <a:endParaRPr lang="zh-CN" altLang="en-US"/>
          </a:p>
        </p:txBody>
      </p:sp>
    </p:spTree>
  </p:cSld>
  <p:clrMapOvr>
    <a:masterClrMapping/>
  </p:clrMapOvr>
</p:notes>
</file>

<file path=ppt/notesSlides/notesSlide5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a:xfrm>
            <a:off x="685800" y="1143000"/>
            <a:ext cx="5486400" cy="3086100"/>
          </a:xfrm>
        </p:spPr>
      </p:sp>
      <p:sp>
        <p:nvSpPr>
          <p:cNvPr id="3" name="备注占位符 2"/>
          <p:cNvSpPr>
            <a:spLocks noGrp="1"/>
          </p:cNvSpPr>
          <p:nvPr>
            <p:ph type="body" idx="1"/>
          </p:nvPr>
        </p:nvSpPr>
        <p:spPr/>
        <p:txBody>
          <a:bodyPr/>
          <a:lstStyle/>
          <a:p>
            <a:endParaRPr lang="zh-CN" altLang="en-US"/>
          </a:p>
        </p:txBody>
      </p:sp>
      <p:sp>
        <p:nvSpPr>
          <p:cNvPr id="4" name="灯片编号占位符 3"/>
          <p:cNvSpPr>
            <a:spLocks noGrp="1"/>
          </p:cNvSpPr>
          <p:nvPr>
            <p:ph type="sldNum" sz="quarter" idx="10"/>
          </p:nvPr>
        </p:nvSpPr>
        <p:spPr/>
        <p:txBody>
          <a:bodyPr/>
          <a:lstStyle/>
          <a:p>
            <a:fld id="{DA6B9D0F-9225-4952-8434-38C29095FB54}" type="slidenum">
              <a:rPr lang="zh-CN" altLang="en-US" smtClean="0"/>
            </a:fld>
            <a:endParaRPr lang="zh-CN" altLang="en-US"/>
          </a:p>
        </p:txBody>
      </p:sp>
    </p:spTree>
  </p:cSld>
  <p:clrMapOvr>
    <a:masterClrMapping/>
  </p:clrMapOvr>
</p:notes>
</file>

<file path=ppt/notesSlides/notesSlide5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a:xfrm>
            <a:off x="685800" y="1143000"/>
            <a:ext cx="5486400" cy="3086100"/>
          </a:xfrm>
        </p:spPr>
      </p:sp>
      <p:sp>
        <p:nvSpPr>
          <p:cNvPr id="3" name="备注占位符 2"/>
          <p:cNvSpPr>
            <a:spLocks noGrp="1"/>
          </p:cNvSpPr>
          <p:nvPr>
            <p:ph type="body" idx="1"/>
          </p:nvPr>
        </p:nvSpPr>
        <p:spPr/>
        <p:txBody>
          <a:bodyPr/>
          <a:lstStyle/>
          <a:p>
            <a:endParaRPr lang="zh-CN" altLang="en-US"/>
          </a:p>
        </p:txBody>
      </p:sp>
      <p:sp>
        <p:nvSpPr>
          <p:cNvPr id="4" name="灯片编号占位符 3"/>
          <p:cNvSpPr>
            <a:spLocks noGrp="1"/>
          </p:cNvSpPr>
          <p:nvPr>
            <p:ph type="sldNum" sz="quarter" idx="10"/>
          </p:nvPr>
        </p:nvSpPr>
        <p:spPr/>
        <p:txBody>
          <a:bodyPr/>
          <a:lstStyle/>
          <a:p>
            <a:fld id="{DA6B9D0F-9225-4952-8434-38C29095FB54}" type="slidenum">
              <a:rPr lang="zh-CN" altLang="en-US" smtClean="0"/>
            </a:fld>
            <a:endParaRPr lang="zh-CN" altLang="en-US"/>
          </a:p>
        </p:txBody>
      </p:sp>
    </p:spTree>
  </p:cSld>
  <p:clrMapOvr>
    <a:masterClrMapping/>
  </p:clrMapOvr>
</p:notes>
</file>

<file path=ppt/notesSlides/notesSlide5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a:xfrm>
            <a:off x="685800" y="1143000"/>
            <a:ext cx="5486400" cy="3086100"/>
          </a:xfrm>
        </p:spPr>
      </p:sp>
      <p:sp>
        <p:nvSpPr>
          <p:cNvPr id="3" name="备注占位符 2"/>
          <p:cNvSpPr>
            <a:spLocks noGrp="1"/>
          </p:cNvSpPr>
          <p:nvPr>
            <p:ph type="body" idx="1"/>
          </p:nvPr>
        </p:nvSpPr>
        <p:spPr/>
        <p:txBody>
          <a:bodyPr/>
          <a:lstStyle/>
          <a:p>
            <a:endParaRPr lang="zh-CN" altLang="en-US"/>
          </a:p>
        </p:txBody>
      </p:sp>
      <p:sp>
        <p:nvSpPr>
          <p:cNvPr id="4" name="灯片编号占位符 3"/>
          <p:cNvSpPr>
            <a:spLocks noGrp="1"/>
          </p:cNvSpPr>
          <p:nvPr>
            <p:ph type="sldNum" sz="quarter" idx="10"/>
          </p:nvPr>
        </p:nvSpPr>
        <p:spPr/>
        <p:txBody>
          <a:bodyPr/>
          <a:lstStyle/>
          <a:p>
            <a:fld id="{DA6B9D0F-9225-4952-8434-38C29095FB54}" type="slidenum">
              <a:rPr lang="zh-CN" altLang="en-US" smtClean="0"/>
            </a:fld>
            <a:endParaRPr lang="zh-CN" altLang="en-US"/>
          </a:p>
        </p:txBody>
      </p:sp>
    </p:spTree>
  </p:cSld>
  <p:clrMapOvr>
    <a:masterClrMapping/>
  </p:clrMapOvr>
</p:notes>
</file>

<file path=ppt/notesSlides/notesSlide5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a:xfrm>
            <a:off x="685800" y="1143000"/>
            <a:ext cx="5486400" cy="3086100"/>
          </a:xfrm>
        </p:spPr>
      </p:sp>
      <p:sp>
        <p:nvSpPr>
          <p:cNvPr id="3" name="备注占位符 2"/>
          <p:cNvSpPr>
            <a:spLocks noGrp="1"/>
          </p:cNvSpPr>
          <p:nvPr>
            <p:ph type="body" idx="1"/>
          </p:nvPr>
        </p:nvSpPr>
        <p:spPr/>
        <p:txBody>
          <a:bodyPr/>
          <a:lstStyle/>
          <a:p>
            <a:endParaRPr lang="zh-CN" altLang="en-US"/>
          </a:p>
        </p:txBody>
      </p:sp>
      <p:sp>
        <p:nvSpPr>
          <p:cNvPr id="4" name="灯片编号占位符 3"/>
          <p:cNvSpPr>
            <a:spLocks noGrp="1"/>
          </p:cNvSpPr>
          <p:nvPr>
            <p:ph type="sldNum" sz="quarter" idx="10"/>
          </p:nvPr>
        </p:nvSpPr>
        <p:spPr/>
        <p:txBody>
          <a:bodyPr/>
          <a:lstStyle/>
          <a:p>
            <a:fld id="{DA6B9D0F-9225-4952-8434-38C29095FB54}" type="slidenum">
              <a:rPr lang="zh-CN" altLang="en-US" smtClean="0"/>
            </a:fld>
            <a:endParaRPr lang="zh-CN" altLang="en-US"/>
          </a:p>
        </p:txBody>
      </p:sp>
    </p:spTree>
  </p:cSld>
  <p:clrMapOvr>
    <a:masterClrMapping/>
  </p:clrMapOvr>
</p:notes>
</file>

<file path=ppt/slideLayouts/_rels/slideLayout1.xml.rels><?xml version="1.0" encoding="UTF-8" standalone="yes"?>
<Relationships xmlns="http://schemas.openxmlformats.org/package/2006/relationships"><Relationship Id="rId5" Type="http://schemas.openxmlformats.org/officeDocument/2006/relationships/image" Target="../media/image4.png"/><Relationship Id="rId4" Type="http://schemas.openxmlformats.org/officeDocument/2006/relationships/image" Target="../media/image3.png"/><Relationship Id="rId3" Type="http://schemas.openxmlformats.org/officeDocument/2006/relationships/image" Target="../media/image2.png"/><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image" Target="../media/image5.png"/><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image" Target="../media/image5.png"/><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标题幻灯片">
    <p:spTree>
      <p:nvGrpSpPr>
        <p:cNvPr id="1" name=""/>
        <p:cNvGrpSpPr/>
        <p:nvPr/>
      </p:nvGrpSpPr>
      <p:grpSpPr>
        <a:xfrm>
          <a:off x="0" y="0"/>
          <a:ext cx="0" cy="0"/>
          <a:chOff x="0" y="0"/>
          <a:chExt cx="0" cy="0"/>
        </a:xfrm>
      </p:grpSpPr>
      <p:sp>
        <p:nvSpPr>
          <p:cNvPr id="2" name="标题 1"/>
          <p:cNvSpPr>
            <a:spLocks noGrp="1"/>
          </p:cNvSpPr>
          <p:nvPr>
            <p:ph type="ctrTitle"/>
          </p:nvPr>
        </p:nvSpPr>
        <p:spPr>
          <a:xfrm>
            <a:off x="457200" y="1597821"/>
            <a:ext cx="8229600" cy="1102519"/>
          </a:xfrm>
        </p:spPr>
        <p:txBody>
          <a:bodyPr/>
          <a:lstStyle>
            <a:lvl1pPr>
              <a:defRPr sz="2475">
                <a:latin typeface="Times New Roman" panose="02020503050405090304" pitchFamily="18" charset="0"/>
                <a:cs typeface="Times New Roman" panose="02020503050405090304" pitchFamily="18" charset="0"/>
              </a:defRPr>
            </a:lvl1pPr>
          </a:lstStyle>
          <a:p>
            <a:r>
              <a:rPr lang="zh-CN" altLang="en-US"/>
              <a:t>单击此处编辑母版标题样式</a:t>
            </a:r>
            <a:endParaRPr lang="zh-CN" altLang="en-US"/>
          </a:p>
        </p:txBody>
      </p:sp>
      <p:sp>
        <p:nvSpPr>
          <p:cNvPr id="3" name="副标题 2"/>
          <p:cNvSpPr>
            <a:spLocks noGrp="1"/>
          </p:cNvSpPr>
          <p:nvPr>
            <p:ph type="subTitle" idx="1"/>
          </p:nvPr>
        </p:nvSpPr>
        <p:spPr>
          <a:xfrm>
            <a:off x="1371600" y="2914650"/>
            <a:ext cx="6400800" cy="1314450"/>
          </a:xfrm>
        </p:spPr>
        <p:txBody>
          <a:bodyPr anchor="ctr"/>
          <a:lstStyle>
            <a:lvl1pPr marL="0" indent="0" algn="ctr">
              <a:buNone/>
              <a:defRPr sz="2025">
                <a:solidFill>
                  <a:srgbClr val="0000CC"/>
                </a:solidFill>
                <a:latin typeface="Times New Roman" panose="02020503050405090304" pitchFamily="18" charset="0"/>
                <a:cs typeface="Times New Roman" panose="02020503050405090304" pitchFamily="18" charset="0"/>
              </a:defRPr>
            </a:lvl1pPr>
            <a:lvl2pPr marL="257175" indent="0" algn="ctr">
              <a:buNone/>
              <a:defRPr>
                <a:solidFill>
                  <a:schemeClr val="tx1">
                    <a:tint val="75000"/>
                  </a:schemeClr>
                </a:solidFill>
              </a:defRPr>
            </a:lvl2pPr>
            <a:lvl3pPr marL="514350" indent="0" algn="ctr">
              <a:buNone/>
              <a:defRPr>
                <a:solidFill>
                  <a:schemeClr val="tx1">
                    <a:tint val="75000"/>
                  </a:schemeClr>
                </a:solidFill>
              </a:defRPr>
            </a:lvl3pPr>
            <a:lvl4pPr marL="771525" indent="0" algn="ctr">
              <a:buNone/>
              <a:defRPr>
                <a:solidFill>
                  <a:schemeClr val="tx1">
                    <a:tint val="75000"/>
                  </a:schemeClr>
                </a:solidFill>
              </a:defRPr>
            </a:lvl4pPr>
            <a:lvl5pPr marL="1028700" indent="0" algn="ctr">
              <a:buNone/>
              <a:defRPr>
                <a:solidFill>
                  <a:schemeClr val="tx1">
                    <a:tint val="75000"/>
                  </a:schemeClr>
                </a:solidFill>
              </a:defRPr>
            </a:lvl5pPr>
            <a:lvl6pPr marL="1285875" indent="0" algn="ctr">
              <a:buNone/>
              <a:defRPr>
                <a:solidFill>
                  <a:schemeClr val="tx1">
                    <a:tint val="75000"/>
                  </a:schemeClr>
                </a:solidFill>
              </a:defRPr>
            </a:lvl6pPr>
            <a:lvl7pPr marL="1543050" indent="0" algn="ctr">
              <a:buNone/>
              <a:defRPr>
                <a:solidFill>
                  <a:schemeClr val="tx1">
                    <a:tint val="75000"/>
                  </a:schemeClr>
                </a:solidFill>
              </a:defRPr>
            </a:lvl7pPr>
            <a:lvl8pPr marL="1800225" indent="0" algn="ctr">
              <a:buNone/>
              <a:defRPr>
                <a:solidFill>
                  <a:schemeClr val="tx1">
                    <a:tint val="75000"/>
                  </a:schemeClr>
                </a:solidFill>
              </a:defRPr>
            </a:lvl8pPr>
            <a:lvl9pPr marL="2057400" indent="0" algn="ctr">
              <a:buNone/>
              <a:defRPr>
                <a:solidFill>
                  <a:schemeClr val="tx1">
                    <a:tint val="75000"/>
                  </a:schemeClr>
                </a:solidFill>
              </a:defRPr>
            </a:lvl9pPr>
          </a:lstStyle>
          <a:p>
            <a:r>
              <a:rPr lang="zh-CN" altLang="en-US"/>
              <a:t>单击此处编辑母版副标题样式</a:t>
            </a:r>
            <a:endParaRPr lang="zh-CN" altLang="en-US"/>
          </a:p>
        </p:txBody>
      </p:sp>
      <p:sp>
        <p:nvSpPr>
          <p:cNvPr id="5" name="日期占位符 3"/>
          <p:cNvSpPr>
            <a:spLocks noGrp="1"/>
          </p:cNvSpPr>
          <p:nvPr>
            <p:ph type="dt" sz="half" idx="10"/>
          </p:nvPr>
        </p:nvSpPr>
        <p:spPr/>
        <p:txBody>
          <a:bodyPr/>
          <a:lstStyle>
            <a:lvl1pPr>
              <a:defRPr/>
            </a:lvl1pPr>
          </a:lstStyle>
          <a:p>
            <a:fld id="{9B08A9E9-3FBA-4EEE-845A-6E0055A21ACA}" type="datetime1">
              <a:rPr lang="zh-CN" altLang="en-US" smtClean="0"/>
            </a:fld>
            <a:endParaRPr lang="zh-CN" altLang="en-US"/>
          </a:p>
        </p:txBody>
      </p:sp>
      <p:sp>
        <p:nvSpPr>
          <p:cNvPr id="6" name="灯片编号占位符 5"/>
          <p:cNvSpPr>
            <a:spLocks noGrp="1"/>
          </p:cNvSpPr>
          <p:nvPr>
            <p:ph type="sldNum" sz="quarter" idx="11"/>
          </p:nvPr>
        </p:nvSpPr>
        <p:spPr/>
        <p:txBody>
          <a:bodyPr/>
          <a:lstStyle>
            <a:lvl1pPr>
              <a:defRPr/>
            </a:lvl1pPr>
          </a:lstStyle>
          <a:p>
            <a:fld id="{82952373-7980-4DA7-9ADE-54D716DB38BB}" type="slidenum">
              <a:rPr lang="zh-CN" altLang="en-US" smtClean="0"/>
            </a:fld>
            <a:endParaRPr lang="zh-CN" altLang="en-US"/>
          </a:p>
        </p:txBody>
      </p:sp>
      <p:pic>
        <p:nvPicPr>
          <p:cNvPr id="7" name="图片 6"/>
          <p:cNvPicPr>
            <a:picLocks noChangeAspect="1"/>
          </p:cNvPicPr>
          <p:nvPr/>
        </p:nvPicPr>
        <p:blipFill>
          <a:blip r:embed="rId2" cstate="print">
            <a:extLst>
              <a:ext uri="{28A0092B-C50C-407E-A947-70E740481C1C}">
                <a14:useLocalDpi xmlns:a14="http://schemas.microsoft.com/office/drawing/2010/main" val="0"/>
              </a:ext>
            </a:extLst>
          </a:blip>
          <a:stretch>
            <a:fillRect/>
          </a:stretch>
        </p:blipFill>
        <p:spPr>
          <a:xfrm>
            <a:off x="358499" y="0"/>
            <a:ext cx="2451501" cy="711518"/>
          </a:xfrm>
          <a:prstGeom prst="rect">
            <a:avLst/>
          </a:prstGeom>
        </p:spPr>
      </p:pic>
      <p:pic>
        <p:nvPicPr>
          <p:cNvPr id="11" name="图片 10"/>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7257886" y="264918"/>
            <a:ext cx="1886114" cy="302921"/>
          </a:xfrm>
          <a:prstGeom prst="rect">
            <a:avLst/>
          </a:prstGeom>
        </p:spPr>
      </p:pic>
      <p:pic>
        <p:nvPicPr>
          <p:cNvPr id="4" name="图片 3" descr="图片4"/>
          <p:cNvPicPr>
            <a:picLocks noChangeAspect="1"/>
          </p:cNvPicPr>
          <p:nvPr/>
        </p:nvPicPr>
        <p:blipFill>
          <a:blip r:embed="rId4" cstate="screen">
            <a:lum bright="6000"/>
          </a:blip>
          <a:stretch>
            <a:fillRect/>
          </a:stretch>
        </p:blipFill>
        <p:spPr>
          <a:xfrm>
            <a:off x="-482601" y="3889509"/>
            <a:ext cx="10033001" cy="1253991"/>
          </a:xfrm>
          <a:prstGeom prst="rect">
            <a:avLst/>
          </a:prstGeom>
        </p:spPr>
      </p:pic>
      <p:pic>
        <p:nvPicPr>
          <p:cNvPr id="8" name="图片 7" descr="图片1"/>
          <p:cNvPicPr>
            <a:picLocks noChangeAspect="1"/>
          </p:cNvPicPr>
          <p:nvPr/>
        </p:nvPicPr>
        <p:blipFill>
          <a:blip r:embed="rId5" cstate="print">
            <a:lum bright="-18000" contrast="-12000"/>
          </a:blip>
          <a:stretch>
            <a:fillRect/>
          </a:stretch>
        </p:blipFill>
        <p:spPr>
          <a:xfrm>
            <a:off x="61064" y="4039689"/>
            <a:ext cx="9021872" cy="1103811"/>
          </a:xfrm>
          <a:prstGeom prst="rect">
            <a:avLst/>
          </a:prstGeom>
        </p:spPr>
      </p:pic>
    </p:spTree>
  </p:cSld>
  <p:clrMapOvr>
    <a:masterClrMapping/>
  </p:clrMapOvr>
  <p:transition spd="slow">
    <p:cover/>
  </p:transition>
</p:sldLayout>
</file>

<file path=ppt/slideLayouts/slideLayout2.xml><?xml version="1.0" encoding="utf-8"?>
<p:sldLayout xmlns:a="http://schemas.openxmlformats.org/drawingml/2006/main" xmlns:r="http://schemas.openxmlformats.org/officeDocument/2006/relationships" xmlns:p="http://schemas.openxmlformats.org/presentationml/2006/main" preserve="1">
  <p:cSld name="标题和内容">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lvl1pPr>
              <a:defRPr sz="2400" b="1">
                <a:latin typeface="Times New Roman" panose="02020503050405090304" pitchFamily="18" charset="0"/>
                <a:cs typeface="Times New Roman" panose="02020503050405090304" pitchFamily="18" charset="0"/>
              </a:defRPr>
            </a:lvl1pPr>
          </a:lstStyle>
          <a:p>
            <a:r>
              <a:rPr lang="zh-CN" altLang="en-US"/>
              <a:t>单击此处编辑母版标题样式</a:t>
            </a:r>
            <a:endParaRPr lang="zh-CN" altLang="en-US"/>
          </a:p>
        </p:txBody>
      </p:sp>
      <p:sp>
        <p:nvSpPr>
          <p:cNvPr id="4" name="日期占位符 3"/>
          <p:cNvSpPr>
            <a:spLocks noGrp="1"/>
          </p:cNvSpPr>
          <p:nvPr>
            <p:ph type="dt" sz="half" idx="10"/>
          </p:nvPr>
        </p:nvSpPr>
        <p:spPr>
          <a:xfrm>
            <a:off x="395288" y="4869659"/>
            <a:ext cx="2133600" cy="273844"/>
          </a:xfrm>
        </p:spPr>
        <p:txBody>
          <a:bodyPr/>
          <a:lstStyle>
            <a:lvl1pPr>
              <a:defRPr/>
            </a:lvl1pPr>
          </a:lstStyle>
          <a:p>
            <a:fld id="{57CB8115-F56F-4B9F-9802-5B80774BA1A5}" type="datetime1">
              <a:rPr lang="zh-CN" altLang="en-US" smtClean="0"/>
            </a:fld>
            <a:endParaRPr lang="zh-CN" altLang="en-US"/>
          </a:p>
        </p:txBody>
      </p:sp>
      <p:sp>
        <p:nvSpPr>
          <p:cNvPr id="5" name="页脚占位符 4"/>
          <p:cNvSpPr>
            <a:spLocks noGrp="1"/>
          </p:cNvSpPr>
          <p:nvPr>
            <p:ph type="ftr" sz="quarter" idx="11"/>
          </p:nvPr>
        </p:nvSpPr>
        <p:spPr>
          <a:xfrm>
            <a:off x="3265488" y="4882756"/>
            <a:ext cx="2895600" cy="273844"/>
          </a:xfrm>
        </p:spPr>
        <p:txBody>
          <a:bodyPr/>
          <a:lstStyle>
            <a:lvl1pPr>
              <a:defRPr/>
            </a:lvl1pPr>
          </a:lstStyle>
          <a:p>
            <a:endParaRPr lang="zh-CN" altLang="en-US"/>
          </a:p>
        </p:txBody>
      </p:sp>
      <p:sp>
        <p:nvSpPr>
          <p:cNvPr id="6" name="灯片编号占位符 5"/>
          <p:cNvSpPr>
            <a:spLocks noGrp="1"/>
          </p:cNvSpPr>
          <p:nvPr>
            <p:ph type="sldNum" sz="quarter" idx="12"/>
          </p:nvPr>
        </p:nvSpPr>
        <p:spPr/>
        <p:txBody>
          <a:bodyPr/>
          <a:lstStyle>
            <a:lvl1pPr>
              <a:defRPr/>
            </a:lvl1pPr>
          </a:lstStyle>
          <a:p>
            <a:fld id="{82952373-7980-4DA7-9ADE-54D716DB38BB}" type="slidenum">
              <a:rPr lang="zh-CN" altLang="en-US" smtClean="0"/>
            </a:fld>
            <a:endParaRPr lang="zh-CN" altLang="en-US"/>
          </a:p>
        </p:txBody>
      </p:sp>
      <p:sp>
        <p:nvSpPr>
          <p:cNvPr id="7" name="文本占位符 2"/>
          <p:cNvSpPr>
            <a:spLocks noGrp="1"/>
          </p:cNvSpPr>
          <p:nvPr>
            <p:ph idx="1"/>
          </p:nvPr>
        </p:nvSpPr>
        <p:spPr bwMode="auto">
          <a:xfrm>
            <a:off x="250827" y="897732"/>
            <a:ext cx="8642350" cy="388858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lstStyle/>
          <a:p>
            <a:pPr lvl="0"/>
            <a:r>
              <a:rPr lang="zh-CN" altLang="en-US"/>
              <a:t>单击此处编辑母版文本样式</a:t>
            </a:r>
            <a:endParaRPr lang="zh-CN" altLang="en-US"/>
          </a:p>
          <a:p>
            <a:pPr lvl="1"/>
            <a:r>
              <a:rPr lang="zh-CN" altLang="en-US"/>
              <a:t>二级</a:t>
            </a:r>
            <a:endParaRPr lang="zh-CN" altLang="en-US"/>
          </a:p>
          <a:p>
            <a:pPr lvl="2"/>
            <a:r>
              <a:rPr lang="zh-CN" altLang="en-US"/>
              <a:t>三级</a:t>
            </a:r>
            <a:endParaRPr lang="zh-CN" altLang="en-US"/>
          </a:p>
        </p:txBody>
      </p:sp>
    </p:spTree>
  </p:cSld>
  <p:clrMapOvr>
    <a:masterClrMapping/>
  </p:clrMapOvr>
  <p:transition spd="slow">
    <p:cover/>
  </p:transition>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节标题">
    <p:spTree>
      <p:nvGrpSpPr>
        <p:cNvPr id="1" name=""/>
        <p:cNvGrpSpPr/>
        <p:nvPr/>
      </p:nvGrpSpPr>
      <p:grpSpPr>
        <a:xfrm>
          <a:off x="0" y="0"/>
          <a:ext cx="0" cy="0"/>
          <a:chOff x="0" y="0"/>
          <a:chExt cx="0" cy="0"/>
        </a:xfrm>
      </p:grpSpPr>
      <p:sp>
        <p:nvSpPr>
          <p:cNvPr id="2" name="标题 1"/>
          <p:cNvSpPr>
            <a:spLocks noGrp="1"/>
          </p:cNvSpPr>
          <p:nvPr>
            <p:ph type="title"/>
          </p:nvPr>
        </p:nvSpPr>
        <p:spPr>
          <a:xfrm>
            <a:off x="722313" y="1883218"/>
            <a:ext cx="7772400" cy="1021556"/>
          </a:xfrm>
        </p:spPr>
        <p:txBody>
          <a:bodyPr/>
          <a:lstStyle>
            <a:lvl1pPr algn="ctr">
              <a:defRPr sz="2250" b="1" cap="none"/>
            </a:lvl1pPr>
          </a:lstStyle>
          <a:p>
            <a:r>
              <a:rPr lang="zh-CN" altLang="en-US"/>
              <a:t>单击此处编辑母版标题样式</a:t>
            </a:r>
            <a:endParaRPr lang="zh-CN" altLang="en-US"/>
          </a:p>
        </p:txBody>
      </p:sp>
      <p:sp>
        <p:nvSpPr>
          <p:cNvPr id="3" name="文本占位符 2"/>
          <p:cNvSpPr>
            <a:spLocks noGrp="1"/>
          </p:cNvSpPr>
          <p:nvPr>
            <p:ph type="body" idx="1"/>
          </p:nvPr>
        </p:nvSpPr>
        <p:spPr>
          <a:xfrm>
            <a:off x="722313" y="2904775"/>
            <a:ext cx="7772400" cy="1125140"/>
          </a:xfrm>
        </p:spPr>
        <p:txBody>
          <a:bodyPr anchor="ctr"/>
          <a:lstStyle>
            <a:lvl1pPr marL="0" indent="0" algn="ctr">
              <a:buNone/>
              <a:defRPr sz="1800">
                <a:solidFill>
                  <a:srgbClr val="0000CC"/>
                </a:solidFill>
              </a:defRPr>
            </a:lvl1pPr>
            <a:lvl2pPr marL="257175" indent="0">
              <a:buNone/>
              <a:defRPr sz="1015">
                <a:solidFill>
                  <a:schemeClr val="tx1">
                    <a:tint val="75000"/>
                  </a:schemeClr>
                </a:solidFill>
              </a:defRPr>
            </a:lvl2pPr>
            <a:lvl3pPr marL="514350" indent="0">
              <a:buNone/>
              <a:defRPr sz="900">
                <a:solidFill>
                  <a:schemeClr val="tx1">
                    <a:tint val="75000"/>
                  </a:schemeClr>
                </a:solidFill>
              </a:defRPr>
            </a:lvl3pPr>
            <a:lvl4pPr marL="771525" indent="0">
              <a:buNone/>
              <a:defRPr sz="790">
                <a:solidFill>
                  <a:schemeClr val="tx1">
                    <a:tint val="75000"/>
                  </a:schemeClr>
                </a:solidFill>
              </a:defRPr>
            </a:lvl4pPr>
            <a:lvl5pPr marL="1028700" indent="0">
              <a:buNone/>
              <a:defRPr sz="790">
                <a:solidFill>
                  <a:schemeClr val="tx1">
                    <a:tint val="75000"/>
                  </a:schemeClr>
                </a:solidFill>
              </a:defRPr>
            </a:lvl5pPr>
            <a:lvl6pPr marL="1285875" indent="0">
              <a:buNone/>
              <a:defRPr sz="790">
                <a:solidFill>
                  <a:schemeClr val="tx1">
                    <a:tint val="75000"/>
                  </a:schemeClr>
                </a:solidFill>
              </a:defRPr>
            </a:lvl6pPr>
            <a:lvl7pPr marL="1543050" indent="0">
              <a:buNone/>
              <a:defRPr sz="790">
                <a:solidFill>
                  <a:schemeClr val="tx1">
                    <a:tint val="75000"/>
                  </a:schemeClr>
                </a:solidFill>
              </a:defRPr>
            </a:lvl7pPr>
            <a:lvl8pPr marL="1800225" indent="0">
              <a:buNone/>
              <a:defRPr sz="790">
                <a:solidFill>
                  <a:schemeClr val="tx1">
                    <a:tint val="75000"/>
                  </a:schemeClr>
                </a:solidFill>
              </a:defRPr>
            </a:lvl8pPr>
            <a:lvl9pPr marL="2057400" indent="0">
              <a:buNone/>
              <a:defRPr sz="790">
                <a:solidFill>
                  <a:schemeClr val="tx1">
                    <a:tint val="75000"/>
                  </a:schemeClr>
                </a:solidFill>
              </a:defRPr>
            </a:lvl9pPr>
          </a:lstStyle>
          <a:p>
            <a:pPr lvl="0"/>
            <a:r>
              <a:rPr lang="zh-CN" altLang="en-US"/>
              <a:t>单击此处编辑母版文本样式</a:t>
            </a:r>
            <a:endParaRPr lang="zh-CN" altLang="en-US"/>
          </a:p>
        </p:txBody>
      </p:sp>
      <p:sp>
        <p:nvSpPr>
          <p:cNvPr id="5" name="日期占位符 3"/>
          <p:cNvSpPr>
            <a:spLocks noGrp="1"/>
          </p:cNvSpPr>
          <p:nvPr>
            <p:ph type="dt" sz="half" idx="10"/>
          </p:nvPr>
        </p:nvSpPr>
        <p:spPr/>
        <p:txBody>
          <a:bodyPr/>
          <a:lstStyle>
            <a:lvl1pPr>
              <a:defRPr/>
            </a:lvl1pPr>
          </a:lstStyle>
          <a:p>
            <a:fld id="{53B65A66-BB90-436D-B8DE-04D9C933966E}" type="datetime1">
              <a:rPr lang="zh-CN" altLang="en-US" smtClean="0"/>
            </a:fld>
            <a:endParaRPr lang="zh-CN" altLang="en-US"/>
          </a:p>
        </p:txBody>
      </p:sp>
      <p:sp>
        <p:nvSpPr>
          <p:cNvPr id="6" name="页脚占位符 4"/>
          <p:cNvSpPr>
            <a:spLocks noGrp="1"/>
          </p:cNvSpPr>
          <p:nvPr>
            <p:ph type="ftr" sz="quarter" idx="11"/>
          </p:nvPr>
        </p:nvSpPr>
        <p:spPr/>
        <p:txBody>
          <a:bodyPr/>
          <a:lstStyle>
            <a:lvl1pPr>
              <a:defRPr/>
            </a:lvl1pPr>
          </a:lstStyle>
          <a:p>
            <a:endParaRPr lang="zh-CN" altLang="en-US"/>
          </a:p>
        </p:txBody>
      </p:sp>
      <p:sp>
        <p:nvSpPr>
          <p:cNvPr id="7" name="灯片编号占位符 5"/>
          <p:cNvSpPr>
            <a:spLocks noGrp="1"/>
          </p:cNvSpPr>
          <p:nvPr>
            <p:ph type="sldNum" sz="quarter" idx="12"/>
          </p:nvPr>
        </p:nvSpPr>
        <p:spPr/>
        <p:txBody>
          <a:bodyPr/>
          <a:lstStyle>
            <a:lvl1pPr>
              <a:defRPr/>
            </a:lvl1pPr>
          </a:lstStyle>
          <a:p>
            <a:fld id="{82952373-7980-4DA7-9ADE-54D716DB38BB}" type="slidenum">
              <a:rPr lang="zh-CN" altLang="en-US" smtClean="0"/>
            </a:fld>
            <a:endParaRPr lang="zh-CN" altLang="en-US"/>
          </a:p>
        </p:txBody>
      </p:sp>
      <p:pic>
        <p:nvPicPr>
          <p:cNvPr id="8" name="图片 7"/>
          <p:cNvPicPr>
            <a:picLocks noChangeAspect="1"/>
          </p:cNvPicPr>
          <p:nvPr/>
        </p:nvPicPr>
        <p:blipFill>
          <a:blip r:embed="rId2"/>
          <a:stretch>
            <a:fillRect/>
          </a:stretch>
        </p:blipFill>
        <p:spPr>
          <a:xfrm>
            <a:off x="17445" y="4544519"/>
            <a:ext cx="9126557" cy="598984"/>
          </a:xfrm>
          <a:prstGeom prst="rect">
            <a:avLst/>
          </a:prstGeom>
        </p:spPr>
      </p:pic>
      <p:pic>
        <p:nvPicPr>
          <p:cNvPr id="26" name="图片 25"/>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a:xfrm>
            <a:off x="376237" y="43483"/>
            <a:ext cx="8729663" cy="641450"/>
          </a:xfrm>
          <a:prstGeom prst="rect">
            <a:avLst/>
          </a:prstGeom>
        </p:spPr>
      </p:pic>
    </p:spTree>
  </p:cSld>
  <p:clrMapOvr>
    <a:masterClrMapping/>
  </p:clrMapOvr>
  <p:transition spd="slow">
    <p:cover/>
  </p:transition>
</p:sldLayout>
</file>

<file path=ppt/slideLayouts/slideLayout4.xml><?xml version="1.0" encoding="utf-8"?>
<p:sldLayout xmlns:a="http://schemas.openxmlformats.org/drawingml/2006/main" xmlns:r="http://schemas.openxmlformats.org/officeDocument/2006/relationships" xmlns:p="http://schemas.openxmlformats.org/presentationml/2006/main" type="secHead" preserve="1">
  <p:cSld name="1_节标题">
    <p:spTree>
      <p:nvGrpSpPr>
        <p:cNvPr id="1" name=""/>
        <p:cNvGrpSpPr/>
        <p:nvPr/>
      </p:nvGrpSpPr>
      <p:grpSpPr>
        <a:xfrm>
          <a:off x="0" y="0"/>
          <a:ext cx="0" cy="0"/>
          <a:chOff x="0" y="0"/>
          <a:chExt cx="0" cy="0"/>
        </a:xfrm>
      </p:grpSpPr>
      <p:sp>
        <p:nvSpPr>
          <p:cNvPr id="2" name="标题 1"/>
          <p:cNvSpPr>
            <a:spLocks noGrp="1"/>
          </p:cNvSpPr>
          <p:nvPr>
            <p:ph type="title"/>
          </p:nvPr>
        </p:nvSpPr>
        <p:spPr>
          <a:xfrm>
            <a:off x="722313" y="1883218"/>
            <a:ext cx="7772400" cy="1021556"/>
          </a:xfrm>
        </p:spPr>
        <p:txBody>
          <a:bodyPr/>
          <a:lstStyle>
            <a:lvl1pPr algn="ctr">
              <a:defRPr sz="2250" b="1" cap="none"/>
            </a:lvl1pPr>
          </a:lstStyle>
          <a:p>
            <a:r>
              <a:rPr lang="zh-CN" altLang="en-US"/>
              <a:t>单击此处编辑母版标题样式</a:t>
            </a:r>
            <a:endParaRPr lang="zh-CN" altLang="en-US"/>
          </a:p>
        </p:txBody>
      </p:sp>
      <p:sp>
        <p:nvSpPr>
          <p:cNvPr id="3" name="文本占位符 2"/>
          <p:cNvSpPr>
            <a:spLocks noGrp="1"/>
          </p:cNvSpPr>
          <p:nvPr>
            <p:ph type="body" idx="1"/>
          </p:nvPr>
        </p:nvSpPr>
        <p:spPr>
          <a:xfrm>
            <a:off x="722313" y="2904775"/>
            <a:ext cx="7772400" cy="1125140"/>
          </a:xfrm>
        </p:spPr>
        <p:txBody>
          <a:bodyPr anchor="ctr"/>
          <a:lstStyle>
            <a:lvl1pPr marL="0" indent="0" algn="ctr">
              <a:buNone/>
              <a:defRPr sz="1800">
                <a:solidFill>
                  <a:srgbClr val="0000CC"/>
                </a:solidFill>
              </a:defRPr>
            </a:lvl1pPr>
            <a:lvl2pPr marL="257175" indent="0">
              <a:buNone/>
              <a:defRPr sz="1015">
                <a:solidFill>
                  <a:schemeClr val="tx1">
                    <a:tint val="75000"/>
                  </a:schemeClr>
                </a:solidFill>
              </a:defRPr>
            </a:lvl2pPr>
            <a:lvl3pPr marL="514350" indent="0">
              <a:buNone/>
              <a:defRPr sz="900">
                <a:solidFill>
                  <a:schemeClr val="tx1">
                    <a:tint val="75000"/>
                  </a:schemeClr>
                </a:solidFill>
              </a:defRPr>
            </a:lvl3pPr>
            <a:lvl4pPr marL="771525" indent="0">
              <a:buNone/>
              <a:defRPr sz="790">
                <a:solidFill>
                  <a:schemeClr val="tx1">
                    <a:tint val="75000"/>
                  </a:schemeClr>
                </a:solidFill>
              </a:defRPr>
            </a:lvl4pPr>
            <a:lvl5pPr marL="1028700" indent="0">
              <a:buNone/>
              <a:defRPr sz="790">
                <a:solidFill>
                  <a:schemeClr val="tx1">
                    <a:tint val="75000"/>
                  </a:schemeClr>
                </a:solidFill>
              </a:defRPr>
            </a:lvl5pPr>
            <a:lvl6pPr marL="1285875" indent="0">
              <a:buNone/>
              <a:defRPr sz="790">
                <a:solidFill>
                  <a:schemeClr val="tx1">
                    <a:tint val="75000"/>
                  </a:schemeClr>
                </a:solidFill>
              </a:defRPr>
            </a:lvl6pPr>
            <a:lvl7pPr marL="1543050" indent="0">
              <a:buNone/>
              <a:defRPr sz="790">
                <a:solidFill>
                  <a:schemeClr val="tx1">
                    <a:tint val="75000"/>
                  </a:schemeClr>
                </a:solidFill>
              </a:defRPr>
            </a:lvl7pPr>
            <a:lvl8pPr marL="1800225" indent="0">
              <a:buNone/>
              <a:defRPr sz="790">
                <a:solidFill>
                  <a:schemeClr val="tx1">
                    <a:tint val="75000"/>
                  </a:schemeClr>
                </a:solidFill>
              </a:defRPr>
            </a:lvl8pPr>
            <a:lvl9pPr marL="2057400" indent="0">
              <a:buNone/>
              <a:defRPr sz="790">
                <a:solidFill>
                  <a:schemeClr val="tx1">
                    <a:tint val="75000"/>
                  </a:schemeClr>
                </a:solidFill>
              </a:defRPr>
            </a:lvl9pPr>
          </a:lstStyle>
          <a:p>
            <a:pPr lvl="0"/>
            <a:r>
              <a:rPr lang="zh-CN" altLang="en-US"/>
              <a:t>单击此处编辑母版文本样式</a:t>
            </a:r>
            <a:endParaRPr lang="zh-CN" altLang="en-US"/>
          </a:p>
        </p:txBody>
      </p:sp>
      <p:sp>
        <p:nvSpPr>
          <p:cNvPr id="5" name="日期占位符 3"/>
          <p:cNvSpPr>
            <a:spLocks noGrp="1"/>
          </p:cNvSpPr>
          <p:nvPr>
            <p:ph type="dt" sz="half" idx="10"/>
          </p:nvPr>
        </p:nvSpPr>
        <p:spPr/>
        <p:txBody>
          <a:bodyPr/>
          <a:lstStyle>
            <a:lvl1pPr>
              <a:defRPr/>
            </a:lvl1pPr>
          </a:lstStyle>
          <a:p>
            <a:fld id="{0A89CA1E-BC9B-46D2-A679-BBADAE4380FF}" type="datetime1">
              <a:rPr lang="zh-CN" altLang="en-US" smtClean="0"/>
            </a:fld>
            <a:endParaRPr lang="zh-CN" altLang="en-US"/>
          </a:p>
        </p:txBody>
      </p:sp>
      <p:sp>
        <p:nvSpPr>
          <p:cNvPr id="6" name="页脚占位符 4"/>
          <p:cNvSpPr>
            <a:spLocks noGrp="1"/>
          </p:cNvSpPr>
          <p:nvPr>
            <p:ph type="ftr" sz="quarter" idx="11"/>
          </p:nvPr>
        </p:nvSpPr>
        <p:spPr/>
        <p:txBody>
          <a:bodyPr/>
          <a:lstStyle>
            <a:lvl1pPr>
              <a:defRPr/>
            </a:lvl1pPr>
          </a:lstStyle>
          <a:p>
            <a:endParaRPr lang="zh-CN" altLang="en-US"/>
          </a:p>
        </p:txBody>
      </p:sp>
      <p:sp>
        <p:nvSpPr>
          <p:cNvPr id="7" name="灯片编号占位符 5"/>
          <p:cNvSpPr>
            <a:spLocks noGrp="1"/>
          </p:cNvSpPr>
          <p:nvPr>
            <p:ph type="sldNum" sz="quarter" idx="12"/>
          </p:nvPr>
        </p:nvSpPr>
        <p:spPr/>
        <p:txBody>
          <a:bodyPr/>
          <a:lstStyle>
            <a:lvl1pPr>
              <a:defRPr/>
            </a:lvl1pPr>
          </a:lstStyle>
          <a:p>
            <a:fld id="{82952373-7980-4DA7-9ADE-54D716DB38BB}" type="slidenum">
              <a:rPr lang="zh-CN" altLang="en-US" smtClean="0"/>
            </a:fld>
            <a:endParaRPr lang="zh-CN" altLang="en-US"/>
          </a:p>
        </p:txBody>
      </p:sp>
      <p:pic>
        <p:nvPicPr>
          <p:cNvPr id="8" name="图片 7"/>
          <p:cNvPicPr>
            <a:picLocks noChangeAspect="1"/>
          </p:cNvPicPr>
          <p:nvPr/>
        </p:nvPicPr>
        <p:blipFill>
          <a:blip r:embed="rId2"/>
          <a:stretch>
            <a:fillRect/>
          </a:stretch>
        </p:blipFill>
        <p:spPr>
          <a:xfrm>
            <a:off x="17445" y="4544519"/>
            <a:ext cx="9126557" cy="598984"/>
          </a:xfrm>
          <a:prstGeom prst="rect">
            <a:avLst/>
          </a:prstGeom>
        </p:spPr>
      </p:pic>
      <p:pic>
        <p:nvPicPr>
          <p:cNvPr id="9" name="图片 8"/>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0" y="0"/>
            <a:ext cx="9144000" cy="666750"/>
          </a:xfrm>
          <a:prstGeom prst="rect">
            <a:avLst/>
          </a:prstGeom>
        </p:spPr>
      </p:pic>
    </p:spTree>
  </p:cSld>
  <p:clrMapOvr>
    <a:masterClrMapping/>
  </p:clrMapOvr>
  <p:transition spd="slow">
    <p:cover/>
  </p:transition>
</p:sldLayout>
</file>

<file path=ppt/slideLayouts/slideLayout5.xml><?xml version="1.0" encoding="utf-8"?>
<p:sldLayout xmlns:a="http://schemas.openxmlformats.org/drawingml/2006/main" xmlns:r="http://schemas.openxmlformats.org/officeDocument/2006/relationships" xmlns:p="http://schemas.openxmlformats.org/presentationml/2006/main" type="titleOnly" preserve="1">
  <p:cSld name="仅标题">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a:t>单击此处编辑母版标题样式</a:t>
            </a:r>
            <a:endParaRPr lang="zh-CN" altLang="en-US"/>
          </a:p>
        </p:txBody>
      </p:sp>
      <p:sp>
        <p:nvSpPr>
          <p:cNvPr id="6" name="日期占位符 5"/>
          <p:cNvSpPr>
            <a:spLocks noGrp="1"/>
          </p:cNvSpPr>
          <p:nvPr>
            <p:ph type="dt" sz="half" idx="10"/>
          </p:nvPr>
        </p:nvSpPr>
        <p:spPr/>
        <p:txBody>
          <a:bodyPr/>
          <a:lstStyle/>
          <a:p>
            <a:fld id="{59EA5E4C-3639-4B8B-822E-E7371B831F99}" type="datetime1">
              <a:rPr lang="zh-CN" altLang="en-US" smtClean="0"/>
            </a:fld>
            <a:endParaRPr lang="zh-CN" altLang="en-US"/>
          </a:p>
        </p:txBody>
      </p:sp>
      <p:sp>
        <p:nvSpPr>
          <p:cNvPr id="7" name="页脚占位符 6"/>
          <p:cNvSpPr>
            <a:spLocks noGrp="1"/>
          </p:cNvSpPr>
          <p:nvPr>
            <p:ph type="ftr" sz="quarter" idx="11"/>
          </p:nvPr>
        </p:nvSpPr>
        <p:spPr/>
        <p:txBody>
          <a:bodyPr/>
          <a:lstStyle/>
          <a:p>
            <a:endParaRPr lang="zh-CN" altLang="en-US"/>
          </a:p>
        </p:txBody>
      </p:sp>
      <p:sp>
        <p:nvSpPr>
          <p:cNvPr id="8" name="灯片编号占位符 7"/>
          <p:cNvSpPr>
            <a:spLocks noGrp="1"/>
          </p:cNvSpPr>
          <p:nvPr>
            <p:ph type="sldNum" sz="quarter" idx="12"/>
          </p:nvPr>
        </p:nvSpPr>
        <p:spPr/>
        <p:txBody>
          <a:bodyPr/>
          <a:lstStyle/>
          <a:p>
            <a:fld id="{82952373-7980-4DA7-9ADE-54D716DB38BB}" type="slidenum">
              <a:rPr lang="zh-CN" altLang="en-US" smtClean="0"/>
            </a:fld>
            <a:endParaRPr lang="zh-CN" altLang="en-US"/>
          </a:p>
        </p:txBody>
      </p:sp>
    </p:spTree>
  </p:cSld>
  <p:clrMapOvr>
    <a:masterClrMapping/>
  </p:clrMapOvr>
  <p:transition spd="slow">
    <p:cover/>
  </p:transition>
</p:sldLayout>
</file>

<file path=ppt/slideLayouts/slideLayout6.xml><?xml version="1.0" encoding="utf-8"?>
<p:sldLayout xmlns:a="http://schemas.openxmlformats.org/drawingml/2006/main" xmlns:r="http://schemas.openxmlformats.org/officeDocument/2006/relationships" xmlns:p="http://schemas.openxmlformats.org/presentationml/2006/main" type="blank" preserve="1">
  <p:cSld name="空白">
    <p:spTree>
      <p:nvGrpSpPr>
        <p:cNvPr id="1" name=""/>
        <p:cNvGrpSpPr/>
        <p:nvPr/>
      </p:nvGrpSpPr>
      <p:grpSpPr>
        <a:xfrm>
          <a:off x="0" y="0"/>
          <a:ext cx="0" cy="0"/>
          <a:chOff x="0" y="0"/>
          <a:chExt cx="0" cy="0"/>
        </a:xfrm>
      </p:grpSpPr>
      <p:sp>
        <p:nvSpPr>
          <p:cNvPr id="2" name="日期占位符 3"/>
          <p:cNvSpPr>
            <a:spLocks noGrp="1"/>
          </p:cNvSpPr>
          <p:nvPr>
            <p:ph type="dt" sz="half" idx="10"/>
          </p:nvPr>
        </p:nvSpPr>
        <p:spPr/>
        <p:txBody>
          <a:bodyPr/>
          <a:lstStyle>
            <a:lvl1pPr>
              <a:defRPr/>
            </a:lvl1pPr>
          </a:lstStyle>
          <a:p>
            <a:fld id="{38A98BB7-52FA-4EB1-A72A-11AB2B395D4B}" type="datetime1">
              <a:rPr lang="zh-CN" altLang="en-US" smtClean="0"/>
            </a:fld>
            <a:endParaRPr lang="zh-CN" altLang="en-US"/>
          </a:p>
        </p:txBody>
      </p:sp>
      <p:sp>
        <p:nvSpPr>
          <p:cNvPr id="3" name="页脚占位符 4"/>
          <p:cNvSpPr>
            <a:spLocks noGrp="1"/>
          </p:cNvSpPr>
          <p:nvPr>
            <p:ph type="ftr" sz="quarter" idx="11"/>
          </p:nvPr>
        </p:nvSpPr>
        <p:spPr/>
        <p:txBody>
          <a:bodyPr/>
          <a:lstStyle>
            <a:lvl1pPr>
              <a:defRPr/>
            </a:lvl1pPr>
          </a:lstStyle>
          <a:p>
            <a:endParaRPr lang="zh-CN" altLang="en-US"/>
          </a:p>
        </p:txBody>
      </p:sp>
      <p:sp>
        <p:nvSpPr>
          <p:cNvPr id="4" name="灯片编号占位符 5"/>
          <p:cNvSpPr>
            <a:spLocks noGrp="1"/>
          </p:cNvSpPr>
          <p:nvPr>
            <p:ph type="sldNum" sz="quarter" idx="12"/>
          </p:nvPr>
        </p:nvSpPr>
        <p:spPr/>
        <p:txBody>
          <a:bodyPr/>
          <a:lstStyle>
            <a:lvl1pPr>
              <a:defRPr/>
            </a:lvl1pPr>
          </a:lstStyle>
          <a:p>
            <a:fld id="{82952373-7980-4DA7-9ADE-54D716DB38BB}" type="slidenum">
              <a:rPr lang="zh-CN" altLang="en-US" smtClean="0"/>
            </a:fld>
            <a:endParaRPr lang="zh-CN" altLang="en-US"/>
          </a:p>
        </p:txBody>
      </p:sp>
    </p:spTree>
  </p:cSld>
  <p:clrMapOvr>
    <a:masterClrMapping/>
  </p:clrMapOvr>
  <p:transition spd="slow">
    <p:cover/>
  </p:transition>
</p:sldLayout>
</file>

<file path=ppt/slideLayouts/slideLayout7.xml><?xml version="1.0" encoding="utf-8"?>
<p:sldLayout xmlns:a="http://schemas.openxmlformats.org/drawingml/2006/main" xmlns:r="http://schemas.openxmlformats.org/officeDocument/2006/relationships" xmlns:p="http://schemas.openxmlformats.org/presentationml/2006/main">
  <p:cSld name="标题，文本与内容">
    <p:spTree>
      <p:nvGrpSpPr>
        <p:cNvPr id="1" name=""/>
        <p:cNvGrpSpPr/>
        <p:nvPr/>
      </p:nvGrpSpPr>
      <p:grpSpPr>
        <a:xfrm>
          <a:off x="0" y="0"/>
          <a:ext cx="0" cy="0"/>
          <a:chOff x="0" y="0"/>
          <a:chExt cx="0" cy="0"/>
        </a:xfrm>
      </p:grpSpPr>
      <p:sp>
        <p:nvSpPr>
          <p:cNvPr id="2" name="标题 1"/>
          <p:cNvSpPr>
            <a:spLocks noGrp="1"/>
          </p:cNvSpPr>
          <p:nvPr>
            <p:ph type="title"/>
          </p:nvPr>
        </p:nvSpPr>
        <p:spPr>
          <a:xfrm>
            <a:off x="0" y="7883"/>
            <a:ext cx="9067800" cy="735068"/>
          </a:xfrm>
        </p:spPr>
        <p:txBody>
          <a:bodyPr/>
          <a:lstStyle/>
          <a:p>
            <a:r>
              <a:rPr lang="zh-CN" altLang="en-US"/>
              <a:t>单击此处编辑母版标题样式</a:t>
            </a:r>
            <a:endParaRPr lang="zh-CN" altLang="en-US"/>
          </a:p>
        </p:txBody>
      </p:sp>
      <p:sp>
        <p:nvSpPr>
          <p:cNvPr id="5" name="日期占位符 3"/>
          <p:cNvSpPr>
            <a:spLocks noGrp="1"/>
          </p:cNvSpPr>
          <p:nvPr>
            <p:ph type="dt" sz="half" idx="10"/>
          </p:nvPr>
        </p:nvSpPr>
        <p:spPr/>
        <p:txBody>
          <a:bodyPr/>
          <a:lstStyle>
            <a:lvl1pPr>
              <a:defRPr/>
            </a:lvl1pPr>
          </a:lstStyle>
          <a:p>
            <a:fld id="{76F6E4AC-61DD-432E-8A2D-2EFEAB6FB477}" type="datetime1">
              <a:rPr lang="zh-CN" altLang="en-US" smtClean="0"/>
            </a:fld>
            <a:endParaRPr lang="zh-CN" altLang="en-US"/>
          </a:p>
        </p:txBody>
      </p:sp>
      <p:sp>
        <p:nvSpPr>
          <p:cNvPr id="6" name="页脚占位符 4"/>
          <p:cNvSpPr>
            <a:spLocks noGrp="1"/>
          </p:cNvSpPr>
          <p:nvPr>
            <p:ph type="ftr" sz="quarter" idx="11"/>
          </p:nvPr>
        </p:nvSpPr>
        <p:spPr/>
        <p:txBody>
          <a:bodyPr/>
          <a:lstStyle>
            <a:lvl1pPr>
              <a:defRPr/>
            </a:lvl1pPr>
          </a:lstStyle>
          <a:p>
            <a:endParaRPr lang="zh-CN" altLang="en-US"/>
          </a:p>
        </p:txBody>
      </p:sp>
      <p:sp>
        <p:nvSpPr>
          <p:cNvPr id="7" name="灯片编号占位符 5"/>
          <p:cNvSpPr>
            <a:spLocks noGrp="1"/>
          </p:cNvSpPr>
          <p:nvPr>
            <p:ph type="sldNum" sz="quarter" idx="12"/>
          </p:nvPr>
        </p:nvSpPr>
        <p:spPr/>
        <p:txBody>
          <a:bodyPr/>
          <a:lstStyle>
            <a:lvl1pPr>
              <a:defRPr/>
            </a:lvl1pPr>
          </a:lstStyle>
          <a:p>
            <a:fld id="{82952373-7980-4DA7-9ADE-54D716DB38BB}" type="slidenum">
              <a:rPr lang="zh-CN" altLang="en-US" smtClean="0"/>
            </a:fld>
            <a:endParaRPr lang="zh-CN" altLang="en-US"/>
          </a:p>
        </p:txBody>
      </p:sp>
    </p:spTree>
  </p:cSld>
  <p:clrMapOvr>
    <a:masterClrMapping/>
  </p:clrMapOvr>
  <p:transition spd="slow">
    <p:cover/>
  </p:transition>
</p:sldLayout>
</file>

<file path=ppt/slideLayouts/slideLayout8.xml><?xml version="1.0" encoding="utf-8"?>
<p:sldLayout xmlns:a="http://schemas.openxmlformats.org/drawingml/2006/main" xmlns:r="http://schemas.openxmlformats.org/officeDocument/2006/relationships" xmlns:p="http://schemas.openxmlformats.org/presentationml/2006/main" type="txAndChart">
  <p:cSld name="标题，文本与图表">
    <p:spTree>
      <p:nvGrpSpPr>
        <p:cNvPr id="1" name=""/>
        <p:cNvGrpSpPr/>
        <p:nvPr/>
      </p:nvGrpSpPr>
      <p:grpSpPr>
        <a:xfrm>
          <a:off x="0" y="0"/>
          <a:ext cx="0" cy="0"/>
          <a:chOff x="0" y="0"/>
          <a:chExt cx="0" cy="0"/>
        </a:xfrm>
      </p:grpSpPr>
      <p:sp>
        <p:nvSpPr>
          <p:cNvPr id="2" name="标题 1"/>
          <p:cNvSpPr>
            <a:spLocks noGrp="1"/>
          </p:cNvSpPr>
          <p:nvPr>
            <p:ph type="title"/>
          </p:nvPr>
        </p:nvSpPr>
        <p:spPr>
          <a:xfrm>
            <a:off x="0" y="3"/>
            <a:ext cx="9144000" cy="740569"/>
          </a:xfrm>
        </p:spPr>
        <p:txBody>
          <a:bodyPr/>
          <a:lstStyle/>
          <a:p>
            <a:r>
              <a:rPr lang="zh-CN" altLang="en-US"/>
              <a:t>单击此处编辑母版标题样式</a:t>
            </a:r>
            <a:endParaRPr lang="zh-CN" altLang="en-US"/>
          </a:p>
        </p:txBody>
      </p:sp>
      <p:sp>
        <p:nvSpPr>
          <p:cNvPr id="3" name="文本占位符 2"/>
          <p:cNvSpPr>
            <a:spLocks noGrp="1"/>
          </p:cNvSpPr>
          <p:nvPr>
            <p:ph type="body" sz="half" idx="1"/>
          </p:nvPr>
        </p:nvSpPr>
        <p:spPr>
          <a:xfrm>
            <a:off x="76200" y="857253"/>
            <a:ext cx="4419600" cy="3740944"/>
          </a:xfrm>
        </p:spPr>
        <p:txBody>
          <a:bodyPr/>
          <a:lstStyle/>
          <a:p>
            <a:pPr lvl="0"/>
            <a:r>
              <a:rPr lang="zh-CN" altLang="en-US"/>
              <a:t>单击此处编辑母版文本样式</a:t>
            </a:r>
            <a:endParaRPr lang="zh-CN" altLang="en-US"/>
          </a:p>
          <a:p>
            <a:pPr lvl="1"/>
            <a:r>
              <a:rPr lang="zh-CN" altLang="en-US"/>
              <a:t>二级</a:t>
            </a:r>
            <a:endParaRPr lang="zh-CN" altLang="en-US"/>
          </a:p>
          <a:p>
            <a:pPr lvl="2"/>
            <a:r>
              <a:rPr lang="zh-CN" altLang="en-US"/>
              <a:t>三级</a:t>
            </a:r>
            <a:endParaRPr lang="zh-CN" altLang="en-US"/>
          </a:p>
          <a:p>
            <a:pPr lvl="3"/>
            <a:r>
              <a:rPr lang="zh-CN" altLang="en-US"/>
              <a:t>四级</a:t>
            </a:r>
            <a:endParaRPr lang="zh-CN" altLang="en-US"/>
          </a:p>
          <a:p>
            <a:pPr lvl="4"/>
            <a:r>
              <a:rPr lang="zh-CN" altLang="en-US"/>
              <a:t>五级</a:t>
            </a:r>
            <a:endParaRPr lang="zh-CN" altLang="en-US"/>
          </a:p>
        </p:txBody>
      </p:sp>
      <p:sp>
        <p:nvSpPr>
          <p:cNvPr id="4" name="图表占位符 3"/>
          <p:cNvSpPr>
            <a:spLocks noGrp="1"/>
          </p:cNvSpPr>
          <p:nvPr>
            <p:ph type="chart" sz="half" idx="2" hasCustomPrompt="1"/>
          </p:nvPr>
        </p:nvSpPr>
        <p:spPr>
          <a:xfrm>
            <a:off x="4572000" y="857250"/>
            <a:ext cx="4419600" cy="3829050"/>
          </a:xfrm>
        </p:spPr>
        <p:txBody>
          <a:bodyPr/>
          <a:lstStyle/>
          <a:p>
            <a:pPr lvl="0"/>
            <a:r>
              <a:rPr lang="zh-CN" altLang="en-US" noProof="0"/>
              <a:t>单击图标添加图表</a:t>
            </a:r>
            <a:endParaRPr lang="zh-CN" altLang="en-US" noProof="0"/>
          </a:p>
        </p:txBody>
      </p:sp>
      <p:sp>
        <p:nvSpPr>
          <p:cNvPr id="5" name="日期占位符 3"/>
          <p:cNvSpPr>
            <a:spLocks noGrp="1"/>
          </p:cNvSpPr>
          <p:nvPr>
            <p:ph type="dt" sz="half" idx="10"/>
          </p:nvPr>
        </p:nvSpPr>
        <p:spPr/>
        <p:txBody>
          <a:bodyPr/>
          <a:lstStyle>
            <a:lvl1pPr>
              <a:defRPr/>
            </a:lvl1pPr>
          </a:lstStyle>
          <a:p>
            <a:fld id="{5BE993E9-D21A-4F91-B756-C5CD498F0293}" type="datetime1">
              <a:rPr lang="zh-CN" altLang="en-US" smtClean="0"/>
            </a:fld>
            <a:endParaRPr lang="zh-CN" altLang="en-US"/>
          </a:p>
        </p:txBody>
      </p:sp>
      <p:sp>
        <p:nvSpPr>
          <p:cNvPr id="6" name="页脚占位符 4"/>
          <p:cNvSpPr>
            <a:spLocks noGrp="1"/>
          </p:cNvSpPr>
          <p:nvPr>
            <p:ph type="ftr" sz="quarter" idx="11"/>
          </p:nvPr>
        </p:nvSpPr>
        <p:spPr/>
        <p:txBody>
          <a:bodyPr/>
          <a:lstStyle>
            <a:lvl1pPr>
              <a:defRPr/>
            </a:lvl1pPr>
          </a:lstStyle>
          <a:p>
            <a:endParaRPr lang="zh-CN" altLang="en-US"/>
          </a:p>
        </p:txBody>
      </p:sp>
      <p:sp>
        <p:nvSpPr>
          <p:cNvPr id="7" name="灯片编号占位符 5"/>
          <p:cNvSpPr>
            <a:spLocks noGrp="1"/>
          </p:cNvSpPr>
          <p:nvPr>
            <p:ph type="sldNum" sz="quarter" idx="12"/>
          </p:nvPr>
        </p:nvSpPr>
        <p:spPr/>
        <p:txBody>
          <a:bodyPr/>
          <a:lstStyle>
            <a:lvl1pPr>
              <a:defRPr/>
            </a:lvl1pPr>
          </a:lstStyle>
          <a:p>
            <a:fld id="{82952373-7980-4DA7-9ADE-54D716DB38BB}" type="slidenum">
              <a:rPr lang="zh-CN" altLang="en-US" smtClean="0"/>
            </a:fld>
            <a:endParaRPr lang="zh-CN" altLang="en-US"/>
          </a:p>
        </p:txBody>
      </p:sp>
    </p:spTree>
  </p:cSld>
  <p:clrMapOvr>
    <a:masterClrMapping/>
  </p:clrMapOvr>
  <p:transition spd="slow">
    <p:cover/>
  </p:transition>
</p:sldLayout>
</file>

<file path=ppt/slideLayouts/slideLayout9.xml><?xml version="1.0" encoding="utf-8"?>
<p:sldLayout xmlns:a="http://schemas.openxmlformats.org/drawingml/2006/main" xmlns:r="http://schemas.openxmlformats.org/officeDocument/2006/relationships" xmlns:p="http://schemas.openxmlformats.org/presentationml/2006/main">
  <p:cSld name="2_标题幻灯片">
    <p:spTree>
      <p:nvGrpSpPr>
        <p:cNvPr id="1" name=""/>
        <p:cNvGrpSpPr/>
        <p:nvPr/>
      </p:nvGrpSpPr>
      <p:grpSpPr>
        <a:xfrm>
          <a:off x="0" y="0"/>
          <a:ext cx="0" cy="0"/>
          <a:chOff x="0" y="0"/>
          <a:chExt cx="0" cy="0"/>
        </a:xfrm>
      </p:grpSpPr>
    </p:spTree>
  </p:cSld>
  <p:clrMapOvr>
    <a:masterClrMapping/>
  </p:clrMapOvr>
  <p:transition spd="slow" advTm="0">
    <p:cover/>
  </p:transition>
</p:sldLayout>
</file>

<file path=ppt/slideLayouts/slideLayout10.xml><?xml version="1.0" encoding="utf-8"?>
<p:sldLayout xmlns:a="http://schemas.openxmlformats.org/drawingml/2006/main" xmlns:r="http://schemas.openxmlformats.org/officeDocument/2006/relationships" xmlns:p="http://schemas.openxmlformats.org/presentationml/2006/main">
  <p:cSld name="1_标题幻灯片">
    <p:spTree>
      <p:nvGrpSpPr>
        <p:cNvPr id="1" name=""/>
        <p:cNvGrpSpPr/>
        <p:nvPr/>
      </p:nvGrpSpPr>
      <p:grpSpPr>
        <a:xfrm>
          <a:off x="0" y="0"/>
          <a:ext cx="0" cy="0"/>
          <a:chOff x="0" y="0"/>
          <a:chExt cx="0" cy="0"/>
        </a:xfrm>
      </p:grpSpPr>
    </p:spTree>
  </p:cSld>
  <p:clrMapOvr>
    <a:masterClrMapping/>
  </p:clrMapOvr>
  <p:transition spd="slow">
    <p:cover/>
  </p:transition>
</p:sldLayout>
</file>

<file path=ppt/slideLayouts/slideLayout11.xml><?xml version="1.0" encoding="utf-8"?>
<p:sldLayout xmlns:a="http://schemas.openxmlformats.org/drawingml/2006/main" xmlns:r="http://schemas.openxmlformats.org/officeDocument/2006/relationships" xmlns:p="http://schemas.openxmlformats.org/presentationml/2006/main">
  <p:cSld name="内页-1">
    <p:spTree>
      <p:nvGrpSpPr>
        <p:cNvPr id="1" name=""/>
        <p:cNvGrpSpPr/>
        <p:nvPr/>
      </p:nvGrpSpPr>
      <p:grpSpPr>
        <a:xfrm>
          <a:off x="0" y="0"/>
          <a:ext cx="0" cy="0"/>
          <a:chOff x="0" y="0"/>
          <a:chExt cx="0" cy="0"/>
        </a:xfrm>
      </p:grpSpPr>
    </p:spTree>
  </p:cSld>
  <p:clrMapOvr>
    <a:masterClrMapping/>
  </p:clrMapOvr>
  <mc:AlternateContent xmlns:mc="http://schemas.openxmlformats.org/markup-compatibility/2006">
    <mc:Choice xmlns:p14="http://schemas.microsoft.com/office/powerpoint/2010/main" Requires="p14">
      <p:transition spd="slow" p14:dur="1600" advClick="0" advTm="5000">
        <p14:prism isInverted="1"/>
      </p:transition>
    </mc:Choice>
    <mc:Fallback>
      <p:transition spd="slow" advClick="0" advTm="5000">
        <p:fade/>
      </p:transition>
    </mc:Fallback>
  </mc:AlternateContent>
</p:sldLayout>
</file>

<file path=ppt/slideLayouts/slideLayout12.xml><?xml version="1.0" encoding="utf-8"?>
<p:sldLayout xmlns:a="http://schemas.openxmlformats.org/drawingml/2006/main" xmlns:r="http://schemas.openxmlformats.org/officeDocument/2006/relationships" xmlns:p="http://schemas.openxmlformats.org/presentationml/2006/main">
  <p:cSld name="1_内页-1">
    <p:spTree>
      <p:nvGrpSpPr>
        <p:cNvPr id="1" name=""/>
        <p:cNvGrpSpPr/>
        <p:nvPr/>
      </p:nvGrpSpPr>
      <p:grpSpPr>
        <a:xfrm>
          <a:off x="0" y="0"/>
          <a:ext cx="0" cy="0"/>
          <a:chOff x="0" y="0"/>
          <a:chExt cx="0" cy="0"/>
        </a:xfrm>
      </p:grpSpPr>
    </p:spTree>
  </p:cSld>
  <p:clrMapOvr>
    <a:masterClrMapping/>
  </p:clrMapOvr>
  <mc:AlternateContent xmlns:mc="http://schemas.openxmlformats.org/markup-compatibility/2006">
    <mc:Choice xmlns:p14="http://schemas.microsoft.com/office/powerpoint/2010/main" Requires="p14">
      <p:transition spd="slow" p14:dur="1600" advClick="0" advTm="5000">
        <p14:prism isInverted="1"/>
      </p:transition>
    </mc:Choice>
    <mc:Fallback>
      <p:transition spd="slow" advClick="0" advTm="5000">
        <p:fade/>
      </p:transition>
    </mc:Fallback>
  </mc:AlternateContent>
</p:sldLayout>
</file>

<file path=ppt/slideLayouts/slideLayout13.xml><?xml version="1.0" encoding="utf-8"?>
<p:sldLayout xmlns:a="http://schemas.openxmlformats.org/drawingml/2006/main" xmlns:r="http://schemas.openxmlformats.org/officeDocument/2006/relationships" xmlns:p="http://schemas.openxmlformats.org/presentationml/2006/main" preserve="1">
  <p:cSld name="1_标题和内容">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lvl1pPr>
              <a:defRPr sz="2700" b="1">
                <a:latin typeface="Times New Roman" panose="02020503050405090304" pitchFamily="18" charset="0"/>
                <a:cs typeface="Times New Roman" panose="02020503050405090304" pitchFamily="18" charset="0"/>
              </a:defRPr>
            </a:lvl1pPr>
          </a:lstStyle>
          <a:p>
            <a:r>
              <a:rPr lang="zh-CN" altLang="en-US"/>
              <a:t>单击此处编辑母版标题样式</a:t>
            </a:r>
            <a:endParaRPr lang="zh-CN" altLang="en-US"/>
          </a:p>
        </p:txBody>
      </p:sp>
      <p:sp>
        <p:nvSpPr>
          <p:cNvPr id="7" name="文本占位符 2"/>
          <p:cNvSpPr>
            <a:spLocks noGrp="1"/>
          </p:cNvSpPr>
          <p:nvPr>
            <p:ph idx="1"/>
          </p:nvPr>
        </p:nvSpPr>
        <p:spPr bwMode="auto">
          <a:xfrm>
            <a:off x="250826" y="897732"/>
            <a:ext cx="8642350" cy="388858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lstStyle/>
          <a:p>
            <a:pPr lvl="0"/>
            <a:r>
              <a:rPr lang="zh-CN" altLang="en-US"/>
              <a:t>单击此处编辑母版文本样式</a:t>
            </a:r>
            <a:endParaRPr lang="zh-CN" altLang="en-US"/>
          </a:p>
          <a:p>
            <a:pPr lvl="1"/>
            <a:r>
              <a:rPr lang="zh-CN" altLang="en-US"/>
              <a:t>二级</a:t>
            </a:r>
            <a:endParaRPr lang="zh-CN" altLang="en-US"/>
          </a:p>
          <a:p>
            <a:pPr lvl="2"/>
            <a:r>
              <a:rPr lang="zh-CN" altLang="en-US"/>
              <a:t>三级</a:t>
            </a:r>
            <a:endParaRPr lang="zh-CN" altLang="en-US"/>
          </a:p>
        </p:txBody>
      </p:sp>
      <p:sp>
        <p:nvSpPr>
          <p:cNvPr id="3" name="日期占位符 2"/>
          <p:cNvSpPr>
            <a:spLocks noGrp="1"/>
          </p:cNvSpPr>
          <p:nvPr>
            <p:ph type="dt" sz="half" idx="10"/>
          </p:nvPr>
        </p:nvSpPr>
        <p:spPr/>
        <p:txBody>
          <a:bodyPr/>
          <a:lstStyle/>
          <a:p>
            <a:fld id="{760F252D-841B-40CC-9880-46A516807265}" type="datetime1">
              <a:rPr lang="zh-CN" altLang="en-US" smtClean="0"/>
            </a:fld>
            <a:endParaRPr lang="zh-CN" altLang="en-US"/>
          </a:p>
        </p:txBody>
      </p:sp>
      <p:sp>
        <p:nvSpPr>
          <p:cNvPr id="8" name="页脚占位符 7"/>
          <p:cNvSpPr>
            <a:spLocks noGrp="1"/>
          </p:cNvSpPr>
          <p:nvPr>
            <p:ph type="ftr" sz="quarter" idx="11"/>
          </p:nvPr>
        </p:nvSpPr>
        <p:spPr/>
        <p:txBody>
          <a:bodyPr/>
          <a:lstStyle/>
          <a:p>
            <a:endParaRPr lang="zh-CN" altLang="en-US"/>
          </a:p>
        </p:txBody>
      </p:sp>
      <p:sp>
        <p:nvSpPr>
          <p:cNvPr id="9" name="灯片编号占位符 8"/>
          <p:cNvSpPr>
            <a:spLocks noGrp="1"/>
          </p:cNvSpPr>
          <p:nvPr>
            <p:ph type="sldNum" sz="quarter" idx="12"/>
          </p:nvPr>
        </p:nvSpPr>
        <p:spPr/>
        <p:txBody>
          <a:bodyPr/>
          <a:lstStyle/>
          <a:p>
            <a:fld id="{82952373-7980-4DA7-9ADE-54D716DB38BB}" type="slidenum">
              <a:rPr lang="zh-CN" altLang="en-US" smtClean="0"/>
            </a:fld>
            <a:endParaRPr lang="zh-CN" altLang="en-US"/>
          </a:p>
        </p:txBody>
      </p:sp>
    </p:spTree>
  </p:cSld>
  <p:clrMapOvr>
    <a:masterClrMapping/>
  </p:clrMapOvr>
  <p:transition spd="slow">
    <p:cover/>
  </p:transition>
</p:sldLayout>
</file>

<file path=ppt/slideLayouts/slideLayout14.xml><?xml version="1.0" encoding="utf-8"?>
<p:sldLayout xmlns:a="http://schemas.openxmlformats.org/drawingml/2006/main" xmlns:r="http://schemas.openxmlformats.org/officeDocument/2006/relationships" xmlns:p="http://schemas.openxmlformats.org/presentationml/2006/main">
  <p:cSld name="1_标题，文本与内容">
    <p:spTree>
      <p:nvGrpSpPr>
        <p:cNvPr id="1" name=""/>
        <p:cNvGrpSpPr/>
        <p:nvPr/>
      </p:nvGrpSpPr>
      <p:grpSpPr>
        <a:xfrm>
          <a:off x="0" y="0"/>
          <a:ext cx="0" cy="0"/>
          <a:chOff x="0" y="0"/>
          <a:chExt cx="0" cy="0"/>
        </a:xfrm>
      </p:grpSpPr>
      <p:sp>
        <p:nvSpPr>
          <p:cNvPr id="2" name="标题 1"/>
          <p:cNvSpPr>
            <a:spLocks noGrp="1"/>
          </p:cNvSpPr>
          <p:nvPr>
            <p:ph type="title"/>
          </p:nvPr>
        </p:nvSpPr>
        <p:spPr>
          <a:xfrm>
            <a:off x="0" y="7883"/>
            <a:ext cx="9067800" cy="735068"/>
          </a:xfrm>
        </p:spPr>
        <p:txBody>
          <a:bodyPr/>
          <a:lstStyle/>
          <a:p>
            <a:r>
              <a:rPr lang="zh-CN" altLang="en-US"/>
              <a:t>单击此处编辑母版标题样式</a:t>
            </a:r>
            <a:endParaRPr lang="zh-CN" altLang="en-US"/>
          </a:p>
        </p:txBody>
      </p:sp>
      <p:sp>
        <p:nvSpPr>
          <p:cNvPr id="5" name="日期占位符 3"/>
          <p:cNvSpPr>
            <a:spLocks noGrp="1"/>
          </p:cNvSpPr>
          <p:nvPr>
            <p:ph type="dt" sz="half" idx="10"/>
          </p:nvPr>
        </p:nvSpPr>
        <p:spPr/>
        <p:txBody>
          <a:bodyPr/>
          <a:lstStyle>
            <a:lvl1pPr>
              <a:defRPr/>
            </a:lvl1pPr>
          </a:lstStyle>
          <a:p>
            <a:fld id="{42BA25AD-3D96-4BFB-967A-831309D9DED0}" type="datetime1">
              <a:rPr lang="zh-CN" altLang="en-US" smtClean="0"/>
            </a:fld>
            <a:endParaRPr lang="zh-CN" altLang="en-US"/>
          </a:p>
        </p:txBody>
      </p:sp>
      <p:sp>
        <p:nvSpPr>
          <p:cNvPr id="6" name="页脚占位符 4"/>
          <p:cNvSpPr>
            <a:spLocks noGrp="1"/>
          </p:cNvSpPr>
          <p:nvPr>
            <p:ph type="ftr" sz="quarter" idx="11"/>
          </p:nvPr>
        </p:nvSpPr>
        <p:spPr/>
        <p:txBody>
          <a:bodyPr/>
          <a:lstStyle>
            <a:lvl1pPr>
              <a:defRPr/>
            </a:lvl1pPr>
          </a:lstStyle>
          <a:p>
            <a:endParaRPr lang="zh-CN" altLang="en-US"/>
          </a:p>
        </p:txBody>
      </p:sp>
      <p:sp>
        <p:nvSpPr>
          <p:cNvPr id="7" name="灯片编号占位符 5"/>
          <p:cNvSpPr>
            <a:spLocks noGrp="1"/>
          </p:cNvSpPr>
          <p:nvPr>
            <p:ph type="sldNum" sz="quarter" idx="12"/>
          </p:nvPr>
        </p:nvSpPr>
        <p:spPr/>
        <p:txBody>
          <a:bodyPr/>
          <a:lstStyle>
            <a:lvl1pPr>
              <a:defRPr/>
            </a:lvl1pPr>
          </a:lstStyle>
          <a:p>
            <a:fld id="{82952373-7980-4DA7-9ADE-54D716DB38BB}" type="slidenum">
              <a:rPr lang="zh-CN" altLang="en-US" smtClean="0"/>
            </a:fld>
            <a:endParaRPr lang="zh-CN" altLang="en-US"/>
          </a:p>
        </p:txBody>
      </p:sp>
    </p:spTree>
  </p:cSld>
  <p:clrMapOvr>
    <a:masterClrMapping/>
  </p:clrMapOvr>
  <p:transition spd="slow">
    <p:cover/>
  </p:transition>
</p:sldLayout>
</file>

<file path=ppt/slideLayouts/slideLayout15.xml><?xml version="1.0" encoding="utf-8"?>
<p:sldLayout xmlns:a="http://schemas.openxmlformats.org/drawingml/2006/main" xmlns:r="http://schemas.openxmlformats.org/officeDocument/2006/relationships" xmlns:p="http://schemas.openxmlformats.org/presentationml/2006/main">
  <p:cSld name="2_内页-1">
    <p:spTree>
      <p:nvGrpSpPr>
        <p:cNvPr id="1" name=""/>
        <p:cNvGrpSpPr/>
        <p:nvPr/>
      </p:nvGrpSpPr>
      <p:grpSpPr>
        <a:xfrm>
          <a:off x="0" y="0"/>
          <a:ext cx="0" cy="0"/>
          <a:chOff x="0" y="0"/>
          <a:chExt cx="0" cy="0"/>
        </a:xfrm>
      </p:grpSpPr>
    </p:spTree>
  </p:cSld>
  <p:clrMapOvr>
    <a:masterClrMapping/>
  </p:clrMapOvr>
  <mc:AlternateContent xmlns:mc="http://schemas.openxmlformats.org/markup-compatibility/2006">
    <mc:Choice xmlns:p14="http://schemas.microsoft.com/office/powerpoint/2010/main" Requires="p14">
      <p:transition spd="slow" p14:dur="1600" advClick="0" advTm="5000">
        <p14:prism isInverted="1"/>
      </p:transition>
    </mc:Choice>
    <mc:Fallback>
      <p:transition spd="slow" advClick="0" advTm="5000">
        <p:fade/>
      </p:transition>
    </mc:Fallback>
  </mc:AlternateContent>
</p:sldLayout>
</file>

<file path=ppt/slideMasters/_rels/slideMaster1.xml.rels><?xml version="1.0" encoding="UTF-8" standalone="yes"?>
<Relationships xmlns="http://schemas.openxmlformats.org/package/2006/relationships"><Relationship Id="rId9" Type="http://schemas.openxmlformats.org/officeDocument/2006/relationships/slideLayout" Target="../slideLayouts/slideLayout9.xml"/><Relationship Id="rId8" Type="http://schemas.openxmlformats.org/officeDocument/2006/relationships/slideLayout" Target="../slideLayouts/slideLayout8.xml"/><Relationship Id="rId7" Type="http://schemas.openxmlformats.org/officeDocument/2006/relationships/slideLayout" Target="../slideLayouts/slideLayout7.xml"/><Relationship Id="rId6" Type="http://schemas.openxmlformats.org/officeDocument/2006/relationships/slideLayout" Target="../slideLayouts/slideLayout6.xml"/><Relationship Id="rId5" Type="http://schemas.openxmlformats.org/officeDocument/2006/relationships/slideLayout" Target="../slideLayouts/slideLayout5.xml"/><Relationship Id="rId4" Type="http://schemas.openxmlformats.org/officeDocument/2006/relationships/slideLayout" Target="../slideLayouts/slideLayout4.xml"/><Relationship Id="rId3" Type="http://schemas.openxmlformats.org/officeDocument/2006/relationships/slideLayout" Target="../slideLayouts/slideLayout3.xml"/><Relationship Id="rId2" Type="http://schemas.openxmlformats.org/officeDocument/2006/relationships/slideLayout" Target="../slideLayouts/slideLayout2.xml"/><Relationship Id="rId17" Type="http://schemas.openxmlformats.org/officeDocument/2006/relationships/theme" Target="../theme/theme1.xml"/><Relationship Id="rId16" Type="http://schemas.openxmlformats.org/officeDocument/2006/relationships/image" Target="../media/image8.png"/><Relationship Id="rId15" Type="http://schemas.openxmlformats.org/officeDocument/2006/relationships/slideLayout" Target="../slideLayouts/slideLayout15.xml"/><Relationship Id="rId14" Type="http://schemas.openxmlformats.org/officeDocument/2006/relationships/slideLayout" Target="../slideLayouts/slideLayout14.xml"/><Relationship Id="rId13" Type="http://schemas.openxmlformats.org/officeDocument/2006/relationships/slideLayout" Target="../slideLayouts/slideLayout13.xml"/><Relationship Id="rId12" Type="http://schemas.openxmlformats.org/officeDocument/2006/relationships/slideLayout" Target="../slideLayouts/slideLayout12.xml"/><Relationship Id="rId11" Type="http://schemas.openxmlformats.org/officeDocument/2006/relationships/slideLayout" Target="../slideLayouts/slideLayout11.xml"/><Relationship Id="rId10" Type="http://schemas.openxmlformats.org/officeDocument/2006/relationships/slideLayout" Target="../slideLayouts/slideLayout10.xml"/><Relationship Id="rId1" Type="http://schemas.openxmlformats.org/officeDocument/2006/relationships/slideLayout" Target="../slideLayouts/slideLayout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pic>
        <p:nvPicPr>
          <p:cNvPr id="8" name="图片 7"/>
          <p:cNvPicPr>
            <a:picLocks noChangeAspect="1"/>
          </p:cNvPicPr>
          <p:nvPr/>
        </p:nvPicPr>
        <p:blipFill>
          <a:blip r:embed="rId16" cstate="print">
            <a:extLst>
              <a:ext uri="{28A0092B-C50C-407E-A947-70E740481C1C}">
                <a14:useLocalDpi xmlns:a14="http://schemas.microsoft.com/office/drawing/2010/main" val="0"/>
              </a:ext>
            </a:extLst>
          </a:blip>
          <a:stretch>
            <a:fillRect/>
          </a:stretch>
        </p:blipFill>
        <p:spPr>
          <a:xfrm>
            <a:off x="0" y="4880133"/>
            <a:ext cx="9144000" cy="256032"/>
          </a:xfrm>
          <a:prstGeom prst="rect">
            <a:avLst/>
          </a:prstGeom>
        </p:spPr>
      </p:pic>
      <p:sp>
        <p:nvSpPr>
          <p:cNvPr id="1026" name="标题占位符 1"/>
          <p:cNvSpPr>
            <a:spLocks noGrp="1"/>
          </p:cNvSpPr>
          <p:nvPr>
            <p:ph type="title"/>
          </p:nvPr>
        </p:nvSpPr>
        <p:spPr bwMode="auto">
          <a:xfrm>
            <a:off x="362427" y="33340"/>
            <a:ext cx="8781575" cy="70246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ctr" anchorCtr="0" compatLnSpc="1"/>
          <a:lstStyle/>
          <a:p>
            <a:pPr lvl="0"/>
            <a:r>
              <a:rPr lang="zh-CN" altLang="en-US"/>
              <a:t>单击此处编辑母版标题样式</a:t>
            </a:r>
            <a:endParaRPr lang="zh-CN" altLang="en-US"/>
          </a:p>
        </p:txBody>
      </p:sp>
      <p:sp>
        <p:nvSpPr>
          <p:cNvPr id="1027" name="文本占位符 2"/>
          <p:cNvSpPr>
            <a:spLocks noGrp="1"/>
          </p:cNvSpPr>
          <p:nvPr>
            <p:ph type="body" idx="1"/>
          </p:nvPr>
        </p:nvSpPr>
        <p:spPr bwMode="auto">
          <a:xfrm>
            <a:off x="250827" y="897732"/>
            <a:ext cx="8642350" cy="388858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lstStyle/>
          <a:p>
            <a:pPr lvl="0"/>
            <a:r>
              <a:rPr lang="zh-CN" altLang="en-US"/>
              <a:t>单击此处编辑母版文本样式</a:t>
            </a:r>
            <a:endParaRPr lang="zh-CN" altLang="en-US"/>
          </a:p>
          <a:p>
            <a:pPr lvl="1"/>
            <a:r>
              <a:rPr lang="zh-CN" altLang="en-US"/>
              <a:t>第二级</a:t>
            </a:r>
            <a:endParaRPr lang="zh-CN" altLang="en-US"/>
          </a:p>
          <a:p>
            <a:pPr lvl="2"/>
            <a:r>
              <a:rPr lang="zh-CN" altLang="en-US"/>
              <a:t>第三级</a:t>
            </a:r>
            <a:endParaRPr lang="zh-CN" altLang="en-US"/>
          </a:p>
        </p:txBody>
      </p:sp>
      <p:sp>
        <p:nvSpPr>
          <p:cNvPr id="4" name="日期占位符 3"/>
          <p:cNvSpPr>
            <a:spLocks noGrp="1"/>
          </p:cNvSpPr>
          <p:nvPr>
            <p:ph type="dt" sz="half" idx="2"/>
          </p:nvPr>
        </p:nvSpPr>
        <p:spPr>
          <a:xfrm>
            <a:off x="457200" y="4889900"/>
            <a:ext cx="2133600" cy="273844"/>
          </a:xfrm>
          <a:prstGeom prst="rect">
            <a:avLst/>
          </a:prstGeom>
        </p:spPr>
        <p:txBody>
          <a:bodyPr vert="horz" lIns="91440" tIns="45720" rIns="91440" bIns="45720" rtlCol="0" anchor="ctr"/>
          <a:lstStyle>
            <a:lvl1pPr algn="l" fontAlgn="auto">
              <a:spcBef>
                <a:spcPts val="0"/>
              </a:spcBef>
              <a:spcAft>
                <a:spcPts val="0"/>
              </a:spcAft>
              <a:defRPr sz="675">
                <a:solidFill>
                  <a:schemeClr val="tx1">
                    <a:tint val="75000"/>
                  </a:schemeClr>
                </a:solidFill>
                <a:latin typeface="+mn-lt"/>
                <a:ea typeface="+mn-ea"/>
              </a:defRPr>
            </a:lvl1pPr>
          </a:lstStyle>
          <a:p>
            <a:fld id="{68B587FA-0D50-4B38-8544-B18C453878B7}" type="datetime1">
              <a:rPr lang="zh-CN" altLang="en-US" smtClean="0"/>
            </a:fld>
            <a:endParaRPr lang="zh-CN" altLang="en-US"/>
          </a:p>
        </p:txBody>
      </p:sp>
      <p:sp>
        <p:nvSpPr>
          <p:cNvPr id="5" name="页脚占位符 4"/>
          <p:cNvSpPr>
            <a:spLocks noGrp="1"/>
          </p:cNvSpPr>
          <p:nvPr>
            <p:ph type="ftr" sz="quarter" idx="3"/>
          </p:nvPr>
        </p:nvSpPr>
        <p:spPr>
          <a:xfrm>
            <a:off x="3124200" y="4889900"/>
            <a:ext cx="2895600" cy="273844"/>
          </a:xfrm>
          <a:prstGeom prst="rect">
            <a:avLst/>
          </a:prstGeom>
        </p:spPr>
        <p:txBody>
          <a:bodyPr vert="horz" lIns="91440" tIns="45720" rIns="91440" bIns="45720" rtlCol="0" anchor="ctr"/>
          <a:lstStyle>
            <a:lvl1pPr algn="ctr" fontAlgn="auto">
              <a:spcBef>
                <a:spcPts val="0"/>
              </a:spcBef>
              <a:spcAft>
                <a:spcPts val="0"/>
              </a:spcAft>
              <a:defRPr sz="675">
                <a:solidFill>
                  <a:schemeClr val="tx1">
                    <a:tint val="75000"/>
                  </a:schemeClr>
                </a:solidFill>
                <a:latin typeface="+mn-lt"/>
                <a:ea typeface="+mn-ea"/>
              </a:defRPr>
            </a:lvl1pPr>
          </a:lstStyle>
          <a:p>
            <a:endParaRPr lang="zh-CN" altLang="en-US"/>
          </a:p>
        </p:txBody>
      </p:sp>
      <p:sp>
        <p:nvSpPr>
          <p:cNvPr id="6" name="灯片编号占位符 5"/>
          <p:cNvSpPr>
            <a:spLocks noGrp="1"/>
          </p:cNvSpPr>
          <p:nvPr>
            <p:ph type="sldNum" sz="quarter" idx="4"/>
          </p:nvPr>
        </p:nvSpPr>
        <p:spPr>
          <a:xfrm>
            <a:off x="8686801" y="4880133"/>
            <a:ext cx="394607" cy="273844"/>
          </a:xfrm>
          <a:prstGeom prst="rect">
            <a:avLst/>
          </a:prstGeom>
        </p:spPr>
        <p:txBody>
          <a:bodyPr vert="horz" lIns="91440" tIns="45720" rIns="91440" bIns="45720" rtlCol="0" anchor="ctr"/>
          <a:lstStyle>
            <a:lvl1pPr algn="r" fontAlgn="auto">
              <a:spcBef>
                <a:spcPts val="0"/>
              </a:spcBef>
              <a:spcAft>
                <a:spcPts val="0"/>
              </a:spcAft>
              <a:defRPr sz="1200">
                <a:solidFill>
                  <a:schemeClr val="tx1"/>
                </a:solidFill>
                <a:latin typeface="+mn-lt"/>
                <a:ea typeface="+mn-ea"/>
              </a:defRPr>
            </a:lvl1pPr>
          </a:lstStyle>
          <a:p>
            <a:fld id="{82952373-7980-4DA7-9ADE-54D716DB38BB}" type="slidenum">
              <a:rPr lang="zh-CN" altLang="en-US" smtClean="0"/>
            </a:fld>
            <a:endParaRPr lang="zh-CN" altLang="en-US"/>
          </a:p>
        </p:txBody>
      </p:sp>
      <p:sp>
        <p:nvSpPr>
          <p:cNvPr id="1033" name="Rectangle 35"/>
          <p:cNvSpPr>
            <a:spLocks noChangeArrowheads="1"/>
          </p:cNvSpPr>
          <p:nvPr/>
        </p:nvSpPr>
        <p:spPr bwMode="auto">
          <a:xfrm>
            <a:off x="1676400" y="4829175"/>
            <a:ext cx="5581650" cy="31432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eaLnBrk="0" hangingPunct="0">
              <a:defRPr sz="2400">
                <a:solidFill>
                  <a:schemeClr val="tx1"/>
                </a:solidFill>
                <a:latin typeface="Arial" panose="020B0604020202090204" pitchFamily="34" charset="0"/>
                <a:ea typeface="楷体_GB2312" pitchFamily="49" charset="-122"/>
              </a:defRPr>
            </a:lvl1pPr>
            <a:lvl2pPr marL="742950" indent="-285750" eaLnBrk="0" hangingPunct="0">
              <a:defRPr sz="2400">
                <a:solidFill>
                  <a:schemeClr val="tx1"/>
                </a:solidFill>
                <a:latin typeface="Arial" panose="020B0604020202090204" pitchFamily="34" charset="0"/>
                <a:ea typeface="楷体_GB2312" pitchFamily="49" charset="-122"/>
              </a:defRPr>
            </a:lvl2pPr>
            <a:lvl3pPr marL="1143000" indent="-228600" eaLnBrk="0" hangingPunct="0">
              <a:defRPr sz="2400">
                <a:solidFill>
                  <a:schemeClr val="tx1"/>
                </a:solidFill>
                <a:latin typeface="Arial" panose="020B0604020202090204" pitchFamily="34" charset="0"/>
                <a:ea typeface="楷体_GB2312" pitchFamily="49" charset="-122"/>
              </a:defRPr>
            </a:lvl3pPr>
            <a:lvl4pPr marL="1600200" indent="-228600" eaLnBrk="0" hangingPunct="0">
              <a:defRPr sz="2400">
                <a:solidFill>
                  <a:schemeClr val="tx1"/>
                </a:solidFill>
                <a:latin typeface="Arial" panose="020B0604020202090204" pitchFamily="34" charset="0"/>
                <a:ea typeface="楷体_GB2312" pitchFamily="49" charset="-122"/>
              </a:defRPr>
            </a:lvl4pPr>
            <a:lvl5pPr marL="2057400" indent="-228600" eaLnBrk="0" hangingPunct="0">
              <a:defRPr sz="2400">
                <a:solidFill>
                  <a:schemeClr val="tx1"/>
                </a:solidFill>
                <a:latin typeface="Arial" panose="020B0604020202090204" pitchFamily="34" charset="0"/>
                <a:ea typeface="楷体_GB2312" pitchFamily="49" charset="-122"/>
              </a:defRPr>
            </a:lvl5pPr>
            <a:lvl6pPr marL="2514600" indent="-228600" eaLnBrk="0" fontAlgn="base" hangingPunct="0">
              <a:spcBef>
                <a:spcPct val="0"/>
              </a:spcBef>
              <a:spcAft>
                <a:spcPct val="0"/>
              </a:spcAft>
              <a:defRPr sz="2400">
                <a:solidFill>
                  <a:schemeClr val="tx1"/>
                </a:solidFill>
                <a:latin typeface="Arial" panose="020B0604020202090204" pitchFamily="34" charset="0"/>
                <a:ea typeface="楷体_GB2312" pitchFamily="49" charset="-122"/>
              </a:defRPr>
            </a:lvl6pPr>
            <a:lvl7pPr marL="2971800" indent="-228600" eaLnBrk="0" fontAlgn="base" hangingPunct="0">
              <a:spcBef>
                <a:spcPct val="0"/>
              </a:spcBef>
              <a:spcAft>
                <a:spcPct val="0"/>
              </a:spcAft>
              <a:defRPr sz="2400">
                <a:solidFill>
                  <a:schemeClr val="tx1"/>
                </a:solidFill>
                <a:latin typeface="Arial" panose="020B0604020202090204" pitchFamily="34" charset="0"/>
                <a:ea typeface="楷体_GB2312" pitchFamily="49" charset="-122"/>
              </a:defRPr>
            </a:lvl7pPr>
            <a:lvl8pPr marL="3429000" indent="-228600" eaLnBrk="0" fontAlgn="base" hangingPunct="0">
              <a:spcBef>
                <a:spcPct val="0"/>
              </a:spcBef>
              <a:spcAft>
                <a:spcPct val="0"/>
              </a:spcAft>
              <a:defRPr sz="2400">
                <a:solidFill>
                  <a:schemeClr val="tx1"/>
                </a:solidFill>
                <a:latin typeface="Arial" panose="020B0604020202090204" pitchFamily="34" charset="0"/>
                <a:ea typeface="楷体_GB2312" pitchFamily="49" charset="-122"/>
              </a:defRPr>
            </a:lvl8pPr>
            <a:lvl9pPr marL="3886200" indent="-228600" eaLnBrk="0" fontAlgn="base" hangingPunct="0">
              <a:spcBef>
                <a:spcPct val="0"/>
              </a:spcBef>
              <a:spcAft>
                <a:spcPct val="0"/>
              </a:spcAft>
              <a:defRPr sz="2400">
                <a:solidFill>
                  <a:schemeClr val="tx1"/>
                </a:solidFill>
                <a:latin typeface="Arial" panose="020B0604020202090204" pitchFamily="34" charset="0"/>
                <a:ea typeface="楷体_GB2312" pitchFamily="49" charset="-122"/>
              </a:defRPr>
            </a:lvl9pPr>
          </a:lstStyle>
          <a:p>
            <a:pPr algn="ctr" eaLnBrk="1" hangingPunct="1">
              <a:defRPr/>
            </a:pPr>
            <a:endParaRPr lang="en-US" altLang="zh-CN" sz="565"/>
          </a:p>
        </p:txBody>
      </p:sp>
      <p:sp>
        <p:nvSpPr>
          <p:cNvPr id="11" name="矩形 10"/>
          <p:cNvSpPr/>
          <p:nvPr/>
        </p:nvSpPr>
        <p:spPr>
          <a:xfrm>
            <a:off x="362902" y="769622"/>
            <a:ext cx="8781098" cy="34289"/>
          </a:xfrm>
          <a:prstGeom prst="rect">
            <a:avLst/>
          </a:prstGeom>
          <a:solidFill>
            <a:srgbClr val="8CC288"/>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1350"/>
          </a:p>
        </p:txBody>
      </p:sp>
      <p:sp>
        <p:nvSpPr>
          <p:cNvPr id="12" name="矩形 11"/>
          <p:cNvSpPr/>
          <p:nvPr/>
        </p:nvSpPr>
        <p:spPr>
          <a:xfrm>
            <a:off x="362902" y="707709"/>
            <a:ext cx="8746172" cy="34289"/>
          </a:xfrm>
          <a:prstGeom prst="rect">
            <a:avLst/>
          </a:prstGeom>
          <a:solidFill>
            <a:srgbClr val="CBDECA"/>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1350"/>
          </a:p>
        </p:txBody>
      </p:sp>
      <p:sp>
        <p:nvSpPr>
          <p:cNvPr id="13" name="矩形 12"/>
          <p:cNvSpPr/>
          <p:nvPr/>
        </p:nvSpPr>
        <p:spPr bwMode="auto">
          <a:xfrm>
            <a:off x="1" y="2"/>
            <a:ext cx="362426" cy="704374"/>
          </a:xfrm>
          <a:prstGeom prst="rect">
            <a:avLst/>
          </a:prstGeom>
          <a:pattFill prst="ltUpDiag">
            <a:fgClr>
              <a:srgbClr val="0D8549"/>
            </a:fgClr>
            <a:bgClr>
              <a:schemeClr val="bg1"/>
            </a:bgClr>
          </a:pattFill>
          <a:ln>
            <a:noFill/>
          </a:ln>
        </p:spPr>
        <p:txBody>
          <a:bodyPr rot="0" spcFirstLastPara="0" vertOverflow="overflow" horzOverflow="overflow" vert="horz" wrap="square" lIns="30857" tIns="15428" rIns="30857" bIns="15428" numCol="1" spcCol="0" rtlCol="0" fromWordArt="0" anchor="ctr" anchorCtr="0" forceAA="0" compatLnSpc="1">
            <a:noAutofit/>
          </a:bodyPr>
          <a:lstStyle/>
          <a:p>
            <a:pPr algn="ctr"/>
            <a:endParaRPr lang="zh-CN" altLang="en-US" sz="610">
              <a:latin typeface="方正兰亭黑_GBK" panose="02000000000000000000" pitchFamily="2" charset="-122"/>
              <a:ea typeface="方正兰亭黑_GBK" panose="02000000000000000000" pitchFamily="2" charset="-122"/>
              <a:sym typeface="方正兰亭黑_GBK" panose="02000000000000000000" pitchFamily="2" charset="-122"/>
            </a:endParaRPr>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 id="2147483660" r:id="rId12"/>
    <p:sldLayoutId id="2147483661" r:id="rId13"/>
    <p:sldLayoutId id="2147483662" r:id="rId14"/>
    <p:sldLayoutId id="2147483663" r:id="rId15"/>
  </p:sldLayoutIdLst>
  <p:transition spd="slow">
    <p:cover/>
  </p:transition>
  <p:hf hdr="0" ftr="0"/>
  <p:txStyles>
    <p:titleStyle>
      <a:lvl1pPr algn="ctr" rtl="0" eaLnBrk="1" fontAlgn="base" hangingPunct="1">
        <a:spcBef>
          <a:spcPct val="0"/>
        </a:spcBef>
        <a:spcAft>
          <a:spcPct val="0"/>
        </a:spcAft>
        <a:defRPr sz="2400" b="1" kern="1200">
          <a:solidFill>
            <a:schemeClr val="tx1"/>
          </a:solidFill>
          <a:latin typeface="Times New Roman" panose="02020503050405090304" pitchFamily="18" charset="0"/>
          <a:ea typeface="+mj-ea"/>
          <a:cs typeface="Times New Roman" panose="02020503050405090304" pitchFamily="18" charset="0"/>
        </a:defRPr>
      </a:lvl1pPr>
      <a:lvl2pPr algn="ctr" rtl="0" eaLnBrk="1" fontAlgn="base" hangingPunct="1">
        <a:spcBef>
          <a:spcPct val="0"/>
        </a:spcBef>
        <a:spcAft>
          <a:spcPct val="0"/>
        </a:spcAft>
        <a:defRPr sz="1800" b="1">
          <a:solidFill>
            <a:schemeClr val="tx1"/>
          </a:solidFill>
          <a:latin typeface="Times New Roman" panose="02020503050405090304" pitchFamily="18" charset="0"/>
          <a:ea typeface="宋体" pitchFamily="2" charset="-122"/>
          <a:cs typeface="Times New Roman" panose="02020503050405090304" pitchFamily="18" charset="0"/>
        </a:defRPr>
      </a:lvl2pPr>
      <a:lvl3pPr algn="ctr" rtl="0" eaLnBrk="1" fontAlgn="base" hangingPunct="1">
        <a:spcBef>
          <a:spcPct val="0"/>
        </a:spcBef>
        <a:spcAft>
          <a:spcPct val="0"/>
        </a:spcAft>
        <a:defRPr sz="1800" b="1">
          <a:solidFill>
            <a:schemeClr val="tx1"/>
          </a:solidFill>
          <a:latin typeface="Times New Roman" panose="02020503050405090304" pitchFamily="18" charset="0"/>
          <a:ea typeface="宋体" pitchFamily="2" charset="-122"/>
          <a:cs typeface="Times New Roman" panose="02020503050405090304" pitchFamily="18" charset="0"/>
        </a:defRPr>
      </a:lvl3pPr>
      <a:lvl4pPr algn="ctr" rtl="0" eaLnBrk="1" fontAlgn="base" hangingPunct="1">
        <a:spcBef>
          <a:spcPct val="0"/>
        </a:spcBef>
        <a:spcAft>
          <a:spcPct val="0"/>
        </a:spcAft>
        <a:defRPr sz="1800" b="1">
          <a:solidFill>
            <a:schemeClr val="tx1"/>
          </a:solidFill>
          <a:latin typeface="Times New Roman" panose="02020503050405090304" pitchFamily="18" charset="0"/>
          <a:ea typeface="宋体" pitchFamily="2" charset="-122"/>
          <a:cs typeface="Times New Roman" panose="02020503050405090304" pitchFamily="18" charset="0"/>
        </a:defRPr>
      </a:lvl4pPr>
      <a:lvl5pPr algn="ctr" rtl="0" eaLnBrk="1" fontAlgn="base" hangingPunct="1">
        <a:spcBef>
          <a:spcPct val="0"/>
        </a:spcBef>
        <a:spcAft>
          <a:spcPct val="0"/>
        </a:spcAft>
        <a:defRPr sz="1800" b="1">
          <a:solidFill>
            <a:schemeClr val="tx1"/>
          </a:solidFill>
          <a:latin typeface="Times New Roman" panose="02020503050405090304" pitchFamily="18" charset="0"/>
          <a:ea typeface="宋体" pitchFamily="2" charset="-122"/>
          <a:cs typeface="Times New Roman" panose="02020503050405090304" pitchFamily="18" charset="0"/>
        </a:defRPr>
      </a:lvl5pPr>
      <a:lvl6pPr marL="257175" algn="ctr" rtl="0" eaLnBrk="1" fontAlgn="base" hangingPunct="1">
        <a:spcBef>
          <a:spcPct val="0"/>
        </a:spcBef>
        <a:spcAft>
          <a:spcPct val="0"/>
        </a:spcAft>
        <a:defRPr sz="2025">
          <a:solidFill>
            <a:schemeClr val="tx1"/>
          </a:solidFill>
          <a:latin typeface="Calibri" pitchFamily="34" charset="0"/>
          <a:ea typeface="宋体" pitchFamily="2" charset="-122"/>
        </a:defRPr>
      </a:lvl6pPr>
      <a:lvl7pPr marL="514350" algn="ctr" rtl="0" eaLnBrk="1" fontAlgn="base" hangingPunct="1">
        <a:spcBef>
          <a:spcPct val="0"/>
        </a:spcBef>
        <a:spcAft>
          <a:spcPct val="0"/>
        </a:spcAft>
        <a:defRPr sz="2025">
          <a:solidFill>
            <a:schemeClr val="tx1"/>
          </a:solidFill>
          <a:latin typeface="Calibri" pitchFamily="34" charset="0"/>
          <a:ea typeface="宋体" pitchFamily="2" charset="-122"/>
        </a:defRPr>
      </a:lvl7pPr>
      <a:lvl8pPr marL="771525" algn="ctr" rtl="0" eaLnBrk="1" fontAlgn="base" hangingPunct="1">
        <a:spcBef>
          <a:spcPct val="0"/>
        </a:spcBef>
        <a:spcAft>
          <a:spcPct val="0"/>
        </a:spcAft>
        <a:defRPr sz="2025">
          <a:solidFill>
            <a:schemeClr val="tx1"/>
          </a:solidFill>
          <a:latin typeface="Calibri" pitchFamily="34" charset="0"/>
          <a:ea typeface="宋体" pitchFamily="2" charset="-122"/>
        </a:defRPr>
      </a:lvl8pPr>
      <a:lvl9pPr marL="1028700" algn="ctr" rtl="0" eaLnBrk="1" fontAlgn="base" hangingPunct="1">
        <a:spcBef>
          <a:spcPct val="0"/>
        </a:spcBef>
        <a:spcAft>
          <a:spcPct val="0"/>
        </a:spcAft>
        <a:defRPr sz="2025">
          <a:solidFill>
            <a:schemeClr val="tx1"/>
          </a:solidFill>
          <a:latin typeface="Calibri" pitchFamily="34" charset="0"/>
          <a:ea typeface="宋体" pitchFamily="2" charset="-122"/>
        </a:defRPr>
      </a:lvl9pPr>
    </p:titleStyle>
    <p:bodyStyle>
      <a:lvl1pPr marL="250825" indent="-250825" algn="l" rtl="0" eaLnBrk="1" fontAlgn="base" hangingPunct="1">
        <a:lnSpc>
          <a:spcPct val="130000"/>
        </a:lnSpc>
        <a:spcBef>
          <a:spcPts val="0"/>
        </a:spcBef>
        <a:spcAft>
          <a:spcPct val="0"/>
        </a:spcAft>
        <a:buClr>
          <a:srgbClr val="0070C0"/>
        </a:buClr>
        <a:buFont typeface="Wingdings" panose="05000000000000000000" pitchFamily="2" charset="2"/>
        <a:buChar char="n"/>
        <a:defRPr sz="1800" kern="1200">
          <a:solidFill>
            <a:schemeClr val="tx1"/>
          </a:solidFill>
          <a:latin typeface="黑体" panose="02010609060101010101" pitchFamily="49" charset="-122"/>
          <a:ea typeface="黑体" panose="02010609060101010101" pitchFamily="49" charset="-122"/>
          <a:cs typeface="Times New Roman" panose="02020503050405090304" pitchFamily="18" charset="0"/>
        </a:defRPr>
      </a:lvl1pPr>
      <a:lvl2pPr marL="403860" indent="-200660" algn="l" rtl="0" eaLnBrk="1" fontAlgn="base" hangingPunct="1">
        <a:lnSpc>
          <a:spcPct val="130000"/>
        </a:lnSpc>
        <a:spcBef>
          <a:spcPts val="0"/>
        </a:spcBef>
        <a:spcAft>
          <a:spcPct val="0"/>
        </a:spcAft>
        <a:buFont typeface="Wingdings" panose="05000000000000000000" pitchFamily="2" charset="2"/>
        <a:buChar char="ü"/>
        <a:defRPr sz="1500" kern="1200">
          <a:solidFill>
            <a:schemeClr val="tx1"/>
          </a:solidFill>
          <a:latin typeface="Times New Roman" panose="02020503050405090304" pitchFamily="18" charset="0"/>
          <a:ea typeface="楷体" panose="02010609060101010101" pitchFamily="49" charset="-122"/>
          <a:cs typeface="Times New Roman" panose="02020503050405090304" pitchFamily="18" charset="0"/>
        </a:defRPr>
      </a:lvl2pPr>
      <a:lvl3pPr marL="504825" indent="-201930" algn="l" rtl="0" eaLnBrk="1" fontAlgn="base" hangingPunct="1">
        <a:lnSpc>
          <a:spcPct val="130000"/>
        </a:lnSpc>
        <a:spcBef>
          <a:spcPts val="0"/>
        </a:spcBef>
        <a:spcAft>
          <a:spcPct val="0"/>
        </a:spcAft>
        <a:buFont typeface="Wingdings" panose="05000000000000000000" pitchFamily="2" charset="2"/>
        <a:buChar char=""/>
        <a:defRPr sz="1350" kern="1200">
          <a:solidFill>
            <a:schemeClr val="tx1"/>
          </a:solidFill>
          <a:latin typeface="Times New Roman" panose="02020503050405090304" pitchFamily="18" charset="0"/>
          <a:ea typeface="楷体" panose="02010609060101010101" pitchFamily="49" charset="-122"/>
          <a:cs typeface="Times New Roman" panose="02020503050405090304" pitchFamily="18" charset="0"/>
        </a:defRPr>
      </a:lvl3pPr>
      <a:lvl4pPr marL="900430" indent="-128905" algn="l" rtl="0" eaLnBrk="1" fontAlgn="base" hangingPunct="1">
        <a:spcBef>
          <a:spcPct val="20000"/>
        </a:spcBef>
        <a:spcAft>
          <a:spcPct val="0"/>
        </a:spcAft>
        <a:buFont typeface="Arial" panose="020B0604020202090204" pitchFamily="34" charset="0"/>
        <a:buChar char="–"/>
        <a:defRPr sz="1125" kern="1200">
          <a:solidFill>
            <a:schemeClr val="tx1"/>
          </a:solidFill>
          <a:latin typeface="Times New Roman" panose="02020503050405090304" pitchFamily="18" charset="0"/>
          <a:ea typeface="+mn-ea"/>
          <a:cs typeface="Times New Roman" panose="02020503050405090304" pitchFamily="18" charset="0"/>
        </a:defRPr>
      </a:lvl4pPr>
      <a:lvl5pPr marL="1157605" indent="-128905" algn="l" rtl="0" eaLnBrk="1" fontAlgn="base" hangingPunct="1">
        <a:spcBef>
          <a:spcPct val="20000"/>
        </a:spcBef>
        <a:spcAft>
          <a:spcPct val="0"/>
        </a:spcAft>
        <a:buFont typeface="Arial" panose="020B0604020202090204" pitchFamily="34" charset="0"/>
        <a:buChar char="»"/>
        <a:defRPr sz="1125" kern="1200">
          <a:solidFill>
            <a:schemeClr val="tx1"/>
          </a:solidFill>
          <a:latin typeface="Times New Roman" panose="02020503050405090304" pitchFamily="18" charset="0"/>
          <a:ea typeface="+mn-ea"/>
          <a:cs typeface="Times New Roman" panose="02020503050405090304" pitchFamily="18" charset="0"/>
        </a:defRPr>
      </a:lvl5pPr>
      <a:lvl6pPr marL="1414780" indent="-128905" algn="l" defTabSz="514350" rtl="0" eaLnBrk="1" latinLnBrk="0" hangingPunct="1">
        <a:spcBef>
          <a:spcPct val="20000"/>
        </a:spcBef>
        <a:buFont typeface="Arial" panose="020B0604020202090204" pitchFamily="34" charset="0"/>
        <a:buChar char="•"/>
        <a:defRPr sz="1125" kern="1200">
          <a:solidFill>
            <a:schemeClr val="tx1"/>
          </a:solidFill>
          <a:latin typeface="+mn-lt"/>
          <a:ea typeface="+mn-ea"/>
          <a:cs typeface="+mn-cs"/>
        </a:defRPr>
      </a:lvl6pPr>
      <a:lvl7pPr marL="1671955" indent="-128905" algn="l" defTabSz="514350" rtl="0" eaLnBrk="1" latinLnBrk="0" hangingPunct="1">
        <a:spcBef>
          <a:spcPct val="20000"/>
        </a:spcBef>
        <a:buFont typeface="Arial" panose="020B0604020202090204" pitchFamily="34" charset="0"/>
        <a:buChar char="•"/>
        <a:defRPr sz="1125" kern="1200">
          <a:solidFill>
            <a:schemeClr val="tx1"/>
          </a:solidFill>
          <a:latin typeface="+mn-lt"/>
          <a:ea typeface="+mn-ea"/>
          <a:cs typeface="+mn-cs"/>
        </a:defRPr>
      </a:lvl7pPr>
      <a:lvl8pPr marL="1929130" indent="-128905" algn="l" defTabSz="514350" rtl="0" eaLnBrk="1" latinLnBrk="0" hangingPunct="1">
        <a:spcBef>
          <a:spcPct val="20000"/>
        </a:spcBef>
        <a:buFont typeface="Arial" panose="020B0604020202090204" pitchFamily="34" charset="0"/>
        <a:buChar char="•"/>
        <a:defRPr sz="1125" kern="1200">
          <a:solidFill>
            <a:schemeClr val="tx1"/>
          </a:solidFill>
          <a:latin typeface="+mn-lt"/>
          <a:ea typeface="+mn-ea"/>
          <a:cs typeface="+mn-cs"/>
        </a:defRPr>
      </a:lvl8pPr>
      <a:lvl9pPr marL="2186305" indent="-128905" algn="l" defTabSz="514350" rtl="0" eaLnBrk="1" latinLnBrk="0" hangingPunct="1">
        <a:spcBef>
          <a:spcPct val="20000"/>
        </a:spcBef>
        <a:buFont typeface="Arial" panose="020B0604020202090204" pitchFamily="34" charset="0"/>
        <a:buChar char="•"/>
        <a:defRPr sz="1125" kern="1200">
          <a:solidFill>
            <a:schemeClr val="tx1"/>
          </a:solidFill>
          <a:latin typeface="+mn-lt"/>
          <a:ea typeface="+mn-ea"/>
          <a:cs typeface="+mn-cs"/>
        </a:defRPr>
      </a:lvl9pPr>
    </p:bodyStyle>
    <p:otherStyle>
      <a:defPPr>
        <a:defRPr lang="zh-CN"/>
      </a:defPPr>
      <a:lvl1pPr marL="0" algn="l" defTabSz="514350" rtl="0" eaLnBrk="1" latinLnBrk="0" hangingPunct="1">
        <a:defRPr sz="1015" kern="1200">
          <a:solidFill>
            <a:schemeClr val="tx1"/>
          </a:solidFill>
          <a:latin typeface="+mn-lt"/>
          <a:ea typeface="+mn-ea"/>
          <a:cs typeface="+mn-cs"/>
        </a:defRPr>
      </a:lvl1pPr>
      <a:lvl2pPr marL="257175" algn="l" defTabSz="514350" rtl="0" eaLnBrk="1" latinLnBrk="0" hangingPunct="1">
        <a:defRPr sz="1015" kern="1200">
          <a:solidFill>
            <a:schemeClr val="tx1"/>
          </a:solidFill>
          <a:latin typeface="+mn-lt"/>
          <a:ea typeface="+mn-ea"/>
          <a:cs typeface="+mn-cs"/>
        </a:defRPr>
      </a:lvl2pPr>
      <a:lvl3pPr marL="514350" algn="l" defTabSz="514350" rtl="0" eaLnBrk="1" latinLnBrk="0" hangingPunct="1">
        <a:defRPr sz="1015" kern="1200">
          <a:solidFill>
            <a:schemeClr val="tx1"/>
          </a:solidFill>
          <a:latin typeface="+mn-lt"/>
          <a:ea typeface="+mn-ea"/>
          <a:cs typeface="+mn-cs"/>
        </a:defRPr>
      </a:lvl3pPr>
      <a:lvl4pPr marL="771525" algn="l" defTabSz="514350" rtl="0" eaLnBrk="1" latinLnBrk="0" hangingPunct="1">
        <a:defRPr sz="1015" kern="1200">
          <a:solidFill>
            <a:schemeClr val="tx1"/>
          </a:solidFill>
          <a:latin typeface="+mn-lt"/>
          <a:ea typeface="+mn-ea"/>
          <a:cs typeface="+mn-cs"/>
        </a:defRPr>
      </a:lvl4pPr>
      <a:lvl5pPr marL="1028700" algn="l" defTabSz="514350" rtl="0" eaLnBrk="1" latinLnBrk="0" hangingPunct="1">
        <a:defRPr sz="1015" kern="1200">
          <a:solidFill>
            <a:schemeClr val="tx1"/>
          </a:solidFill>
          <a:latin typeface="+mn-lt"/>
          <a:ea typeface="+mn-ea"/>
          <a:cs typeface="+mn-cs"/>
        </a:defRPr>
      </a:lvl5pPr>
      <a:lvl6pPr marL="1285875" algn="l" defTabSz="514350" rtl="0" eaLnBrk="1" latinLnBrk="0" hangingPunct="1">
        <a:defRPr sz="1015" kern="1200">
          <a:solidFill>
            <a:schemeClr val="tx1"/>
          </a:solidFill>
          <a:latin typeface="+mn-lt"/>
          <a:ea typeface="+mn-ea"/>
          <a:cs typeface="+mn-cs"/>
        </a:defRPr>
      </a:lvl6pPr>
      <a:lvl7pPr marL="1543050" algn="l" defTabSz="514350" rtl="0" eaLnBrk="1" latinLnBrk="0" hangingPunct="1">
        <a:defRPr sz="1015" kern="1200">
          <a:solidFill>
            <a:schemeClr val="tx1"/>
          </a:solidFill>
          <a:latin typeface="+mn-lt"/>
          <a:ea typeface="+mn-ea"/>
          <a:cs typeface="+mn-cs"/>
        </a:defRPr>
      </a:lvl7pPr>
      <a:lvl8pPr marL="1800225" algn="l" defTabSz="514350" rtl="0" eaLnBrk="1" latinLnBrk="0" hangingPunct="1">
        <a:defRPr sz="1015" kern="1200">
          <a:solidFill>
            <a:schemeClr val="tx1"/>
          </a:solidFill>
          <a:latin typeface="+mn-lt"/>
          <a:ea typeface="+mn-ea"/>
          <a:cs typeface="+mn-cs"/>
        </a:defRPr>
      </a:lvl8pPr>
      <a:lvl9pPr marL="2057400" algn="l" defTabSz="514350" rtl="0" eaLnBrk="1" latinLnBrk="0" hangingPunct="1">
        <a:defRPr sz="1015"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4" Type="http://schemas.openxmlformats.org/officeDocument/2006/relationships/notesSlide" Target="../notesSlides/notesSlide1.xml"/><Relationship Id="rId3" Type="http://schemas.openxmlformats.org/officeDocument/2006/relationships/slideLayout" Target="../slideLayouts/slideLayout1.xml"/><Relationship Id="rId2" Type="http://schemas.openxmlformats.org/officeDocument/2006/relationships/tags" Target="../tags/tag2.xml"/><Relationship Id="rId1" Type="http://schemas.openxmlformats.org/officeDocument/2006/relationships/tags" Target="../tags/tag1.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5.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5.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_rels/slide5.xml.rels><?xml version="1.0" encoding="UTF-8" standalone="yes"?>
<Relationships xmlns="http://schemas.openxmlformats.org/package/2006/relationships"><Relationship Id="rId2" Type="http://schemas.openxmlformats.org/officeDocument/2006/relationships/slideLayout" Target="../slideLayouts/slideLayout5.xml"/><Relationship Id="rId1" Type="http://schemas.openxmlformats.org/officeDocument/2006/relationships/image" Target="../media/image9.png"/></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_rels/slide7.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5.xml"/></Relationships>
</file>

<file path=ppt/slides/_rels/slide8.xml.rels><?xml version="1.0" encoding="UTF-8" standalone="yes"?>
<Relationships xmlns="http://schemas.openxmlformats.org/package/2006/relationships"><Relationship Id="rId3" Type="http://schemas.openxmlformats.org/officeDocument/2006/relationships/notesSlide" Target="../notesSlides/notesSlide5.xml"/><Relationship Id="rId2" Type="http://schemas.openxmlformats.org/officeDocument/2006/relationships/slideLayout" Target="../slideLayouts/slideLayout5.xml"/><Relationship Id="rId1" Type="http://schemas.openxmlformats.org/officeDocument/2006/relationships/image" Target="../media/image10.png"/></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_rels/slide13.xml.rels><?xml version="1.0" encoding="UTF-8" standalone="yes"?>
<Relationships xmlns="http://schemas.openxmlformats.org/package/2006/relationships"><Relationship Id="rId2" Type="http://schemas.openxmlformats.org/officeDocument/2006/relationships/slideLayout" Target="../slideLayouts/slideLayout5.xml"/><Relationship Id="rId1" Type="http://schemas.openxmlformats.org/officeDocument/2006/relationships/image" Target="../media/image11.emf"/></Relationships>
</file>

<file path=ppt/slides/_rels/slide14.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5.xml"/></Relationships>
</file>

<file path=ppt/slides/_rels/slide15.xml.rels><?xml version="1.0" encoding="UTF-8" standalone="yes"?>
<Relationships xmlns="http://schemas.openxmlformats.org/package/2006/relationships"><Relationship Id="rId3" Type="http://schemas.openxmlformats.org/officeDocument/2006/relationships/notesSlide" Target="../notesSlides/notesSlide7.xml"/><Relationship Id="rId2" Type="http://schemas.openxmlformats.org/officeDocument/2006/relationships/slideLayout" Target="../slideLayouts/slideLayout5.xml"/><Relationship Id="rId1" Type="http://schemas.openxmlformats.org/officeDocument/2006/relationships/image" Target="../media/image12.tiff"/></Relationships>
</file>

<file path=ppt/slides/_rels/slide16.xml.rels><?xml version="1.0" encoding="UTF-8" standalone="yes"?>
<Relationships xmlns="http://schemas.openxmlformats.org/package/2006/relationships"><Relationship Id="rId3" Type="http://schemas.openxmlformats.org/officeDocument/2006/relationships/slideLayout" Target="../slideLayouts/slideLayout5.xml"/><Relationship Id="rId2" Type="http://schemas.openxmlformats.org/officeDocument/2006/relationships/image" Target="../media/image14.png"/><Relationship Id="rId1" Type="http://schemas.openxmlformats.org/officeDocument/2006/relationships/image" Target="../media/image13.png"/></Relationships>
</file>

<file path=ppt/slides/_rels/slide17.xml.rels><?xml version="1.0" encoding="UTF-8" standalone="yes"?>
<Relationships xmlns="http://schemas.openxmlformats.org/package/2006/relationships"><Relationship Id="rId4" Type="http://schemas.openxmlformats.org/officeDocument/2006/relationships/notesSlide" Target="../notesSlides/notesSlide8.xml"/><Relationship Id="rId3" Type="http://schemas.openxmlformats.org/officeDocument/2006/relationships/slideLayout" Target="../slideLayouts/slideLayout5.xml"/><Relationship Id="rId2" Type="http://schemas.openxmlformats.org/officeDocument/2006/relationships/image" Target="../media/image16.png"/><Relationship Id="rId1" Type="http://schemas.openxmlformats.org/officeDocument/2006/relationships/image" Target="../media/image15.png"/></Relationships>
</file>

<file path=ppt/slides/_rels/slide18.xml.rels><?xml version="1.0" encoding="UTF-8" standalone="yes"?>
<Relationships xmlns="http://schemas.openxmlformats.org/package/2006/relationships"><Relationship Id="rId4" Type="http://schemas.openxmlformats.org/officeDocument/2006/relationships/notesSlide" Target="../notesSlides/notesSlide9.xml"/><Relationship Id="rId3" Type="http://schemas.openxmlformats.org/officeDocument/2006/relationships/slideLayout" Target="../slideLayouts/slideLayout5.xml"/><Relationship Id="rId2" Type="http://schemas.openxmlformats.org/officeDocument/2006/relationships/image" Target="../media/image18.png"/><Relationship Id="rId1" Type="http://schemas.openxmlformats.org/officeDocument/2006/relationships/image" Target="../media/image17.png"/></Relationships>
</file>

<file path=ppt/slides/_rels/slide19.xml.rels><?xml version="1.0" encoding="UTF-8" standalone="yes"?>
<Relationships xmlns="http://schemas.openxmlformats.org/package/2006/relationships"><Relationship Id="rId4" Type="http://schemas.openxmlformats.org/officeDocument/2006/relationships/notesSlide" Target="../notesSlides/notesSlide10.xml"/><Relationship Id="rId3" Type="http://schemas.openxmlformats.org/officeDocument/2006/relationships/slideLayout" Target="../slideLayouts/slideLayout5.xml"/><Relationship Id="rId2" Type="http://schemas.openxmlformats.org/officeDocument/2006/relationships/image" Target="../media/image20.png"/><Relationship Id="rId1" Type="http://schemas.openxmlformats.org/officeDocument/2006/relationships/image" Target="../media/image19.jpeg"/></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_rels/slide21.xml.rels><?xml version="1.0" encoding="UTF-8" standalone="yes"?>
<Relationships xmlns="http://schemas.openxmlformats.org/package/2006/relationships"><Relationship Id="rId2" Type="http://schemas.openxmlformats.org/officeDocument/2006/relationships/slideLayout" Target="../slideLayouts/slideLayout5.xml"/><Relationship Id="rId1" Type="http://schemas.openxmlformats.org/officeDocument/2006/relationships/image" Target="../media/image21.png"/></Relationships>
</file>

<file path=ppt/slides/_rels/slide22.xml.rels><?xml version="1.0" encoding="UTF-8" standalone="yes"?>
<Relationships xmlns="http://schemas.openxmlformats.org/package/2006/relationships"><Relationship Id="rId2" Type="http://schemas.openxmlformats.org/officeDocument/2006/relationships/slideLayout" Target="../slideLayouts/slideLayout5.xml"/><Relationship Id="rId1" Type="http://schemas.openxmlformats.org/officeDocument/2006/relationships/image" Target="../media/image22.png"/></Relationships>
</file>

<file path=ppt/slides/_rels/slide23.xml.rels><?xml version="1.0" encoding="UTF-8" standalone="yes"?>
<Relationships xmlns="http://schemas.openxmlformats.org/package/2006/relationships"><Relationship Id="rId2" Type="http://schemas.openxmlformats.org/officeDocument/2006/relationships/slideLayout" Target="../slideLayouts/slideLayout5.xml"/><Relationship Id="rId1" Type="http://schemas.openxmlformats.org/officeDocument/2006/relationships/image" Target="../media/image23.jpeg"/></Relationships>
</file>

<file path=ppt/slides/_rels/slide24.xml.rels><?xml version="1.0" encoding="UTF-8" standalone="yes"?>
<Relationships xmlns="http://schemas.openxmlformats.org/package/2006/relationships"><Relationship Id="rId4" Type="http://schemas.openxmlformats.org/officeDocument/2006/relationships/notesSlide" Target="../notesSlides/notesSlide11.xml"/><Relationship Id="rId3" Type="http://schemas.openxmlformats.org/officeDocument/2006/relationships/slideLayout" Target="../slideLayouts/slideLayout5.xml"/><Relationship Id="rId2" Type="http://schemas.openxmlformats.org/officeDocument/2006/relationships/image" Target="../media/image25.png"/><Relationship Id="rId1" Type="http://schemas.openxmlformats.org/officeDocument/2006/relationships/image" Target="../media/image24.jpeg"/></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_rels/slide26.xml.rels><?xml version="1.0" encoding="UTF-8" standalone="yes"?>
<Relationships xmlns="http://schemas.openxmlformats.org/package/2006/relationships"><Relationship Id="rId3" Type="http://schemas.openxmlformats.org/officeDocument/2006/relationships/notesSlide" Target="../notesSlides/notesSlide12.xml"/><Relationship Id="rId2" Type="http://schemas.openxmlformats.org/officeDocument/2006/relationships/slideLayout" Target="../slideLayouts/slideLayout5.xml"/><Relationship Id="rId1" Type="http://schemas.openxmlformats.org/officeDocument/2006/relationships/image" Target="../media/image26.jpeg"/></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_rels/slide28.xml.rels><?xml version="1.0" encoding="UTF-8" standalone="yes"?>
<Relationships xmlns="http://schemas.openxmlformats.org/package/2006/relationships"><Relationship Id="rId2" Type="http://schemas.openxmlformats.org/officeDocument/2006/relationships/slideLayout" Target="../slideLayouts/slideLayout5.xml"/><Relationship Id="rId1" Type="http://schemas.openxmlformats.org/officeDocument/2006/relationships/image" Target="../media/image27.png"/></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_rels/slide32.xml.rels><?xml version="1.0" encoding="UTF-8" standalone="yes"?>
<Relationships xmlns="http://schemas.openxmlformats.org/package/2006/relationships"><Relationship Id="rId2" Type="http://schemas.openxmlformats.org/officeDocument/2006/relationships/slideLayout" Target="../slideLayouts/slideLayout5.xml"/><Relationship Id="rId1" Type="http://schemas.openxmlformats.org/officeDocument/2006/relationships/image" Target="../media/image28.png"/></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_rels/slide34.xml.rels><?xml version="1.0" encoding="UTF-8" standalone="yes"?>
<Relationships xmlns="http://schemas.openxmlformats.org/package/2006/relationships"><Relationship Id="rId5" Type="http://schemas.openxmlformats.org/officeDocument/2006/relationships/notesSlide" Target="../notesSlides/notesSlide13.xml"/><Relationship Id="rId4" Type="http://schemas.openxmlformats.org/officeDocument/2006/relationships/slideLayout" Target="../slideLayouts/slideLayout5.xml"/><Relationship Id="rId3" Type="http://schemas.openxmlformats.org/officeDocument/2006/relationships/image" Target="../media/image31.jpeg"/><Relationship Id="rId2" Type="http://schemas.openxmlformats.org/officeDocument/2006/relationships/image" Target="../media/image30.jpeg"/><Relationship Id="rId1" Type="http://schemas.openxmlformats.org/officeDocument/2006/relationships/image" Target="../media/image29.jpeg"/></Relationships>
</file>

<file path=ppt/slides/_rels/slide35.xml.rels><?xml version="1.0" encoding="UTF-8" standalone="yes"?>
<Relationships xmlns="http://schemas.openxmlformats.org/package/2006/relationships"><Relationship Id="rId2" Type="http://schemas.openxmlformats.org/officeDocument/2006/relationships/notesSlide" Target="../notesSlides/notesSlide14.xml"/><Relationship Id="rId1" Type="http://schemas.openxmlformats.org/officeDocument/2006/relationships/slideLayout" Target="../slideLayouts/slideLayout5.xml"/></Relationships>
</file>

<file path=ppt/slides/_rels/slide36.xml.rels><?xml version="1.0" encoding="UTF-8" standalone="yes"?>
<Relationships xmlns="http://schemas.openxmlformats.org/package/2006/relationships"><Relationship Id="rId2" Type="http://schemas.openxmlformats.org/officeDocument/2006/relationships/slideLayout" Target="../slideLayouts/slideLayout5.xml"/><Relationship Id="rId1" Type="http://schemas.openxmlformats.org/officeDocument/2006/relationships/image" Target="../media/image32.jpeg"/></Relationships>
</file>

<file path=ppt/slides/_rels/slide37.xml.rels><?xml version="1.0" encoding="UTF-8" standalone="yes"?>
<Relationships xmlns="http://schemas.openxmlformats.org/package/2006/relationships"><Relationship Id="rId2" Type="http://schemas.openxmlformats.org/officeDocument/2006/relationships/notesSlide" Target="../notesSlides/notesSlide15.xml"/><Relationship Id="rId1" Type="http://schemas.openxmlformats.org/officeDocument/2006/relationships/slideLayout" Target="../slideLayouts/slideLayout5.xml"/></Relationships>
</file>

<file path=ppt/slides/_rels/slide38.xml.rels><?xml version="1.0" encoding="UTF-8" standalone="yes"?>
<Relationships xmlns="http://schemas.openxmlformats.org/package/2006/relationships"><Relationship Id="rId3" Type="http://schemas.openxmlformats.org/officeDocument/2006/relationships/notesSlide" Target="../notesSlides/notesSlide16.xml"/><Relationship Id="rId2" Type="http://schemas.openxmlformats.org/officeDocument/2006/relationships/slideLayout" Target="../slideLayouts/slideLayout5.xml"/><Relationship Id="rId1" Type="http://schemas.openxmlformats.org/officeDocument/2006/relationships/image" Target="../media/image33.png"/></Relationships>
</file>

<file path=ppt/slides/_rels/slide39.xml.rels><?xml version="1.0" encoding="UTF-8" standalone="yes"?>
<Relationships xmlns="http://schemas.openxmlformats.org/package/2006/relationships"><Relationship Id="rId2" Type="http://schemas.openxmlformats.org/officeDocument/2006/relationships/notesSlide" Target="../notesSlides/notesSlide17.xml"/><Relationship Id="rId1" Type="http://schemas.openxmlformats.org/officeDocument/2006/relationships/slideLayout" Target="../slideLayouts/slideLayout5.xml"/></Relationships>
</file>

<file path=ppt/slides/_rels/slide40.xml.rels><?xml version="1.0" encoding="UTF-8" standalone="yes"?>
<Relationships xmlns="http://schemas.openxmlformats.org/package/2006/relationships"><Relationship Id="rId2" Type="http://schemas.openxmlformats.org/officeDocument/2006/relationships/slideLayout" Target="../slideLayouts/slideLayout5.xml"/><Relationship Id="rId1" Type="http://schemas.openxmlformats.org/officeDocument/2006/relationships/image" Target="../media/image34.jpeg"/></Relationships>
</file>

<file path=ppt/slides/_rels/slide41.xml.rels><?xml version="1.0" encoding="UTF-8" standalone="yes"?>
<Relationships xmlns="http://schemas.openxmlformats.org/package/2006/relationships"><Relationship Id="rId2" Type="http://schemas.openxmlformats.org/officeDocument/2006/relationships/notesSlide" Target="../notesSlides/notesSlide18.xml"/><Relationship Id="rId1" Type="http://schemas.openxmlformats.org/officeDocument/2006/relationships/slideLayout" Target="../slideLayouts/slideLayout5.xml"/></Relationships>
</file>

<file path=ppt/slides/_rels/slide42.xml.rels><?xml version="1.0" encoding="UTF-8" standalone="yes"?>
<Relationships xmlns="http://schemas.openxmlformats.org/package/2006/relationships"><Relationship Id="rId3" Type="http://schemas.openxmlformats.org/officeDocument/2006/relationships/notesSlide" Target="../notesSlides/notesSlide19.xml"/><Relationship Id="rId2" Type="http://schemas.openxmlformats.org/officeDocument/2006/relationships/slideLayout" Target="../slideLayouts/slideLayout5.xml"/><Relationship Id="rId1" Type="http://schemas.openxmlformats.org/officeDocument/2006/relationships/image" Target="../media/image35.png"/></Relationships>
</file>

<file path=ppt/slides/_rels/slide43.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_rels/slide44.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_rels/slide45.xml.rels><?xml version="1.0" encoding="UTF-8" standalone="yes"?>
<Relationships xmlns="http://schemas.openxmlformats.org/package/2006/relationships"><Relationship Id="rId2" Type="http://schemas.openxmlformats.org/officeDocument/2006/relationships/notesSlide" Target="../notesSlides/notesSlide20.xml"/><Relationship Id="rId1" Type="http://schemas.openxmlformats.org/officeDocument/2006/relationships/slideLayout" Target="../slideLayouts/slideLayout5.xml"/></Relationships>
</file>

<file path=ppt/slides/_rels/slide46.xml.rels><?xml version="1.0" encoding="UTF-8" standalone="yes"?>
<Relationships xmlns="http://schemas.openxmlformats.org/package/2006/relationships"><Relationship Id="rId2" Type="http://schemas.openxmlformats.org/officeDocument/2006/relationships/notesSlide" Target="../notesSlides/notesSlide21.xml"/><Relationship Id="rId1" Type="http://schemas.openxmlformats.org/officeDocument/2006/relationships/slideLayout" Target="../slideLayouts/slideLayout5.xml"/></Relationships>
</file>

<file path=ppt/slides/_rels/slide47.xml.rels><?xml version="1.0" encoding="UTF-8" standalone="yes"?>
<Relationships xmlns="http://schemas.openxmlformats.org/package/2006/relationships"><Relationship Id="rId2" Type="http://schemas.openxmlformats.org/officeDocument/2006/relationships/notesSlide" Target="../notesSlides/notesSlide22.xml"/><Relationship Id="rId1" Type="http://schemas.openxmlformats.org/officeDocument/2006/relationships/slideLayout" Target="../slideLayouts/slideLayout5.xml"/></Relationships>
</file>

<file path=ppt/slides/_rels/slide48.xml.rels><?xml version="1.0" encoding="UTF-8" standalone="yes"?>
<Relationships xmlns="http://schemas.openxmlformats.org/package/2006/relationships"><Relationship Id="rId2" Type="http://schemas.openxmlformats.org/officeDocument/2006/relationships/notesSlide" Target="../notesSlides/notesSlide23.xml"/><Relationship Id="rId1" Type="http://schemas.openxmlformats.org/officeDocument/2006/relationships/slideLayout" Target="../slideLayouts/slideLayout5.xml"/></Relationships>
</file>

<file path=ppt/slides/_rels/slide49.xml.rels><?xml version="1.0" encoding="UTF-8" standalone="yes"?>
<Relationships xmlns="http://schemas.openxmlformats.org/package/2006/relationships"><Relationship Id="rId2" Type="http://schemas.openxmlformats.org/officeDocument/2006/relationships/notesSlide" Target="../notesSlides/notesSlide24.xml"/><Relationship Id="rId1" Type="http://schemas.openxmlformats.org/officeDocument/2006/relationships/slideLayout" Target="../slideLayouts/slideLayout5.xml"/></Relationships>
</file>

<file path=ppt/slides/_rels/slide50.xml.rels><?xml version="1.0" encoding="UTF-8" standalone="yes"?>
<Relationships xmlns="http://schemas.openxmlformats.org/package/2006/relationships"><Relationship Id="rId3" Type="http://schemas.openxmlformats.org/officeDocument/2006/relationships/notesSlide" Target="../notesSlides/notesSlide25.xml"/><Relationship Id="rId2" Type="http://schemas.openxmlformats.org/officeDocument/2006/relationships/slideLayout" Target="../slideLayouts/slideLayout5.xml"/><Relationship Id="rId1" Type="http://schemas.openxmlformats.org/officeDocument/2006/relationships/image" Target="../media/image36.jpeg"/></Relationships>
</file>

<file path=ppt/slides/_rels/slide51.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_rels/slide52.xml.rels><?xml version="1.0" encoding="UTF-8" standalone="yes"?>
<Relationships xmlns="http://schemas.openxmlformats.org/package/2006/relationships"><Relationship Id="rId2" Type="http://schemas.openxmlformats.org/officeDocument/2006/relationships/slideLayout" Target="../slideLayouts/slideLayout5.xml"/><Relationship Id="rId1" Type="http://schemas.openxmlformats.org/officeDocument/2006/relationships/image" Target="../media/image37.png"/></Relationships>
</file>

<file path=ppt/slides/_rels/slide53.xml.rels><?xml version="1.0" encoding="UTF-8" standalone="yes"?>
<Relationships xmlns="http://schemas.openxmlformats.org/package/2006/relationships"><Relationship Id="rId3" Type="http://schemas.openxmlformats.org/officeDocument/2006/relationships/notesSlide" Target="../notesSlides/notesSlide26.xml"/><Relationship Id="rId2" Type="http://schemas.openxmlformats.org/officeDocument/2006/relationships/slideLayout" Target="../slideLayouts/slideLayout5.xml"/><Relationship Id="rId1" Type="http://schemas.openxmlformats.org/officeDocument/2006/relationships/image" Target="../media/image38.png"/></Relationships>
</file>

<file path=ppt/slides/_rels/slide54.xml.rels><?xml version="1.0" encoding="UTF-8" standalone="yes"?>
<Relationships xmlns="http://schemas.openxmlformats.org/package/2006/relationships"><Relationship Id="rId2" Type="http://schemas.openxmlformats.org/officeDocument/2006/relationships/notesSlide" Target="../notesSlides/notesSlide27.xml"/><Relationship Id="rId1" Type="http://schemas.openxmlformats.org/officeDocument/2006/relationships/slideLayout" Target="../slideLayouts/slideLayout5.xml"/></Relationships>
</file>

<file path=ppt/slides/_rels/slide55.xml.rels><?xml version="1.0" encoding="UTF-8" standalone="yes"?>
<Relationships xmlns="http://schemas.openxmlformats.org/package/2006/relationships"><Relationship Id="rId2" Type="http://schemas.openxmlformats.org/officeDocument/2006/relationships/notesSlide" Target="../notesSlides/notesSlide28.xml"/><Relationship Id="rId1" Type="http://schemas.openxmlformats.org/officeDocument/2006/relationships/slideLayout" Target="../slideLayouts/slideLayout5.xml"/></Relationships>
</file>

<file path=ppt/slides/_rels/slide56.xml.rels><?xml version="1.0" encoding="UTF-8" standalone="yes"?>
<Relationships xmlns="http://schemas.openxmlformats.org/package/2006/relationships"><Relationship Id="rId2" Type="http://schemas.openxmlformats.org/officeDocument/2006/relationships/notesSlide" Target="../notesSlides/notesSlide29.xml"/><Relationship Id="rId1" Type="http://schemas.openxmlformats.org/officeDocument/2006/relationships/slideLayout" Target="../slideLayouts/slideLayout5.xml"/></Relationships>
</file>

<file path=ppt/slides/_rels/slide57.xml.rels><?xml version="1.0" encoding="UTF-8" standalone="yes"?>
<Relationships xmlns="http://schemas.openxmlformats.org/package/2006/relationships"><Relationship Id="rId5" Type="http://schemas.openxmlformats.org/officeDocument/2006/relationships/notesSlide" Target="../notesSlides/notesSlide30.xml"/><Relationship Id="rId4" Type="http://schemas.openxmlformats.org/officeDocument/2006/relationships/slideLayout" Target="../slideLayouts/slideLayout5.xml"/><Relationship Id="rId3" Type="http://schemas.openxmlformats.org/officeDocument/2006/relationships/image" Target="../media/image41.png"/><Relationship Id="rId2" Type="http://schemas.openxmlformats.org/officeDocument/2006/relationships/image" Target="../media/image40.png"/><Relationship Id="rId1" Type="http://schemas.openxmlformats.org/officeDocument/2006/relationships/image" Target="../media/image39.png"/></Relationships>
</file>

<file path=ppt/slides/_rels/slide58.xml.rels><?xml version="1.0" encoding="UTF-8" standalone="yes"?>
<Relationships xmlns="http://schemas.openxmlformats.org/package/2006/relationships"><Relationship Id="rId4" Type="http://schemas.openxmlformats.org/officeDocument/2006/relationships/notesSlide" Target="../notesSlides/notesSlide31.xml"/><Relationship Id="rId3" Type="http://schemas.openxmlformats.org/officeDocument/2006/relationships/slideLayout" Target="../slideLayouts/slideLayout5.xml"/><Relationship Id="rId2" Type="http://schemas.openxmlformats.org/officeDocument/2006/relationships/image" Target="../media/image43.jpeg"/><Relationship Id="rId1" Type="http://schemas.openxmlformats.org/officeDocument/2006/relationships/image" Target="../media/image42.png"/></Relationships>
</file>

<file path=ppt/slides/_rels/slide59.xml.rels><?xml version="1.0" encoding="UTF-8" standalone="yes"?>
<Relationships xmlns="http://schemas.openxmlformats.org/package/2006/relationships"><Relationship Id="rId2" Type="http://schemas.openxmlformats.org/officeDocument/2006/relationships/notesSlide" Target="../notesSlides/notesSlide32.xml"/><Relationship Id="rId1" Type="http://schemas.openxmlformats.org/officeDocument/2006/relationships/slideLayout" Target="../slideLayouts/slideLayout5.xml"/></Relationships>
</file>

<file path=ppt/slides/_rels/slide60.xml.rels><?xml version="1.0" encoding="UTF-8" standalone="yes"?>
<Relationships xmlns="http://schemas.openxmlformats.org/package/2006/relationships"><Relationship Id="rId2" Type="http://schemas.openxmlformats.org/officeDocument/2006/relationships/slideLayout" Target="../slideLayouts/slideLayout5.xml"/><Relationship Id="rId1" Type="http://schemas.openxmlformats.org/officeDocument/2006/relationships/image" Target="../media/image44.png"/></Relationships>
</file>

<file path=ppt/slides/_rels/slide61.xml.rels><?xml version="1.0" encoding="UTF-8" standalone="yes"?>
<Relationships xmlns="http://schemas.openxmlformats.org/package/2006/relationships"><Relationship Id="rId3" Type="http://schemas.openxmlformats.org/officeDocument/2006/relationships/notesSlide" Target="../notesSlides/notesSlide33.xml"/><Relationship Id="rId2" Type="http://schemas.openxmlformats.org/officeDocument/2006/relationships/slideLayout" Target="../slideLayouts/slideLayout5.xml"/><Relationship Id="rId1" Type="http://schemas.openxmlformats.org/officeDocument/2006/relationships/image" Target="../media/image45.png"/></Relationships>
</file>

<file path=ppt/slides/_rels/slide62.xml.rels><?xml version="1.0" encoding="UTF-8" standalone="yes"?>
<Relationships xmlns="http://schemas.openxmlformats.org/package/2006/relationships"><Relationship Id="rId2" Type="http://schemas.openxmlformats.org/officeDocument/2006/relationships/notesSlide" Target="../notesSlides/notesSlide34.xml"/><Relationship Id="rId1" Type="http://schemas.openxmlformats.org/officeDocument/2006/relationships/slideLayout" Target="../slideLayouts/slideLayout5.xml"/></Relationships>
</file>

<file path=ppt/slides/_rels/slide63.xml.rels><?xml version="1.0" encoding="UTF-8" standalone="yes"?>
<Relationships xmlns="http://schemas.openxmlformats.org/package/2006/relationships"><Relationship Id="rId2" Type="http://schemas.openxmlformats.org/officeDocument/2006/relationships/notesSlide" Target="../notesSlides/notesSlide35.xml"/><Relationship Id="rId1" Type="http://schemas.openxmlformats.org/officeDocument/2006/relationships/slideLayout" Target="../slideLayouts/slideLayout5.xml"/></Relationships>
</file>

<file path=ppt/slides/_rels/slide64.xml.rels><?xml version="1.0" encoding="UTF-8" standalone="yes"?>
<Relationships xmlns="http://schemas.openxmlformats.org/package/2006/relationships"><Relationship Id="rId3" Type="http://schemas.openxmlformats.org/officeDocument/2006/relationships/notesSlide" Target="../notesSlides/notesSlide36.xml"/><Relationship Id="rId2" Type="http://schemas.openxmlformats.org/officeDocument/2006/relationships/slideLayout" Target="../slideLayouts/slideLayout5.xml"/><Relationship Id="rId1" Type="http://schemas.openxmlformats.org/officeDocument/2006/relationships/image" Target="../media/image46.jpeg"/></Relationships>
</file>

<file path=ppt/slides/_rels/slide65.xml.rels><?xml version="1.0" encoding="UTF-8" standalone="yes"?>
<Relationships xmlns="http://schemas.openxmlformats.org/package/2006/relationships"><Relationship Id="rId3" Type="http://schemas.openxmlformats.org/officeDocument/2006/relationships/notesSlide" Target="../notesSlides/notesSlide37.xml"/><Relationship Id="rId2" Type="http://schemas.openxmlformats.org/officeDocument/2006/relationships/slideLayout" Target="../slideLayouts/slideLayout5.xml"/><Relationship Id="rId1" Type="http://schemas.openxmlformats.org/officeDocument/2006/relationships/image" Target="../media/image47.jpeg"/></Relationships>
</file>

<file path=ppt/slides/_rels/slide66.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_rels/slide67.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_rels/slide68.xml.rels><?xml version="1.0" encoding="UTF-8" standalone="yes"?>
<Relationships xmlns="http://schemas.openxmlformats.org/package/2006/relationships"><Relationship Id="rId3" Type="http://schemas.openxmlformats.org/officeDocument/2006/relationships/notesSlide" Target="../notesSlides/notesSlide38.xml"/><Relationship Id="rId2" Type="http://schemas.openxmlformats.org/officeDocument/2006/relationships/slideLayout" Target="../slideLayouts/slideLayout5.xml"/><Relationship Id="rId1" Type="http://schemas.openxmlformats.org/officeDocument/2006/relationships/image" Target="../media/image48.jpeg"/></Relationships>
</file>

<file path=ppt/slides/_rels/slide69.xml.rels><?xml version="1.0" encoding="UTF-8" standalone="yes"?>
<Relationships xmlns="http://schemas.openxmlformats.org/package/2006/relationships"><Relationship Id="rId3" Type="http://schemas.openxmlformats.org/officeDocument/2006/relationships/notesSlide" Target="../notesSlides/notesSlide39.xml"/><Relationship Id="rId2" Type="http://schemas.openxmlformats.org/officeDocument/2006/relationships/slideLayout" Target="../slideLayouts/slideLayout5.xml"/><Relationship Id="rId1" Type="http://schemas.openxmlformats.org/officeDocument/2006/relationships/image" Target="../media/image49.jpeg"/></Relationships>
</file>

<file path=ppt/slides/_rels/slide70.xml.rels><?xml version="1.0" encoding="UTF-8" standalone="yes"?>
<Relationships xmlns="http://schemas.openxmlformats.org/package/2006/relationships"><Relationship Id="rId4" Type="http://schemas.openxmlformats.org/officeDocument/2006/relationships/notesSlide" Target="../notesSlides/notesSlide40.xml"/><Relationship Id="rId3" Type="http://schemas.openxmlformats.org/officeDocument/2006/relationships/slideLayout" Target="../slideLayouts/slideLayout5.xml"/><Relationship Id="rId2" Type="http://schemas.openxmlformats.org/officeDocument/2006/relationships/image" Target="../media/image51.png"/><Relationship Id="rId1" Type="http://schemas.openxmlformats.org/officeDocument/2006/relationships/image" Target="../media/image50.png"/></Relationships>
</file>

<file path=ppt/slides/_rels/slide71.xml.rels><?xml version="1.0" encoding="UTF-8" standalone="yes"?>
<Relationships xmlns="http://schemas.openxmlformats.org/package/2006/relationships"><Relationship Id="rId4" Type="http://schemas.openxmlformats.org/officeDocument/2006/relationships/notesSlide" Target="../notesSlides/notesSlide41.xml"/><Relationship Id="rId3" Type="http://schemas.openxmlformats.org/officeDocument/2006/relationships/slideLayout" Target="../slideLayouts/slideLayout5.xml"/><Relationship Id="rId2" Type="http://schemas.openxmlformats.org/officeDocument/2006/relationships/image" Target="../media/image53.jpeg"/><Relationship Id="rId1" Type="http://schemas.openxmlformats.org/officeDocument/2006/relationships/image" Target="../media/image52.jpeg"/></Relationships>
</file>

<file path=ppt/slides/_rels/slide72.xml.rels><?xml version="1.0" encoding="UTF-8" standalone="yes"?>
<Relationships xmlns="http://schemas.openxmlformats.org/package/2006/relationships"><Relationship Id="rId3" Type="http://schemas.openxmlformats.org/officeDocument/2006/relationships/notesSlide" Target="../notesSlides/notesSlide42.xml"/><Relationship Id="rId2" Type="http://schemas.openxmlformats.org/officeDocument/2006/relationships/slideLayout" Target="../slideLayouts/slideLayout5.xml"/><Relationship Id="rId1" Type="http://schemas.openxmlformats.org/officeDocument/2006/relationships/image" Target="../media/image54.jpeg"/></Relationships>
</file>

<file path=ppt/slides/_rels/slide73.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_rels/slide74.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_rels/slide75.xml.rels><?xml version="1.0" encoding="UTF-8" standalone="yes"?>
<Relationships xmlns="http://schemas.openxmlformats.org/package/2006/relationships"><Relationship Id="rId3" Type="http://schemas.openxmlformats.org/officeDocument/2006/relationships/notesSlide" Target="../notesSlides/notesSlide43.xml"/><Relationship Id="rId2" Type="http://schemas.openxmlformats.org/officeDocument/2006/relationships/slideLayout" Target="../slideLayouts/slideLayout5.xml"/><Relationship Id="rId1" Type="http://schemas.openxmlformats.org/officeDocument/2006/relationships/image" Target="../media/image55.jpeg"/></Relationships>
</file>

<file path=ppt/slides/_rels/slide76.xml.rels><?xml version="1.0" encoding="UTF-8" standalone="yes"?>
<Relationships xmlns="http://schemas.openxmlformats.org/package/2006/relationships"><Relationship Id="rId2" Type="http://schemas.openxmlformats.org/officeDocument/2006/relationships/notesSlide" Target="../notesSlides/notesSlide44.xml"/><Relationship Id="rId1" Type="http://schemas.openxmlformats.org/officeDocument/2006/relationships/slideLayout" Target="../slideLayouts/slideLayout5.xml"/></Relationships>
</file>

<file path=ppt/slides/_rels/slide77.xml.rels><?xml version="1.0" encoding="UTF-8" standalone="yes"?>
<Relationships xmlns="http://schemas.openxmlformats.org/package/2006/relationships"><Relationship Id="rId3" Type="http://schemas.openxmlformats.org/officeDocument/2006/relationships/notesSlide" Target="../notesSlides/notesSlide45.xml"/><Relationship Id="rId2" Type="http://schemas.openxmlformats.org/officeDocument/2006/relationships/slideLayout" Target="../slideLayouts/slideLayout5.xml"/><Relationship Id="rId1" Type="http://schemas.openxmlformats.org/officeDocument/2006/relationships/image" Target="../media/image56.png"/></Relationships>
</file>

<file path=ppt/slides/_rels/slide78.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_rels/slide79.xml.rels><?xml version="1.0" encoding="UTF-8" standalone="yes"?>
<Relationships xmlns="http://schemas.openxmlformats.org/package/2006/relationships"><Relationship Id="rId2" Type="http://schemas.openxmlformats.org/officeDocument/2006/relationships/notesSlide" Target="../notesSlides/notesSlide46.xml"/><Relationship Id="rId1" Type="http://schemas.openxmlformats.org/officeDocument/2006/relationships/slideLayout" Target="../slideLayouts/slideLayout5.xml"/></Relationships>
</file>

<file path=ppt/slides/_rels/slide80.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_rels/slide81.xml.rels><?xml version="1.0" encoding="UTF-8" standalone="yes"?>
<Relationships xmlns="http://schemas.openxmlformats.org/package/2006/relationships"><Relationship Id="rId2" Type="http://schemas.openxmlformats.org/officeDocument/2006/relationships/slideLayout" Target="../slideLayouts/slideLayout5.xml"/><Relationship Id="rId1" Type="http://schemas.openxmlformats.org/officeDocument/2006/relationships/image" Target="../media/image57.jpeg"/></Relationships>
</file>

<file path=ppt/slides/_rels/slide82.xml.rels><?xml version="1.0" encoding="UTF-8" standalone="yes"?>
<Relationships xmlns="http://schemas.openxmlformats.org/package/2006/relationships"><Relationship Id="rId2" Type="http://schemas.openxmlformats.org/officeDocument/2006/relationships/notesSlide" Target="../notesSlides/notesSlide47.xml"/><Relationship Id="rId1" Type="http://schemas.openxmlformats.org/officeDocument/2006/relationships/slideLayout" Target="../slideLayouts/slideLayout5.xml"/></Relationships>
</file>

<file path=ppt/slides/_rels/slide83.xml.rels><?xml version="1.0" encoding="UTF-8" standalone="yes"?>
<Relationships xmlns="http://schemas.openxmlformats.org/package/2006/relationships"><Relationship Id="rId2" Type="http://schemas.openxmlformats.org/officeDocument/2006/relationships/notesSlide" Target="../notesSlides/notesSlide48.xml"/><Relationship Id="rId1" Type="http://schemas.openxmlformats.org/officeDocument/2006/relationships/slideLayout" Target="../slideLayouts/slideLayout5.xml"/></Relationships>
</file>

<file path=ppt/slides/_rels/slide84.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_rels/slide85.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_rels/slide86.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_rels/slide87.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_rels/slide88.xml.rels><?xml version="1.0" encoding="UTF-8" standalone="yes"?>
<Relationships xmlns="http://schemas.openxmlformats.org/package/2006/relationships"><Relationship Id="rId3" Type="http://schemas.openxmlformats.org/officeDocument/2006/relationships/slideLayout" Target="../slideLayouts/slideLayout5.xml"/><Relationship Id="rId2" Type="http://schemas.openxmlformats.org/officeDocument/2006/relationships/image" Target="../media/image59.png"/><Relationship Id="rId1" Type="http://schemas.openxmlformats.org/officeDocument/2006/relationships/image" Target="../media/image58.png"/></Relationships>
</file>

<file path=ppt/slides/_rels/slide89.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_rels/slide90.xml.rels><?xml version="1.0" encoding="UTF-8" standalone="yes"?>
<Relationships xmlns="http://schemas.openxmlformats.org/package/2006/relationships"><Relationship Id="rId2" Type="http://schemas.openxmlformats.org/officeDocument/2006/relationships/notesSlide" Target="../notesSlides/notesSlide49.xml"/><Relationship Id="rId1" Type="http://schemas.openxmlformats.org/officeDocument/2006/relationships/slideLayout" Target="../slideLayouts/slideLayout5.xml"/></Relationships>
</file>

<file path=ppt/slides/_rels/slide91.xml.rels><?xml version="1.0" encoding="UTF-8" standalone="yes"?>
<Relationships xmlns="http://schemas.openxmlformats.org/package/2006/relationships"><Relationship Id="rId2" Type="http://schemas.openxmlformats.org/officeDocument/2006/relationships/notesSlide" Target="../notesSlides/notesSlide50.xml"/><Relationship Id="rId1" Type="http://schemas.openxmlformats.org/officeDocument/2006/relationships/slideLayout" Target="../slideLayouts/slideLayout5.xml"/></Relationships>
</file>

<file path=ppt/slides/_rels/slide92.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_rels/slide93.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_rels/slide94.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_rels/slide95.xml.rels><?xml version="1.0" encoding="UTF-8" standalone="yes"?>
<Relationships xmlns="http://schemas.openxmlformats.org/package/2006/relationships"><Relationship Id="rId2" Type="http://schemas.openxmlformats.org/officeDocument/2006/relationships/notesSlide" Target="../notesSlides/notesSlide51.xml"/><Relationship Id="rId1" Type="http://schemas.openxmlformats.org/officeDocument/2006/relationships/slideLayout" Target="../slideLayouts/slideLayout5.xml"/></Relationships>
</file>

<file path=ppt/slides/_rels/slide96.xml.rels><?xml version="1.0" encoding="UTF-8" standalone="yes"?>
<Relationships xmlns="http://schemas.openxmlformats.org/package/2006/relationships"><Relationship Id="rId2" Type="http://schemas.openxmlformats.org/officeDocument/2006/relationships/slideLayout" Target="../slideLayouts/slideLayout5.xml"/><Relationship Id="rId1" Type="http://schemas.openxmlformats.org/officeDocument/2006/relationships/image" Target="../media/image60.png"/></Relationships>
</file>

<file path=ppt/slides/_rels/slide97.xml.rels><?xml version="1.0" encoding="UTF-8" standalone="yes"?>
<Relationships xmlns="http://schemas.openxmlformats.org/package/2006/relationships"><Relationship Id="rId2" Type="http://schemas.openxmlformats.org/officeDocument/2006/relationships/notesSlide" Target="../notesSlides/notesSlide52.xml"/><Relationship Id="rId1" Type="http://schemas.openxmlformats.org/officeDocument/2006/relationships/slideLayout" Target="../slideLayouts/slideLayout5.xml"/></Relationships>
</file>

<file path=ppt/slides/_rels/slide98.xml.rels><?xml version="1.0" encoding="UTF-8" standalone="yes"?>
<Relationships xmlns="http://schemas.openxmlformats.org/package/2006/relationships"><Relationship Id="rId2" Type="http://schemas.openxmlformats.org/officeDocument/2006/relationships/notesSlide" Target="../notesSlides/notesSlide53.xml"/><Relationship Id="rId1" Type="http://schemas.openxmlformats.org/officeDocument/2006/relationships/slideLayout" Target="../slideLayouts/slideLayout5.xml"/></Relationships>
</file>

<file path=ppt/slides/_rels/slide99.xml.rels><?xml version="1.0" encoding="UTF-8" standalone="yes"?>
<Relationships xmlns="http://schemas.openxmlformats.org/package/2006/relationships"><Relationship Id="rId2" Type="http://schemas.openxmlformats.org/officeDocument/2006/relationships/notesSlide" Target="../notesSlides/notesSlide54.xml"/><Relationship Id="rId1" Type="http://schemas.openxmlformats.org/officeDocument/2006/relationships/slideLayout" Target="../slideLayouts/slideLayout5.xml"/></Relationships>
</file>

<file path=ppt/slides/_rels/slide100.xml.rels><?xml version="1.0" encoding="UTF-8" standalone="yes"?>
<Relationships xmlns="http://schemas.openxmlformats.org/package/2006/relationships"><Relationship Id="rId2" Type="http://schemas.openxmlformats.org/officeDocument/2006/relationships/notesSlide" Target="../notesSlides/notesSlide55.xml"/><Relationship Id="rId1" Type="http://schemas.openxmlformats.org/officeDocument/2006/relationships/slideLayout" Target="../slideLayouts/slideLayout5.xml"/></Relationships>
</file>

<file path=ppt/slides/_rels/slide101.xml.rels><?xml version="1.0" encoding="UTF-8" standalone="yes"?>
<Relationships xmlns="http://schemas.openxmlformats.org/package/2006/relationships"><Relationship Id="rId2" Type="http://schemas.openxmlformats.org/officeDocument/2006/relationships/notesSlide" Target="../notesSlides/notesSlide56.xml"/><Relationship Id="rId1" Type="http://schemas.openxmlformats.org/officeDocument/2006/relationships/slideLayout" Target="../slideLayouts/slideLayout5.xml"/></Relationships>
</file>

<file path=ppt/slides/_rels/slide102.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_rels/slide103.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_rels/slide104.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_rels/slide105.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_rels/slide106.xml.rels><?xml version="1.0" encoding="UTF-8" standalone="yes"?>
<Relationships xmlns="http://schemas.openxmlformats.org/package/2006/relationships"><Relationship Id="rId3" Type="http://schemas.openxmlformats.org/officeDocument/2006/relationships/notesSlide" Target="../notesSlides/notesSlide57.xml"/><Relationship Id="rId2" Type="http://schemas.openxmlformats.org/officeDocument/2006/relationships/slideLayout" Target="../slideLayouts/slideLayout5.xml"/><Relationship Id="rId1" Type="http://schemas.openxmlformats.org/officeDocument/2006/relationships/image" Target="../media/image61.png"/></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4" name="PA_矩形 3"/>
          <p:cNvSpPr txBox="1">
            <a:spLocks noChangeArrowheads="1"/>
          </p:cNvSpPr>
          <p:nvPr>
            <p:custDataLst>
              <p:tags r:id="rId1"/>
            </p:custDataLst>
          </p:nvPr>
        </p:nvSpPr>
        <p:spPr bwMode="auto">
          <a:xfrm>
            <a:off x="1650484" y="2497172"/>
            <a:ext cx="6058847" cy="958215"/>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04" tIns="45703" rIns="91404" bIns="45703" numCol="1" anchor="ctr" anchorCtr="0" compatLnSpc="1"/>
          <a:lstStyle>
            <a:lvl1pPr algn="l" rtl="0" fontAlgn="base">
              <a:spcBef>
                <a:spcPct val="0"/>
              </a:spcBef>
              <a:spcAft>
                <a:spcPct val="0"/>
              </a:spcAft>
              <a:defRPr sz="2400">
                <a:solidFill>
                  <a:schemeClr val="accent2"/>
                </a:solidFill>
                <a:latin typeface="+mj-lt"/>
                <a:ea typeface="+mj-ea"/>
                <a:cs typeface="+mj-cs"/>
              </a:defRPr>
            </a:lvl1pPr>
            <a:lvl2pPr algn="l" rtl="0" fontAlgn="base">
              <a:spcBef>
                <a:spcPct val="0"/>
              </a:spcBef>
              <a:spcAft>
                <a:spcPct val="0"/>
              </a:spcAft>
              <a:defRPr sz="2400">
                <a:solidFill>
                  <a:schemeClr val="tx2"/>
                </a:solidFill>
                <a:latin typeface="Arial" panose="020B0604020202090204" pitchFamily="34" charset="0"/>
                <a:ea typeface="微软雅黑" panose="020B0503020204020204" pitchFamily="34" charset="-122"/>
              </a:defRPr>
            </a:lvl2pPr>
            <a:lvl3pPr algn="l" rtl="0" fontAlgn="base">
              <a:spcBef>
                <a:spcPct val="0"/>
              </a:spcBef>
              <a:spcAft>
                <a:spcPct val="0"/>
              </a:spcAft>
              <a:defRPr sz="2400">
                <a:solidFill>
                  <a:schemeClr val="tx2"/>
                </a:solidFill>
                <a:latin typeface="Arial" panose="020B0604020202090204" pitchFamily="34" charset="0"/>
                <a:ea typeface="微软雅黑" panose="020B0503020204020204" pitchFamily="34" charset="-122"/>
              </a:defRPr>
            </a:lvl3pPr>
            <a:lvl4pPr algn="l" rtl="0" fontAlgn="base">
              <a:spcBef>
                <a:spcPct val="0"/>
              </a:spcBef>
              <a:spcAft>
                <a:spcPct val="0"/>
              </a:spcAft>
              <a:defRPr sz="2400">
                <a:solidFill>
                  <a:schemeClr val="tx2"/>
                </a:solidFill>
                <a:latin typeface="Arial" panose="020B0604020202090204" pitchFamily="34" charset="0"/>
                <a:ea typeface="微软雅黑" panose="020B0503020204020204" pitchFamily="34" charset="-122"/>
              </a:defRPr>
            </a:lvl4pPr>
            <a:lvl5pPr algn="l" rtl="0" fontAlgn="base">
              <a:spcBef>
                <a:spcPct val="0"/>
              </a:spcBef>
              <a:spcAft>
                <a:spcPct val="0"/>
              </a:spcAft>
              <a:defRPr sz="2400">
                <a:solidFill>
                  <a:schemeClr val="tx2"/>
                </a:solidFill>
                <a:latin typeface="Arial" panose="020B0604020202090204" pitchFamily="34" charset="0"/>
                <a:ea typeface="微软雅黑" panose="020B0503020204020204" pitchFamily="34" charset="-122"/>
              </a:defRPr>
            </a:lvl5pPr>
            <a:lvl6pPr marL="457200" algn="l" rtl="0" fontAlgn="base">
              <a:spcBef>
                <a:spcPct val="0"/>
              </a:spcBef>
              <a:spcAft>
                <a:spcPct val="0"/>
              </a:spcAft>
              <a:defRPr sz="2400">
                <a:solidFill>
                  <a:schemeClr val="tx2"/>
                </a:solidFill>
                <a:latin typeface="Arial" panose="020B0604020202090204" pitchFamily="34" charset="0"/>
                <a:ea typeface="微软雅黑" panose="020B0503020204020204" pitchFamily="34" charset="-122"/>
              </a:defRPr>
            </a:lvl6pPr>
            <a:lvl7pPr marL="914400" algn="l" rtl="0" fontAlgn="base">
              <a:spcBef>
                <a:spcPct val="0"/>
              </a:spcBef>
              <a:spcAft>
                <a:spcPct val="0"/>
              </a:spcAft>
              <a:defRPr sz="2400">
                <a:solidFill>
                  <a:schemeClr val="tx2"/>
                </a:solidFill>
                <a:latin typeface="Arial" panose="020B0604020202090204" pitchFamily="34" charset="0"/>
                <a:ea typeface="微软雅黑" panose="020B0503020204020204" pitchFamily="34" charset="-122"/>
              </a:defRPr>
            </a:lvl7pPr>
            <a:lvl8pPr marL="1371600" algn="l" rtl="0" fontAlgn="base">
              <a:spcBef>
                <a:spcPct val="0"/>
              </a:spcBef>
              <a:spcAft>
                <a:spcPct val="0"/>
              </a:spcAft>
              <a:defRPr sz="2400">
                <a:solidFill>
                  <a:schemeClr val="tx2"/>
                </a:solidFill>
                <a:latin typeface="Arial" panose="020B0604020202090204" pitchFamily="34" charset="0"/>
                <a:ea typeface="微软雅黑" panose="020B0503020204020204" pitchFamily="34" charset="-122"/>
              </a:defRPr>
            </a:lvl8pPr>
            <a:lvl9pPr marL="1828800" algn="l" rtl="0" fontAlgn="base">
              <a:spcBef>
                <a:spcPct val="0"/>
              </a:spcBef>
              <a:spcAft>
                <a:spcPct val="0"/>
              </a:spcAft>
              <a:defRPr sz="2400">
                <a:solidFill>
                  <a:schemeClr val="tx2"/>
                </a:solidFill>
                <a:latin typeface="Arial" panose="020B0604020202090204" pitchFamily="34" charset="0"/>
                <a:ea typeface="微软雅黑" panose="020B0503020204020204" pitchFamily="34" charset="-122"/>
              </a:defRPr>
            </a:lvl9pPr>
          </a:lstStyle>
          <a:p>
            <a:pPr algn="ctr" defTabSz="914400">
              <a:defRPr/>
            </a:pPr>
            <a:r>
              <a:rPr lang="zh-CN" altLang="en-US" sz="2800">
                <a:solidFill>
                  <a:srgbClr val="004C41"/>
                </a:solidFill>
                <a:latin typeface="Times New Roman" panose="02020503050405090304" pitchFamily="18" charset="0"/>
                <a:ea typeface="宋体" pitchFamily="2" charset="-122"/>
                <a:cs typeface="+mn-ea"/>
                <a:sym typeface="+mn-lt"/>
              </a:rPr>
              <a:t>概述</a:t>
            </a:r>
            <a:endParaRPr lang="zh-CN" altLang="en-US" sz="2800" b="1" dirty="0">
              <a:solidFill>
                <a:srgbClr val="004C41"/>
              </a:solidFill>
              <a:latin typeface="Times New Roman" panose="02020503050405090304" pitchFamily="18" charset="0"/>
              <a:ea typeface="宋体" pitchFamily="2" charset="-122"/>
              <a:cs typeface="+mn-ea"/>
              <a:sym typeface="+mn-lt"/>
            </a:endParaRPr>
          </a:p>
        </p:txBody>
      </p:sp>
      <p:sp>
        <p:nvSpPr>
          <p:cNvPr id="19" name="PA_矩形 4"/>
          <p:cNvSpPr txBox="1">
            <a:spLocks noChangeArrowheads="1"/>
          </p:cNvSpPr>
          <p:nvPr>
            <p:custDataLst>
              <p:tags r:id="rId2"/>
            </p:custDataLst>
          </p:nvPr>
        </p:nvSpPr>
        <p:spPr bwMode="auto">
          <a:xfrm>
            <a:off x="3274653" y="1605515"/>
            <a:ext cx="2810511" cy="703580"/>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04" tIns="45703" rIns="91404" bIns="45703" numCol="1" anchor="ctr" anchorCtr="0" compatLnSpc="1"/>
          <a:lstStyle>
            <a:lvl1pPr marL="0" indent="0" algn="ctr">
              <a:buFontTx/>
              <a:buNone/>
              <a:defRPr sz="2000" b="1">
                <a:solidFill>
                  <a:schemeClr val="bg1"/>
                </a:solidFill>
                <a:latin typeface="+mj-lt"/>
                <a:ea typeface="+mj-ea"/>
                <a:cs typeface="+mj-cs"/>
              </a:defRPr>
            </a:lvl1pPr>
            <a:lvl2pPr marL="742950" indent="-285750" eaLnBrk="0" hangingPunct="0">
              <a:spcBef>
                <a:spcPct val="20000"/>
              </a:spcBef>
              <a:buChar char="–"/>
              <a:defRPr sz="2000">
                <a:latin typeface="+mn-lt"/>
                <a:ea typeface="仿宋_GB2312" pitchFamily="49" charset="-122"/>
              </a:defRPr>
            </a:lvl2pPr>
            <a:lvl3pPr marL="1143000" indent="-228600" eaLnBrk="0" hangingPunct="0">
              <a:spcBef>
                <a:spcPct val="20000"/>
              </a:spcBef>
              <a:buChar char="•"/>
              <a:defRPr sz="2400">
                <a:latin typeface="+mn-lt"/>
              </a:defRPr>
            </a:lvl3pPr>
            <a:lvl4pPr marL="1600200" indent="-228600" eaLnBrk="0" hangingPunct="0">
              <a:spcBef>
                <a:spcPct val="20000"/>
              </a:spcBef>
              <a:buChar char="–"/>
              <a:defRPr sz="2000">
                <a:latin typeface="+mn-lt"/>
              </a:defRPr>
            </a:lvl4pPr>
            <a:lvl5pPr marL="2057400" indent="-228600" eaLnBrk="0" hangingPunct="0">
              <a:spcBef>
                <a:spcPct val="20000"/>
              </a:spcBef>
              <a:buChar char="»"/>
              <a:defRPr sz="2000">
                <a:latin typeface="+mn-lt"/>
              </a:defRPr>
            </a:lvl5pPr>
            <a:lvl6pPr marL="2514600" indent="-228600" eaLnBrk="0" fontAlgn="base" hangingPunct="0">
              <a:spcBef>
                <a:spcPct val="20000"/>
              </a:spcBef>
              <a:spcAft>
                <a:spcPct val="0"/>
              </a:spcAft>
              <a:buChar char="»"/>
              <a:defRPr sz="2000">
                <a:latin typeface="+mn-lt"/>
              </a:defRPr>
            </a:lvl6pPr>
            <a:lvl7pPr marL="2971800" indent="-228600" eaLnBrk="0" fontAlgn="base" hangingPunct="0">
              <a:spcBef>
                <a:spcPct val="20000"/>
              </a:spcBef>
              <a:spcAft>
                <a:spcPct val="0"/>
              </a:spcAft>
              <a:buChar char="»"/>
              <a:defRPr sz="2000">
                <a:latin typeface="+mn-lt"/>
              </a:defRPr>
            </a:lvl7pPr>
            <a:lvl8pPr marL="3429000" indent="-228600" eaLnBrk="0" fontAlgn="base" hangingPunct="0">
              <a:spcBef>
                <a:spcPct val="20000"/>
              </a:spcBef>
              <a:spcAft>
                <a:spcPct val="0"/>
              </a:spcAft>
              <a:buChar char="»"/>
              <a:defRPr sz="2000">
                <a:latin typeface="+mn-lt"/>
              </a:defRPr>
            </a:lvl8pPr>
            <a:lvl9pPr marL="3886200" indent="-228600" eaLnBrk="0" fontAlgn="base" hangingPunct="0">
              <a:spcBef>
                <a:spcPct val="20000"/>
              </a:spcBef>
              <a:spcAft>
                <a:spcPct val="0"/>
              </a:spcAft>
              <a:buChar char="»"/>
              <a:defRPr sz="2000">
                <a:latin typeface="+mn-lt"/>
              </a:defRPr>
            </a:lvl9pPr>
          </a:lstStyle>
          <a:p>
            <a:pPr defTabSz="914400">
              <a:defRPr/>
            </a:pPr>
            <a:r>
              <a:rPr lang="zh-CN" altLang="en-US" sz="2800" b="0" dirty="0">
                <a:solidFill>
                  <a:srgbClr val="004C41"/>
                </a:solidFill>
                <a:latin typeface="Times New Roman" panose="02020503050405090304" pitchFamily="18" charset="0"/>
                <a:ea typeface="宋体" pitchFamily="2" charset="-122"/>
                <a:cs typeface="+mn-ea"/>
                <a:sym typeface="+mn-lt"/>
              </a:rPr>
              <a:t>《自然语言处理》</a:t>
            </a:r>
            <a:endParaRPr lang="zh-CN" altLang="en-US" sz="2800" b="0" dirty="0">
              <a:solidFill>
                <a:srgbClr val="004C41"/>
              </a:solidFill>
              <a:latin typeface="Times New Roman" panose="02020503050405090304" pitchFamily="18" charset="0"/>
              <a:ea typeface="宋体" pitchFamily="2" charset="-122"/>
              <a:cs typeface="+mn-ea"/>
              <a:sym typeface="+mn-lt"/>
            </a:endParaRPr>
          </a:p>
        </p:txBody>
      </p:sp>
    </p:spTree>
  </p:cSld>
  <p:clrMapOvr>
    <a:masterClrMapping/>
  </p:clrMapOvr>
  <mc:AlternateContent xmlns:mc="http://schemas.openxmlformats.org/markup-compatibility/2006">
    <mc:Choice xmlns:p14="http://schemas.microsoft.com/office/powerpoint/2010/main" Requires="p14">
      <p:transition p14:dur="0"/>
    </mc:Choice>
    <mc:Fallback>
      <p:transition/>
    </mc:Fallback>
  </mc:AlternateContent>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4" name="8"/>
          <p:cNvSpPr/>
          <p:nvPr/>
        </p:nvSpPr>
        <p:spPr bwMode="auto">
          <a:xfrm>
            <a:off x="2327357" y="1172063"/>
            <a:ext cx="595313" cy="371475"/>
          </a:xfrm>
          <a:prstGeom prst="rect">
            <a:avLst/>
          </a:prstGeom>
          <a:solidFill>
            <a:srgbClr val="8CC345"/>
          </a:solidFill>
          <a:ln>
            <a:solidFill>
              <a:srgbClr val="8CC345"/>
            </a:solidFill>
          </a:ln>
        </p:spPr>
        <p:style>
          <a:lnRef idx="2">
            <a:schemeClr val="accent1">
              <a:shade val="50000"/>
            </a:schemeClr>
          </a:lnRef>
          <a:fillRef idx="1">
            <a:schemeClr val="accent1"/>
          </a:fillRef>
          <a:effectRef idx="0">
            <a:schemeClr val="accent1"/>
          </a:effectRef>
          <a:fontRef idx="minor">
            <a:schemeClr val="lt1"/>
          </a:fontRef>
        </p:style>
        <p:txBody>
          <a:bodyPr lIns="0" tIns="0" rIns="0" bIns="0" anchor="ctr">
            <a:normAutofit/>
          </a:bodyPr>
          <a:lstStyle/>
          <a:p>
            <a:pPr algn="ctr">
              <a:defRPr/>
            </a:pPr>
            <a:r>
              <a:rPr lang="en-US" altLang="zh-CN" sz="2100" b="1" dirty="0">
                <a:solidFill>
                  <a:srgbClr val="FFFFFF"/>
                </a:solidFill>
                <a:latin typeface="Times New Roman" panose="02020503050405090304" pitchFamily="18" charset="0"/>
                <a:ea typeface="宋体" pitchFamily="2" charset="-122"/>
                <a:cs typeface="+mn-ea"/>
                <a:sym typeface="+mn-lt"/>
              </a:rPr>
              <a:t>01</a:t>
            </a:r>
            <a:endParaRPr lang="zh-CN" altLang="en-US" sz="2100" b="1" dirty="0">
              <a:solidFill>
                <a:srgbClr val="FFFFFF"/>
              </a:solidFill>
              <a:latin typeface="Times New Roman" panose="02020503050405090304" pitchFamily="18" charset="0"/>
              <a:ea typeface="宋体" pitchFamily="2" charset="-122"/>
              <a:cs typeface="+mn-ea"/>
              <a:sym typeface="+mn-lt"/>
            </a:endParaRPr>
          </a:p>
        </p:txBody>
      </p:sp>
      <p:sp>
        <p:nvSpPr>
          <p:cNvPr id="65" name="7"/>
          <p:cNvSpPr>
            <a:spLocks noChangeArrowheads="1"/>
          </p:cNvSpPr>
          <p:nvPr/>
        </p:nvSpPr>
        <p:spPr bwMode="auto">
          <a:xfrm>
            <a:off x="3185795" y="1196872"/>
            <a:ext cx="2231391" cy="346711"/>
          </a:xfrm>
          <a:prstGeom prst="rect">
            <a:avLst/>
          </a:prstGeom>
          <a:noFill/>
          <a:ln w="9525">
            <a:solidFill>
              <a:srgbClr val="FFC000"/>
            </a:solidFill>
            <a:miter lim="800000"/>
          </a:ln>
          <a:extLst>
            <a:ext uri="{909E8E84-426E-40DD-AFC4-6F175D3DCCD1}">
              <a14:hiddenFill xmlns:a14="http://schemas.microsoft.com/office/drawing/2010/main">
                <a:solidFill>
                  <a:srgbClr val="FFFFFF"/>
                </a:solidFill>
              </a14:hiddenFill>
            </a:ext>
          </a:extLst>
        </p:spPr>
        <p:txBody>
          <a:bodyPr lIns="0" tIns="0" rIns="0" bIns="0" anchor="ctr"/>
          <a:lstStyle>
            <a:lvl1pPr>
              <a:lnSpc>
                <a:spcPct val="90000"/>
              </a:lnSpc>
              <a:spcBef>
                <a:spcPts val="1000"/>
              </a:spcBef>
              <a:buFont typeface="Arial" panose="020B0604020202090204" pitchFamily="34" charset="0"/>
              <a:buChar char="•"/>
              <a:defRPr sz="2800">
                <a:solidFill>
                  <a:schemeClr val="tx1"/>
                </a:solidFill>
                <a:latin typeface="Calibri" pitchFamily="34" charset="0"/>
                <a:ea typeface="宋体" pitchFamily="2" charset="-122"/>
              </a:defRPr>
            </a:lvl1pPr>
            <a:lvl2pPr marL="742950" indent="-285750">
              <a:lnSpc>
                <a:spcPct val="90000"/>
              </a:lnSpc>
              <a:spcBef>
                <a:spcPts val="500"/>
              </a:spcBef>
              <a:buFont typeface="Arial" panose="020B0604020202090204" pitchFamily="34" charset="0"/>
              <a:buChar char="•"/>
              <a:defRPr sz="2400">
                <a:solidFill>
                  <a:schemeClr val="tx1"/>
                </a:solidFill>
                <a:latin typeface="Calibri" pitchFamily="34" charset="0"/>
                <a:ea typeface="宋体" pitchFamily="2" charset="-122"/>
              </a:defRPr>
            </a:lvl2pPr>
            <a:lvl3pPr marL="1143000" indent="-228600">
              <a:lnSpc>
                <a:spcPct val="90000"/>
              </a:lnSpc>
              <a:spcBef>
                <a:spcPts val="500"/>
              </a:spcBef>
              <a:buFont typeface="Arial" panose="020B0604020202090204" pitchFamily="34" charset="0"/>
              <a:buChar char="•"/>
              <a:defRPr sz="2000">
                <a:solidFill>
                  <a:schemeClr val="tx1"/>
                </a:solidFill>
                <a:latin typeface="Calibri" pitchFamily="34" charset="0"/>
                <a:ea typeface="宋体" pitchFamily="2" charset="-122"/>
              </a:defRPr>
            </a:lvl3pPr>
            <a:lvl4pPr marL="1600200" indent="-228600">
              <a:lnSpc>
                <a:spcPct val="90000"/>
              </a:lnSpc>
              <a:spcBef>
                <a:spcPts val="500"/>
              </a:spcBef>
              <a:buFont typeface="Arial" panose="020B0604020202090204" pitchFamily="34" charset="0"/>
              <a:buChar char="•"/>
              <a:defRPr>
                <a:solidFill>
                  <a:schemeClr val="tx1"/>
                </a:solidFill>
                <a:latin typeface="Calibri" pitchFamily="34" charset="0"/>
                <a:ea typeface="宋体" pitchFamily="2" charset="-122"/>
              </a:defRPr>
            </a:lvl4pPr>
            <a:lvl5pPr marL="2057400" indent="-228600">
              <a:lnSpc>
                <a:spcPct val="90000"/>
              </a:lnSpc>
              <a:spcBef>
                <a:spcPts val="500"/>
              </a:spcBef>
              <a:buFont typeface="Arial" panose="020B0604020202090204" pitchFamily="34" charset="0"/>
              <a:buChar char="•"/>
              <a:defRPr>
                <a:solidFill>
                  <a:schemeClr val="tx1"/>
                </a:solidFill>
                <a:latin typeface="Calibri" pitchFamily="34" charset="0"/>
                <a:ea typeface="宋体" pitchFamily="2" charset="-122"/>
              </a:defRPr>
            </a:lvl5pPr>
            <a:lvl6pPr marL="2514600" indent="-228600" eaLnBrk="0" fontAlgn="base" hangingPunct="0">
              <a:lnSpc>
                <a:spcPct val="90000"/>
              </a:lnSpc>
              <a:spcBef>
                <a:spcPts val="500"/>
              </a:spcBef>
              <a:spcAft>
                <a:spcPct val="0"/>
              </a:spcAft>
              <a:buFont typeface="Arial" panose="020B0604020202090204" pitchFamily="34" charset="0"/>
              <a:buChar char="•"/>
              <a:defRPr>
                <a:solidFill>
                  <a:schemeClr val="tx1"/>
                </a:solidFill>
                <a:latin typeface="Calibri" pitchFamily="34" charset="0"/>
                <a:ea typeface="宋体" pitchFamily="2" charset="-122"/>
              </a:defRPr>
            </a:lvl6pPr>
            <a:lvl7pPr marL="2971800" indent="-228600" eaLnBrk="0" fontAlgn="base" hangingPunct="0">
              <a:lnSpc>
                <a:spcPct val="90000"/>
              </a:lnSpc>
              <a:spcBef>
                <a:spcPts val="500"/>
              </a:spcBef>
              <a:spcAft>
                <a:spcPct val="0"/>
              </a:spcAft>
              <a:buFont typeface="Arial" panose="020B0604020202090204" pitchFamily="34" charset="0"/>
              <a:buChar char="•"/>
              <a:defRPr>
                <a:solidFill>
                  <a:schemeClr val="tx1"/>
                </a:solidFill>
                <a:latin typeface="Calibri" pitchFamily="34" charset="0"/>
                <a:ea typeface="宋体" pitchFamily="2" charset="-122"/>
              </a:defRPr>
            </a:lvl7pPr>
            <a:lvl8pPr marL="3429000" indent="-228600" eaLnBrk="0" fontAlgn="base" hangingPunct="0">
              <a:lnSpc>
                <a:spcPct val="90000"/>
              </a:lnSpc>
              <a:spcBef>
                <a:spcPts val="500"/>
              </a:spcBef>
              <a:spcAft>
                <a:spcPct val="0"/>
              </a:spcAft>
              <a:buFont typeface="Arial" panose="020B0604020202090204" pitchFamily="34" charset="0"/>
              <a:buChar char="•"/>
              <a:defRPr>
                <a:solidFill>
                  <a:schemeClr val="tx1"/>
                </a:solidFill>
                <a:latin typeface="Calibri" pitchFamily="34" charset="0"/>
                <a:ea typeface="宋体" pitchFamily="2" charset="-122"/>
              </a:defRPr>
            </a:lvl8pPr>
            <a:lvl9pPr marL="3886200" indent="-228600" eaLnBrk="0" fontAlgn="base" hangingPunct="0">
              <a:lnSpc>
                <a:spcPct val="90000"/>
              </a:lnSpc>
              <a:spcBef>
                <a:spcPts val="500"/>
              </a:spcBef>
              <a:spcAft>
                <a:spcPct val="0"/>
              </a:spcAft>
              <a:buFont typeface="Arial" panose="020B0604020202090204" pitchFamily="34" charset="0"/>
              <a:buChar char="•"/>
              <a:defRPr>
                <a:solidFill>
                  <a:schemeClr val="tx1"/>
                </a:solidFill>
                <a:latin typeface="Calibri" pitchFamily="34" charset="0"/>
                <a:ea typeface="宋体" pitchFamily="2" charset="-122"/>
              </a:defRPr>
            </a:lvl9pPr>
          </a:lstStyle>
          <a:p>
            <a:pPr algn="just">
              <a:lnSpc>
                <a:spcPct val="100000"/>
              </a:lnSpc>
              <a:spcBef>
                <a:spcPct val="0"/>
              </a:spcBef>
              <a:buFontTx/>
              <a:buNone/>
            </a:pPr>
            <a:r>
              <a:rPr lang="en-US" altLang="zh-CN" sz="1800" b="1" dirty="0">
                <a:solidFill>
                  <a:srgbClr val="004C41"/>
                </a:solidFill>
                <a:latin typeface="Times New Roman" panose="02020503050405090304" pitchFamily="18" charset="0"/>
                <a:cs typeface="+mn-ea"/>
                <a:sym typeface="+mn-lt"/>
              </a:rPr>
              <a:t> </a:t>
            </a:r>
            <a:r>
              <a:rPr lang="zh-CN" altLang="en-US" sz="1800" b="1" dirty="0">
                <a:solidFill>
                  <a:srgbClr val="004C41"/>
                </a:solidFill>
                <a:latin typeface="Times New Roman" panose="02020503050405090304" pitchFamily="18" charset="0"/>
                <a:cs typeface="+mn-ea"/>
                <a:sym typeface="+mn-lt"/>
              </a:rPr>
              <a:t>自然语言处理的定义</a:t>
            </a:r>
            <a:endParaRPr lang="zh-CN" altLang="en-US" sz="1800" b="1" dirty="0">
              <a:solidFill>
                <a:srgbClr val="004C41"/>
              </a:solidFill>
              <a:latin typeface="Times New Roman" panose="02020503050405090304" pitchFamily="18" charset="0"/>
              <a:cs typeface="+mn-ea"/>
              <a:sym typeface="+mn-lt"/>
            </a:endParaRPr>
          </a:p>
        </p:txBody>
      </p:sp>
      <p:sp>
        <p:nvSpPr>
          <p:cNvPr id="66" name="6"/>
          <p:cNvSpPr/>
          <p:nvPr/>
        </p:nvSpPr>
        <p:spPr bwMode="auto">
          <a:xfrm>
            <a:off x="2327357" y="1656885"/>
            <a:ext cx="595313" cy="371475"/>
          </a:xfrm>
          <a:prstGeom prst="rect">
            <a:avLst/>
          </a:prstGeom>
          <a:solidFill>
            <a:srgbClr val="8CC345"/>
          </a:solidFill>
          <a:ln>
            <a:solidFill>
              <a:srgbClr val="8CC345"/>
            </a:solidFill>
          </a:ln>
        </p:spPr>
        <p:style>
          <a:lnRef idx="2">
            <a:schemeClr val="accent1">
              <a:shade val="50000"/>
            </a:schemeClr>
          </a:lnRef>
          <a:fillRef idx="1">
            <a:schemeClr val="accent1"/>
          </a:fillRef>
          <a:effectRef idx="0">
            <a:schemeClr val="accent1"/>
          </a:effectRef>
          <a:fontRef idx="minor">
            <a:schemeClr val="lt1"/>
          </a:fontRef>
        </p:style>
        <p:txBody>
          <a:bodyPr lIns="0" tIns="0" rIns="0" bIns="0" anchor="ctr">
            <a:normAutofit/>
          </a:bodyPr>
          <a:lstStyle/>
          <a:p>
            <a:pPr algn="ctr">
              <a:defRPr/>
            </a:pPr>
            <a:r>
              <a:rPr lang="en-US" altLang="zh-CN" sz="2100" b="1" dirty="0">
                <a:solidFill>
                  <a:srgbClr val="FFFFFF"/>
                </a:solidFill>
                <a:latin typeface="Times New Roman" panose="02020503050405090304" pitchFamily="18" charset="0"/>
                <a:ea typeface="宋体" pitchFamily="2" charset="-122"/>
                <a:cs typeface="+mn-ea"/>
                <a:sym typeface="+mn-lt"/>
              </a:rPr>
              <a:t>02</a:t>
            </a:r>
            <a:endParaRPr lang="zh-CN" altLang="en-US" sz="2100" b="1" dirty="0">
              <a:solidFill>
                <a:srgbClr val="FFFFFF"/>
              </a:solidFill>
              <a:latin typeface="Times New Roman" panose="02020503050405090304" pitchFamily="18" charset="0"/>
              <a:ea typeface="宋体" pitchFamily="2" charset="-122"/>
              <a:cs typeface="+mn-ea"/>
              <a:sym typeface="+mn-lt"/>
            </a:endParaRPr>
          </a:p>
        </p:txBody>
      </p:sp>
      <p:sp>
        <p:nvSpPr>
          <p:cNvPr id="67" name="5"/>
          <p:cNvSpPr>
            <a:spLocks noChangeArrowheads="1"/>
          </p:cNvSpPr>
          <p:nvPr/>
        </p:nvSpPr>
        <p:spPr bwMode="auto">
          <a:xfrm>
            <a:off x="3185796" y="1676297"/>
            <a:ext cx="2752725" cy="346711"/>
          </a:xfrm>
          <a:prstGeom prst="rect">
            <a:avLst/>
          </a:prstGeom>
          <a:noFill/>
          <a:ln w="9525">
            <a:solidFill>
              <a:srgbClr val="FFC000"/>
            </a:solidFill>
            <a:miter lim="800000"/>
          </a:ln>
          <a:extLst>
            <a:ext uri="{909E8E84-426E-40DD-AFC4-6F175D3DCCD1}">
              <a14:hiddenFill xmlns:a14="http://schemas.microsoft.com/office/drawing/2010/main">
                <a:solidFill>
                  <a:srgbClr val="FFFFFF"/>
                </a:solidFill>
              </a14:hiddenFill>
            </a:ext>
          </a:extLst>
        </p:spPr>
        <p:txBody>
          <a:bodyPr lIns="0" tIns="0" rIns="0" bIns="0" anchor="ctr"/>
          <a:lstStyle>
            <a:lvl1pPr>
              <a:lnSpc>
                <a:spcPct val="90000"/>
              </a:lnSpc>
              <a:spcBef>
                <a:spcPts val="1000"/>
              </a:spcBef>
              <a:buFont typeface="Arial" panose="020B0604020202090204" pitchFamily="34" charset="0"/>
              <a:buChar char="•"/>
              <a:defRPr sz="2800">
                <a:solidFill>
                  <a:schemeClr val="tx1"/>
                </a:solidFill>
                <a:latin typeface="Calibri" pitchFamily="34" charset="0"/>
                <a:ea typeface="宋体" pitchFamily="2" charset="-122"/>
              </a:defRPr>
            </a:lvl1pPr>
            <a:lvl2pPr marL="742950" indent="-285750">
              <a:lnSpc>
                <a:spcPct val="90000"/>
              </a:lnSpc>
              <a:spcBef>
                <a:spcPts val="500"/>
              </a:spcBef>
              <a:buFont typeface="Arial" panose="020B0604020202090204" pitchFamily="34" charset="0"/>
              <a:buChar char="•"/>
              <a:defRPr sz="2400">
                <a:solidFill>
                  <a:schemeClr val="tx1"/>
                </a:solidFill>
                <a:latin typeface="Calibri" pitchFamily="34" charset="0"/>
                <a:ea typeface="宋体" pitchFamily="2" charset="-122"/>
              </a:defRPr>
            </a:lvl2pPr>
            <a:lvl3pPr marL="1143000" indent="-228600">
              <a:lnSpc>
                <a:spcPct val="90000"/>
              </a:lnSpc>
              <a:spcBef>
                <a:spcPts val="500"/>
              </a:spcBef>
              <a:buFont typeface="Arial" panose="020B0604020202090204" pitchFamily="34" charset="0"/>
              <a:buChar char="•"/>
              <a:defRPr sz="2000">
                <a:solidFill>
                  <a:schemeClr val="tx1"/>
                </a:solidFill>
                <a:latin typeface="Calibri" pitchFamily="34" charset="0"/>
                <a:ea typeface="宋体" pitchFamily="2" charset="-122"/>
              </a:defRPr>
            </a:lvl3pPr>
            <a:lvl4pPr marL="1600200" indent="-228600">
              <a:lnSpc>
                <a:spcPct val="90000"/>
              </a:lnSpc>
              <a:spcBef>
                <a:spcPts val="500"/>
              </a:spcBef>
              <a:buFont typeface="Arial" panose="020B0604020202090204" pitchFamily="34" charset="0"/>
              <a:buChar char="•"/>
              <a:defRPr>
                <a:solidFill>
                  <a:schemeClr val="tx1"/>
                </a:solidFill>
                <a:latin typeface="Calibri" pitchFamily="34" charset="0"/>
                <a:ea typeface="宋体" pitchFamily="2" charset="-122"/>
              </a:defRPr>
            </a:lvl4pPr>
            <a:lvl5pPr marL="2057400" indent="-228600">
              <a:lnSpc>
                <a:spcPct val="90000"/>
              </a:lnSpc>
              <a:spcBef>
                <a:spcPts val="500"/>
              </a:spcBef>
              <a:buFont typeface="Arial" panose="020B0604020202090204" pitchFamily="34" charset="0"/>
              <a:buChar char="•"/>
              <a:defRPr>
                <a:solidFill>
                  <a:schemeClr val="tx1"/>
                </a:solidFill>
                <a:latin typeface="Calibri" pitchFamily="34" charset="0"/>
                <a:ea typeface="宋体" pitchFamily="2" charset="-122"/>
              </a:defRPr>
            </a:lvl5pPr>
            <a:lvl6pPr marL="2514600" indent="-228600" eaLnBrk="0" fontAlgn="base" hangingPunct="0">
              <a:lnSpc>
                <a:spcPct val="90000"/>
              </a:lnSpc>
              <a:spcBef>
                <a:spcPts val="500"/>
              </a:spcBef>
              <a:spcAft>
                <a:spcPct val="0"/>
              </a:spcAft>
              <a:buFont typeface="Arial" panose="020B0604020202090204" pitchFamily="34" charset="0"/>
              <a:buChar char="•"/>
              <a:defRPr>
                <a:solidFill>
                  <a:schemeClr val="tx1"/>
                </a:solidFill>
                <a:latin typeface="Calibri" pitchFamily="34" charset="0"/>
                <a:ea typeface="宋体" pitchFamily="2" charset="-122"/>
              </a:defRPr>
            </a:lvl6pPr>
            <a:lvl7pPr marL="2971800" indent="-228600" eaLnBrk="0" fontAlgn="base" hangingPunct="0">
              <a:lnSpc>
                <a:spcPct val="90000"/>
              </a:lnSpc>
              <a:spcBef>
                <a:spcPts val="500"/>
              </a:spcBef>
              <a:spcAft>
                <a:spcPct val="0"/>
              </a:spcAft>
              <a:buFont typeface="Arial" panose="020B0604020202090204" pitchFamily="34" charset="0"/>
              <a:buChar char="•"/>
              <a:defRPr>
                <a:solidFill>
                  <a:schemeClr val="tx1"/>
                </a:solidFill>
                <a:latin typeface="Calibri" pitchFamily="34" charset="0"/>
                <a:ea typeface="宋体" pitchFamily="2" charset="-122"/>
              </a:defRPr>
            </a:lvl7pPr>
            <a:lvl8pPr marL="3429000" indent="-228600" eaLnBrk="0" fontAlgn="base" hangingPunct="0">
              <a:lnSpc>
                <a:spcPct val="90000"/>
              </a:lnSpc>
              <a:spcBef>
                <a:spcPts val="500"/>
              </a:spcBef>
              <a:spcAft>
                <a:spcPct val="0"/>
              </a:spcAft>
              <a:buFont typeface="Arial" panose="020B0604020202090204" pitchFamily="34" charset="0"/>
              <a:buChar char="•"/>
              <a:defRPr>
                <a:solidFill>
                  <a:schemeClr val="tx1"/>
                </a:solidFill>
                <a:latin typeface="Calibri" pitchFamily="34" charset="0"/>
                <a:ea typeface="宋体" pitchFamily="2" charset="-122"/>
              </a:defRPr>
            </a:lvl8pPr>
            <a:lvl9pPr marL="3886200" indent="-228600" eaLnBrk="0" fontAlgn="base" hangingPunct="0">
              <a:lnSpc>
                <a:spcPct val="90000"/>
              </a:lnSpc>
              <a:spcBef>
                <a:spcPts val="500"/>
              </a:spcBef>
              <a:spcAft>
                <a:spcPct val="0"/>
              </a:spcAft>
              <a:buFont typeface="Arial" panose="020B0604020202090204" pitchFamily="34" charset="0"/>
              <a:buChar char="•"/>
              <a:defRPr>
                <a:solidFill>
                  <a:schemeClr val="tx1"/>
                </a:solidFill>
                <a:latin typeface="Calibri" pitchFamily="34" charset="0"/>
                <a:ea typeface="宋体" pitchFamily="2" charset="-122"/>
              </a:defRPr>
            </a:lvl9pPr>
          </a:lstStyle>
          <a:p>
            <a:pPr algn="just">
              <a:lnSpc>
                <a:spcPct val="100000"/>
              </a:lnSpc>
              <a:spcBef>
                <a:spcPct val="0"/>
              </a:spcBef>
              <a:buFontTx/>
              <a:buNone/>
            </a:pPr>
            <a:r>
              <a:rPr lang="en-US" altLang="zh-CN" sz="1800" b="1" dirty="0">
                <a:solidFill>
                  <a:srgbClr val="004C41"/>
                </a:solidFill>
                <a:latin typeface="Times New Roman" panose="02020503050405090304" pitchFamily="18" charset="0"/>
                <a:cs typeface="+mn-ea"/>
                <a:sym typeface="+mn-lt"/>
              </a:rPr>
              <a:t> </a:t>
            </a:r>
            <a:r>
              <a:rPr lang="zh-CN" altLang="en-US" sz="1800" b="1" dirty="0">
                <a:solidFill>
                  <a:srgbClr val="004C41"/>
                </a:solidFill>
                <a:latin typeface="Times New Roman" panose="02020503050405090304" pitchFamily="18" charset="0"/>
                <a:cs typeface="+mn-ea"/>
                <a:sym typeface="+mn-lt"/>
              </a:rPr>
              <a:t>自然语言处理的应用领域</a:t>
            </a:r>
            <a:r>
              <a:rPr lang="en-US" altLang="zh-CN" sz="1800" b="1" dirty="0">
                <a:solidFill>
                  <a:srgbClr val="004C41"/>
                </a:solidFill>
                <a:latin typeface="Times New Roman" panose="02020503050405090304" pitchFamily="18" charset="0"/>
                <a:cs typeface="+mn-ea"/>
                <a:sym typeface="+mn-lt"/>
              </a:rPr>
              <a:t>  </a:t>
            </a:r>
            <a:endParaRPr lang="en-US" altLang="zh-CN" sz="1800" b="1" dirty="0">
              <a:solidFill>
                <a:srgbClr val="004C41"/>
              </a:solidFill>
              <a:latin typeface="Times New Roman" panose="02020503050405090304" pitchFamily="18" charset="0"/>
              <a:cs typeface="+mn-ea"/>
              <a:sym typeface="+mn-lt"/>
            </a:endParaRPr>
          </a:p>
        </p:txBody>
      </p:sp>
      <p:sp>
        <p:nvSpPr>
          <p:cNvPr id="2" name="6"/>
          <p:cNvSpPr/>
          <p:nvPr/>
        </p:nvSpPr>
        <p:spPr bwMode="auto">
          <a:xfrm>
            <a:off x="2327357" y="3037669"/>
            <a:ext cx="595313" cy="371475"/>
          </a:xfrm>
          <a:prstGeom prst="rect">
            <a:avLst/>
          </a:prstGeom>
          <a:solidFill>
            <a:srgbClr val="8CC345"/>
          </a:solidFill>
          <a:ln>
            <a:solidFill>
              <a:srgbClr val="8CC345"/>
            </a:solidFill>
          </a:ln>
        </p:spPr>
        <p:style>
          <a:lnRef idx="2">
            <a:schemeClr val="accent1">
              <a:shade val="50000"/>
            </a:schemeClr>
          </a:lnRef>
          <a:fillRef idx="1">
            <a:schemeClr val="accent1"/>
          </a:fillRef>
          <a:effectRef idx="0">
            <a:schemeClr val="accent1"/>
          </a:effectRef>
          <a:fontRef idx="minor">
            <a:schemeClr val="lt1"/>
          </a:fontRef>
        </p:style>
        <p:txBody>
          <a:bodyPr lIns="0" tIns="0" rIns="0" bIns="0" anchor="ctr">
            <a:normAutofit/>
          </a:bodyPr>
          <a:lstStyle/>
          <a:p>
            <a:pPr algn="ctr">
              <a:defRPr/>
            </a:pPr>
            <a:r>
              <a:rPr lang="en-US" altLang="zh-CN" sz="2100" b="1" dirty="0">
                <a:solidFill>
                  <a:srgbClr val="FFFFFF"/>
                </a:solidFill>
                <a:latin typeface="Times New Roman" panose="02020503050405090304" pitchFamily="18" charset="0"/>
                <a:ea typeface="宋体" pitchFamily="2" charset="-122"/>
                <a:cs typeface="+mn-ea"/>
                <a:sym typeface="+mn-lt"/>
              </a:rPr>
              <a:t>05</a:t>
            </a:r>
            <a:endParaRPr lang="zh-CN" altLang="en-US" sz="2100" b="1" dirty="0">
              <a:solidFill>
                <a:srgbClr val="FFFFFF"/>
              </a:solidFill>
              <a:latin typeface="Times New Roman" panose="02020503050405090304" pitchFamily="18" charset="0"/>
              <a:ea typeface="宋体" pitchFamily="2" charset="-122"/>
              <a:cs typeface="+mn-ea"/>
              <a:sym typeface="+mn-lt"/>
            </a:endParaRPr>
          </a:p>
        </p:txBody>
      </p:sp>
      <p:sp>
        <p:nvSpPr>
          <p:cNvPr id="3" name="6"/>
          <p:cNvSpPr/>
          <p:nvPr/>
        </p:nvSpPr>
        <p:spPr bwMode="auto">
          <a:xfrm>
            <a:off x="2327357" y="3501854"/>
            <a:ext cx="595313" cy="371475"/>
          </a:xfrm>
          <a:prstGeom prst="rect">
            <a:avLst/>
          </a:prstGeom>
          <a:solidFill>
            <a:srgbClr val="8CC345"/>
          </a:solidFill>
          <a:ln>
            <a:solidFill>
              <a:srgbClr val="8CC345"/>
            </a:solidFill>
          </a:ln>
        </p:spPr>
        <p:style>
          <a:lnRef idx="2">
            <a:schemeClr val="accent1">
              <a:shade val="50000"/>
            </a:schemeClr>
          </a:lnRef>
          <a:fillRef idx="1">
            <a:schemeClr val="accent1"/>
          </a:fillRef>
          <a:effectRef idx="0">
            <a:schemeClr val="accent1"/>
          </a:effectRef>
          <a:fontRef idx="minor">
            <a:schemeClr val="lt1"/>
          </a:fontRef>
        </p:style>
        <p:txBody>
          <a:bodyPr lIns="0" tIns="0" rIns="0" bIns="0" anchor="ctr">
            <a:normAutofit/>
          </a:bodyPr>
          <a:lstStyle/>
          <a:p>
            <a:pPr algn="ctr">
              <a:defRPr/>
            </a:pPr>
            <a:r>
              <a:rPr lang="en-US" altLang="zh-CN" sz="2100" b="1" dirty="0">
                <a:solidFill>
                  <a:srgbClr val="FFFFFF"/>
                </a:solidFill>
                <a:latin typeface="Times New Roman" panose="02020503050405090304" pitchFamily="18" charset="0"/>
                <a:ea typeface="宋体" pitchFamily="2" charset="-122"/>
                <a:cs typeface="+mn-ea"/>
                <a:sym typeface="+mn-lt"/>
              </a:rPr>
              <a:t>06</a:t>
            </a:r>
            <a:endParaRPr lang="zh-CN" altLang="en-US" sz="2100" b="1" dirty="0">
              <a:solidFill>
                <a:srgbClr val="FFFFFF"/>
              </a:solidFill>
              <a:latin typeface="Times New Roman" panose="02020503050405090304" pitchFamily="18" charset="0"/>
              <a:ea typeface="宋体" pitchFamily="2" charset="-122"/>
              <a:cs typeface="+mn-ea"/>
              <a:sym typeface="+mn-lt"/>
            </a:endParaRPr>
          </a:p>
        </p:txBody>
      </p:sp>
      <p:sp>
        <p:nvSpPr>
          <p:cNvPr id="4" name="6"/>
          <p:cNvSpPr/>
          <p:nvPr/>
        </p:nvSpPr>
        <p:spPr bwMode="auto">
          <a:xfrm>
            <a:off x="2327357" y="3983183"/>
            <a:ext cx="595313" cy="371475"/>
          </a:xfrm>
          <a:prstGeom prst="rect">
            <a:avLst/>
          </a:prstGeom>
          <a:solidFill>
            <a:srgbClr val="8CC345"/>
          </a:solidFill>
          <a:ln>
            <a:solidFill>
              <a:srgbClr val="8CC345"/>
            </a:solidFill>
          </a:ln>
        </p:spPr>
        <p:style>
          <a:lnRef idx="2">
            <a:schemeClr val="accent1">
              <a:shade val="50000"/>
            </a:schemeClr>
          </a:lnRef>
          <a:fillRef idx="1">
            <a:schemeClr val="accent1"/>
          </a:fillRef>
          <a:effectRef idx="0">
            <a:schemeClr val="accent1"/>
          </a:effectRef>
          <a:fontRef idx="minor">
            <a:schemeClr val="lt1"/>
          </a:fontRef>
        </p:style>
        <p:txBody>
          <a:bodyPr lIns="0" tIns="0" rIns="0" bIns="0" anchor="ctr">
            <a:normAutofit/>
          </a:bodyPr>
          <a:lstStyle/>
          <a:p>
            <a:pPr algn="ctr">
              <a:defRPr/>
            </a:pPr>
            <a:r>
              <a:rPr lang="en-US" altLang="zh-CN" sz="2100" b="1" dirty="0">
                <a:solidFill>
                  <a:srgbClr val="FFFFFF"/>
                </a:solidFill>
                <a:latin typeface="Times New Roman" panose="02020503050405090304" pitchFamily="18" charset="0"/>
                <a:ea typeface="宋体" pitchFamily="2" charset="-122"/>
                <a:cs typeface="+mn-ea"/>
                <a:sym typeface="+mn-lt"/>
              </a:rPr>
              <a:t>07</a:t>
            </a:r>
            <a:endParaRPr lang="zh-CN" altLang="en-US" sz="2100" b="1" dirty="0">
              <a:solidFill>
                <a:srgbClr val="FFFFFF"/>
              </a:solidFill>
              <a:latin typeface="Times New Roman" panose="02020503050405090304" pitchFamily="18" charset="0"/>
              <a:ea typeface="宋体" pitchFamily="2" charset="-122"/>
              <a:cs typeface="+mn-ea"/>
              <a:sym typeface="+mn-lt"/>
            </a:endParaRPr>
          </a:p>
        </p:txBody>
      </p:sp>
      <p:sp>
        <p:nvSpPr>
          <p:cNvPr id="5" name="文本框 4"/>
          <p:cNvSpPr txBox="1"/>
          <p:nvPr/>
        </p:nvSpPr>
        <p:spPr>
          <a:xfrm>
            <a:off x="3185796" y="3040572"/>
            <a:ext cx="2752725" cy="369332"/>
          </a:xfrm>
          <a:prstGeom prst="rect">
            <a:avLst/>
          </a:prstGeom>
          <a:noFill/>
          <a:ln>
            <a:solidFill>
              <a:srgbClr val="FFC000"/>
            </a:solidFill>
          </a:ln>
        </p:spPr>
        <p:txBody>
          <a:bodyPr wrap="square" rtlCol="0" anchor="t">
            <a:spAutoFit/>
          </a:bodyPr>
          <a:lstStyle/>
          <a:p>
            <a:pPr algn="l"/>
            <a:r>
              <a:rPr lang="zh-CN" altLang="en-US" b="1" dirty="0">
                <a:solidFill>
                  <a:srgbClr val="004C41"/>
                </a:solidFill>
                <a:latin typeface="Times New Roman" panose="02020503050405090304" pitchFamily="18" charset="0"/>
                <a:cs typeface="+mn-ea"/>
              </a:rPr>
              <a:t>自然语言处理的发展历程</a:t>
            </a:r>
            <a:endParaRPr lang="zh-CN" altLang="en-US" dirty="0">
              <a:latin typeface="Times New Roman" panose="02020503050405090304" pitchFamily="18" charset="0"/>
            </a:endParaRPr>
          </a:p>
        </p:txBody>
      </p:sp>
      <p:sp>
        <p:nvSpPr>
          <p:cNvPr id="6" name="文本框 5"/>
          <p:cNvSpPr txBox="1"/>
          <p:nvPr/>
        </p:nvSpPr>
        <p:spPr>
          <a:xfrm>
            <a:off x="3185795" y="3501581"/>
            <a:ext cx="3882391" cy="369332"/>
          </a:xfrm>
          <a:prstGeom prst="rect">
            <a:avLst/>
          </a:prstGeom>
          <a:noFill/>
          <a:ln>
            <a:solidFill>
              <a:srgbClr val="FFC000"/>
            </a:solidFill>
          </a:ln>
        </p:spPr>
        <p:txBody>
          <a:bodyPr wrap="square" rtlCol="0" anchor="t">
            <a:spAutoFit/>
          </a:bodyPr>
          <a:lstStyle/>
          <a:p>
            <a:r>
              <a:rPr lang="zh-CN" altLang="en-US" b="1" dirty="0">
                <a:solidFill>
                  <a:srgbClr val="004C41"/>
                </a:solidFill>
                <a:latin typeface="Times New Roman" panose="02020503050405090304" pitchFamily="18" charset="0"/>
                <a:cs typeface="+mn-ea"/>
              </a:rPr>
              <a:t>自然语言处理的研究现状和发展趋势</a:t>
            </a:r>
            <a:endParaRPr lang="zh-CN" altLang="en-US" b="1" dirty="0">
              <a:solidFill>
                <a:srgbClr val="004C41"/>
              </a:solidFill>
              <a:latin typeface="Times New Roman" panose="02020503050405090304" pitchFamily="18" charset="0"/>
              <a:cs typeface="+mn-ea"/>
            </a:endParaRPr>
          </a:p>
        </p:txBody>
      </p:sp>
      <p:sp>
        <p:nvSpPr>
          <p:cNvPr id="7" name="文本框 6"/>
          <p:cNvSpPr txBox="1"/>
          <p:nvPr/>
        </p:nvSpPr>
        <p:spPr>
          <a:xfrm>
            <a:off x="3185797" y="3982912"/>
            <a:ext cx="4072577" cy="369332"/>
          </a:xfrm>
          <a:prstGeom prst="rect">
            <a:avLst/>
          </a:prstGeom>
          <a:noFill/>
          <a:ln>
            <a:solidFill>
              <a:srgbClr val="FFC000"/>
            </a:solidFill>
          </a:ln>
        </p:spPr>
        <p:txBody>
          <a:bodyPr wrap="square" rtlCol="0" anchor="t">
            <a:spAutoFit/>
          </a:bodyPr>
          <a:lstStyle/>
          <a:p>
            <a:r>
              <a:rPr lang="zh-CN" altLang="en-US" b="1" dirty="0">
                <a:solidFill>
                  <a:srgbClr val="004C41"/>
                </a:solidFill>
                <a:latin typeface="Times New Roman" panose="02020503050405090304" pitchFamily="18" charset="0"/>
                <a:cs typeface="+mn-ea"/>
              </a:rPr>
              <a:t>自然语言处理的知识和技术储备</a:t>
            </a:r>
            <a:endParaRPr lang="zh-CN" altLang="en-US" b="1" dirty="0">
              <a:solidFill>
                <a:srgbClr val="004C41"/>
              </a:solidFill>
              <a:latin typeface="Times New Roman" panose="02020503050405090304" pitchFamily="18" charset="0"/>
              <a:cs typeface="+mn-ea"/>
            </a:endParaRPr>
          </a:p>
        </p:txBody>
      </p:sp>
      <p:sp>
        <p:nvSpPr>
          <p:cNvPr id="8" name="6"/>
          <p:cNvSpPr/>
          <p:nvPr/>
        </p:nvSpPr>
        <p:spPr bwMode="auto">
          <a:xfrm>
            <a:off x="2327357" y="2114085"/>
            <a:ext cx="595313" cy="371475"/>
          </a:xfrm>
          <a:prstGeom prst="rect">
            <a:avLst/>
          </a:prstGeom>
          <a:solidFill>
            <a:srgbClr val="8CC345"/>
          </a:solidFill>
          <a:ln>
            <a:solidFill>
              <a:srgbClr val="8CC345"/>
            </a:solidFill>
          </a:ln>
        </p:spPr>
        <p:style>
          <a:lnRef idx="2">
            <a:schemeClr val="accent1">
              <a:shade val="50000"/>
            </a:schemeClr>
          </a:lnRef>
          <a:fillRef idx="1">
            <a:schemeClr val="accent1"/>
          </a:fillRef>
          <a:effectRef idx="0">
            <a:schemeClr val="accent1"/>
          </a:effectRef>
          <a:fontRef idx="minor">
            <a:schemeClr val="lt1"/>
          </a:fontRef>
        </p:style>
        <p:txBody>
          <a:bodyPr lIns="0" tIns="0" rIns="0" bIns="0" anchor="ctr">
            <a:normAutofit/>
          </a:bodyPr>
          <a:lstStyle/>
          <a:p>
            <a:pPr algn="ctr">
              <a:defRPr/>
            </a:pPr>
            <a:r>
              <a:rPr lang="en-US" altLang="zh-CN" sz="2100" b="1" dirty="0">
                <a:solidFill>
                  <a:srgbClr val="FFFFFF"/>
                </a:solidFill>
                <a:latin typeface="Times New Roman" panose="02020503050405090304" pitchFamily="18" charset="0"/>
                <a:ea typeface="宋体" pitchFamily="2" charset="-122"/>
                <a:cs typeface="+mn-ea"/>
                <a:sym typeface="+mn-lt"/>
              </a:rPr>
              <a:t>03</a:t>
            </a:r>
            <a:endParaRPr lang="zh-CN" altLang="en-US" sz="2100" b="1" dirty="0">
              <a:solidFill>
                <a:srgbClr val="FFFFFF"/>
              </a:solidFill>
              <a:latin typeface="Times New Roman" panose="02020503050405090304" pitchFamily="18" charset="0"/>
              <a:ea typeface="宋体" pitchFamily="2" charset="-122"/>
              <a:cs typeface="+mn-ea"/>
              <a:sym typeface="+mn-lt"/>
            </a:endParaRPr>
          </a:p>
        </p:txBody>
      </p:sp>
      <p:sp>
        <p:nvSpPr>
          <p:cNvPr id="9" name="5"/>
          <p:cNvSpPr>
            <a:spLocks noChangeArrowheads="1"/>
          </p:cNvSpPr>
          <p:nvPr/>
        </p:nvSpPr>
        <p:spPr bwMode="auto">
          <a:xfrm>
            <a:off x="3185797" y="2133497"/>
            <a:ext cx="2913615" cy="352063"/>
          </a:xfrm>
          <a:prstGeom prst="rect">
            <a:avLst/>
          </a:prstGeom>
          <a:noFill/>
          <a:ln w="9525">
            <a:solidFill>
              <a:srgbClr val="FFC000"/>
            </a:solidFill>
            <a:miter lim="800000"/>
          </a:ln>
          <a:extLst>
            <a:ext uri="{909E8E84-426E-40DD-AFC4-6F175D3DCCD1}">
              <a14:hiddenFill xmlns:a14="http://schemas.microsoft.com/office/drawing/2010/main">
                <a:solidFill>
                  <a:srgbClr val="FFFFFF"/>
                </a:solidFill>
              </a14:hiddenFill>
            </a:ext>
          </a:extLst>
        </p:spPr>
        <p:txBody>
          <a:bodyPr lIns="0" tIns="0" rIns="0" bIns="0" anchor="ctr"/>
          <a:lstStyle>
            <a:lvl1pPr>
              <a:lnSpc>
                <a:spcPct val="90000"/>
              </a:lnSpc>
              <a:spcBef>
                <a:spcPts val="1000"/>
              </a:spcBef>
              <a:buFont typeface="Arial" panose="020B0604020202090204" pitchFamily="34" charset="0"/>
              <a:buChar char="•"/>
              <a:defRPr sz="2800">
                <a:solidFill>
                  <a:schemeClr val="tx1"/>
                </a:solidFill>
                <a:latin typeface="Calibri" pitchFamily="34" charset="0"/>
                <a:ea typeface="宋体" pitchFamily="2" charset="-122"/>
              </a:defRPr>
            </a:lvl1pPr>
            <a:lvl2pPr marL="742950" indent="-285750">
              <a:lnSpc>
                <a:spcPct val="90000"/>
              </a:lnSpc>
              <a:spcBef>
                <a:spcPts val="500"/>
              </a:spcBef>
              <a:buFont typeface="Arial" panose="020B0604020202090204" pitchFamily="34" charset="0"/>
              <a:buChar char="•"/>
              <a:defRPr sz="2400">
                <a:solidFill>
                  <a:schemeClr val="tx1"/>
                </a:solidFill>
                <a:latin typeface="Calibri" pitchFamily="34" charset="0"/>
                <a:ea typeface="宋体" pitchFamily="2" charset="-122"/>
              </a:defRPr>
            </a:lvl2pPr>
            <a:lvl3pPr marL="1143000" indent="-228600">
              <a:lnSpc>
                <a:spcPct val="90000"/>
              </a:lnSpc>
              <a:spcBef>
                <a:spcPts val="500"/>
              </a:spcBef>
              <a:buFont typeface="Arial" panose="020B0604020202090204" pitchFamily="34" charset="0"/>
              <a:buChar char="•"/>
              <a:defRPr sz="2000">
                <a:solidFill>
                  <a:schemeClr val="tx1"/>
                </a:solidFill>
                <a:latin typeface="Calibri" pitchFamily="34" charset="0"/>
                <a:ea typeface="宋体" pitchFamily="2" charset="-122"/>
              </a:defRPr>
            </a:lvl3pPr>
            <a:lvl4pPr marL="1600200" indent="-228600">
              <a:lnSpc>
                <a:spcPct val="90000"/>
              </a:lnSpc>
              <a:spcBef>
                <a:spcPts val="500"/>
              </a:spcBef>
              <a:buFont typeface="Arial" panose="020B0604020202090204" pitchFamily="34" charset="0"/>
              <a:buChar char="•"/>
              <a:defRPr>
                <a:solidFill>
                  <a:schemeClr val="tx1"/>
                </a:solidFill>
                <a:latin typeface="Calibri" pitchFamily="34" charset="0"/>
                <a:ea typeface="宋体" pitchFamily="2" charset="-122"/>
              </a:defRPr>
            </a:lvl4pPr>
            <a:lvl5pPr marL="2057400" indent="-228600">
              <a:lnSpc>
                <a:spcPct val="90000"/>
              </a:lnSpc>
              <a:spcBef>
                <a:spcPts val="500"/>
              </a:spcBef>
              <a:buFont typeface="Arial" panose="020B0604020202090204" pitchFamily="34" charset="0"/>
              <a:buChar char="•"/>
              <a:defRPr>
                <a:solidFill>
                  <a:schemeClr val="tx1"/>
                </a:solidFill>
                <a:latin typeface="Calibri" pitchFamily="34" charset="0"/>
                <a:ea typeface="宋体" pitchFamily="2" charset="-122"/>
              </a:defRPr>
            </a:lvl5pPr>
            <a:lvl6pPr marL="2514600" indent="-228600" eaLnBrk="0" fontAlgn="base" hangingPunct="0">
              <a:lnSpc>
                <a:spcPct val="90000"/>
              </a:lnSpc>
              <a:spcBef>
                <a:spcPts val="500"/>
              </a:spcBef>
              <a:spcAft>
                <a:spcPct val="0"/>
              </a:spcAft>
              <a:buFont typeface="Arial" panose="020B0604020202090204" pitchFamily="34" charset="0"/>
              <a:buChar char="•"/>
              <a:defRPr>
                <a:solidFill>
                  <a:schemeClr val="tx1"/>
                </a:solidFill>
                <a:latin typeface="Calibri" pitchFamily="34" charset="0"/>
                <a:ea typeface="宋体" pitchFamily="2" charset="-122"/>
              </a:defRPr>
            </a:lvl6pPr>
            <a:lvl7pPr marL="2971800" indent="-228600" eaLnBrk="0" fontAlgn="base" hangingPunct="0">
              <a:lnSpc>
                <a:spcPct val="90000"/>
              </a:lnSpc>
              <a:spcBef>
                <a:spcPts val="500"/>
              </a:spcBef>
              <a:spcAft>
                <a:spcPct val="0"/>
              </a:spcAft>
              <a:buFont typeface="Arial" panose="020B0604020202090204" pitchFamily="34" charset="0"/>
              <a:buChar char="•"/>
              <a:defRPr>
                <a:solidFill>
                  <a:schemeClr val="tx1"/>
                </a:solidFill>
                <a:latin typeface="Calibri" pitchFamily="34" charset="0"/>
                <a:ea typeface="宋体" pitchFamily="2" charset="-122"/>
              </a:defRPr>
            </a:lvl7pPr>
            <a:lvl8pPr marL="3429000" indent="-228600" eaLnBrk="0" fontAlgn="base" hangingPunct="0">
              <a:lnSpc>
                <a:spcPct val="90000"/>
              </a:lnSpc>
              <a:spcBef>
                <a:spcPts val="500"/>
              </a:spcBef>
              <a:spcAft>
                <a:spcPct val="0"/>
              </a:spcAft>
              <a:buFont typeface="Arial" panose="020B0604020202090204" pitchFamily="34" charset="0"/>
              <a:buChar char="•"/>
              <a:defRPr>
                <a:solidFill>
                  <a:schemeClr val="tx1"/>
                </a:solidFill>
                <a:latin typeface="Calibri" pitchFamily="34" charset="0"/>
                <a:ea typeface="宋体" pitchFamily="2" charset="-122"/>
              </a:defRPr>
            </a:lvl8pPr>
            <a:lvl9pPr marL="3886200" indent="-228600" eaLnBrk="0" fontAlgn="base" hangingPunct="0">
              <a:lnSpc>
                <a:spcPct val="90000"/>
              </a:lnSpc>
              <a:spcBef>
                <a:spcPts val="500"/>
              </a:spcBef>
              <a:spcAft>
                <a:spcPct val="0"/>
              </a:spcAft>
              <a:buFont typeface="Arial" panose="020B0604020202090204" pitchFamily="34" charset="0"/>
              <a:buChar char="•"/>
              <a:defRPr>
                <a:solidFill>
                  <a:schemeClr val="tx1"/>
                </a:solidFill>
                <a:latin typeface="Calibri" pitchFamily="34" charset="0"/>
                <a:ea typeface="宋体" pitchFamily="2" charset="-122"/>
              </a:defRPr>
            </a:lvl9pPr>
          </a:lstStyle>
          <a:p>
            <a:pPr algn="just">
              <a:lnSpc>
                <a:spcPct val="100000"/>
              </a:lnSpc>
              <a:spcBef>
                <a:spcPct val="0"/>
              </a:spcBef>
              <a:buFontTx/>
              <a:buNone/>
            </a:pPr>
            <a:r>
              <a:rPr lang="en-US" altLang="zh-CN" sz="1800" b="1" dirty="0">
                <a:solidFill>
                  <a:srgbClr val="004C41"/>
                </a:solidFill>
                <a:latin typeface="Times New Roman" panose="02020503050405090304" pitchFamily="18" charset="0"/>
                <a:cs typeface="+mn-ea"/>
                <a:sym typeface="+mn-lt"/>
              </a:rPr>
              <a:t> </a:t>
            </a:r>
            <a:r>
              <a:rPr lang="zh-CN" altLang="en-US" sz="1800" b="1" dirty="0">
                <a:solidFill>
                  <a:srgbClr val="004C41"/>
                </a:solidFill>
                <a:latin typeface="Times New Roman" panose="02020503050405090304" pitchFamily="18" charset="0"/>
                <a:cs typeface="+mn-ea"/>
                <a:sym typeface="+mn-lt"/>
              </a:rPr>
              <a:t>自然语言处理的难点与特点</a:t>
            </a:r>
            <a:r>
              <a:rPr lang="en-US" altLang="zh-CN" sz="1800" b="1" dirty="0">
                <a:solidFill>
                  <a:srgbClr val="004C41"/>
                </a:solidFill>
                <a:latin typeface="Times New Roman" panose="02020503050405090304" pitchFamily="18" charset="0"/>
                <a:cs typeface="+mn-ea"/>
                <a:sym typeface="+mn-lt"/>
              </a:rPr>
              <a:t>  </a:t>
            </a:r>
            <a:endParaRPr lang="en-US" altLang="zh-CN" sz="1800" b="1" dirty="0">
              <a:solidFill>
                <a:srgbClr val="004C41"/>
              </a:solidFill>
              <a:latin typeface="Times New Roman" panose="02020503050405090304" pitchFamily="18" charset="0"/>
              <a:cs typeface="+mn-ea"/>
              <a:sym typeface="+mn-lt"/>
            </a:endParaRPr>
          </a:p>
        </p:txBody>
      </p:sp>
      <p:sp>
        <p:nvSpPr>
          <p:cNvPr id="10" name="6"/>
          <p:cNvSpPr/>
          <p:nvPr/>
        </p:nvSpPr>
        <p:spPr bwMode="auto">
          <a:xfrm>
            <a:off x="2319117" y="2563047"/>
            <a:ext cx="595313" cy="371475"/>
          </a:xfrm>
          <a:prstGeom prst="rect">
            <a:avLst/>
          </a:prstGeom>
          <a:solidFill>
            <a:srgbClr val="8CC345"/>
          </a:solidFill>
          <a:ln>
            <a:solidFill>
              <a:srgbClr val="8CC345"/>
            </a:solidFill>
          </a:ln>
        </p:spPr>
        <p:style>
          <a:lnRef idx="2">
            <a:schemeClr val="accent1">
              <a:shade val="50000"/>
            </a:schemeClr>
          </a:lnRef>
          <a:fillRef idx="1">
            <a:schemeClr val="accent1"/>
          </a:fillRef>
          <a:effectRef idx="0">
            <a:schemeClr val="accent1"/>
          </a:effectRef>
          <a:fontRef idx="minor">
            <a:schemeClr val="lt1"/>
          </a:fontRef>
        </p:style>
        <p:txBody>
          <a:bodyPr lIns="0" tIns="0" rIns="0" bIns="0" anchor="ctr">
            <a:normAutofit/>
          </a:bodyPr>
          <a:lstStyle/>
          <a:p>
            <a:pPr algn="ctr">
              <a:defRPr/>
            </a:pPr>
            <a:r>
              <a:rPr lang="en-US" altLang="zh-CN" sz="2100" b="1" dirty="0">
                <a:solidFill>
                  <a:srgbClr val="FFFFFF"/>
                </a:solidFill>
                <a:latin typeface="Times New Roman" panose="02020503050405090304" pitchFamily="18" charset="0"/>
                <a:ea typeface="宋体" pitchFamily="2" charset="-122"/>
                <a:cs typeface="+mn-ea"/>
                <a:sym typeface="+mn-lt"/>
              </a:rPr>
              <a:t>04</a:t>
            </a:r>
            <a:endParaRPr lang="zh-CN" altLang="en-US" sz="2100" b="1" dirty="0">
              <a:solidFill>
                <a:srgbClr val="FFFFFF"/>
              </a:solidFill>
              <a:latin typeface="Times New Roman" panose="02020503050405090304" pitchFamily="18" charset="0"/>
              <a:ea typeface="宋体" pitchFamily="2" charset="-122"/>
              <a:cs typeface="+mn-ea"/>
              <a:sym typeface="+mn-lt"/>
            </a:endParaRPr>
          </a:p>
        </p:txBody>
      </p:sp>
      <p:sp>
        <p:nvSpPr>
          <p:cNvPr id="11" name="5"/>
          <p:cNvSpPr>
            <a:spLocks noChangeArrowheads="1"/>
          </p:cNvSpPr>
          <p:nvPr/>
        </p:nvSpPr>
        <p:spPr bwMode="auto">
          <a:xfrm>
            <a:off x="3177556" y="2582460"/>
            <a:ext cx="2469483" cy="352063"/>
          </a:xfrm>
          <a:prstGeom prst="rect">
            <a:avLst/>
          </a:prstGeom>
          <a:noFill/>
          <a:ln w="9525">
            <a:solidFill>
              <a:srgbClr val="FFC000"/>
            </a:solidFill>
            <a:miter lim="800000"/>
          </a:ln>
          <a:extLst>
            <a:ext uri="{909E8E84-426E-40DD-AFC4-6F175D3DCCD1}">
              <a14:hiddenFill xmlns:a14="http://schemas.microsoft.com/office/drawing/2010/main">
                <a:solidFill>
                  <a:srgbClr val="FFFFFF"/>
                </a:solidFill>
              </a14:hiddenFill>
            </a:ext>
          </a:extLst>
        </p:spPr>
        <p:txBody>
          <a:bodyPr lIns="0" tIns="0" rIns="0" bIns="0" anchor="ctr"/>
          <a:lstStyle>
            <a:lvl1pPr>
              <a:lnSpc>
                <a:spcPct val="90000"/>
              </a:lnSpc>
              <a:spcBef>
                <a:spcPts val="1000"/>
              </a:spcBef>
              <a:buFont typeface="Arial" panose="020B0604020202090204" pitchFamily="34" charset="0"/>
              <a:buChar char="•"/>
              <a:defRPr sz="2800">
                <a:solidFill>
                  <a:schemeClr val="tx1"/>
                </a:solidFill>
                <a:latin typeface="Calibri" pitchFamily="34" charset="0"/>
                <a:ea typeface="宋体" pitchFamily="2" charset="-122"/>
              </a:defRPr>
            </a:lvl1pPr>
            <a:lvl2pPr marL="742950" indent="-285750">
              <a:lnSpc>
                <a:spcPct val="90000"/>
              </a:lnSpc>
              <a:spcBef>
                <a:spcPts val="500"/>
              </a:spcBef>
              <a:buFont typeface="Arial" panose="020B0604020202090204" pitchFamily="34" charset="0"/>
              <a:buChar char="•"/>
              <a:defRPr sz="2400">
                <a:solidFill>
                  <a:schemeClr val="tx1"/>
                </a:solidFill>
                <a:latin typeface="Calibri" pitchFamily="34" charset="0"/>
                <a:ea typeface="宋体" pitchFamily="2" charset="-122"/>
              </a:defRPr>
            </a:lvl2pPr>
            <a:lvl3pPr marL="1143000" indent="-228600">
              <a:lnSpc>
                <a:spcPct val="90000"/>
              </a:lnSpc>
              <a:spcBef>
                <a:spcPts val="500"/>
              </a:spcBef>
              <a:buFont typeface="Arial" panose="020B0604020202090204" pitchFamily="34" charset="0"/>
              <a:buChar char="•"/>
              <a:defRPr sz="2000">
                <a:solidFill>
                  <a:schemeClr val="tx1"/>
                </a:solidFill>
                <a:latin typeface="Calibri" pitchFamily="34" charset="0"/>
                <a:ea typeface="宋体" pitchFamily="2" charset="-122"/>
              </a:defRPr>
            </a:lvl3pPr>
            <a:lvl4pPr marL="1600200" indent="-228600">
              <a:lnSpc>
                <a:spcPct val="90000"/>
              </a:lnSpc>
              <a:spcBef>
                <a:spcPts val="500"/>
              </a:spcBef>
              <a:buFont typeface="Arial" panose="020B0604020202090204" pitchFamily="34" charset="0"/>
              <a:buChar char="•"/>
              <a:defRPr>
                <a:solidFill>
                  <a:schemeClr val="tx1"/>
                </a:solidFill>
                <a:latin typeface="Calibri" pitchFamily="34" charset="0"/>
                <a:ea typeface="宋体" pitchFamily="2" charset="-122"/>
              </a:defRPr>
            </a:lvl4pPr>
            <a:lvl5pPr marL="2057400" indent="-228600">
              <a:lnSpc>
                <a:spcPct val="90000"/>
              </a:lnSpc>
              <a:spcBef>
                <a:spcPts val="500"/>
              </a:spcBef>
              <a:buFont typeface="Arial" panose="020B0604020202090204" pitchFamily="34" charset="0"/>
              <a:buChar char="•"/>
              <a:defRPr>
                <a:solidFill>
                  <a:schemeClr val="tx1"/>
                </a:solidFill>
                <a:latin typeface="Calibri" pitchFamily="34" charset="0"/>
                <a:ea typeface="宋体" pitchFamily="2" charset="-122"/>
              </a:defRPr>
            </a:lvl5pPr>
            <a:lvl6pPr marL="2514600" indent="-228600" eaLnBrk="0" fontAlgn="base" hangingPunct="0">
              <a:lnSpc>
                <a:spcPct val="90000"/>
              </a:lnSpc>
              <a:spcBef>
                <a:spcPts val="500"/>
              </a:spcBef>
              <a:spcAft>
                <a:spcPct val="0"/>
              </a:spcAft>
              <a:buFont typeface="Arial" panose="020B0604020202090204" pitchFamily="34" charset="0"/>
              <a:buChar char="•"/>
              <a:defRPr>
                <a:solidFill>
                  <a:schemeClr val="tx1"/>
                </a:solidFill>
                <a:latin typeface="Calibri" pitchFamily="34" charset="0"/>
                <a:ea typeface="宋体" pitchFamily="2" charset="-122"/>
              </a:defRPr>
            </a:lvl6pPr>
            <a:lvl7pPr marL="2971800" indent="-228600" eaLnBrk="0" fontAlgn="base" hangingPunct="0">
              <a:lnSpc>
                <a:spcPct val="90000"/>
              </a:lnSpc>
              <a:spcBef>
                <a:spcPts val="500"/>
              </a:spcBef>
              <a:spcAft>
                <a:spcPct val="0"/>
              </a:spcAft>
              <a:buFont typeface="Arial" panose="020B0604020202090204" pitchFamily="34" charset="0"/>
              <a:buChar char="•"/>
              <a:defRPr>
                <a:solidFill>
                  <a:schemeClr val="tx1"/>
                </a:solidFill>
                <a:latin typeface="Calibri" pitchFamily="34" charset="0"/>
                <a:ea typeface="宋体" pitchFamily="2" charset="-122"/>
              </a:defRPr>
            </a:lvl7pPr>
            <a:lvl8pPr marL="3429000" indent="-228600" eaLnBrk="0" fontAlgn="base" hangingPunct="0">
              <a:lnSpc>
                <a:spcPct val="90000"/>
              </a:lnSpc>
              <a:spcBef>
                <a:spcPts val="500"/>
              </a:spcBef>
              <a:spcAft>
                <a:spcPct val="0"/>
              </a:spcAft>
              <a:buFont typeface="Arial" panose="020B0604020202090204" pitchFamily="34" charset="0"/>
              <a:buChar char="•"/>
              <a:defRPr>
                <a:solidFill>
                  <a:schemeClr val="tx1"/>
                </a:solidFill>
                <a:latin typeface="Calibri" pitchFamily="34" charset="0"/>
                <a:ea typeface="宋体" pitchFamily="2" charset="-122"/>
              </a:defRPr>
            </a:lvl8pPr>
            <a:lvl9pPr marL="3886200" indent="-228600" eaLnBrk="0" fontAlgn="base" hangingPunct="0">
              <a:lnSpc>
                <a:spcPct val="90000"/>
              </a:lnSpc>
              <a:spcBef>
                <a:spcPts val="500"/>
              </a:spcBef>
              <a:spcAft>
                <a:spcPct val="0"/>
              </a:spcAft>
              <a:buFont typeface="Arial" panose="020B0604020202090204" pitchFamily="34" charset="0"/>
              <a:buChar char="•"/>
              <a:defRPr>
                <a:solidFill>
                  <a:schemeClr val="tx1"/>
                </a:solidFill>
                <a:latin typeface="Calibri" pitchFamily="34" charset="0"/>
                <a:ea typeface="宋体" pitchFamily="2" charset="-122"/>
              </a:defRPr>
            </a:lvl9pPr>
          </a:lstStyle>
          <a:p>
            <a:pPr algn="just">
              <a:lnSpc>
                <a:spcPct val="100000"/>
              </a:lnSpc>
              <a:spcBef>
                <a:spcPct val="0"/>
              </a:spcBef>
              <a:buFontTx/>
              <a:buNone/>
            </a:pPr>
            <a:r>
              <a:rPr lang="en-US" altLang="zh-CN" sz="1800" b="1" dirty="0">
                <a:solidFill>
                  <a:srgbClr val="004C41"/>
                </a:solidFill>
                <a:latin typeface="Times New Roman" panose="02020503050405090304" pitchFamily="18" charset="0"/>
                <a:cs typeface="+mn-ea"/>
                <a:sym typeface="+mn-lt"/>
              </a:rPr>
              <a:t> </a:t>
            </a:r>
            <a:r>
              <a:rPr lang="zh-CN" altLang="en-US" sz="1800" b="1" dirty="0">
                <a:solidFill>
                  <a:srgbClr val="004C41"/>
                </a:solidFill>
                <a:latin typeface="Times New Roman" panose="02020503050405090304" pitchFamily="18" charset="0"/>
                <a:cs typeface="+mn-ea"/>
                <a:sym typeface="+mn-lt"/>
              </a:rPr>
              <a:t>自然语言处理任务层级</a:t>
            </a:r>
            <a:r>
              <a:rPr lang="en-US" altLang="zh-CN" sz="1800" b="1" dirty="0">
                <a:solidFill>
                  <a:srgbClr val="004C41"/>
                </a:solidFill>
                <a:latin typeface="Times New Roman" panose="02020503050405090304" pitchFamily="18" charset="0"/>
                <a:cs typeface="+mn-ea"/>
                <a:sym typeface="+mn-lt"/>
              </a:rPr>
              <a:t>  </a:t>
            </a:r>
            <a:endParaRPr lang="en-US" altLang="zh-CN" sz="1800" b="1" dirty="0">
              <a:solidFill>
                <a:srgbClr val="004C41"/>
              </a:solidFill>
              <a:latin typeface="Times New Roman" panose="02020503050405090304" pitchFamily="18" charset="0"/>
              <a:cs typeface="+mn-ea"/>
              <a:sym typeface="+mn-lt"/>
            </a:endParaRPr>
          </a:p>
        </p:txBody>
      </p:sp>
      <p:sp>
        <p:nvSpPr>
          <p:cNvPr id="12" name="标题 11"/>
          <p:cNvSpPr>
            <a:spLocks noGrp="1"/>
          </p:cNvSpPr>
          <p:nvPr>
            <p:ph type="title"/>
          </p:nvPr>
        </p:nvSpPr>
        <p:spPr/>
        <p:txBody>
          <a:bodyPr/>
          <a:lstStyle/>
          <a:p>
            <a:r>
              <a:rPr lang="zh-CN" altLang="en-US" sz="2800">
                <a:solidFill>
                  <a:srgbClr val="004C41"/>
                </a:solidFill>
                <a:ea typeface="宋体" pitchFamily="2" charset="-122"/>
                <a:cs typeface="+mn-ea"/>
                <a:sym typeface="+mn-lt"/>
              </a:rPr>
              <a:t>目</a:t>
            </a:r>
            <a:r>
              <a:rPr lang="en-US" altLang="zh-CN" sz="2800" dirty="0">
                <a:solidFill>
                  <a:srgbClr val="004C41"/>
                </a:solidFill>
                <a:ea typeface="宋体" pitchFamily="2" charset="-122"/>
                <a:cs typeface="+mn-ea"/>
                <a:sym typeface="+mn-lt"/>
              </a:rPr>
              <a:t>  </a:t>
            </a:r>
            <a:r>
              <a:rPr lang="zh-CN" altLang="en-US" sz="2800">
                <a:solidFill>
                  <a:srgbClr val="004C41"/>
                </a:solidFill>
                <a:ea typeface="宋体" pitchFamily="2" charset="-122"/>
                <a:cs typeface="+mn-ea"/>
                <a:sym typeface="+mn-lt"/>
              </a:rPr>
              <a:t>录</a:t>
            </a:r>
            <a:endParaRPr lang="zh-CN" altLang="en-US">
              <a:ea typeface="宋体" pitchFamily="2" charset="-122"/>
            </a:endParaRPr>
          </a:p>
        </p:txBody>
      </p:sp>
      <p:sp>
        <p:nvSpPr>
          <p:cNvPr id="13" name="日期占位符 12"/>
          <p:cNvSpPr>
            <a:spLocks noGrp="1"/>
          </p:cNvSpPr>
          <p:nvPr>
            <p:ph type="dt" sz="half" idx="10"/>
          </p:nvPr>
        </p:nvSpPr>
        <p:spPr/>
        <p:txBody>
          <a:bodyPr/>
          <a:lstStyle/>
          <a:p>
            <a:fld id="{14EFB6F8-852C-4874-BEA6-4226553B15A5}" type="datetime1">
              <a:rPr lang="zh-CN" altLang="en-US" smtClean="0"/>
            </a:fld>
            <a:endParaRPr lang="zh-CN" altLang="en-US"/>
          </a:p>
        </p:txBody>
      </p:sp>
      <p:sp>
        <p:nvSpPr>
          <p:cNvPr id="14" name="灯片编号占位符 13"/>
          <p:cNvSpPr>
            <a:spLocks noGrp="1"/>
          </p:cNvSpPr>
          <p:nvPr>
            <p:ph type="sldNum" sz="quarter" idx="12"/>
          </p:nvPr>
        </p:nvSpPr>
        <p:spPr/>
        <p:txBody>
          <a:bodyPr/>
          <a:lstStyle/>
          <a:p>
            <a:fld id="{82952373-7980-4DA7-9ADE-54D716DB38BB}" type="slidenum">
              <a:rPr lang="zh-CN" altLang="en-US" smtClean="0"/>
            </a:fld>
            <a:endParaRPr lang="zh-CN" altLang="en-US"/>
          </a:p>
        </p:txBody>
      </p:sp>
    </p:spTree>
  </p:cSld>
  <p:clrMapOvr>
    <a:masterClrMapping/>
  </p:clrMapOvr>
  <mc:AlternateContent xmlns:mc="http://schemas.openxmlformats.org/markup-compatibility/2006">
    <mc:Choice xmlns:p14="http://schemas.microsoft.com/office/powerpoint/2010/main" Requires="p14">
      <p:transition p14:dur="0"/>
    </mc:Choice>
    <mc:Fallback>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42" presetClass="entr" presetSubtype="0" fill="hold" grpId="0" nodeType="afterEffect">
                                  <p:stCondLst>
                                    <p:cond delay="0"/>
                                  </p:stCondLst>
                                  <p:childTnLst>
                                    <p:set>
                                      <p:cBhvr>
                                        <p:cTn id="6" dur="1" fill="hold">
                                          <p:stCondLst>
                                            <p:cond delay="0"/>
                                          </p:stCondLst>
                                        </p:cTn>
                                        <p:tgtEl>
                                          <p:spTgt spid="64"/>
                                        </p:tgtEl>
                                        <p:attrNameLst>
                                          <p:attrName>style.visibility</p:attrName>
                                        </p:attrNameLst>
                                      </p:cBhvr>
                                      <p:to>
                                        <p:strVal val="visible"/>
                                      </p:to>
                                    </p:set>
                                    <p:animEffect transition="in" filter="fade">
                                      <p:cBhvr>
                                        <p:cTn id="7" dur="1000"/>
                                        <p:tgtEl>
                                          <p:spTgt spid="64"/>
                                        </p:tgtEl>
                                      </p:cBhvr>
                                    </p:animEffect>
                                    <p:anim calcmode="lin" valueType="num">
                                      <p:cBhvr>
                                        <p:cTn id="8" dur="1000" fill="hold"/>
                                        <p:tgtEl>
                                          <p:spTgt spid="64"/>
                                        </p:tgtEl>
                                        <p:attrNameLst>
                                          <p:attrName>ppt_x</p:attrName>
                                        </p:attrNameLst>
                                      </p:cBhvr>
                                      <p:tavLst>
                                        <p:tav tm="0">
                                          <p:val>
                                            <p:strVal val="#ppt_x"/>
                                          </p:val>
                                        </p:tav>
                                        <p:tav tm="100000">
                                          <p:val>
                                            <p:strVal val="#ppt_x"/>
                                          </p:val>
                                        </p:tav>
                                      </p:tavLst>
                                    </p:anim>
                                    <p:anim calcmode="lin" valueType="num">
                                      <p:cBhvr>
                                        <p:cTn id="9" dur="1000" fill="hold"/>
                                        <p:tgtEl>
                                          <p:spTgt spid="64"/>
                                        </p:tgtEl>
                                        <p:attrNameLst>
                                          <p:attrName>ppt_y</p:attrName>
                                        </p:attrNameLst>
                                      </p:cBhvr>
                                      <p:tavLst>
                                        <p:tav tm="0">
                                          <p:val>
                                            <p:strVal val="#ppt_y+.1"/>
                                          </p:val>
                                        </p:tav>
                                        <p:tav tm="100000">
                                          <p:val>
                                            <p:strVal val="#ppt_y"/>
                                          </p:val>
                                        </p:tav>
                                      </p:tavLst>
                                    </p:anim>
                                  </p:childTnLst>
                                </p:cTn>
                              </p:par>
                              <p:par>
                                <p:cTn id="10" presetID="42" presetClass="entr" presetSubtype="0" fill="hold" grpId="0" nodeType="withEffect">
                                  <p:stCondLst>
                                    <p:cond delay="0"/>
                                  </p:stCondLst>
                                  <p:childTnLst>
                                    <p:set>
                                      <p:cBhvr>
                                        <p:cTn id="11" dur="1" fill="hold">
                                          <p:stCondLst>
                                            <p:cond delay="0"/>
                                          </p:stCondLst>
                                        </p:cTn>
                                        <p:tgtEl>
                                          <p:spTgt spid="65"/>
                                        </p:tgtEl>
                                        <p:attrNameLst>
                                          <p:attrName>style.visibility</p:attrName>
                                        </p:attrNameLst>
                                      </p:cBhvr>
                                      <p:to>
                                        <p:strVal val="visible"/>
                                      </p:to>
                                    </p:set>
                                    <p:animEffect transition="in" filter="fade">
                                      <p:cBhvr>
                                        <p:cTn id="12" dur="1000"/>
                                        <p:tgtEl>
                                          <p:spTgt spid="65"/>
                                        </p:tgtEl>
                                      </p:cBhvr>
                                    </p:animEffect>
                                    <p:anim calcmode="lin" valueType="num">
                                      <p:cBhvr>
                                        <p:cTn id="13" dur="1000" fill="hold"/>
                                        <p:tgtEl>
                                          <p:spTgt spid="65"/>
                                        </p:tgtEl>
                                        <p:attrNameLst>
                                          <p:attrName>ppt_x</p:attrName>
                                        </p:attrNameLst>
                                      </p:cBhvr>
                                      <p:tavLst>
                                        <p:tav tm="0">
                                          <p:val>
                                            <p:strVal val="#ppt_x"/>
                                          </p:val>
                                        </p:tav>
                                        <p:tav tm="100000">
                                          <p:val>
                                            <p:strVal val="#ppt_x"/>
                                          </p:val>
                                        </p:tav>
                                      </p:tavLst>
                                    </p:anim>
                                    <p:anim calcmode="lin" valueType="num">
                                      <p:cBhvr>
                                        <p:cTn id="14" dur="1000" fill="hold"/>
                                        <p:tgtEl>
                                          <p:spTgt spid="65"/>
                                        </p:tgtEl>
                                        <p:attrNameLst>
                                          <p:attrName>ppt_y</p:attrName>
                                        </p:attrNameLst>
                                      </p:cBhvr>
                                      <p:tavLst>
                                        <p:tav tm="0">
                                          <p:val>
                                            <p:strVal val="#ppt_y+.1"/>
                                          </p:val>
                                        </p:tav>
                                        <p:tav tm="100000">
                                          <p:val>
                                            <p:strVal val="#ppt_y"/>
                                          </p:val>
                                        </p:tav>
                                      </p:tavLst>
                                    </p:anim>
                                  </p:childTnLst>
                                </p:cTn>
                              </p:par>
                              <p:par>
                                <p:cTn id="15" presetID="42" presetClass="entr" presetSubtype="0" fill="hold" grpId="0" nodeType="withEffect">
                                  <p:stCondLst>
                                    <p:cond delay="0"/>
                                  </p:stCondLst>
                                  <p:childTnLst>
                                    <p:set>
                                      <p:cBhvr>
                                        <p:cTn id="16" dur="1" fill="hold">
                                          <p:stCondLst>
                                            <p:cond delay="0"/>
                                          </p:stCondLst>
                                        </p:cTn>
                                        <p:tgtEl>
                                          <p:spTgt spid="66"/>
                                        </p:tgtEl>
                                        <p:attrNameLst>
                                          <p:attrName>style.visibility</p:attrName>
                                        </p:attrNameLst>
                                      </p:cBhvr>
                                      <p:to>
                                        <p:strVal val="visible"/>
                                      </p:to>
                                    </p:set>
                                    <p:animEffect transition="in" filter="fade">
                                      <p:cBhvr>
                                        <p:cTn id="17" dur="1000"/>
                                        <p:tgtEl>
                                          <p:spTgt spid="66"/>
                                        </p:tgtEl>
                                      </p:cBhvr>
                                    </p:animEffect>
                                    <p:anim calcmode="lin" valueType="num">
                                      <p:cBhvr>
                                        <p:cTn id="18" dur="1000" fill="hold"/>
                                        <p:tgtEl>
                                          <p:spTgt spid="66"/>
                                        </p:tgtEl>
                                        <p:attrNameLst>
                                          <p:attrName>ppt_x</p:attrName>
                                        </p:attrNameLst>
                                      </p:cBhvr>
                                      <p:tavLst>
                                        <p:tav tm="0">
                                          <p:val>
                                            <p:strVal val="#ppt_x"/>
                                          </p:val>
                                        </p:tav>
                                        <p:tav tm="100000">
                                          <p:val>
                                            <p:strVal val="#ppt_x"/>
                                          </p:val>
                                        </p:tav>
                                      </p:tavLst>
                                    </p:anim>
                                    <p:anim calcmode="lin" valueType="num">
                                      <p:cBhvr>
                                        <p:cTn id="19" dur="1000" fill="hold"/>
                                        <p:tgtEl>
                                          <p:spTgt spid="66"/>
                                        </p:tgtEl>
                                        <p:attrNameLst>
                                          <p:attrName>ppt_y</p:attrName>
                                        </p:attrNameLst>
                                      </p:cBhvr>
                                      <p:tavLst>
                                        <p:tav tm="0">
                                          <p:val>
                                            <p:strVal val="#ppt_y+.1"/>
                                          </p:val>
                                        </p:tav>
                                        <p:tav tm="100000">
                                          <p:val>
                                            <p:strVal val="#ppt_y"/>
                                          </p:val>
                                        </p:tav>
                                      </p:tavLst>
                                    </p:anim>
                                  </p:childTnLst>
                                </p:cTn>
                              </p:par>
                              <p:par>
                                <p:cTn id="20" presetID="42" presetClass="entr" presetSubtype="0" fill="hold" grpId="0" nodeType="withEffect">
                                  <p:stCondLst>
                                    <p:cond delay="0"/>
                                  </p:stCondLst>
                                  <p:childTnLst>
                                    <p:set>
                                      <p:cBhvr>
                                        <p:cTn id="21" dur="1" fill="hold">
                                          <p:stCondLst>
                                            <p:cond delay="0"/>
                                          </p:stCondLst>
                                        </p:cTn>
                                        <p:tgtEl>
                                          <p:spTgt spid="67"/>
                                        </p:tgtEl>
                                        <p:attrNameLst>
                                          <p:attrName>style.visibility</p:attrName>
                                        </p:attrNameLst>
                                      </p:cBhvr>
                                      <p:to>
                                        <p:strVal val="visible"/>
                                      </p:to>
                                    </p:set>
                                    <p:animEffect transition="in" filter="fade">
                                      <p:cBhvr>
                                        <p:cTn id="22" dur="1000"/>
                                        <p:tgtEl>
                                          <p:spTgt spid="67"/>
                                        </p:tgtEl>
                                      </p:cBhvr>
                                    </p:animEffect>
                                    <p:anim calcmode="lin" valueType="num">
                                      <p:cBhvr>
                                        <p:cTn id="23" dur="1000" fill="hold"/>
                                        <p:tgtEl>
                                          <p:spTgt spid="67"/>
                                        </p:tgtEl>
                                        <p:attrNameLst>
                                          <p:attrName>ppt_x</p:attrName>
                                        </p:attrNameLst>
                                      </p:cBhvr>
                                      <p:tavLst>
                                        <p:tav tm="0">
                                          <p:val>
                                            <p:strVal val="#ppt_x"/>
                                          </p:val>
                                        </p:tav>
                                        <p:tav tm="100000">
                                          <p:val>
                                            <p:strVal val="#ppt_x"/>
                                          </p:val>
                                        </p:tav>
                                      </p:tavLst>
                                    </p:anim>
                                    <p:anim calcmode="lin" valueType="num">
                                      <p:cBhvr>
                                        <p:cTn id="24" dur="1000" fill="hold"/>
                                        <p:tgtEl>
                                          <p:spTgt spid="67"/>
                                        </p:tgtEl>
                                        <p:attrNameLst>
                                          <p:attrName>ppt_y</p:attrName>
                                        </p:attrNameLst>
                                      </p:cBhvr>
                                      <p:tavLst>
                                        <p:tav tm="0">
                                          <p:val>
                                            <p:strVal val="#ppt_y+.1"/>
                                          </p:val>
                                        </p:tav>
                                        <p:tav tm="100000">
                                          <p:val>
                                            <p:strVal val="#ppt_y"/>
                                          </p:val>
                                        </p:tav>
                                      </p:tavLst>
                                    </p:anim>
                                  </p:childTnLst>
                                </p:cTn>
                              </p:par>
                              <p:par>
                                <p:cTn id="25" presetID="42" presetClass="entr" presetSubtype="0" fill="hold" grpId="0" nodeType="withEffect">
                                  <p:stCondLst>
                                    <p:cond delay="0"/>
                                  </p:stCondLst>
                                  <p:childTnLst>
                                    <p:set>
                                      <p:cBhvr>
                                        <p:cTn id="26" dur="1" fill="hold">
                                          <p:stCondLst>
                                            <p:cond delay="0"/>
                                          </p:stCondLst>
                                        </p:cTn>
                                        <p:tgtEl>
                                          <p:spTgt spid="2"/>
                                        </p:tgtEl>
                                        <p:attrNameLst>
                                          <p:attrName>style.visibility</p:attrName>
                                        </p:attrNameLst>
                                      </p:cBhvr>
                                      <p:to>
                                        <p:strVal val="visible"/>
                                      </p:to>
                                    </p:set>
                                    <p:animEffect transition="in" filter="fade">
                                      <p:cBhvr>
                                        <p:cTn id="27" dur="1000"/>
                                        <p:tgtEl>
                                          <p:spTgt spid="2"/>
                                        </p:tgtEl>
                                      </p:cBhvr>
                                    </p:animEffect>
                                    <p:anim calcmode="lin" valueType="num">
                                      <p:cBhvr>
                                        <p:cTn id="28" dur="1000" fill="hold"/>
                                        <p:tgtEl>
                                          <p:spTgt spid="2"/>
                                        </p:tgtEl>
                                        <p:attrNameLst>
                                          <p:attrName>ppt_x</p:attrName>
                                        </p:attrNameLst>
                                      </p:cBhvr>
                                      <p:tavLst>
                                        <p:tav tm="0">
                                          <p:val>
                                            <p:strVal val="#ppt_x"/>
                                          </p:val>
                                        </p:tav>
                                        <p:tav tm="100000">
                                          <p:val>
                                            <p:strVal val="#ppt_x"/>
                                          </p:val>
                                        </p:tav>
                                      </p:tavLst>
                                    </p:anim>
                                    <p:anim calcmode="lin" valueType="num">
                                      <p:cBhvr>
                                        <p:cTn id="29" dur="1000" fill="hold"/>
                                        <p:tgtEl>
                                          <p:spTgt spid="2"/>
                                        </p:tgtEl>
                                        <p:attrNameLst>
                                          <p:attrName>ppt_y</p:attrName>
                                        </p:attrNameLst>
                                      </p:cBhvr>
                                      <p:tavLst>
                                        <p:tav tm="0">
                                          <p:val>
                                            <p:strVal val="#ppt_y+.1"/>
                                          </p:val>
                                        </p:tav>
                                        <p:tav tm="100000">
                                          <p:val>
                                            <p:strVal val="#ppt_y"/>
                                          </p:val>
                                        </p:tav>
                                      </p:tavLst>
                                    </p:anim>
                                  </p:childTnLst>
                                </p:cTn>
                              </p:par>
                              <p:par>
                                <p:cTn id="30" presetID="42" presetClass="entr" presetSubtype="0" fill="hold" grpId="0" nodeType="withEffect">
                                  <p:stCondLst>
                                    <p:cond delay="0"/>
                                  </p:stCondLst>
                                  <p:childTnLst>
                                    <p:set>
                                      <p:cBhvr>
                                        <p:cTn id="31" dur="1" fill="hold">
                                          <p:stCondLst>
                                            <p:cond delay="0"/>
                                          </p:stCondLst>
                                        </p:cTn>
                                        <p:tgtEl>
                                          <p:spTgt spid="5"/>
                                        </p:tgtEl>
                                        <p:attrNameLst>
                                          <p:attrName>style.visibility</p:attrName>
                                        </p:attrNameLst>
                                      </p:cBhvr>
                                      <p:to>
                                        <p:strVal val="visible"/>
                                      </p:to>
                                    </p:set>
                                    <p:animEffect transition="in" filter="fade">
                                      <p:cBhvr>
                                        <p:cTn id="32" dur="1000"/>
                                        <p:tgtEl>
                                          <p:spTgt spid="5"/>
                                        </p:tgtEl>
                                      </p:cBhvr>
                                    </p:animEffect>
                                    <p:anim calcmode="lin" valueType="num">
                                      <p:cBhvr>
                                        <p:cTn id="33" dur="1000" fill="hold"/>
                                        <p:tgtEl>
                                          <p:spTgt spid="5"/>
                                        </p:tgtEl>
                                        <p:attrNameLst>
                                          <p:attrName>ppt_x</p:attrName>
                                        </p:attrNameLst>
                                      </p:cBhvr>
                                      <p:tavLst>
                                        <p:tav tm="0">
                                          <p:val>
                                            <p:strVal val="#ppt_x"/>
                                          </p:val>
                                        </p:tav>
                                        <p:tav tm="100000">
                                          <p:val>
                                            <p:strVal val="#ppt_x"/>
                                          </p:val>
                                        </p:tav>
                                      </p:tavLst>
                                    </p:anim>
                                    <p:anim calcmode="lin" valueType="num">
                                      <p:cBhvr>
                                        <p:cTn id="34" dur="1000" fill="hold"/>
                                        <p:tgtEl>
                                          <p:spTgt spid="5"/>
                                        </p:tgtEl>
                                        <p:attrNameLst>
                                          <p:attrName>ppt_y</p:attrName>
                                        </p:attrNameLst>
                                      </p:cBhvr>
                                      <p:tavLst>
                                        <p:tav tm="0">
                                          <p:val>
                                            <p:strVal val="#ppt_y+.1"/>
                                          </p:val>
                                        </p:tav>
                                        <p:tav tm="100000">
                                          <p:val>
                                            <p:strVal val="#ppt_y"/>
                                          </p:val>
                                        </p:tav>
                                      </p:tavLst>
                                    </p:anim>
                                  </p:childTnLst>
                                </p:cTn>
                              </p:par>
                              <p:par>
                                <p:cTn id="35" presetID="42" presetClass="entr" presetSubtype="0" fill="hold" grpId="0" nodeType="withEffect">
                                  <p:stCondLst>
                                    <p:cond delay="0"/>
                                  </p:stCondLst>
                                  <p:childTnLst>
                                    <p:set>
                                      <p:cBhvr>
                                        <p:cTn id="36" dur="1" fill="hold">
                                          <p:stCondLst>
                                            <p:cond delay="0"/>
                                          </p:stCondLst>
                                        </p:cTn>
                                        <p:tgtEl>
                                          <p:spTgt spid="3"/>
                                        </p:tgtEl>
                                        <p:attrNameLst>
                                          <p:attrName>style.visibility</p:attrName>
                                        </p:attrNameLst>
                                      </p:cBhvr>
                                      <p:to>
                                        <p:strVal val="visible"/>
                                      </p:to>
                                    </p:set>
                                    <p:animEffect transition="in" filter="fade">
                                      <p:cBhvr>
                                        <p:cTn id="37" dur="1000"/>
                                        <p:tgtEl>
                                          <p:spTgt spid="3"/>
                                        </p:tgtEl>
                                      </p:cBhvr>
                                    </p:animEffect>
                                    <p:anim calcmode="lin" valueType="num">
                                      <p:cBhvr>
                                        <p:cTn id="38" dur="1000" fill="hold"/>
                                        <p:tgtEl>
                                          <p:spTgt spid="3"/>
                                        </p:tgtEl>
                                        <p:attrNameLst>
                                          <p:attrName>ppt_x</p:attrName>
                                        </p:attrNameLst>
                                      </p:cBhvr>
                                      <p:tavLst>
                                        <p:tav tm="0">
                                          <p:val>
                                            <p:strVal val="#ppt_x"/>
                                          </p:val>
                                        </p:tav>
                                        <p:tav tm="100000">
                                          <p:val>
                                            <p:strVal val="#ppt_x"/>
                                          </p:val>
                                        </p:tav>
                                      </p:tavLst>
                                    </p:anim>
                                    <p:anim calcmode="lin" valueType="num">
                                      <p:cBhvr>
                                        <p:cTn id="39" dur="1000" fill="hold"/>
                                        <p:tgtEl>
                                          <p:spTgt spid="3"/>
                                        </p:tgtEl>
                                        <p:attrNameLst>
                                          <p:attrName>ppt_y</p:attrName>
                                        </p:attrNameLst>
                                      </p:cBhvr>
                                      <p:tavLst>
                                        <p:tav tm="0">
                                          <p:val>
                                            <p:strVal val="#ppt_y+.1"/>
                                          </p:val>
                                        </p:tav>
                                        <p:tav tm="100000">
                                          <p:val>
                                            <p:strVal val="#ppt_y"/>
                                          </p:val>
                                        </p:tav>
                                      </p:tavLst>
                                    </p:anim>
                                  </p:childTnLst>
                                </p:cTn>
                              </p:par>
                              <p:par>
                                <p:cTn id="40" presetID="42" presetClass="entr" presetSubtype="0" fill="hold" grpId="0" nodeType="withEffect">
                                  <p:stCondLst>
                                    <p:cond delay="0"/>
                                  </p:stCondLst>
                                  <p:childTnLst>
                                    <p:set>
                                      <p:cBhvr>
                                        <p:cTn id="41" dur="1" fill="hold">
                                          <p:stCondLst>
                                            <p:cond delay="0"/>
                                          </p:stCondLst>
                                        </p:cTn>
                                        <p:tgtEl>
                                          <p:spTgt spid="6"/>
                                        </p:tgtEl>
                                        <p:attrNameLst>
                                          <p:attrName>style.visibility</p:attrName>
                                        </p:attrNameLst>
                                      </p:cBhvr>
                                      <p:to>
                                        <p:strVal val="visible"/>
                                      </p:to>
                                    </p:set>
                                    <p:animEffect transition="in" filter="fade">
                                      <p:cBhvr>
                                        <p:cTn id="42" dur="1000"/>
                                        <p:tgtEl>
                                          <p:spTgt spid="6"/>
                                        </p:tgtEl>
                                      </p:cBhvr>
                                    </p:animEffect>
                                    <p:anim calcmode="lin" valueType="num">
                                      <p:cBhvr>
                                        <p:cTn id="43" dur="1000" fill="hold"/>
                                        <p:tgtEl>
                                          <p:spTgt spid="6"/>
                                        </p:tgtEl>
                                        <p:attrNameLst>
                                          <p:attrName>ppt_x</p:attrName>
                                        </p:attrNameLst>
                                      </p:cBhvr>
                                      <p:tavLst>
                                        <p:tav tm="0">
                                          <p:val>
                                            <p:strVal val="#ppt_x"/>
                                          </p:val>
                                        </p:tav>
                                        <p:tav tm="100000">
                                          <p:val>
                                            <p:strVal val="#ppt_x"/>
                                          </p:val>
                                        </p:tav>
                                      </p:tavLst>
                                    </p:anim>
                                    <p:anim calcmode="lin" valueType="num">
                                      <p:cBhvr>
                                        <p:cTn id="44" dur="1000" fill="hold"/>
                                        <p:tgtEl>
                                          <p:spTgt spid="6"/>
                                        </p:tgtEl>
                                        <p:attrNameLst>
                                          <p:attrName>ppt_y</p:attrName>
                                        </p:attrNameLst>
                                      </p:cBhvr>
                                      <p:tavLst>
                                        <p:tav tm="0">
                                          <p:val>
                                            <p:strVal val="#ppt_y+.1"/>
                                          </p:val>
                                        </p:tav>
                                        <p:tav tm="100000">
                                          <p:val>
                                            <p:strVal val="#ppt_y"/>
                                          </p:val>
                                        </p:tav>
                                      </p:tavLst>
                                    </p:anim>
                                  </p:childTnLst>
                                </p:cTn>
                              </p:par>
                              <p:par>
                                <p:cTn id="45" presetID="42" presetClass="entr" presetSubtype="0" fill="hold" grpId="0" nodeType="withEffect">
                                  <p:stCondLst>
                                    <p:cond delay="0"/>
                                  </p:stCondLst>
                                  <p:childTnLst>
                                    <p:set>
                                      <p:cBhvr>
                                        <p:cTn id="46" dur="1" fill="hold">
                                          <p:stCondLst>
                                            <p:cond delay="0"/>
                                          </p:stCondLst>
                                        </p:cTn>
                                        <p:tgtEl>
                                          <p:spTgt spid="4"/>
                                        </p:tgtEl>
                                        <p:attrNameLst>
                                          <p:attrName>style.visibility</p:attrName>
                                        </p:attrNameLst>
                                      </p:cBhvr>
                                      <p:to>
                                        <p:strVal val="visible"/>
                                      </p:to>
                                    </p:set>
                                    <p:animEffect transition="in" filter="fade">
                                      <p:cBhvr>
                                        <p:cTn id="47" dur="1000"/>
                                        <p:tgtEl>
                                          <p:spTgt spid="4"/>
                                        </p:tgtEl>
                                      </p:cBhvr>
                                    </p:animEffect>
                                    <p:anim calcmode="lin" valueType="num">
                                      <p:cBhvr>
                                        <p:cTn id="48" dur="1000" fill="hold"/>
                                        <p:tgtEl>
                                          <p:spTgt spid="4"/>
                                        </p:tgtEl>
                                        <p:attrNameLst>
                                          <p:attrName>ppt_x</p:attrName>
                                        </p:attrNameLst>
                                      </p:cBhvr>
                                      <p:tavLst>
                                        <p:tav tm="0">
                                          <p:val>
                                            <p:strVal val="#ppt_x"/>
                                          </p:val>
                                        </p:tav>
                                        <p:tav tm="100000">
                                          <p:val>
                                            <p:strVal val="#ppt_x"/>
                                          </p:val>
                                        </p:tav>
                                      </p:tavLst>
                                    </p:anim>
                                    <p:anim calcmode="lin" valueType="num">
                                      <p:cBhvr>
                                        <p:cTn id="49" dur="1000" fill="hold"/>
                                        <p:tgtEl>
                                          <p:spTgt spid="4"/>
                                        </p:tgtEl>
                                        <p:attrNameLst>
                                          <p:attrName>ppt_y</p:attrName>
                                        </p:attrNameLst>
                                      </p:cBhvr>
                                      <p:tavLst>
                                        <p:tav tm="0">
                                          <p:val>
                                            <p:strVal val="#ppt_y+.1"/>
                                          </p:val>
                                        </p:tav>
                                        <p:tav tm="100000">
                                          <p:val>
                                            <p:strVal val="#ppt_y"/>
                                          </p:val>
                                        </p:tav>
                                      </p:tavLst>
                                    </p:anim>
                                  </p:childTnLst>
                                </p:cTn>
                              </p:par>
                              <p:par>
                                <p:cTn id="50" presetID="42" presetClass="entr" presetSubtype="0" fill="hold" grpId="0" nodeType="withEffect">
                                  <p:stCondLst>
                                    <p:cond delay="0"/>
                                  </p:stCondLst>
                                  <p:childTnLst>
                                    <p:set>
                                      <p:cBhvr>
                                        <p:cTn id="51" dur="1" fill="hold">
                                          <p:stCondLst>
                                            <p:cond delay="0"/>
                                          </p:stCondLst>
                                        </p:cTn>
                                        <p:tgtEl>
                                          <p:spTgt spid="7"/>
                                        </p:tgtEl>
                                        <p:attrNameLst>
                                          <p:attrName>style.visibility</p:attrName>
                                        </p:attrNameLst>
                                      </p:cBhvr>
                                      <p:to>
                                        <p:strVal val="visible"/>
                                      </p:to>
                                    </p:set>
                                    <p:animEffect transition="in" filter="fade">
                                      <p:cBhvr>
                                        <p:cTn id="52" dur="1000"/>
                                        <p:tgtEl>
                                          <p:spTgt spid="7"/>
                                        </p:tgtEl>
                                      </p:cBhvr>
                                    </p:animEffect>
                                    <p:anim calcmode="lin" valueType="num">
                                      <p:cBhvr>
                                        <p:cTn id="53" dur="1000" fill="hold"/>
                                        <p:tgtEl>
                                          <p:spTgt spid="7"/>
                                        </p:tgtEl>
                                        <p:attrNameLst>
                                          <p:attrName>ppt_x</p:attrName>
                                        </p:attrNameLst>
                                      </p:cBhvr>
                                      <p:tavLst>
                                        <p:tav tm="0">
                                          <p:val>
                                            <p:strVal val="#ppt_x"/>
                                          </p:val>
                                        </p:tav>
                                        <p:tav tm="100000">
                                          <p:val>
                                            <p:strVal val="#ppt_x"/>
                                          </p:val>
                                        </p:tav>
                                      </p:tavLst>
                                    </p:anim>
                                    <p:anim calcmode="lin" valueType="num">
                                      <p:cBhvr>
                                        <p:cTn id="54" dur="1000" fill="hold"/>
                                        <p:tgtEl>
                                          <p:spTgt spid="7"/>
                                        </p:tgtEl>
                                        <p:attrNameLst>
                                          <p:attrName>ppt_y</p:attrName>
                                        </p:attrNameLst>
                                      </p:cBhvr>
                                      <p:tavLst>
                                        <p:tav tm="0">
                                          <p:val>
                                            <p:strVal val="#ppt_y+.1"/>
                                          </p:val>
                                        </p:tav>
                                        <p:tav tm="100000">
                                          <p:val>
                                            <p:strVal val="#ppt_y"/>
                                          </p:val>
                                        </p:tav>
                                      </p:tavLst>
                                    </p:anim>
                                  </p:childTnLst>
                                </p:cTn>
                              </p:par>
                              <p:par>
                                <p:cTn id="55" presetID="42" presetClass="entr" presetSubtype="0" fill="hold" grpId="0" nodeType="withEffect">
                                  <p:stCondLst>
                                    <p:cond delay="0"/>
                                  </p:stCondLst>
                                  <p:childTnLst>
                                    <p:set>
                                      <p:cBhvr>
                                        <p:cTn id="56" dur="1" fill="hold">
                                          <p:stCondLst>
                                            <p:cond delay="0"/>
                                          </p:stCondLst>
                                        </p:cTn>
                                        <p:tgtEl>
                                          <p:spTgt spid="8"/>
                                        </p:tgtEl>
                                        <p:attrNameLst>
                                          <p:attrName>style.visibility</p:attrName>
                                        </p:attrNameLst>
                                      </p:cBhvr>
                                      <p:to>
                                        <p:strVal val="visible"/>
                                      </p:to>
                                    </p:set>
                                    <p:animEffect transition="in" filter="fade">
                                      <p:cBhvr>
                                        <p:cTn id="57" dur="1000"/>
                                        <p:tgtEl>
                                          <p:spTgt spid="8"/>
                                        </p:tgtEl>
                                      </p:cBhvr>
                                    </p:animEffect>
                                    <p:anim calcmode="lin" valueType="num">
                                      <p:cBhvr>
                                        <p:cTn id="58" dur="1000" fill="hold"/>
                                        <p:tgtEl>
                                          <p:spTgt spid="8"/>
                                        </p:tgtEl>
                                        <p:attrNameLst>
                                          <p:attrName>ppt_x</p:attrName>
                                        </p:attrNameLst>
                                      </p:cBhvr>
                                      <p:tavLst>
                                        <p:tav tm="0">
                                          <p:val>
                                            <p:strVal val="#ppt_x"/>
                                          </p:val>
                                        </p:tav>
                                        <p:tav tm="100000">
                                          <p:val>
                                            <p:strVal val="#ppt_x"/>
                                          </p:val>
                                        </p:tav>
                                      </p:tavLst>
                                    </p:anim>
                                    <p:anim calcmode="lin" valueType="num">
                                      <p:cBhvr>
                                        <p:cTn id="59" dur="1000" fill="hold"/>
                                        <p:tgtEl>
                                          <p:spTgt spid="8"/>
                                        </p:tgtEl>
                                        <p:attrNameLst>
                                          <p:attrName>ppt_y</p:attrName>
                                        </p:attrNameLst>
                                      </p:cBhvr>
                                      <p:tavLst>
                                        <p:tav tm="0">
                                          <p:val>
                                            <p:strVal val="#ppt_y+.1"/>
                                          </p:val>
                                        </p:tav>
                                        <p:tav tm="100000">
                                          <p:val>
                                            <p:strVal val="#ppt_y"/>
                                          </p:val>
                                        </p:tav>
                                      </p:tavLst>
                                    </p:anim>
                                  </p:childTnLst>
                                </p:cTn>
                              </p:par>
                              <p:par>
                                <p:cTn id="60" presetID="42" presetClass="entr" presetSubtype="0" fill="hold" grpId="0" nodeType="withEffect">
                                  <p:stCondLst>
                                    <p:cond delay="0"/>
                                  </p:stCondLst>
                                  <p:childTnLst>
                                    <p:set>
                                      <p:cBhvr>
                                        <p:cTn id="61" dur="1" fill="hold">
                                          <p:stCondLst>
                                            <p:cond delay="0"/>
                                          </p:stCondLst>
                                        </p:cTn>
                                        <p:tgtEl>
                                          <p:spTgt spid="9"/>
                                        </p:tgtEl>
                                        <p:attrNameLst>
                                          <p:attrName>style.visibility</p:attrName>
                                        </p:attrNameLst>
                                      </p:cBhvr>
                                      <p:to>
                                        <p:strVal val="visible"/>
                                      </p:to>
                                    </p:set>
                                    <p:animEffect transition="in" filter="fade">
                                      <p:cBhvr>
                                        <p:cTn id="62" dur="1000"/>
                                        <p:tgtEl>
                                          <p:spTgt spid="9"/>
                                        </p:tgtEl>
                                      </p:cBhvr>
                                    </p:animEffect>
                                    <p:anim calcmode="lin" valueType="num">
                                      <p:cBhvr>
                                        <p:cTn id="63" dur="1000" fill="hold"/>
                                        <p:tgtEl>
                                          <p:spTgt spid="9"/>
                                        </p:tgtEl>
                                        <p:attrNameLst>
                                          <p:attrName>ppt_x</p:attrName>
                                        </p:attrNameLst>
                                      </p:cBhvr>
                                      <p:tavLst>
                                        <p:tav tm="0">
                                          <p:val>
                                            <p:strVal val="#ppt_x"/>
                                          </p:val>
                                        </p:tav>
                                        <p:tav tm="100000">
                                          <p:val>
                                            <p:strVal val="#ppt_x"/>
                                          </p:val>
                                        </p:tav>
                                      </p:tavLst>
                                    </p:anim>
                                    <p:anim calcmode="lin" valueType="num">
                                      <p:cBhvr>
                                        <p:cTn id="64" dur="1000" fill="hold"/>
                                        <p:tgtEl>
                                          <p:spTgt spid="9"/>
                                        </p:tgtEl>
                                        <p:attrNameLst>
                                          <p:attrName>ppt_y</p:attrName>
                                        </p:attrNameLst>
                                      </p:cBhvr>
                                      <p:tavLst>
                                        <p:tav tm="0">
                                          <p:val>
                                            <p:strVal val="#ppt_y+.1"/>
                                          </p:val>
                                        </p:tav>
                                        <p:tav tm="100000">
                                          <p:val>
                                            <p:strVal val="#ppt_y"/>
                                          </p:val>
                                        </p:tav>
                                      </p:tavLst>
                                    </p:anim>
                                  </p:childTnLst>
                                </p:cTn>
                              </p:par>
                              <p:par>
                                <p:cTn id="65" presetID="42" presetClass="entr" presetSubtype="0" fill="hold" grpId="0" nodeType="withEffect">
                                  <p:stCondLst>
                                    <p:cond delay="0"/>
                                  </p:stCondLst>
                                  <p:childTnLst>
                                    <p:set>
                                      <p:cBhvr>
                                        <p:cTn id="66" dur="1" fill="hold">
                                          <p:stCondLst>
                                            <p:cond delay="0"/>
                                          </p:stCondLst>
                                        </p:cTn>
                                        <p:tgtEl>
                                          <p:spTgt spid="10"/>
                                        </p:tgtEl>
                                        <p:attrNameLst>
                                          <p:attrName>style.visibility</p:attrName>
                                        </p:attrNameLst>
                                      </p:cBhvr>
                                      <p:to>
                                        <p:strVal val="visible"/>
                                      </p:to>
                                    </p:set>
                                    <p:animEffect transition="in" filter="fade">
                                      <p:cBhvr>
                                        <p:cTn id="67" dur="1000"/>
                                        <p:tgtEl>
                                          <p:spTgt spid="10"/>
                                        </p:tgtEl>
                                      </p:cBhvr>
                                    </p:animEffect>
                                    <p:anim calcmode="lin" valueType="num">
                                      <p:cBhvr>
                                        <p:cTn id="68" dur="1000" fill="hold"/>
                                        <p:tgtEl>
                                          <p:spTgt spid="10"/>
                                        </p:tgtEl>
                                        <p:attrNameLst>
                                          <p:attrName>ppt_x</p:attrName>
                                        </p:attrNameLst>
                                      </p:cBhvr>
                                      <p:tavLst>
                                        <p:tav tm="0">
                                          <p:val>
                                            <p:strVal val="#ppt_x"/>
                                          </p:val>
                                        </p:tav>
                                        <p:tav tm="100000">
                                          <p:val>
                                            <p:strVal val="#ppt_x"/>
                                          </p:val>
                                        </p:tav>
                                      </p:tavLst>
                                    </p:anim>
                                    <p:anim calcmode="lin" valueType="num">
                                      <p:cBhvr>
                                        <p:cTn id="69" dur="1000" fill="hold"/>
                                        <p:tgtEl>
                                          <p:spTgt spid="10"/>
                                        </p:tgtEl>
                                        <p:attrNameLst>
                                          <p:attrName>ppt_y</p:attrName>
                                        </p:attrNameLst>
                                      </p:cBhvr>
                                      <p:tavLst>
                                        <p:tav tm="0">
                                          <p:val>
                                            <p:strVal val="#ppt_y+.1"/>
                                          </p:val>
                                        </p:tav>
                                        <p:tav tm="100000">
                                          <p:val>
                                            <p:strVal val="#ppt_y"/>
                                          </p:val>
                                        </p:tav>
                                      </p:tavLst>
                                    </p:anim>
                                  </p:childTnLst>
                                </p:cTn>
                              </p:par>
                              <p:par>
                                <p:cTn id="70" presetID="42" presetClass="entr" presetSubtype="0" fill="hold" grpId="0" nodeType="withEffect">
                                  <p:stCondLst>
                                    <p:cond delay="0"/>
                                  </p:stCondLst>
                                  <p:childTnLst>
                                    <p:set>
                                      <p:cBhvr>
                                        <p:cTn id="71" dur="1" fill="hold">
                                          <p:stCondLst>
                                            <p:cond delay="0"/>
                                          </p:stCondLst>
                                        </p:cTn>
                                        <p:tgtEl>
                                          <p:spTgt spid="11"/>
                                        </p:tgtEl>
                                        <p:attrNameLst>
                                          <p:attrName>style.visibility</p:attrName>
                                        </p:attrNameLst>
                                      </p:cBhvr>
                                      <p:to>
                                        <p:strVal val="visible"/>
                                      </p:to>
                                    </p:set>
                                    <p:animEffect transition="in" filter="fade">
                                      <p:cBhvr>
                                        <p:cTn id="72" dur="1000"/>
                                        <p:tgtEl>
                                          <p:spTgt spid="11"/>
                                        </p:tgtEl>
                                      </p:cBhvr>
                                    </p:animEffect>
                                    <p:anim calcmode="lin" valueType="num">
                                      <p:cBhvr>
                                        <p:cTn id="73" dur="1000" fill="hold"/>
                                        <p:tgtEl>
                                          <p:spTgt spid="11"/>
                                        </p:tgtEl>
                                        <p:attrNameLst>
                                          <p:attrName>ppt_x</p:attrName>
                                        </p:attrNameLst>
                                      </p:cBhvr>
                                      <p:tavLst>
                                        <p:tav tm="0">
                                          <p:val>
                                            <p:strVal val="#ppt_x"/>
                                          </p:val>
                                        </p:tav>
                                        <p:tav tm="100000">
                                          <p:val>
                                            <p:strVal val="#ppt_x"/>
                                          </p:val>
                                        </p:tav>
                                      </p:tavLst>
                                    </p:anim>
                                    <p:anim calcmode="lin" valueType="num">
                                      <p:cBhvr>
                                        <p:cTn id="74" dur="1000" fill="hold"/>
                                        <p:tgtEl>
                                          <p:spTgt spid="11"/>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64" grpId="0" bldLvl="0" animBg="1"/>
      <p:bldP spid="64" grpId="1" animBg="1"/>
      <p:bldP spid="65" grpId="0" bldLvl="0" animBg="1"/>
      <p:bldP spid="65" grpId="1"/>
      <p:bldP spid="66" grpId="0" bldLvl="0" animBg="1"/>
      <p:bldP spid="66" grpId="1" animBg="1"/>
      <p:bldP spid="67" grpId="0" bldLvl="0" animBg="1"/>
      <p:bldP spid="67" grpId="1"/>
      <p:bldP spid="2" grpId="0" bldLvl="0" animBg="1"/>
      <p:bldP spid="2" grpId="1" animBg="1"/>
      <p:bldP spid="3" grpId="0" bldLvl="0" animBg="1"/>
      <p:bldP spid="3" grpId="1" animBg="1"/>
      <p:bldP spid="4" grpId="0" bldLvl="0" animBg="1"/>
      <p:bldP spid="4" grpId="1" animBg="1"/>
      <p:bldP spid="5" grpId="0" bldLvl="0" animBg="1"/>
      <p:bldP spid="5" grpId="1" animBg="1"/>
      <p:bldP spid="6" grpId="0" bldLvl="0" animBg="1"/>
      <p:bldP spid="6" grpId="1" animBg="1"/>
      <p:bldP spid="7" grpId="0" bldLvl="0" animBg="1"/>
      <p:bldP spid="7" grpId="1" animBg="1"/>
      <p:bldP spid="8" grpId="0" bldLvl="0" animBg="1"/>
      <p:bldP spid="8" grpId="1" animBg="1"/>
      <p:bldP spid="9" grpId="0" bldLvl="0" animBg="1"/>
      <p:bldP spid="9" grpId="1"/>
      <p:bldP spid="10" grpId="0" bldLvl="0" animBg="1"/>
      <p:bldP spid="10" grpId="1" animBg="1"/>
      <p:bldP spid="11" grpId="0" bldLvl="0" animBg="1"/>
      <p:bldP spid="11" grpId="1"/>
    </p:bldLst>
  </p:timing>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15" name="2"/>
          <p:cNvGrpSpPr/>
          <p:nvPr/>
        </p:nvGrpSpPr>
        <p:grpSpPr>
          <a:xfrm>
            <a:off x="1002665" y="2049777"/>
            <a:ext cx="7488555" cy="1263014"/>
            <a:chOff x="31445" y="161947"/>
            <a:chExt cx="2500824" cy="318131"/>
          </a:xfrm>
          <a:solidFill>
            <a:srgbClr val="004C41"/>
          </a:solidFill>
        </p:grpSpPr>
        <p:sp>
          <p:nvSpPr>
            <p:cNvPr id="16" name="12"/>
            <p:cNvSpPr/>
            <p:nvPr/>
          </p:nvSpPr>
          <p:spPr>
            <a:xfrm>
              <a:off x="31445" y="176315"/>
              <a:ext cx="2268640" cy="293086"/>
            </a:xfrm>
            <a:prstGeom prst="rect">
              <a:avLst/>
            </a:prstGeom>
            <a:grpFill/>
            <a:ln w="25400" cap="flat" cmpd="sng" algn="ctr">
              <a:noFill/>
              <a:prstDash val="solid"/>
            </a:ln>
            <a:effectLst/>
          </p:spPr>
          <p:txBody>
            <a:bodyPr rtlCol="0" anchor="ctr"/>
            <a:lstStyle/>
            <a:p>
              <a:pPr algn="ctr">
                <a:defRPr/>
              </a:pPr>
              <a:endParaRPr lang="zh-CN" altLang="en-US" kern="0">
                <a:solidFill>
                  <a:prstClr val="white"/>
                </a:solidFill>
                <a:cs typeface="+mn-ea"/>
                <a:sym typeface="+mn-lt"/>
              </a:endParaRPr>
            </a:p>
          </p:txBody>
        </p:sp>
        <p:sp>
          <p:nvSpPr>
            <p:cNvPr id="17" name="等腰三角形 16"/>
            <p:cNvSpPr/>
            <p:nvPr/>
          </p:nvSpPr>
          <p:spPr>
            <a:xfrm rot="5400000">
              <a:off x="2257111" y="204921"/>
              <a:ext cx="318131" cy="232184"/>
            </a:xfrm>
            <a:prstGeom prst="triangle">
              <a:avLst/>
            </a:prstGeom>
            <a:grpFill/>
            <a:ln w="25400" cap="flat" cmpd="sng" algn="ctr">
              <a:noFill/>
              <a:prstDash val="solid"/>
            </a:ln>
            <a:effectLst/>
          </p:spPr>
          <p:txBody>
            <a:bodyPr rtlCol="0" anchor="ctr"/>
            <a:lstStyle/>
            <a:p>
              <a:pPr algn="ctr">
                <a:defRPr/>
              </a:pPr>
              <a:endParaRPr lang="zh-CN" altLang="en-US" kern="0">
                <a:solidFill>
                  <a:prstClr val="white"/>
                </a:solidFill>
                <a:cs typeface="+mn-ea"/>
                <a:sym typeface="+mn-lt"/>
              </a:endParaRPr>
            </a:p>
          </p:txBody>
        </p:sp>
        <p:sp>
          <p:nvSpPr>
            <p:cNvPr id="18" name="TextBox 8"/>
            <p:cNvSpPr txBox="1"/>
            <p:nvPr/>
          </p:nvSpPr>
          <p:spPr>
            <a:xfrm>
              <a:off x="1003524" y="249598"/>
              <a:ext cx="1382843" cy="131790"/>
            </a:xfrm>
            <a:prstGeom prst="rect">
              <a:avLst/>
            </a:prstGeom>
            <a:grpFill/>
            <a:ln>
              <a:noFill/>
            </a:ln>
          </p:spPr>
          <p:txBody>
            <a:bodyPr wrap="square" rtlCol="0">
              <a:spAutoFit/>
            </a:bodyPr>
            <a:lstStyle/>
            <a:p>
              <a:pPr algn="just">
                <a:spcBef>
                  <a:spcPct val="0"/>
                </a:spcBef>
              </a:pPr>
              <a:r>
                <a:rPr lang="zh-CN" altLang="en-US" sz="2800" b="1" kern="0" spc="300" dirty="0">
                  <a:solidFill>
                    <a:prstClr val="white"/>
                  </a:solidFill>
                  <a:latin typeface="Times New Roman" panose="02020503050405090304" pitchFamily="18" charset="0"/>
                  <a:cs typeface="+mn-ea"/>
                  <a:sym typeface="+mn-lt"/>
                </a:rPr>
                <a:t>自然语言处理的定义</a:t>
              </a:r>
              <a:endParaRPr lang="zh-CN" altLang="en-US" sz="2800" b="1" kern="0" spc="300" dirty="0">
                <a:solidFill>
                  <a:prstClr val="white"/>
                </a:solidFill>
                <a:latin typeface="Times New Roman" panose="02020503050405090304" pitchFamily="18" charset="0"/>
                <a:cs typeface="+mn-ea"/>
                <a:sym typeface="+mn-lt"/>
              </a:endParaRPr>
            </a:p>
          </p:txBody>
        </p:sp>
      </p:grpSp>
      <p:grpSp>
        <p:nvGrpSpPr>
          <p:cNvPr id="19" name="1"/>
          <p:cNvGrpSpPr/>
          <p:nvPr/>
        </p:nvGrpSpPr>
        <p:grpSpPr>
          <a:xfrm>
            <a:off x="1200674" y="1373316"/>
            <a:ext cx="2619916" cy="2619916"/>
            <a:chOff x="267453" y="94709"/>
            <a:chExt cx="454824" cy="454824"/>
          </a:xfrm>
        </p:grpSpPr>
        <p:sp>
          <p:nvSpPr>
            <p:cNvPr id="20" name="4"/>
            <p:cNvSpPr/>
            <p:nvPr/>
          </p:nvSpPr>
          <p:spPr>
            <a:xfrm>
              <a:off x="301756" y="114952"/>
              <a:ext cx="390525" cy="395287"/>
            </a:xfrm>
            <a:prstGeom prst="ellipse">
              <a:avLst/>
            </a:prstGeom>
            <a:solidFill>
              <a:sysClr val="window" lastClr="FFFFFF"/>
            </a:solidFill>
            <a:ln w="25400" cap="flat" cmpd="sng" algn="ctr">
              <a:solidFill>
                <a:sysClr val="window" lastClr="FFFFFF"/>
              </a:solidFill>
              <a:prstDash val="solid"/>
            </a:ln>
            <a:effectLst/>
          </p:spPr>
          <p:txBody>
            <a:bodyPr rtlCol="0" anchor="ctr"/>
            <a:lstStyle/>
            <a:p>
              <a:pPr algn="ctr">
                <a:defRPr/>
              </a:pPr>
              <a:endParaRPr lang="zh-CN" altLang="en-US" kern="0">
                <a:solidFill>
                  <a:prstClr val="white"/>
                </a:solidFill>
                <a:cs typeface="+mn-ea"/>
                <a:sym typeface="+mn-lt"/>
              </a:endParaRPr>
            </a:p>
          </p:txBody>
        </p:sp>
        <p:sp>
          <p:nvSpPr>
            <p:cNvPr id="23" name="3"/>
            <p:cNvSpPr/>
            <p:nvPr/>
          </p:nvSpPr>
          <p:spPr>
            <a:xfrm>
              <a:off x="343738" y="170570"/>
              <a:ext cx="302255" cy="302255"/>
            </a:xfrm>
            <a:prstGeom prst="ellipse">
              <a:avLst/>
            </a:prstGeom>
            <a:solidFill>
              <a:srgbClr val="004C41"/>
            </a:solidFill>
            <a:ln w="25400" cap="flat" cmpd="sng" algn="ctr">
              <a:noFill/>
              <a:prstDash val="solid"/>
            </a:ln>
            <a:effectLst/>
          </p:spPr>
          <p:txBody>
            <a:bodyPr rtlCol="0" anchor="ctr"/>
            <a:lstStyle/>
            <a:p>
              <a:pPr algn="ctr">
                <a:defRPr/>
              </a:pPr>
              <a:endParaRPr lang="zh-CN" altLang="en-US" kern="0">
                <a:solidFill>
                  <a:prstClr val="white"/>
                </a:solidFill>
                <a:cs typeface="+mn-ea"/>
                <a:sym typeface="+mn-lt"/>
              </a:endParaRPr>
            </a:p>
          </p:txBody>
        </p:sp>
        <p:sp>
          <p:nvSpPr>
            <p:cNvPr id="24" name="同心圆 23"/>
            <p:cNvSpPr/>
            <p:nvPr/>
          </p:nvSpPr>
          <p:spPr>
            <a:xfrm>
              <a:off x="267453" y="94709"/>
              <a:ext cx="454824" cy="454824"/>
            </a:xfrm>
            <a:prstGeom prst="donut">
              <a:avLst>
                <a:gd name="adj" fmla="val 8567"/>
              </a:avLst>
            </a:prstGeom>
            <a:solidFill>
              <a:sysClr val="window" lastClr="FFFFFF"/>
            </a:solidFill>
            <a:ln w="9525" cap="flat" cmpd="sng" algn="ctr">
              <a:noFill/>
              <a:prstDash val="solid"/>
            </a:ln>
            <a:effectLst>
              <a:outerShdw blurRad="63500" sx="102000" sy="102000" algn="ctr" rotWithShape="0">
                <a:prstClr val="black">
                  <a:alpha val="20000"/>
                </a:prstClr>
              </a:outerShdw>
            </a:effectLst>
          </p:spPr>
          <p:txBody>
            <a:bodyPr rtlCol="0" anchor="ctr"/>
            <a:lstStyle/>
            <a:p>
              <a:pPr algn="ctr">
                <a:defRPr/>
              </a:pPr>
              <a:endParaRPr lang="zh-CN" altLang="en-US" sz="1200" kern="0">
                <a:solidFill>
                  <a:prstClr val="black"/>
                </a:solidFill>
                <a:cs typeface="+mn-ea"/>
                <a:sym typeface="+mn-lt"/>
              </a:endParaRPr>
            </a:p>
          </p:txBody>
        </p:sp>
        <p:sp>
          <p:nvSpPr>
            <p:cNvPr id="25" name="TextBox 9"/>
            <p:cNvSpPr txBox="1"/>
            <p:nvPr/>
          </p:nvSpPr>
          <p:spPr>
            <a:xfrm>
              <a:off x="370583" y="176347"/>
              <a:ext cx="248564" cy="272497"/>
            </a:xfrm>
            <a:prstGeom prst="rect">
              <a:avLst/>
            </a:prstGeom>
            <a:noFill/>
          </p:spPr>
          <p:txBody>
            <a:bodyPr wrap="none" rtlCol="0">
              <a:spAutoFit/>
            </a:bodyPr>
            <a:lstStyle/>
            <a:p>
              <a:pPr>
                <a:defRPr/>
              </a:pPr>
              <a:r>
                <a:rPr lang="en-US" altLang="zh-CN" sz="9600" kern="0" dirty="0">
                  <a:solidFill>
                    <a:prstClr val="white"/>
                  </a:solidFill>
                  <a:latin typeface="Times New Roman" panose="02020503050405090304" pitchFamily="18" charset="0"/>
                  <a:cs typeface="+mn-ea"/>
                  <a:sym typeface="+mn-lt"/>
                </a:rPr>
                <a:t>01</a:t>
              </a:r>
              <a:endParaRPr lang="zh-CN" altLang="en-US" sz="9600" kern="0" dirty="0">
                <a:solidFill>
                  <a:prstClr val="white"/>
                </a:solidFill>
                <a:latin typeface="Times New Roman" panose="02020503050405090304" pitchFamily="18" charset="0"/>
                <a:cs typeface="+mn-ea"/>
                <a:sym typeface="+mn-lt"/>
              </a:endParaRPr>
            </a:p>
          </p:txBody>
        </p:sp>
      </p:grpSp>
      <p:sp>
        <p:nvSpPr>
          <p:cNvPr id="2" name="标题 1"/>
          <p:cNvSpPr>
            <a:spLocks noGrp="1"/>
          </p:cNvSpPr>
          <p:nvPr>
            <p:ph type="title"/>
          </p:nvPr>
        </p:nvSpPr>
        <p:spPr/>
        <p:txBody>
          <a:bodyPr/>
          <a:lstStyle/>
          <a:p>
            <a:endParaRPr lang="zh-CN" altLang="en-US"/>
          </a:p>
        </p:txBody>
      </p:sp>
      <p:sp>
        <p:nvSpPr>
          <p:cNvPr id="3" name="日期占位符 2"/>
          <p:cNvSpPr>
            <a:spLocks noGrp="1"/>
          </p:cNvSpPr>
          <p:nvPr>
            <p:ph type="dt" sz="half" idx="10"/>
          </p:nvPr>
        </p:nvSpPr>
        <p:spPr/>
        <p:txBody>
          <a:bodyPr/>
          <a:lstStyle/>
          <a:p>
            <a:fld id="{BA4CC60F-66DB-46D8-AD06-0109054C8366}" type="datetime1">
              <a:rPr lang="zh-CN" altLang="en-US" smtClean="0"/>
            </a:fld>
            <a:endParaRPr lang="zh-CN" altLang="en-US"/>
          </a:p>
        </p:txBody>
      </p:sp>
      <p:sp>
        <p:nvSpPr>
          <p:cNvPr id="4" name="灯片编号占位符 3"/>
          <p:cNvSpPr>
            <a:spLocks noGrp="1"/>
          </p:cNvSpPr>
          <p:nvPr>
            <p:ph type="sldNum" sz="quarter" idx="12"/>
          </p:nvPr>
        </p:nvSpPr>
        <p:spPr/>
        <p:txBody>
          <a:bodyPr/>
          <a:lstStyle/>
          <a:p>
            <a:fld id="{82952373-7980-4DA7-9ADE-54D716DB38BB}" type="slidenum">
              <a:rPr lang="zh-CN" altLang="en-US" smtClean="0"/>
            </a:fld>
            <a:endParaRPr lang="zh-CN" altLang="en-US"/>
          </a:p>
        </p:txBody>
      </p:sp>
    </p:spTree>
  </p:cSld>
  <p:clrMapOvr>
    <a:masterClrMapping/>
  </p:clrMapOvr>
  <mc:AlternateContent xmlns:mc="http://schemas.openxmlformats.org/markup-compatibility/2006">
    <mc:Choice xmlns:p14="http://schemas.microsoft.com/office/powerpoint/2010/main" Requires="p14">
      <p:transition p14:dur="0"/>
    </mc:Choice>
    <mc:Fallback>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nodeType="afterEffect">
                                  <p:stCondLst>
                                    <p:cond delay="0"/>
                                  </p:stCondLst>
                                  <p:childTnLst>
                                    <p:set>
                                      <p:cBhvr>
                                        <p:cTn id="6" dur="1" fill="hold">
                                          <p:stCondLst>
                                            <p:cond delay="0"/>
                                          </p:stCondLst>
                                        </p:cTn>
                                        <p:tgtEl>
                                          <p:spTgt spid="19"/>
                                        </p:tgtEl>
                                        <p:attrNameLst>
                                          <p:attrName>style.visibility</p:attrName>
                                        </p:attrNameLst>
                                      </p:cBhvr>
                                      <p:to>
                                        <p:strVal val="visible"/>
                                      </p:to>
                                    </p:set>
                                    <p:animEffect transition="in" filter="fade">
                                      <p:cBhvr>
                                        <p:cTn id="7" dur="500"/>
                                        <p:tgtEl>
                                          <p:spTgt spid="19"/>
                                        </p:tgtEl>
                                      </p:cBhvr>
                                    </p:animEffect>
                                  </p:childTnLst>
                                </p:cTn>
                              </p:par>
                            </p:childTnLst>
                          </p:cTn>
                        </p:par>
                        <p:par>
                          <p:cTn id="8" fill="hold">
                            <p:stCondLst>
                              <p:cond delay="500"/>
                            </p:stCondLst>
                            <p:childTnLst>
                              <p:par>
                                <p:cTn id="9" presetID="22" presetClass="entr" presetSubtype="8" fill="hold" nodeType="afterEffect">
                                  <p:stCondLst>
                                    <p:cond delay="0"/>
                                  </p:stCondLst>
                                  <p:childTnLst>
                                    <p:set>
                                      <p:cBhvr>
                                        <p:cTn id="10" dur="1" fill="hold">
                                          <p:stCondLst>
                                            <p:cond delay="0"/>
                                          </p:stCondLst>
                                        </p:cTn>
                                        <p:tgtEl>
                                          <p:spTgt spid="15"/>
                                        </p:tgtEl>
                                        <p:attrNameLst>
                                          <p:attrName>style.visibility</p:attrName>
                                        </p:attrNameLst>
                                      </p:cBhvr>
                                      <p:to>
                                        <p:strVal val="visible"/>
                                      </p:to>
                                    </p:set>
                                    <p:animEffect transition="in" filter="wipe(left)">
                                      <p:cBhvr>
                                        <p:cTn id="11" dur="1000"/>
                                        <p:tgtEl>
                                          <p:spTgt spid="15"/>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endParaRPr lang="zh-CN" altLang="en-US"/>
          </a:p>
        </p:txBody>
      </p:sp>
      <p:sp>
        <p:nvSpPr>
          <p:cNvPr id="3" name="日期占位符 2"/>
          <p:cNvSpPr>
            <a:spLocks noGrp="1"/>
          </p:cNvSpPr>
          <p:nvPr>
            <p:ph type="dt" sz="half" idx="10"/>
          </p:nvPr>
        </p:nvSpPr>
        <p:spPr/>
        <p:txBody>
          <a:bodyPr/>
          <a:lstStyle/>
          <a:p>
            <a:fld id="{59EA5E4C-3639-4B8B-822E-E7371B831F99}" type="datetime1">
              <a:rPr lang="zh-CN" altLang="en-US" smtClean="0"/>
            </a:fld>
            <a:endParaRPr lang="zh-CN" altLang="en-US"/>
          </a:p>
        </p:txBody>
      </p:sp>
      <p:sp>
        <p:nvSpPr>
          <p:cNvPr id="4" name="灯片编号占位符 3"/>
          <p:cNvSpPr>
            <a:spLocks noGrp="1"/>
          </p:cNvSpPr>
          <p:nvPr>
            <p:ph type="sldNum" sz="quarter" idx="12"/>
          </p:nvPr>
        </p:nvSpPr>
        <p:spPr/>
        <p:txBody>
          <a:bodyPr/>
          <a:lstStyle/>
          <a:p>
            <a:fld id="{82952373-7980-4DA7-9ADE-54D716DB38BB}" type="slidenum">
              <a:rPr lang="zh-CN" altLang="en-US" smtClean="0"/>
            </a:fld>
            <a:endParaRPr lang="zh-CN" altLang="en-US"/>
          </a:p>
        </p:txBody>
      </p:sp>
      <p:sp>
        <p:nvSpPr>
          <p:cNvPr id="5" name="文本框 4"/>
          <p:cNvSpPr txBox="1"/>
          <p:nvPr/>
        </p:nvSpPr>
        <p:spPr>
          <a:xfrm>
            <a:off x="740664" y="1019556"/>
            <a:ext cx="1867819" cy="369332"/>
          </a:xfrm>
          <a:prstGeom prst="rect">
            <a:avLst/>
          </a:prstGeom>
          <a:noFill/>
        </p:spPr>
        <p:txBody>
          <a:bodyPr wrap="none" rtlCol="0">
            <a:spAutoFit/>
          </a:bodyPr>
          <a:lstStyle/>
          <a:p>
            <a:pPr marL="285750" indent="-285750">
              <a:buFont typeface="Wingdings" panose="05000000000000000000" pitchFamily="2" charset="2"/>
              <a:buChar char="n"/>
            </a:pPr>
            <a:r>
              <a:rPr lang="zh-CN" altLang="en-US"/>
              <a:t>什么是语言？</a:t>
            </a:r>
            <a:endParaRPr lang="zh-CN" altLang="en-US"/>
          </a:p>
        </p:txBody>
      </p:sp>
      <p:sp>
        <p:nvSpPr>
          <p:cNvPr id="7" name="文本框 6"/>
          <p:cNvSpPr txBox="1"/>
          <p:nvPr/>
        </p:nvSpPr>
        <p:spPr>
          <a:xfrm>
            <a:off x="905304" y="1519351"/>
            <a:ext cx="7695819" cy="2120068"/>
          </a:xfrm>
          <a:prstGeom prst="rect">
            <a:avLst/>
          </a:prstGeom>
          <a:noFill/>
        </p:spPr>
        <p:txBody>
          <a:bodyPr wrap="square">
            <a:spAutoFit/>
          </a:bodyPr>
          <a:lstStyle/>
          <a:p>
            <a:pPr marL="285750" indent="-285750">
              <a:lnSpc>
                <a:spcPct val="150000"/>
              </a:lnSpc>
              <a:buFont typeface="Wingdings" panose="05000000000000000000" pitchFamily="2" charset="2"/>
              <a:buChar char="ü"/>
            </a:pPr>
            <a:r>
              <a:rPr lang="zh-CN" altLang="en-US" b="1" i="0">
                <a:effectLst/>
                <a:latin typeface="+mn-lt"/>
                <a:ea typeface="+mn-ea"/>
              </a:rPr>
              <a:t>语言</a:t>
            </a:r>
            <a:r>
              <a:rPr lang="zh-CN" altLang="en-US" b="0" i="0">
                <a:effectLst/>
                <a:latin typeface="+mn-lt"/>
                <a:ea typeface="+mn-ea"/>
              </a:rPr>
              <a:t>（</a:t>
            </a:r>
            <a:r>
              <a:rPr lang="en-US" altLang="zh-CN" b="0" i="0">
                <a:effectLst/>
                <a:latin typeface="+mn-lt"/>
                <a:ea typeface="+mn-ea"/>
              </a:rPr>
              <a:t>Language</a:t>
            </a:r>
            <a:r>
              <a:rPr lang="zh-CN" altLang="en-US" b="0" i="0">
                <a:effectLst/>
                <a:latin typeface="+mn-lt"/>
                <a:ea typeface="+mn-ea"/>
              </a:rPr>
              <a:t>）是人类用于交流、表达思想和传递信息的符号系统。</a:t>
            </a:r>
            <a:endParaRPr lang="en-US" altLang="zh-CN" b="0" i="0">
              <a:effectLst/>
              <a:latin typeface="+mn-lt"/>
              <a:ea typeface="+mn-ea"/>
            </a:endParaRPr>
          </a:p>
          <a:p>
            <a:pPr>
              <a:lnSpc>
                <a:spcPct val="150000"/>
              </a:lnSpc>
            </a:pPr>
            <a:r>
              <a:rPr lang="zh-CN" altLang="en-US" b="0" i="0">
                <a:effectLst/>
                <a:latin typeface="+mn-lt"/>
                <a:ea typeface="+mn-ea"/>
              </a:rPr>
              <a:t>它不仅是人类沟通的核心工具，也是文化、思维和社会结构的重要载体。语言可以是口头的（如说话）、书面的（如文字）或非口头的（如手势、表情）。</a:t>
            </a:r>
            <a:endParaRPr lang="en-US" altLang="zh-CN" b="0" i="0">
              <a:effectLst/>
              <a:latin typeface="+mn-lt"/>
              <a:ea typeface="+mn-ea"/>
            </a:endParaRPr>
          </a:p>
          <a:p>
            <a:pPr marL="285750" indent="-285750">
              <a:lnSpc>
                <a:spcPct val="150000"/>
              </a:lnSpc>
              <a:buFont typeface="Wingdings" panose="05000000000000000000" pitchFamily="2" charset="2"/>
              <a:buChar char="ü"/>
            </a:pPr>
            <a:r>
              <a:rPr lang="zh-CN" altLang="en-US" b="0">
                <a:solidFill>
                  <a:srgbClr val="404040"/>
                </a:solidFill>
                <a:latin typeface="+mn-lt"/>
                <a:ea typeface="+mn-ea"/>
              </a:rPr>
              <a:t>全世界有</a:t>
            </a:r>
            <a:r>
              <a:rPr lang="en-US" altLang="zh-CN" b="0">
                <a:solidFill>
                  <a:srgbClr val="404040"/>
                </a:solidFill>
                <a:latin typeface="+mn-lt"/>
                <a:ea typeface="+mn-ea"/>
              </a:rPr>
              <a:t>7000</a:t>
            </a:r>
            <a:r>
              <a:rPr lang="zh-CN" altLang="en-US" b="0">
                <a:solidFill>
                  <a:srgbClr val="404040"/>
                </a:solidFill>
                <a:latin typeface="+mn-lt"/>
                <a:ea typeface="+mn-ea"/>
              </a:rPr>
              <a:t>多种语言</a:t>
            </a:r>
            <a:endParaRPr lang="zh-CN" altLang="en-US">
              <a:latin typeface="+mn-lt"/>
              <a:ea typeface="+mn-ea"/>
            </a:endParaRPr>
          </a:p>
        </p:txBody>
      </p:sp>
    </p:spTree>
  </p:cSld>
  <p:clrMapOvr>
    <a:masterClrMapping/>
  </p:clrMapOvr>
  <mc:AlternateContent xmlns:mc="http://schemas.openxmlformats.org/markup-compatibility/2006">
    <mc:Choice xmlns:p14="http://schemas.microsoft.com/office/powerpoint/2010/main" Requires="p14">
      <p:transition p14:dur="0"/>
    </mc:Choice>
    <mc:Fallback>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grpId="0" nodeType="clickEffect">
                                  <p:stCondLst>
                                    <p:cond delay="0"/>
                                  </p:stCondLst>
                                  <p:childTnLst>
                                    <p:set>
                                      <p:cBhvr>
                                        <p:cTn id="6" dur="1" fill="hold">
                                          <p:stCondLst>
                                            <p:cond delay="0"/>
                                          </p:stCondLst>
                                        </p:cTn>
                                        <p:tgtEl>
                                          <p:spTgt spid="7"/>
                                        </p:tgtEl>
                                        <p:attrNameLst>
                                          <p:attrName>style.visibility</p:attrName>
                                        </p:attrNameLst>
                                      </p:cBhvr>
                                      <p:to>
                                        <p:strVal val="visible"/>
                                      </p:to>
                                    </p:set>
                                    <p:anim calcmode="lin" valueType="num">
                                      <p:cBhvr additive="base">
                                        <p:cTn id="7" dur="500" fill="hold"/>
                                        <p:tgtEl>
                                          <p:spTgt spid="7"/>
                                        </p:tgtEl>
                                        <p:attrNameLst>
                                          <p:attrName>ppt_x</p:attrName>
                                        </p:attrNameLst>
                                      </p:cBhvr>
                                      <p:tavLst>
                                        <p:tav tm="0">
                                          <p:val>
                                            <p:strVal val="#ppt_x"/>
                                          </p:val>
                                        </p:tav>
                                        <p:tav tm="100000">
                                          <p:val>
                                            <p:strVal val="#ppt_x"/>
                                          </p:val>
                                        </p:tav>
                                      </p:tavLst>
                                    </p:anim>
                                    <p:anim calcmode="lin" valueType="num">
                                      <p:cBhvr additive="base">
                                        <p:cTn id="8" dur="500" fill="hold"/>
                                        <p:tgtEl>
                                          <p:spTgt spid="7"/>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7" grpId="0"/>
    </p:bldLst>
  </p:timing>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标题 3"/>
          <p:cNvSpPr>
            <a:spLocks noGrp="1"/>
          </p:cNvSpPr>
          <p:nvPr>
            <p:ph type="title"/>
          </p:nvPr>
        </p:nvSpPr>
        <p:spPr/>
        <p:txBody>
          <a:bodyPr/>
          <a:lstStyle/>
          <a:p>
            <a:r>
              <a:rPr lang="zh-CN" altLang="en-US">
                <a:ea typeface="宋体" pitchFamily="2" charset="-122"/>
              </a:rPr>
              <a:t>自然语言处理</a:t>
            </a:r>
            <a:endParaRPr lang="zh-CN" altLang="en-US">
              <a:ea typeface="宋体" pitchFamily="2" charset="-122"/>
            </a:endParaRPr>
          </a:p>
        </p:txBody>
      </p:sp>
      <p:sp>
        <p:nvSpPr>
          <p:cNvPr id="5" name="TextBox 12"/>
          <p:cNvSpPr txBox="1"/>
          <p:nvPr/>
        </p:nvSpPr>
        <p:spPr>
          <a:xfrm>
            <a:off x="841956" y="933827"/>
            <a:ext cx="8042148" cy="1493999"/>
          </a:xfrm>
          <a:prstGeom prst="rect">
            <a:avLst/>
          </a:prstGeom>
          <a:noFill/>
        </p:spPr>
        <p:txBody>
          <a:bodyPr wrap="square">
            <a:spAutoFit/>
          </a:bodyPr>
          <a:lstStyle/>
          <a:p>
            <a:pPr marL="342900" indent="-342900" algn="just">
              <a:lnSpc>
                <a:spcPct val="130000"/>
              </a:lnSpc>
              <a:buClr>
                <a:srgbClr val="0070C0"/>
              </a:buClr>
              <a:buFont typeface="Wingdings" panose="05000000000000000000" pitchFamily="2" charset="2"/>
              <a:buChar char="n"/>
            </a:pPr>
            <a:r>
              <a:rPr lang="zh-CN" altLang="en-US" b="0" dirty="0">
                <a:latin typeface="Times New Roman" panose="02020503050405090304" pitchFamily="18" charset="0"/>
              </a:rPr>
              <a:t>语言是人类区别于其他动物的本质特性，是人类社会特有的一种现象。</a:t>
            </a:r>
            <a:endParaRPr lang="en-US" altLang="zh-CN" b="0" dirty="0">
              <a:latin typeface="Times New Roman" panose="02020503050405090304" pitchFamily="18" charset="0"/>
            </a:endParaRPr>
          </a:p>
          <a:p>
            <a:pPr marL="357505" indent="-357505">
              <a:lnSpc>
                <a:spcPct val="130000"/>
              </a:lnSpc>
              <a:buClr>
                <a:srgbClr val="0070C0"/>
              </a:buClr>
              <a:buFont typeface="Wingdings" panose="05000000000000000000" pitchFamily="2" charset="2"/>
              <a:buChar char="n"/>
            </a:pPr>
            <a:r>
              <a:rPr lang="zh-CN" altLang="en-US" b="0" dirty="0">
                <a:latin typeface="Times New Roman" panose="02020503050405090304" pitchFamily="18" charset="0"/>
              </a:rPr>
              <a:t>人类逻辑和思维以语言的形式表达</a:t>
            </a:r>
            <a:endParaRPr lang="en-US" altLang="zh-CN" b="0" dirty="0">
              <a:latin typeface="Times New Roman" panose="02020503050405090304" pitchFamily="18" charset="0"/>
            </a:endParaRPr>
          </a:p>
          <a:p>
            <a:pPr marL="357505" indent="-357505">
              <a:lnSpc>
                <a:spcPct val="130000"/>
              </a:lnSpc>
              <a:buClr>
                <a:srgbClr val="0070C0"/>
              </a:buClr>
              <a:buFont typeface="Wingdings" panose="05000000000000000000" pitchFamily="2" charset="2"/>
              <a:buChar char="n"/>
            </a:pPr>
            <a:r>
              <a:rPr lang="zh-CN" altLang="en-US" b="0" dirty="0">
                <a:latin typeface="Times New Roman" panose="02020503050405090304" pitchFamily="18" charset="0"/>
              </a:rPr>
              <a:t>知识以文字的形式记录</a:t>
            </a:r>
            <a:r>
              <a:rPr lang="zh-CN" altLang="en-US" b="0">
                <a:latin typeface="Times New Roman" panose="02020503050405090304" pitchFamily="18" charset="0"/>
              </a:rPr>
              <a:t>和传播</a:t>
            </a:r>
            <a:endParaRPr lang="en-US" altLang="zh-CN" b="0">
              <a:latin typeface="Times New Roman" panose="02020503050405090304" pitchFamily="18" charset="0"/>
            </a:endParaRPr>
          </a:p>
          <a:p>
            <a:pPr marL="357505" indent="-357505">
              <a:lnSpc>
                <a:spcPct val="130000"/>
              </a:lnSpc>
              <a:buClr>
                <a:srgbClr val="0070C0"/>
              </a:buClr>
              <a:buFont typeface="Wingdings" panose="05000000000000000000" pitchFamily="2" charset="2"/>
              <a:buChar char="n"/>
            </a:pPr>
            <a:r>
              <a:rPr lang="zh-CN" altLang="en-US" b="0">
                <a:latin typeface="Times New Roman" panose="02020503050405090304" pitchFamily="18" charset="0"/>
              </a:rPr>
              <a:t>使用语言是人类文明的重要标志，智人之所以能够征服世界就是因为语言</a:t>
            </a:r>
            <a:endParaRPr lang="zh-CN" altLang="en-US" b="0" dirty="0">
              <a:latin typeface="Times New Roman" panose="02020503050405090304" pitchFamily="18" charset="0"/>
            </a:endParaRPr>
          </a:p>
        </p:txBody>
      </p:sp>
      <p:pic>
        <p:nvPicPr>
          <p:cNvPr id="6" name="图片 5"/>
          <p:cNvPicPr>
            <a:picLocks noChangeAspect="1"/>
          </p:cNvPicPr>
          <p:nvPr/>
        </p:nvPicPr>
        <p:blipFill>
          <a:blip r:embed="rId1">
            <a:extLst>
              <a:ext uri="{28A0092B-C50C-407E-A947-70E740481C1C}">
                <a14:useLocalDpi xmlns:a14="http://schemas.microsoft.com/office/drawing/2010/main" val="0"/>
              </a:ext>
            </a:extLst>
          </a:blip>
          <a:stretch>
            <a:fillRect/>
          </a:stretch>
        </p:blipFill>
        <p:spPr>
          <a:xfrm>
            <a:off x="2109073" y="2789112"/>
            <a:ext cx="5418421" cy="1627440"/>
          </a:xfrm>
          <a:prstGeom prst="rect">
            <a:avLst/>
          </a:prstGeom>
        </p:spPr>
      </p:pic>
      <p:sp>
        <p:nvSpPr>
          <p:cNvPr id="2" name="日期占位符 1"/>
          <p:cNvSpPr>
            <a:spLocks noGrp="1"/>
          </p:cNvSpPr>
          <p:nvPr>
            <p:ph type="dt" sz="half" idx="10"/>
          </p:nvPr>
        </p:nvSpPr>
        <p:spPr/>
        <p:txBody>
          <a:bodyPr/>
          <a:lstStyle/>
          <a:p>
            <a:fld id="{AE2FD554-ABA9-480E-989D-4DA72259F48A}" type="datetime1">
              <a:rPr lang="zh-CN" altLang="en-US" smtClean="0"/>
            </a:fld>
            <a:endParaRPr lang="zh-CN" altLang="en-US"/>
          </a:p>
        </p:txBody>
      </p:sp>
      <p:sp>
        <p:nvSpPr>
          <p:cNvPr id="3" name="灯片编号占位符 2"/>
          <p:cNvSpPr>
            <a:spLocks noGrp="1"/>
          </p:cNvSpPr>
          <p:nvPr>
            <p:ph type="sldNum" sz="quarter" idx="12"/>
          </p:nvPr>
        </p:nvSpPr>
        <p:spPr/>
        <p:txBody>
          <a:bodyPr/>
          <a:lstStyle/>
          <a:p>
            <a:fld id="{82952373-7980-4DA7-9ADE-54D716DB38BB}" type="slidenum">
              <a:rPr lang="zh-CN" altLang="en-US" smtClean="0"/>
            </a:fld>
            <a:endParaRPr lang="zh-CN" altLang="en-US"/>
          </a:p>
        </p:txBody>
      </p:sp>
    </p:spTree>
  </p:cSld>
  <p:clrMapOvr>
    <a:masterClrMapping/>
  </p:clrMapOvr>
  <mc:AlternateContent xmlns:mc="http://schemas.openxmlformats.org/markup-compatibility/2006">
    <mc:Choice xmlns:p14="http://schemas.microsoft.com/office/powerpoint/2010/main" Requires="p14">
      <p:transition p14:dur="0"/>
    </mc:Choice>
    <mc:Fallback>
      <p:transition/>
    </mc:Fallback>
  </mc:AlternateContent>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a:ea typeface="宋体" pitchFamily="2" charset="-122"/>
              </a:rPr>
              <a:t>自然语言处理</a:t>
            </a:r>
            <a:endParaRPr lang="zh-CN" altLang="en-US">
              <a:ea typeface="宋体" pitchFamily="2" charset="-122"/>
            </a:endParaRPr>
          </a:p>
        </p:txBody>
      </p:sp>
      <p:sp>
        <p:nvSpPr>
          <p:cNvPr id="4" name="文本框 3"/>
          <p:cNvSpPr txBox="1"/>
          <p:nvPr/>
        </p:nvSpPr>
        <p:spPr>
          <a:xfrm>
            <a:off x="546619" y="1002971"/>
            <a:ext cx="8413189" cy="916918"/>
          </a:xfrm>
          <a:prstGeom prst="rect">
            <a:avLst/>
          </a:prstGeom>
          <a:noFill/>
        </p:spPr>
        <p:txBody>
          <a:bodyPr wrap="square">
            <a:spAutoFit/>
          </a:bodyPr>
          <a:lstStyle/>
          <a:p>
            <a:pPr marL="342900" indent="-342900">
              <a:lnSpc>
                <a:spcPct val="150000"/>
              </a:lnSpc>
              <a:buClr>
                <a:srgbClr val="0070C0"/>
              </a:buClr>
              <a:buFont typeface="Wingdings" panose="05000000000000000000" pitchFamily="2" charset="2"/>
              <a:buChar char="n"/>
            </a:pPr>
            <a:r>
              <a:rPr lang="zh-CN" altLang="en-US" sz="2000" b="0">
                <a:solidFill>
                  <a:srgbClr val="3333FF"/>
                </a:solidFill>
                <a:latin typeface="Times New Roman" panose="02020503050405090304" pitchFamily="18" charset="0"/>
                <a:cs typeface="Times New Roman" panose="02020503050405090304" pitchFamily="18" charset="0"/>
              </a:rPr>
              <a:t>自然语言</a:t>
            </a:r>
            <a:r>
              <a:rPr lang="zh-CN" altLang="en-US" sz="2000" b="0">
                <a:latin typeface="Times New Roman" panose="02020503050405090304" pitchFamily="18" charset="0"/>
                <a:cs typeface="Times New Roman" panose="02020503050405090304" pitchFamily="18" charset="0"/>
              </a:rPr>
              <a:t>：</a:t>
            </a:r>
            <a:r>
              <a:rPr lang="zh-CN" altLang="en-US" b="0">
                <a:latin typeface="Times New Roman" panose="02020503050405090304" pitchFamily="18" charset="0"/>
                <a:cs typeface="Times New Roman" panose="02020503050405090304" pitchFamily="18" charset="0"/>
              </a:rPr>
              <a:t>我们</a:t>
            </a:r>
            <a:r>
              <a:rPr lang="zh-CN" altLang="en-US" b="0">
                <a:solidFill>
                  <a:srgbClr val="FF0000"/>
                </a:solidFill>
                <a:latin typeface="Times New Roman" panose="02020503050405090304" pitchFamily="18" charset="0"/>
                <a:cs typeface="Times New Roman" panose="02020503050405090304" pitchFamily="18" charset="0"/>
              </a:rPr>
              <a:t>日常生活中使用的语言</a:t>
            </a:r>
            <a:r>
              <a:rPr lang="zh-CN" altLang="en-US" b="0">
                <a:latin typeface="Times New Roman" panose="02020503050405090304" pitchFamily="18" charset="0"/>
                <a:cs typeface="Times New Roman" panose="02020503050405090304" pitchFamily="18" charset="0"/>
              </a:rPr>
              <a:t>（文字、语音、手势、信号等）。汉语、日语、韩语、英语、法语等语言都属于此范畴。</a:t>
            </a:r>
            <a:endParaRPr lang="en-US" altLang="zh-CN" b="0">
              <a:latin typeface="Times New Roman" panose="02020503050405090304" pitchFamily="18" charset="0"/>
              <a:cs typeface="Times New Roman" panose="02020503050405090304" pitchFamily="18" charset="0"/>
            </a:endParaRPr>
          </a:p>
        </p:txBody>
      </p:sp>
      <p:sp>
        <p:nvSpPr>
          <p:cNvPr id="3" name="日期占位符 2"/>
          <p:cNvSpPr>
            <a:spLocks noGrp="1"/>
          </p:cNvSpPr>
          <p:nvPr>
            <p:ph type="dt" sz="half" idx="10"/>
          </p:nvPr>
        </p:nvSpPr>
        <p:spPr/>
        <p:txBody>
          <a:bodyPr/>
          <a:lstStyle/>
          <a:p>
            <a:fld id="{FFE37F84-ABE8-4C92-9402-ED5D58DF5C3D}" type="datetime1">
              <a:rPr lang="zh-CN" altLang="en-US" smtClean="0"/>
            </a:fld>
            <a:endParaRPr lang="zh-CN" altLang="en-US"/>
          </a:p>
        </p:txBody>
      </p:sp>
      <p:sp>
        <p:nvSpPr>
          <p:cNvPr id="5" name="灯片编号占位符 4"/>
          <p:cNvSpPr>
            <a:spLocks noGrp="1"/>
          </p:cNvSpPr>
          <p:nvPr>
            <p:ph type="sldNum" sz="quarter" idx="12"/>
          </p:nvPr>
        </p:nvSpPr>
        <p:spPr/>
        <p:txBody>
          <a:bodyPr/>
          <a:lstStyle/>
          <a:p>
            <a:fld id="{82952373-7980-4DA7-9ADE-54D716DB38BB}" type="slidenum">
              <a:rPr lang="zh-CN" altLang="en-US" smtClean="0"/>
            </a:fld>
            <a:endParaRPr lang="zh-CN" altLang="en-US"/>
          </a:p>
        </p:txBody>
      </p:sp>
      <p:sp>
        <p:nvSpPr>
          <p:cNvPr id="7" name="文本框 6"/>
          <p:cNvSpPr txBox="1"/>
          <p:nvPr/>
        </p:nvSpPr>
        <p:spPr>
          <a:xfrm>
            <a:off x="619505" y="2301797"/>
            <a:ext cx="8067295" cy="1332416"/>
          </a:xfrm>
          <a:prstGeom prst="rect">
            <a:avLst/>
          </a:prstGeom>
          <a:noFill/>
        </p:spPr>
        <p:txBody>
          <a:bodyPr wrap="square">
            <a:spAutoFit/>
          </a:bodyPr>
          <a:lstStyle/>
          <a:p>
            <a:pPr marL="342900" indent="-342900">
              <a:lnSpc>
                <a:spcPct val="150000"/>
              </a:lnSpc>
              <a:buClr>
                <a:srgbClr val="0070C0"/>
              </a:buClr>
              <a:buFont typeface="Wingdings" panose="05000000000000000000" pitchFamily="2" charset="2"/>
              <a:buChar char="n"/>
            </a:pPr>
            <a:r>
              <a:rPr lang="zh-CN" altLang="en-US" sz="2000" b="0">
                <a:solidFill>
                  <a:srgbClr val="3333FF"/>
                </a:solidFill>
                <a:latin typeface="Times New Roman" panose="02020503050405090304" pitchFamily="18" charset="0"/>
                <a:cs typeface="Times New Roman" panose="02020503050405090304" pitchFamily="18" charset="0"/>
              </a:rPr>
              <a:t>人造语言</a:t>
            </a:r>
            <a:r>
              <a:rPr lang="zh-CN" altLang="en-US" sz="1800" b="0">
                <a:solidFill>
                  <a:srgbClr val="FF0000"/>
                </a:solidFill>
                <a:latin typeface="Times New Roman" panose="02020503050405090304" pitchFamily="18" charset="0"/>
                <a:cs typeface="Times New Roman" panose="02020503050405090304" pitchFamily="18" charset="0"/>
              </a:rPr>
              <a:t>：由人们专门为某种特定目的而创造的语言称为人工语言、人造语言。</a:t>
            </a:r>
            <a:r>
              <a:rPr lang="zh-CN" altLang="en-US" sz="1800" b="0">
                <a:solidFill>
                  <a:srgbClr val="000000"/>
                </a:solidFill>
                <a:latin typeface="Times New Roman" panose="02020503050405090304" pitchFamily="18" charset="0"/>
                <a:cs typeface="Times New Roman" panose="02020503050405090304" pitchFamily="18" charset="0"/>
              </a:rPr>
              <a:t>比如：程序设计语言（某种意义上，各种其他类型的形式化语言也是一种人工语言）。</a:t>
            </a:r>
            <a:r>
              <a:rPr lang="zh-CN" altLang="en-US" sz="1800" b="0">
                <a:latin typeface="Times New Roman" panose="02020503050405090304" pitchFamily="18" charset="0"/>
                <a:cs typeface="Times New Roman" panose="02020503050405090304" pitchFamily="18" charset="0"/>
              </a:rPr>
              <a:t> </a:t>
            </a:r>
            <a:endParaRPr lang="en-US" altLang="zh-CN" sz="1800" b="0">
              <a:latin typeface="Times New Roman" panose="02020503050405090304" pitchFamily="18" charset="0"/>
              <a:cs typeface="Times New Roman" panose="02020503050405090304" pitchFamily="18" charset="0"/>
            </a:endParaRPr>
          </a:p>
        </p:txBody>
      </p:sp>
    </p:spTree>
  </p:cSld>
  <p:clrMapOvr>
    <a:masterClrMapping/>
  </p:clrMapOvr>
  <mc:AlternateContent xmlns:mc="http://schemas.openxmlformats.org/markup-compatibility/2006">
    <mc:Choice xmlns:p14="http://schemas.microsoft.com/office/powerpoint/2010/main" Requires="p14">
      <p:transition p14:dur="0"/>
    </mc:Choice>
    <mc:Fallback>
      <p:transition/>
    </mc:Fallback>
  </mc:AlternateContent>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标题 2"/>
          <p:cNvSpPr>
            <a:spLocks noGrp="1"/>
          </p:cNvSpPr>
          <p:nvPr>
            <p:ph type="title"/>
          </p:nvPr>
        </p:nvSpPr>
        <p:spPr/>
        <p:txBody>
          <a:bodyPr>
            <a:normAutofit/>
          </a:bodyPr>
          <a:lstStyle/>
          <a:p>
            <a:r>
              <a:rPr lang="zh-CN" altLang="en-US">
                <a:ea typeface="宋体" pitchFamily="2" charset="-122"/>
              </a:rPr>
              <a:t>自然语言处理</a:t>
            </a:r>
            <a:endParaRPr lang="zh-CN" altLang="en-US">
              <a:ea typeface="宋体" pitchFamily="2" charset="-122"/>
            </a:endParaRPr>
          </a:p>
        </p:txBody>
      </p:sp>
      <p:sp>
        <p:nvSpPr>
          <p:cNvPr id="2" name="日期占位符 1"/>
          <p:cNvSpPr>
            <a:spLocks noGrp="1"/>
          </p:cNvSpPr>
          <p:nvPr>
            <p:ph type="dt" sz="half" idx="10"/>
          </p:nvPr>
        </p:nvSpPr>
        <p:spPr/>
        <p:txBody>
          <a:bodyPr/>
          <a:lstStyle/>
          <a:p>
            <a:fld id="{086392B0-5F83-4478-BBB4-6A30CF37442D}" type="datetime1">
              <a:rPr lang="zh-CN" altLang="en-US" smtClean="0"/>
            </a:fld>
            <a:endParaRPr lang="zh-CN" altLang="en-US"/>
          </a:p>
        </p:txBody>
      </p:sp>
      <p:sp>
        <p:nvSpPr>
          <p:cNvPr id="5" name="灯片编号占位符 4"/>
          <p:cNvSpPr>
            <a:spLocks noGrp="1"/>
          </p:cNvSpPr>
          <p:nvPr>
            <p:ph type="sldNum" sz="quarter" idx="12"/>
          </p:nvPr>
        </p:nvSpPr>
        <p:spPr/>
        <p:txBody>
          <a:bodyPr/>
          <a:lstStyle/>
          <a:p>
            <a:fld id="{82952373-7980-4DA7-9ADE-54D716DB38BB}" type="slidenum">
              <a:rPr lang="zh-CN" altLang="en-US" smtClean="0"/>
            </a:fld>
            <a:endParaRPr lang="zh-CN" altLang="en-US"/>
          </a:p>
        </p:txBody>
      </p:sp>
      <p:sp>
        <p:nvSpPr>
          <p:cNvPr id="7" name="历史中，80%以上的信息是以自然语言文本形式（如书籍、传记、碑文、书法等）记载的非结构化数据…"/>
          <p:cNvSpPr txBox="1"/>
          <p:nvPr/>
        </p:nvSpPr>
        <p:spPr>
          <a:xfrm>
            <a:off x="640080" y="1055063"/>
            <a:ext cx="8011302" cy="2964314"/>
          </a:xfrm>
          <a:prstGeom prst="rect">
            <a:avLst/>
          </a:prstGeom>
        </p:spPr>
        <p:txBody>
          <a:bodyPr>
            <a:noAutofit/>
          </a:bodyPr>
          <a:lstStyle>
            <a:lvl1pPr marL="250825" indent="-250825" algn="l" rtl="0" eaLnBrk="1" fontAlgn="base" hangingPunct="1">
              <a:lnSpc>
                <a:spcPct val="130000"/>
              </a:lnSpc>
              <a:spcBef>
                <a:spcPts val="0"/>
              </a:spcBef>
              <a:spcAft>
                <a:spcPct val="0"/>
              </a:spcAft>
              <a:buClr>
                <a:srgbClr val="0070C0"/>
              </a:buClr>
              <a:buFont typeface="Wingdings" panose="05000000000000000000" pitchFamily="2" charset="2"/>
              <a:buChar char="n"/>
              <a:defRPr sz="1800" kern="1200">
                <a:solidFill>
                  <a:schemeClr val="tx1"/>
                </a:solidFill>
                <a:latin typeface="黑体" panose="02010609060101010101" pitchFamily="49" charset="-122"/>
                <a:ea typeface="黑体" panose="02010609060101010101" pitchFamily="49" charset="-122"/>
                <a:cs typeface="Times New Roman" panose="02020503050405090304" pitchFamily="18" charset="0"/>
              </a:defRPr>
            </a:lvl1pPr>
            <a:lvl2pPr marL="403860" indent="-200660" algn="l" rtl="0" eaLnBrk="1" fontAlgn="base" hangingPunct="1">
              <a:lnSpc>
                <a:spcPct val="130000"/>
              </a:lnSpc>
              <a:spcBef>
                <a:spcPts val="0"/>
              </a:spcBef>
              <a:spcAft>
                <a:spcPct val="0"/>
              </a:spcAft>
              <a:buFont typeface="Wingdings" panose="05000000000000000000" pitchFamily="2" charset="2"/>
              <a:buChar char="ü"/>
              <a:defRPr sz="1500" kern="1200">
                <a:solidFill>
                  <a:schemeClr val="tx1"/>
                </a:solidFill>
                <a:latin typeface="Times New Roman" panose="02020503050405090304" pitchFamily="18" charset="0"/>
                <a:ea typeface="楷体" panose="02010609060101010101" pitchFamily="49" charset="-122"/>
                <a:cs typeface="Times New Roman" panose="02020503050405090304" pitchFamily="18" charset="0"/>
              </a:defRPr>
            </a:lvl2pPr>
            <a:lvl3pPr marL="504825" indent="-201930" algn="l" rtl="0" eaLnBrk="1" fontAlgn="base" hangingPunct="1">
              <a:lnSpc>
                <a:spcPct val="130000"/>
              </a:lnSpc>
              <a:spcBef>
                <a:spcPts val="0"/>
              </a:spcBef>
              <a:spcAft>
                <a:spcPct val="0"/>
              </a:spcAft>
              <a:buFont typeface="Wingdings" panose="05000000000000000000" pitchFamily="2" charset="2"/>
              <a:buChar char=""/>
              <a:defRPr sz="1350" kern="1200">
                <a:solidFill>
                  <a:schemeClr val="tx1"/>
                </a:solidFill>
                <a:latin typeface="Times New Roman" panose="02020503050405090304" pitchFamily="18" charset="0"/>
                <a:ea typeface="楷体" panose="02010609060101010101" pitchFamily="49" charset="-122"/>
                <a:cs typeface="Times New Roman" panose="02020503050405090304" pitchFamily="18" charset="0"/>
              </a:defRPr>
            </a:lvl3pPr>
            <a:lvl4pPr marL="900430" indent="-128905" algn="l" rtl="0" eaLnBrk="1" fontAlgn="base" hangingPunct="1">
              <a:spcBef>
                <a:spcPct val="20000"/>
              </a:spcBef>
              <a:spcAft>
                <a:spcPct val="0"/>
              </a:spcAft>
              <a:buFont typeface="Arial" panose="020B0604020202090204" pitchFamily="34" charset="0"/>
              <a:buChar char="–"/>
              <a:defRPr sz="1125" kern="1200">
                <a:solidFill>
                  <a:schemeClr val="tx1"/>
                </a:solidFill>
                <a:latin typeface="Times New Roman" panose="02020503050405090304" pitchFamily="18" charset="0"/>
                <a:ea typeface="+mn-ea"/>
                <a:cs typeface="Times New Roman" panose="02020503050405090304" pitchFamily="18" charset="0"/>
              </a:defRPr>
            </a:lvl4pPr>
            <a:lvl5pPr marL="1157605" indent="-128905" algn="l" rtl="0" eaLnBrk="1" fontAlgn="base" hangingPunct="1">
              <a:spcBef>
                <a:spcPct val="20000"/>
              </a:spcBef>
              <a:spcAft>
                <a:spcPct val="0"/>
              </a:spcAft>
              <a:buFont typeface="Arial" panose="020B0604020202090204" pitchFamily="34" charset="0"/>
              <a:buChar char="»"/>
              <a:defRPr sz="1125" kern="1200">
                <a:solidFill>
                  <a:schemeClr val="tx1"/>
                </a:solidFill>
                <a:latin typeface="Times New Roman" panose="02020503050405090304" pitchFamily="18" charset="0"/>
                <a:ea typeface="+mn-ea"/>
                <a:cs typeface="Times New Roman" panose="02020503050405090304" pitchFamily="18" charset="0"/>
              </a:defRPr>
            </a:lvl5pPr>
            <a:lvl6pPr marL="1414780" indent="-128905" algn="l" defTabSz="514350" rtl="0" eaLnBrk="1" latinLnBrk="0" hangingPunct="1">
              <a:spcBef>
                <a:spcPct val="20000"/>
              </a:spcBef>
              <a:buFont typeface="Arial" panose="020B0604020202090204" pitchFamily="34" charset="0"/>
              <a:buChar char="•"/>
              <a:defRPr sz="1125" kern="1200">
                <a:solidFill>
                  <a:schemeClr val="tx1"/>
                </a:solidFill>
                <a:latin typeface="+mn-lt"/>
                <a:ea typeface="+mn-ea"/>
                <a:cs typeface="+mn-cs"/>
              </a:defRPr>
            </a:lvl6pPr>
            <a:lvl7pPr marL="1671955" indent="-128905" algn="l" defTabSz="514350" rtl="0" eaLnBrk="1" latinLnBrk="0" hangingPunct="1">
              <a:spcBef>
                <a:spcPct val="20000"/>
              </a:spcBef>
              <a:buFont typeface="Arial" panose="020B0604020202090204" pitchFamily="34" charset="0"/>
              <a:buChar char="•"/>
              <a:defRPr sz="1125" kern="1200">
                <a:solidFill>
                  <a:schemeClr val="tx1"/>
                </a:solidFill>
                <a:latin typeface="+mn-lt"/>
                <a:ea typeface="+mn-ea"/>
                <a:cs typeface="+mn-cs"/>
              </a:defRPr>
            </a:lvl7pPr>
            <a:lvl8pPr marL="1929130" indent="-128905" algn="l" defTabSz="514350" rtl="0" eaLnBrk="1" latinLnBrk="0" hangingPunct="1">
              <a:spcBef>
                <a:spcPct val="20000"/>
              </a:spcBef>
              <a:buFont typeface="Arial" panose="020B0604020202090204" pitchFamily="34" charset="0"/>
              <a:buChar char="•"/>
              <a:defRPr sz="1125" kern="1200">
                <a:solidFill>
                  <a:schemeClr val="tx1"/>
                </a:solidFill>
                <a:latin typeface="+mn-lt"/>
                <a:ea typeface="+mn-ea"/>
                <a:cs typeface="+mn-cs"/>
              </a:defRPr>
            </a:lvl8pPr>
            <a:lvl9pPr marL="2186305" indent="-128905" algn="l" defTabSz="514350" rtl="0" eaLnBrk="1" latinLnBrk="0" hangingPunct="1">
              <a:spcBef>
                <a:spcPct val="20000"/>
              </a:spcBef>
              <a:buFont typeface="Arial" panose="020B0604020202090204" pitchFamily="34" charset="0"/>
              <a:buChar char="•"/>
              <a:defRPr sz="1125" kern="1200">
                <a:solidFill>
                  <a:schemeClr val="tx1"/>
                </a:solidFill>
                <a:latin typeface="+mn-lt"/>
                <a:ea typeface="+mn-ea"/>
                <a:cs typeface="+mn-cs"/>
              </a:defRPr>
            </a:lvl9pPr>
          </a:lstStyle>
          <a:p>
            <a:pPr>
              <a:lnSpc>
                <a:spcPct val="150000"/>
              </a:lnSpc>
            </a:pPr>
            <a:r>
              <a:rPr lang="zh-CN" altLang="en-US" b="0">
                <a:solidFill>
                  <a:srgbClr val="FF2600"/>
                </a:solidFill>
                <a:latin typeface="+mn-lt"/>
                <a:ea typeface="+mn-ea"/>
                <a:cs typeface="Arial" panose="020B0604020202090204" pitchFamily="34" charset="0"/>
              </a:rPr>
              <a:t>历史中</a:t>
            </a:r>
            <a:r>
              <a:rPr lang="zh-CN" altLang="en-US" b="0">
                <a:latin typeface="+mn-lt"/>
                <a:ea typeface="+mn-ea"/>
                <a:cs typeface="Arial" panose="020B0604020202090204" pitchFamily="34" charset="0"/>
              </a:rPr>
              <a:t>，</a:t>
            </a:r>
            <a:r>
              <a:rPr lang="en-US" altLang="zh-CN" b="0">
                <a:latin typeface="+mn-lt"/>
                <a:ea typeface="+mn-ea"/>
                <a:cs typeface="Arial" panose="020B0604020202090204" pitchFamily="34" charset="0"/>
              </a:rPr>
              <a:t>80%</a:t>
            </a:r>
            <a:r>
              <a:rPr lang="zh-CN" altLang="en-US" b="0">
                <a:latin typeface="+mn-lt"/>
                <a:ea typeface="+mn-ea"/>
                <a:cs typeface="Arial" panose="020B0604020202090204" pitchFamily="34" charset="0"/>
              </a:rPr>
              <a:t>以上的信息是以自然语言文本形式（如书籍、传记、碑文、书法等）记载的非结构化数据</a:t>
            </a:r>
            <a:endParaRPr lang="zh-CN" altLang="en-US" b="0">
              <a:latin typeface="+mn-lt"/>
              <a:ea typeface="+mn-ea"/>
              <a:cs typeface="Arial" panose="020B0604020202090204" pitchFamily="34" charset="0"/>
            </a:endParaRPr>
          </a:p>
          <a:p>
            <a:pPr lvl="1">
              <a:lnSpc>
                <a:spcPct val="150000"/>
              </a:lnSpc>
            </a:pPr>
            <a:r>
              <a:rPr lang="zh-CN" altLang="en-US" sz="1800" b="0">
                <a:latin typeface="+mn-lt"/>
                <a:ea typeface="+mn-ea"/>
                <a:cs typeface="Arial" panose="020B0604020202090204" pitchFamily="34" charset="0"/>
              </a:rPr>
              <a:t>图书馆</a:t>
            </a:r>
            <a:r>
              <a:rPr lang="en-US" altLang="zh-CN" sz="1800" b="0">
                <a:latin typeface="+mn-lt"/>
                <a:ea typeface="+mn-ea"/>
                <a:cs typeface="Arial" panose="020B0604020202090204" pitchFamily="34" charset="0"/>
              </a:rPr>
              <a:t>/</a:t>
            </a:r>
            <a:r>
              <a:rPr lang="zh-CN" altLang="en-US" sz="1800" b="0">
                <a:latin typeface="+mn-lt"/>
                <a:ea typeface="+mn-ea"/>
                <a:cs typeface="Arial" panose="020B0604020202090204" pitchFamily="34" charset="0"/>
              </a:rPr>
              <a:t>博物馆档案馆</a:t>
            </a:r>
            <a:endParaRPr lang="zh-CN" altLang="en-US" sz="1800" b="0">
              <a:latin typeface="+mn-lt"/>
              <a:ea typeface="+mn-ea"/>
              <a:cs typeface="Arial" panose="020B0604020202090204" pitchFamily="34" charset="0"/>
            </a:endParaRPr>
          </a:p>
          <a:p>
            <a:pPr>
              <a:lnSpc>
                <a:spcPct val="150000"/>
              </a:lnSpc>
            </a:pPr>
            <a:r>
              <a:rPr lang="zh-CN" altLang="en-US" b="0">
                <a:solidFill>
                  <a:srgbClr val="FF2600"/>
                </a:solidFill>
                <a:latin typeface="+mn-lt"/>
                <a:ea typeface="+mn-ea"/>
                <a:cs typeface="Arial" panose="020B0604020202090204" pitchFamily="34" charset="0"/>
              </a:rPr>
              <a:t>当代</a:t>
            </a:r>
            <a:r>
              <a:rPr lang="zh-CN" altLang="en-US" b="0">
                <a:latin typeface="+mn-lt"/>
                <a:ea typeface="+mn-ea"/>
                <a:cs typeface="Arial" panose="020B0604020202090204" pitchFamily="34" charset="0"/>
              </a:rPr>
              <a:t>，电子化的文本数量不断增长</a:t>
            </a:r>
            <a:endParaRPr lang="zh-CN" altLang="en-US" b="0">
              <a:latin typeface="+mn-lt"/>
              <a:ea typeface="+mn-ea"/>
              <a:cs typeface="Arial" panose="020B0604020202090204" pitchFamily="34" charset="0"/>
            </a:endParaRPr>
          </a:p>
          <a:p>
            <a:pPr lvl="1">
              <a:lnSpc>
                <a:spcPct val="150000"/>
              </a:lnSpc>
            </a:pPr>
            <a:r>
              <a:rPr lang="en-US" altLang="zh-CN" sz="1800" b="0">
                <a:latin typeface="+mn-lt"/>
                <a:ea typeface="+mn-ea"/>
                <a:cs typeface="Arial" panose="020B0604020202090204" pitchFamily="34" charset="0"/>
              </a:rPr>
              <a:t>Web</a:t>
            </a:r>
            <a:r>
              <a:rPr lang="zh-CN" altLang="en-US" sz="1800" b="0">
                <a:latin typeface="+mn-lt"/>
                <a:ea typeface="+mn-ea"/>
                <a:cs typeface="Arial" panose="020B0604020202090204" pitchFamily="34" charset="0"/>
              </a:rPr>
              <a:t>中</a:t>
            </a:r>
            <a:r>
              <a:rPr lang="en-US" altLang="zh-CN" sz="1800" b="0">
                <a:latin typeface="+mn-lt"/>
                <a:ea typeface="+mn-ea"/>
                <a:cs typeface="Arial" panose="020B0604020202090204" pitchFamily="34" charset="0"/>
              </a:rPr>
              <a:t>99%</a:t>
            </a:r>
            <a:r>
              <a:rPr lang="zh-CN" altLang="en-US" sz="1800" b="0">
                <a:latin typeface="+mn-lt"/>
                <a:ea typeface="+mn-ea"/>
                <a:cs typeface="Arial" panose="020B0604020202090204" pitchFamily="34" charset="0"/>
              </a:rPr>
              <a:t>的可分析信息是以文本形式存在</a:t>
            </a:r>
            <a:endParaRPr lang="zh-CN" altLang="en-US" sz="1800" b="0">
              <a:latin typeface="+mn-lt"/>
              <a:ea typeface="+mn-ea"/>
              <a:cs typeface="Arial" panose="020B0604020202090204" pitchFamily="34" charset="0"/>
            </a:endParaRPr>
          </a:p>
          <a:p>
            <a:pPr lvl="1">
              <a:lnSpc>
                <a:spcPct val="150000"/>
              </a:lnSpc>
            </a:pPr>
            <a:r>
              <a:rPr lang="en-US" altLang="zh-CN" sz="1800" b="0">
                <a:latin typeface="+mn-lt"/>
                <a:ea typeface="+mn-ea"/>
                <a:cs typeface="Arial" panose="020B0604020202090204" pitchFamily="34" charset="0"/>
              </a:rPr>
              <a:t>Web</a:t>
            </a:r>
            <a:r>
              <a:rPr lang="zh-CN" altLang="en-US" sz="1800" b="0">
                <a:latin typeface="+mn-lt"/>
                <a:ea typeface="+mn-ea"/>
                <a:cs typeface="Arial" panose="020B0604020202090204" pitchFamily="34" charset="0"/>
              </a:rPr>
              <a:t>网页总量超过</a:t>
            </a:r>
            <a:r>
              <a:rPr lang="en-US" altLang="zh-CN" sz="1800" b="0">
                <a:latin typeface="+mn-lt"/>
                <a:ea typeface="+mn-ea"/>
                <a:cs typeface="Arial" panose="020B0604020202090204" pitchFamily="34" charset="0"/>
              </a:rPr>
              <a:t>100</a:t>
            </a:r>
            <a:r>
              <a:rPr lang="zh-CN" altLang="en-US" sz="1800" b="0">
                <a:latin typeface="+mn-lt"/>
                <a:ea typeface="+mn-ea"/>
                <a:cs typeface="Arial" panose="020B0604020202090204" pitchFamily="34" charset="0"/>
              </a:rPr>
              <a:t>亿，每天新增网页数千万</a:t>
            </a:r>
            <a:endParaRPr lang="zh-CN" altLang="en-US" sz="1800" b="0">
              <a:latin typeface="+mn-lt"/>
              <a:ea typeface="+mn-ea"/>
              <a:cs typeface="Arial" panose="020B0604020202090204" pitchFamily="34" charset="0"/>
            </a:endParaRPr>
          </a:p>
          <a:p>
            <a:pPr lvl="1">
              <a:lnSpc>
                <a:spcPct val="150000"/>
              </a:lnSpc>
            </a:pPr>
            <a:r>
              <a:rPr lang="zh-CN" altLang="en-US" sz="1800" b="0">
                <a:latin typeface="+mn-lt"/>
                <a:ea typeface="+mn-ea"/>
                <a:cs typeface="Arial" panose="020B0604020202090204" pitchFamily="34" charset="0"/>
              </a:rPr>
              <a:t>数字化办公</a:t>
            </a:r>
            <a:endParaRPr lang="zh-CN" altLang="en-US" sz="1800" b="0" dirty="0">
              <a:latin typeface="+mn-lt"/>
              <a:ea typeface="+mn-ea"/>
              <a:cs typeface="Arial" panose="020B0604020202090204" pitchFamily="34" charset="0"/>
            </a:endParaRPr>
          </a:p>
        </p:txBody>
      </p:sp>
    </p:spTree>
  </p:cSld>
  <p:clrMapOvr>
    <a:masterClrMapping/>
  </p:clrMapOvr>
  <mc:AlternateContent xmlns:mc="http://schemas.openxmlformats.org/markup-compatibility/2006">
    <mc:Choice xmlns:p14="http://schemas.microsoft.com/office/powerpoint/2010/main" Requires="p14">
      <p:transition p14:dur="0"/>
    </mc:Choice>
    <mc:Fallback>
      <p:transition/>
    </mc:Fallback>
  </mc:AlternateContent>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 name="文本框 8"/>
          <p:cNvSpPr txBox="1"/>
          <p:nvPr/>
        </p:nvSpPr>
        <p:spPr>
          <a:xfrm>
            <a:off x="362427" y="868230"/>
            <a:ext cx="8651208" cy="1289905"/>
          </a:xfrm>
          <a:prstGeom prst="rect">
            <a:avLst/>
          </a:prstGeom>
          <a:noFill/>
        </p:spPr>
        <p:txBody>
          <a:bodyPr wrap="square">
            <a:spAutoFit/>
          </a:bodyPr>
          <a:lstStyle/>
          <a:p>
            <a:pPr algn="just">
              <a:lnSpc>
                <a:spcPct val="150000"/>
              </a:lnSpc>
            </a:pPr>
            <a:r>
              <a:rPr lang="zh-CN" altLang="en-US" b="0">
                <a:latin typeface="Times New Roman" panose="02020503050405090304" pitchFamily="18" charset="0"/>
              </a:rPr>
              <a:t>       自然语言处理</a:t>
            </a:r>
            <a:r>
              <a:rPr lang="en-US" altLang="zh-CN" b="0">
                <a:solidFill>
                  <a:srgbClr val="FF0000"/>
                </a:solidFill>
                <a:latin typeface="Times New Roman" panose="02020503050405090304" pitchFamily="18" charset="0"/>
              </a:rPr>
              <a:t>(</a:t>
            </a:r>
            <a:r>
              <a:rPr lang="zh-CN" altLang="en-US" b="0">
                <a:solidFill>
                  <a:srgbClr val="FF0000"/>
                </a:solidFill>
                <a:latin typeface="Times New Roman" panose="02020503050405090304" pitchFamily="18" charset="0"/>
              </a:rPr>
              <a:t>Natural Language Processing</a:t>
            </a:r>
            <a:r>
              <a:rPr lang="en-US" altLang="zh-CN" b="0">
                <a:solidFill>
                  <a:srgbClr val="FF0000"/>
                </a:solidFill>
                <a:latin typeface="Times New Roman" panose="02020503050405090304" pitchFamily="18" charset="0"/>
              </a:rPr>
              <a:t>)</a:t>
            </a:r>
            <a:r>
              <a:rPr lang="zh-CN" altLang="en-US" b="0">
                <a:latin typeface="Times New Roman" panose="02020503050405090304" pitchFamily="18" charset="0"/>
              </a:rPr>
              <a:t>是人工智能的重要分支，有“人工智能皇冠上的明珠”的美誉，是</a:t>
            </a:r>
            <a:r>
              <a:rPr lang="zh-CN" altLang="en-US" b="0" dirty="0">
                <a:latin typeface="Times New Roman" panose="02020503050405090304" pitchFamily="18" charset="0"/>
              </a:rPr>
              <a:t>计算机科学和语言学交叉领域下的分支学科。该领域主要探讨如何处理及</a:t>
            </a:r>
            <a:r>
              <a:rPr lang="zh-CN" altLang="en-US" b="0">
                <a:latin typeface="Times New Roman" panose="02020503050405090304" pitchFamily="18" charset="0"/>
              </a:rPr>
              <a:t>运用</a:t>
            </a:r>
            <a:r>
              <a:rPr lang="zh-CN" altLang="en-US" b="0">
                <a:solidFill>
                  <a:srgbClr val="0070C0"/>
                </a:solidFill>
                <a:latin typeface="Times New Roman" panose="02020503050405090304" pitchFamily="18" charset="0"/>
              </a:rPr>
              <a:t>自然语言。</a:t>
            </a:r>
            <a:endParaRPr lang="en-US" altLang="zh-CN" b="0" dirty="0">
              <a:latin typeface="Times New Roman" panose="02020503050405090304" pitchFamily="18" charset="0"/>
            </a:endParaRPr>
          </a:p>
        </p:txBody>
      </p:sp>
      <p:pic>
        <p:nvPicPr>
          <p:cNvPr id="6" name="图片 5"/>
          <p:cNvPicPr>
            <a:picLocks noChangeAspect="1"/>
          </p:cNvPicPr>
          <p:nvPr/>
        </p:nvPicPr>
        <p:blipFill>
          <a:blip r:embed="rId1">
            <a:extLst>
              <a:ext uri="{28A0092B-C50C-407E-A947-70E740481C1C}">
                <a14:useLocalDpi xmlns:a14="http://schemas.microsoft.com/office/drawing/2010/main" val="0"/>
              </a:ext>
            </a:extLst>
          </a:blip>
          <a:stretch>
            <a:fillRect/>
          </a:stretch>
        </p:blipFill>
        <p:spPr>
          <a:xfrm>
            <a:off x="2645530" y="2314315"/>
            <a:ext cx="3735433" cy="2282765"/>
          </a:xfrm>
          <a:prstGeom prst="rect">
            <a:avLst/>
          </a:prstGeom>
        </p:spPr>
      </p:pic>
      <p:sp>
        <p:nvSpPr>
          <p:cNvPr id="7" name="标题 6"/>
          <p:cNvSpPr>
            <a:spLocks noGrp="1"/>
          </p:cNvSpPr>
          <p:nvPr>
            <p:ph type="title"/>
          </p:nvPr>
        </p:nvSpPr>
        <p:spPr/>
        <p:txBody>
          <a:bodyPr>
            <a:normAutofit/>
          </a:bodyPr>
          <a:lstStyle/>
          <a:p>
            <a:r>
              <a:rPr lang="zh-CN" altLang="en-US">
                <a:ea typeface="宋体" pitchFamily="2" charset="-122"/>
              </a:rPr>
              <a:t>自然语言处理</a:t>
            </a:r>
            <a:endParaRPr lang="zh-CN" altLang="en-US">
              <a:ea typeface="宋体" pitchFamily="2" charset="-122"/>
            </a:endParaRPr>
          </a:p>
        </p:txBody>
      </p:sp>
      <p:sp>
        <p:nvSpPr>
          <p:cNvPr id="2" name="日期占位符 1"/>
          <p:cNvSpPr>
            <a:spLocks noGrp="1"/>
          </p:cNvSpPr>
          <p:nvPr>
            <p:ph type="dt" sz="half" idx="10"/>
          </p:nvPr>
        </p:nvSpPr>
        <p:spPr/>
        <p:txBody>
          <a:bodyPr/>
          <a:lstStyle/>
          <a:p>
            <a:fld id="{F81B483B-E837-409C-973B-798D708C19BB}" type="datetime1">
              <a:rPr lang="zh-CN" altLang="en-US" smtClean="0"/>
            </a:fld>
            <a:endParaRPr lang="zh-CN" altLang="en-US"/>
          </a:p>
        </p:txBody>
      </p:sp>
      <p:sp>
        <p:nvSpPr>
          <p:cNvPr id="3" name="灯片编号占位符 2"/>
          <p:cNvSpPr>
            <a:spLocks noGrp="1"/>
          </p:cNvSpPr>
          <p:nvPr>
            <p:ph type="sldNum" sz="quarter" idx="12"/>
          </p:nvPr>
        </p:nvSpPr>
        <p:spPr/>
        <p:txBody>
          <a:bodyPr/>
          <a:lstStyle/>
          <a:p>
            <a:fld id="{82952373-7980-4DA7-9ADE-54D716DB38BB}" type="slidenum">
              <a:rPr lang="zh-CN" altLang="en-US" smtClean="0"/>
            </a:fld>
            <a:endParaRPr lang="zh-CN" altLang="en-US"/>
          </a:p>
        </p:txBody>
      </p:sp>
    </p:spTree>
  </p:cSld>
  <p:clrMapOvr>
    <a:masterClrMapping/>
  </p:clrMapOvr>
  <mc:AlternateContent xmlns:mc="http://schemas.openxmlformats.org/markup-compatibility/2006">
    <mc:Choice xmlns:p14="http://schemas.microsoft.com/office/powerpoint/2010/main" Requires="p14">
      <p:transition p14:dur="0"/>
    </mc:Choice>
    <mc:Fallback>
      <p:transition/>
    </mc:Fallback>
  </mc:AlternateContent>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a:ea typeface="宋体" pitchFamily="2" charset="-122"/>
              </a:rPr>
              <a:t>自然语言处理</a:t>
            </a:r>
            <a:endParaRPr lang="zh-CN" altLang="en-US">
              <a:ea typeface="宋体" pitchFamily="2" charset="-122"/>
            </a:endParaRPr>
          </a:p>
        </p:txBody>
      </p:sp>
      <p:sp>
        <p:nvSpPr>
          <p:cNvPr id="4" name="文本框 3"/>
          <p:cNvSpPr txBox="1"/>
          <p:nvPr/>
        </p:nvSpPr>
        <p:spPr>
          <a:xfrm>
            <a:off x="457200" y="868657"/>
            <a:ext cx="8516015" cy="3132909"/>
          </a:xfrm>
          <a:prstGeom prst="rect">
            <a:avLst/>
          </a:prstGeom>
          <a:noFill/>
        </p:spPr>
        <p:txBody>
          <a:bodyPr wrap="square">
            <a:spAutoFit/>
          </a:bodyPr>
          <a:lstStyle/>
          <a:p>
            <a:pPr marL="285750" indent="-285750">
              <a:lnSpc>
                <a:spcPct val="150000"/>
              </a:lnSpc>
              <a:buClr>
                <a:srgbClr val="0070C0"/>
              </a:buClr>
              <a:buFont typeface="Wingdings" panose="05000000000000000000" pitchFamily="2" charset="2"/>
              <a:buChar char="n"/>
            </a:pPr>
            <a:r>
              <a:rPr lang="zh-CN" altLang="en-US" sz="2000" b="0">
                <a:solidFill>
                  <a:srgbClr val="FF0000"/>
                </a:solidFill>
                <a:latin typeface="Times New Roman" panose="02020503050405090304" pitchFamily="18" charset="0"/>
              </a:rPr>
              <a:t>自然语言处理，</a:t>
            </a:r>
            <a:r>
              <a:rPr lang="zh-CN" altLang="en-US" sz="2000" b="0">
                <a:latin typeface="Times New Roman" panose="02020503050405090304" pitchFamily="18" charset="0"/>
              </a:rPr>
              <a:t>又称为</a:t>
            </a:r>
            <a:r>
              <a:rPr lang="zh-CN" altLang="en-US" sz="2000" b="0">
                <a:solidFill>
                  <a:srgbClr val="FF0000"/>
                </a:solidFill>
                <a:latin typeface="Times New Roman" panose="02020503050405090304" pitchFamily="18" charset="0"/>
              </a:rPr>
              <a:t>计算语言学</a:t>
            </a:r>
            <a:r>
              <a:rPr lang="zh-CN" altLang="en-US" sz="2000" b="0">
                <a:latin typeface="Times New Roman" panose="02020503050405090304" pitchFamily="18" charset="0"/>
              </a:rPr>
              <a:t>，是对自然语言进行数字化处理的一种技术，是通过语音、文字等形式与计算机进行通信，</a:t>
            </a:r>
            <a:r>
              <a:rPr lang="zh-CN" altLang="en-US" sz="2000" b="0">
                <a:gradFill>
                  <a:gsLst>
                    <a:gs pos="0">
                      <a:srgbClr val="012D86"/>
                    </a:gs>
                    <a:gs pos="100000">
                      <a:srgbClr val="0E2557"/>
                    </a:gs>
                  </a:gsLst>
                  <a:lin scaled="0"/>
                </a:gradFill>
                <a:latin typeface="Times New Roman" panose="02020503050405090304" pitchFamily="18" charset="0"/>
              </a:rPr>
              <a:t>关注计算机和人类（自然）语言之间的交互，特别是关注计算机编程以有效处理大型自然语言语料库</a:t>
            </a:r>
            <a:r>
              <a:rPr lang="zh-CN" altLang="en-US" sz="2000" b="0">
                <a:latin typeface="Times New Roman" panose="02020503050405090304" pitchFamily="18" charset="0"/>
              </a:rPr>
              <a:t>。</a:t>
            </a:r>
            <a:endParaRPr lang="en-US" altLang="zh-CN" sz="2000" b="0">
              <a:latin typeface="Times New Roman" panose="02020503050405090304" pitchFamily="18" charset="0"/>
            </a:endParaRPr>
          </a:p>
          <a:p>
            <a:pPr marL="285750" indent="-285750">
              <a:lnSpc>
                <a:spcPct val="150000"/>
              </a:lnSpc>
              <a:buClr>
                <a:schemeClr val="tx1"/>
              </a:buClr>
              <a:buFont typeface="Wingdings" panose="05000000000000000000" pitchFamily="2" charset="2"/>
              <a:buChar char="ü"/>
            </a:pPr>
            <a:r>
              <a:rPr lang="zh-CN" altLang="en-US" b="0">
                <a:solidFill>
                  <a:srgbClr val="0000FF"/>
                </a:solidFill>
                <a:latin typeface="Times New Roman" panose="02020503050405090304" pitchFamily="18" charset="0"/>
              </a:rPr>
              <a:t>从科学的角度看</a:t>
            </a:r>
            <a:r>
              <a:rPr lang="zh-CN" altLang="en-US" b="0">
                <a:latin typeface="Times New Roman" panose="02020503050405090304" pitchFamily="18" charset="0"/>
              </a:rPr>
              <a:t>，自然语言处理旨在模拟人类语言理解和产生的认知机制。</a:t>
            </a:r>
            <a:endParaRPr lang="en-US" altLang="zh-CN" b="0">
              <a:latin typeface="Times New Roman" panose="02020503050405090304" pitchFamily="18" charset="0"/>
            </a:endParaRPr>
          </a:p>
          <a:p>
            <a:pPr marL="285750" indent="-285750">
              <a:lnSpc>
                <a:spcPct val="150000"/>
              </a:lnSpc>
              <a:buClr>
                <a:schemeClr val="tx1"/>
              </a:buClr>
              <a:buFont typeface="Wingdings" panose="05000000000000000000" pitchFamily="2" charset="2"/>
              <a:buChar char="ü"/>
            </a:pPr>
            <a:r>
              <a:rPr lang="zh-CN" altLang="en-US" b="0">
                <a:solidFill>
                  <a:srgbClr val="0000FF"/>
                </a:solidFill>
                <a:latin typeface="Times New Roman" panose="02020503050405090304" pitchFamily="18" charset="0"/>
              </a:rPr>
              <a:t>从工程的角度看</a:t>
            </a:r>
            <a:r>
              <a:rPr lang="zh-CN" altLang="en-US" b="0">
                <a:latin typeface="Times New Roman" panose="02020503050405090304" pitchFamily="18" charset="0"/>
              </a:rPr>
              <a:t>，自然语言处理以促进计算机与人类语言的交互为目的，重点关注如何开发与语言相关的新颖的应用程序。</a:t>
            </a:r>
            <a:endParaRPr lang="en-US" altLang="zh-CN" b="0">
              <a:latin typeface="Times New Roman" panose="02020503050405090304" pitchFamily="18" charset="0"/>
            </a:endParaRPr>
          </a:p>
        </p:txBody>
      </p:sp>
      <p:sp>
        <p:nvSpPr>
          <p:cNvPr id="3" name="日期占位符 2"/>
          <p:cNvSpPr>
            <a:spLocks noGrp="1"/>
          </p:cNvSpPr>
          <p:nvPr>
            <p:ph type="dt" sz="half" idx="10"/>
          </p:nvPr>
        </p:nvSpPr>
        <p:spPr/>
        <p:txBody>
          <a:bodyPr/>
          <a:lstStyle/>
          <a:p>
            <a:fld id="{B923939B-EA69-458D-8FDB-6A6F052623FD}" type="datetime1">
              <a:rPr lang="zh-CN" altLang="en-US" smtClean="0"/>
            </a:fld>
            <a:endParaRPr lang="zh-CN" altLang="en-US"/>
          </a:p>
        </p:txBody>
      </p:sp>
      <p:sp>
        <p:nvSpPr>
          <p:cNvPr id="5" name="灯片编号占位符 4"/>
          <p:cNvSpPr>
            <a:spLocks noGrp="1"/>
          </p:cNvSpPr>
          <p:nvPr>
            <p:ph type="sldNum" sz="quarter" idx="12"/>
          </p:nvPr>
        </p:nvSpPr>
        <p:spPr/>
        <p:txBody>
          <a:bodyPr/>
          <a:lstStyle/>
          <a:p>
            <a:fld id="{82952373-7980-4DA7-9ADE-54D716DB38BB}" type="slidenum">
              <a:rPr lang="zh-CN" altLang="en-US" smtClean="0"/>
            </a:fld>
            <a:endParaRPr lang="zh-CN" altLang="en-US"/>
          </a:p>
        </p:txBody>
      </p:sp>
    </p:spTree>
  </p:cSld>
  <p:clrMapOvr>
    <a:masterClrMapping/>
  </p:clrMapOvr>
  <mc:AlternateContent xmlns:mc="http://schemas.openxmlformats.org/markup-compatibility/2006">
    <mc:Choice xmlns:p14="http://schemas.microsoft.com/office/powerpoint/2010/main" Requires="p14">
      <p:transition p14:dur="0"/>
    </mc:Choice>
    <mc:Fallback>
      <p:transition/>
    </mc:Fallback>
  </mc:AlternateContent>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a:ea typeface="宋体" pitchFamily="2" charset="-122"/>
              </a:rPr>
              <a:t>自然语言处理</a:t>
            </a:r>
            <a:endParaRPr lang="zh-CN" altLang="en-US"/>
          </a:p>
        </p:txBody>
      </p:sp>
      <p:sp>
        <p:nvSpPr>
          <p:cNvPr id="3" name="日期占位符 2"/>
          <p:cNvSpPr>
            <a:spLocks noGrp="1"/>
          </p:cNvSpPr>
          <p:nvPr>
            <p:ph type="dt" sz="half" idx="10"/>
          </p:nvPr>
        </p:nvSpPr>
        <p:spPr/>
        <p:txBody>
          <a:bodyPr/>
          <a:lstStyle/>
          <a:p>
            <a:fld id="{59EA5E4C-3639-4B8B-822E-E7371B831F99}" type="datetime1">
              <a:rPr lang="zh-CN" altLang="en-US" smtClean="0"/>
            </a:fld>
            <a:endParaRPr lang="zh-CN" altLang="en-US"/>
          </a:p>
        </p:txBody>
      </p:sp>
      <p:sp>
        <p:nvSpPr>
          <p:cNvPr id="4" name="灯片编号占位符 3"/>
          <p:cNvSpPr>
            <a:spLocks noGrp="1"/>
          </p:cNvSpPr>
          <p:nvPr>
            <p:ph type="sldNum" sz="quarter" idx="12"/>
          </p:nvPr>
        </p:nvSpPr>
        <p:spPr/>
        <p:txBody>
          <a:bodyPr/>
          <a:lstStyle/>
          <a:p>
            <a:fld id="{82952373-7980-4DA7-9ADE-54D716DB38BB}" type="slidenum">
              <a:rPr lang="zh-CN" altLang="en-US" smtClean="0"/>
            </a:fld>
            <a:endParaRPr lang="zh-CN" altLang="en-US"/>
          </a:p>
        </p:txBody>
      </p:sp>
      <p:sp>
        <p:nvSpPr>
          <p:cNvPr id="6" name="文本框 5"/>
          <p:cNvSpPr txBox="1"/>
          <p:nvPr/>
        </p:nvSpPr>
        <p:spPr>
          <a:xfrm>
            <a:off x="713232" y="1028499"/>
            <a:ext cx="7717536" cy="1701748"/>
          </a:xfrm>
          <a:prstGeom prst="rect">
            <a:avLst/>
          </a:prstGeom>
          <a:noFill/>
        </p:spPr>
        <p:txBody>
          <a:bodyPr wrap="square">
            <a:spAutoFit/>
          </a:bodyPr>
          <a:lstStyle/>
          <a:p>
            <a:pPr marL="285750" indent="-285750">
              <a:lnSpc>
                <a:spcPct val="150000"/>
              </a:lnSpc>
              <a:buClr>
                <a:srgbClr val="0070C0"/>
              </a:buClr>
              <a:buFont typeface="Wingdings" panose="05000000000000000000" pitchFamily="2" charset="2"/>
              <a:buChar char="n"/>
            </a:pPr>
            <a:r>
              <a:rPr lang="zh-CN" altLang="en-US" sz="1800" b="0">
                <a:latin typeface="Times New Roman" panose="02020503050405090304" pitchFamily="18" charset="0"/>
              </a:rPr>
              <a:t>目标：</a:t>
            </a:r>
            <a:r>
              <a:rPr lang="zh-CN" altLang="en-US" sz="1800" b="0">
                <a:solidFill>
                  <a:srgbClr val="FF0000"/>
                </a:solidFill>
                <a:latin typeface="Times New Roman" panose="02020503050405090304" pitchFamily="18" charset="0"/>
              </a:rPr>
              <a:t>实现人机之间的有效通信，使得计算机既能够理解自然语言的意义，也能以自然语言文本来表达意图与思想</a:t>
            </a:r>
            <a:r>
              <a:rPr lang="zh-CN" altLang="en-US" sz="1800" b="0">
                <a:latin typeface="Times New Roman" panose="02020503050405090304" pitchFamily="18" charset="0"/>
              </a:rPr>
              <a:t>。</a:t>
            </a:r>
            <a:endParaRPr lang="en-US" altLang="zh-CN" sz="1800" b="0">
              <a:latin typeface="Times New Roman" panose="02020503050405090304" pitchFamily="18" charset="0"/>
            </a:endParaRPr>
          </a:p>
          <a:p>
            <a:pPr marL="285750" indent="-285750">
              <a:lnSpc>
                <a:spcPct val="150000"/>
              </a:lnSpc>
              <a:buClr>
                <a:srgbClr val="0070C0"/>
              </a:buClr>
              <a:buFont typeface="Wingdings" panose="05000000000000000000" pitchFamily="2" charset="2"/>
              <a:buChar char="n"/>
            </a:pPr>
            <a:r>
              <a:rPr lang="zh-CN" altLang="en-US" sz="1800" b="0">
                <a:gradFill>
                  <a:gsLst>
                    <a:gs pos="0">
                      <a:srgbClr val="7B32B2"/>
                    </a:gs>
                    <a:gs pos="100000">
                      <a:srgbClr val="401A5D"/>
                    </a:gs>
                  </a:gsLst>
                  <a:lin scaled="0"/>
                </a:gradFill>
                <a:latin typeface="Times New Roman" panose="02020503050405090304" pitchFamily="18" charset="0"/>
              </a:rPr>
              <a:t>挑战：</a:t>
            </a:r>
            <a:r>
              <a:rPr lang="zh-CN" altLang="en-US" sz="1800" b="0">
                <a:latin typeface="Times New Roman" panose="02020503050405090304" pitchFamily="18" charset="0"/>
              </a:rPr>
              <a:t>通常涉及自然语言理解、自然语言生成、语言与机器感知的连接、对话系统或它们的某些组合。</a:t>
            </a:r>
            <a:endParaRPr lang="zh-CN" altLang="en-US" sz="1800" b="0" dirty="0">
              <a:latin typeface="Times New Roman" panose="02020503050405090304" pitchFamily="18" charset="0"/>
            </a:endParaRPr>
          </a:p>
        </p:txBody>
      </p:sp>
    </p:spTree>
  </p:cSld>
  <p:clrMapOvr>
    <a:masterClrMapping/>
  </p:clrMapOvr>
  <mc:AlternateContent xmlns:mc="http://schemas.openxmlformats.org/markup-compatibility/2006">
    <mc:Choice xmlns:p14="http://schemas.microsoft.com/office/powerpoint/2010/main" Requires="p14">
      <p:transition p14:dur="0"/>
    </mc:Choice>
    <mc:Fallback>
      <p:transition/>
    </mc:Fallback>
  </mc:AlternateContent>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矩形 2"/>
          <p:cNvSpPr/>
          <p:nvPr/>
        </p:nvSpPr>
        <p:spPr>
          <a:xfrm>
            <a:off x="571128" y="1061234"/>
            <a:ext cx="8312976" cy="2948243"/>
          </a:xfrm>
          <a:prstGeom prst="rect">
            <a:avLst/>
          </a:prstGeom>
        </p:spPr>
        <p:txBody>
          <a:bodyPr wrap="square">
            <a:spAutoFit/>
          </a:bodyPr>
          <a:lstStyle/>
          <a:p>
            <a:pPr marL="213995" indent="-213995">
              <a:lnSpc>
                <a:spcPct val="150000"/>
              </a:lnSpc>
              <a:buFont typeface="Arial" panose="020B0604020202090204" pitchFamily="34" charset="0"/>
              <a:buChar char="•"/>
            </a:pPr>
            <a:r>
              <a:rPr lang="zh-CN" altLang="en-US" b="0" dirty="0">
                <a:solidFill>
                  <a:srgbClr val="FF0000"/>
                </a:solidFill>
                <a:latin typeface="Times New Roman" panose="02020503050405090304" pitchFamily="18" charset="0"/>
                <a:cs typeface="Times New Roman" panose="02020503050405090304" pitchFamily="18" charset="0"/>
              </a:rPr>
              <a:t>处理</a:t>
            </a:r>
            <a:r>
              <a:rPr lang="zh-CN" altLang="en-US" b="0" dirty="0">
                <a:latin typeface="Times New Roman" panose="02020503050405090304" pitchFamily="18" charset="0"/>
                <a:cs typeface="Times New Roman" panose="02020503050405090304" pitchFamily="18" charset="0"/>
              </a:rPr>
              <a:t>包含理解、转化、生成等</a:t>
            </a:r>
            <a:r>
              <a:rPr lang="zh-CN" altLang="en-US" b="0">
                <a:latin typeface="Times New Roman" panose="02020503050405090304" pitchFamily="18" charset="0"/>
                <a:cs typeface="Times New Roman" panose="02020503050405090304" pitchFamily="18" charset="0"/>
              </a:rPr>
              <a:t>过程。具体来说指</a:t>
            </a:r>
            <a:r>
              <a:rPr lang="zh-CN" altLang="en-US" b="0" dirty="0">
                <a:latin typeface="Times New Roman" panose="02020503050405090304" pitchFamily="18" charset="0"/>
                <a:cs typeface="Times New Roman" panose="02020503050405090304" pitchFamily="18" charset="0"/>
              </a:rPr>
              <a:t>用计算机对自然语言的形、音、义等信息进行处理，即对字、词、句、篇章的输入、输出、识别、分析、理解、生成等的操作和</a:t>
            </a:r>
            <a:r>
              <a:rPr lang="zh-CN" altLang="en-US" b="0">
                <a:latin typeface="Times New Roman" panose="02020503050405090304" pitchFamily="18" charset="0"/>
                <a:cs typeface="Times New Roman" panose="02020503050405090304" pitchFamily="18" charset="0"/>
              </a:rPr>
              <a:t>加工。</a:t>
            </a:r>
            <a:endParaRPr lang="en-US" altLang="zh-CN" b="0">
              <a:latin typeface="Times New Roman" panose="02020503050405090304" pitchFamily="18" charset="0"/>
              <a:cs typeface="Times New Roman" panose="02020503050405090304" pitchFamily="18" charset="0"/>
            </a:endParaRPr>
          </a:p>
          <a:p>
            <a:pPr marL="213995" indent="-213995">
              <a:lnSpc>
                <a:spcPct val="150000"/>
              </a:lnSpc>
              <a:buFont typeface="Arial" panose="020B0604020202090204" pitchFamily="34" charset="0"/>
              <a:buChar char="•"/>
            </a:pPr>
            <a:r>
              <a:rPr lang="zh-CN" altLang="en-US" b="0">
                <a:latin typeface="Times New Roman" panose="02020503050405090304" pitchFamily="18" charset="0"/>
                <a:cs typeface="Times New Roman" panose="02020503050405090304" pitchFamily="18" charset="0"/>
              </a:rPr>
              <a:t>实现</a:t>
            </a:r>
            <a:r>
              <a:rPr lang="zh-CN" altLang="en-US" b="0" dirty="0">
                <a:solidFill>
                  <a:srgbClr val="FF0000"/>
                </a:solidFill>
                <a:latin typeface="Times New Roman" panose="02020503050405090304" pitchFamily="18" charset="0"/>
                <a:cs typeface="Times New Roman" panose="02020503050405090304" pitchFamily="18" charset="0"/>
              </a:rPr>
              <a:t>人机间的信息交流</a:t>
            </a:r>
            <a:r>
              <a:rPr lang="zh-CN" altLang="en-US" b="0" dirty="0">
                <a:latin typeface="Times New Roman" panose="02020503050405090304" pitchFamily="18" charset="0"/>
                <a:cs typeface="Times New Roman" panose="02020503050405090304" pitchFamily="18" charset="0"/>
              </a:rPr>
              <a:t>，是人工智能、计算机科学和语言学所共同关注的重要问题。</a:t>
            </a:r>
            <a:endParaRPr lang="en-US" altLang="zh-CN" b="0" dirty="0">
              <a:latin typeface="Times New Roman" panose="02020503050405090304" pitchFamily="18" charset="0"/>
              <a:cs typeface="Times New Roman" panose="02020503050405090304" pitchFamily="18" charset="0"/>
            </a:endParaRPr>
          </a:p>
          <a:p>
            <a:pPr marL="213995" indent="-213995">
              <a:lnSpc>
                <a:spcPct val="150000"/>
              </a:lnSpc>
              <a:buFont typeface="Arial" panose="020B0604020202090204" pitchFamily="34" charset="0"/>
              <a:buChar char="•"/>
            </a:pPr>
            <a:r>
              <a:rPr lang="zh-CN" altLang="en-US" b="0" dirty="0">
                <a:latin typeface="Times New Roman" panose="02020503050405090304" pitchFamily="18" charset="0"/>
                <a:cs typeface="Times New Roman" panose="02020503050405090304" pitchFamily="18" charset="0"/>
              </a:rPr>
              <a:t>自然语言处理的具体</a:t>
            </a:r>
            <a:r>
              <a:rPr lang="zh-CN" altLang="en-US" b="0" dirty="0">
                <a:solidFill>
                  <a:srgbClr val="FF0000"/>
                </a:solidFill>
                <a:latin typeface="Times New Roman" panose="02020503050405090304" pitchFamily="18" charset="0"/>
                <a:cs typeface="Times New Roman" panose="02020503050405090304" pitchFamily="18" charset="0"/>
              </a:rPr>
              <a:t>表现形式</a:t>
            </a:r>
            <a:r>
              <a:rPr lang="zh-CN" altLang="en-US" b="0" dirty="0">
                <a:latin typeface="Times New Roman" panose="02020503050405090304" pitchFamily="18" charset="0"/>
                <a:cs typeface="Times New Roman" panose="02020503050405090304" pitchFamily="18" charset="0"/>
              </a:rPr>
              <a:t>包括</a:t>
            </a:r>
            <a:r>
              <a:rPr lang="zh-CN" altLang="en-US" b="0" dirty="0">
                <a:solidFill>
                  <a:srgbClr val="0070C0"/>
                </a:solidFill>
                <a:latin typeface="Times New Roman" panose="02020503050405090304" pitchFamily="18" charset="0"/>
                <a:cs typeface="Times New Roman" panose="02020503050405090304" pitchFamily="18" charset="0"/>
              </a:rPr>
              <a:t>机器翻译、文本摘要、文本分类、文本校对、信息抽取、语音合成、语音识别</a:t>
            </a:r>
            <a:r>
              <a:rPr lang="zh-CN" altLang="en-US" b="0" dirty="0">
                <a:latin typeface="Times New Roman" panose="02020503050405090304" pitchFamily="18" charset="0"/>
                <a:cs typeface="Times New Roman" panose="02020503050405090304" pitchFamily="18" charset="0"/>
              </a:rPr>
              <a:t>等。</a:t>
            </a:r>
            <a:endParaRPr lang="zh-CN" altLang="en-US" b="0" dirty="0">
              <a:latin typeface="Times New Roman" panose="02020503050405090304" pitchFamily="18" charset="0"/>
              <a:cs typeface="Times New Roman" panose="02020503050405090304" pitchFamily="18" charset="0"/>
            </a:endParaRPr>
          </a:p>
        </p:txBody>
      </p:sp>
      <p:sp>
        <p:nvSpPr>
          <p:cNvPr id="2" name="标题 1"/>
          <p:cNvSpPr>
            <a:spLocks noGrp="1"/>
          </p:cNvSpPr>
          <p:nvPr>
            <p:ph type="title"/>
          </p:nvPr>
        </p:nvSpPr>
        <p:spPr/>
        <p:txBody>
          <a:bodyPr>
            <a:normAutofit/>
          </a:bodyPr>
          <a:lstStyle/>
          <a:p>
            <a:r>
              <a:rPr lang="zh-CN" altLang="en-US">
                <a:ea typeface="宋体" pitchFamily="2" charset="-122"/>
              </a:rPr>
              <a:t>自然语言处理</a:t>
            </a:r>
            <a:endParaRPr lang="zh-CN" altLang="en-US">
              <a:ea typeface="宋体" pitchFamily="2" charset="-122"/>
            </a:endParaRPr>
          </a:p>
        </p:txBody>
      </p:sp>
      <p:sp>
        <p:nvSpPr>
          <p:cNvPr id="4" name="日期占位符 3"/>
          <p:cNvSpPr>
            <a:spLocks noGrp="1"/>
          </p:cNvSpPr>
          <p:nvPr>
            <p:ph type="dt" sz="half" idx="10"/>
          </p:nvPr>
        </p:nvSpPr>
        <p:spPr/>
        <p:txBody>
          <a:bodyPr/>
          <a:lstStyle/>
          <a:p>
            <a:fld id="{26BDA868-6BFF-47D5-96B4-4129BB527436}" type="datetime1">
              <a:rPr lang="zh-CN" altLang="en-US" smtClean="0"/>
            </a:fld>
            <a:endParaRPr lang="zh-CN" altLang="en-US"/>
          </a:p>
        </p:txBody>
      </p:sp>
      <p:sp>
        <p:nvSpPr>
          <p:cNvPr id="5" name="灯片编号占位符 4"/>
          <p:cNvSpPr>
            <a:spLocks noGrp="1"/>
          </p:cNvSpPr>
          <p:nvPr>
            <p:ph type="sldNum" sz="quarter" idx="12"/>
          </p:nvPr>
        </p:nvSpPr>
        <p:spPr/>
        <p:txBody>
          <a:bodyPr/>
          <a:lstStyle/>
          <a:p>
            <a:fld id="{82952373-7980-4DA7-9ADE-54D716DB38BB}" type="slidenum">
              <a:rPr lang="zh-CN" altLang="en-US" smtClean="0"/>
            </a:fld>
            <a:endParaRPr lang="zh-CN" altLang="en-US"/>
          </a:p>
        </p:txBody>
      </p:sp>
    </p:spTree>
  </p:cSld>
  <p:clrMapOvr>
    <a:masterClrMapping/>
  </p:clrMapOvr>
  <mc:AlternateContent xmlns:mc="http://schemas.openxmlformats.org/markup-compatibility/2006">
    <mc:Choice xmlns:p14="http://schemas.microsoft.com/office/powerpoint/2010/main" Requires="p14">
      <p:transition p14:dur="0"/>
    </mc:Choice>
    <mc:Fallback>
      <p:transition/>
    </mc:Fallback>
  </mc:AlternateContent>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文本框 3"/>
          <p:cNvSpPr txBox="1"/>
          <p:nvPr/>
        </p:nvSpPr>
        <p:spPr>
          <a:xfrm>
            <a:off x="730384" y="1472817"/>
            <a:ext cx="7579160" cy="1701748"/>
          </a:xfrm>
          <a:prstGeom prst="rect">
            <a:avLst/>
          </a:prstGeom>
          <a:noFill/>
        </p:spPr>
        <p:txBody>
          <a:bodyPr wrap="square" rtlCol="0">
            <a:spAutoFit/>
          </a:bodyPr>
          <a:lstStyle/>
          <a:p>
            <a:pPr marL="257175" indent="-257175">
              <a:lnSpc>
                <a:spcPct val="150000"/>
              </a:lnSpc>
              <a:buFont typeface="Arial" panose="020B0604020202090204" pitchFamily="34" charset="0"/>
              <a:buChar char="•"/>
            </a:pPr>
            <a:r>
              <a:rPr lang="zh-CN" altLang="en-US" b="0">
                <a:latin typeface="+mn-lt"/>
              </a:rPr>
              <a:t>自然语言理解（</a:t>
            </a:r>
            <a:r>
              <a:rPr lang="en-US" altLang="zh-CN" b="0">
                <a:latin typeface="+mn-lt"/>
              </a:rPr>
              <a:t>Natural Language Understanding, NLU</a:t>
            </a:r>
            <a:r>
              <a:rPr lang="zh-CN" altLang="en-US" b="0">
                <a:latin typeface="+mn-lt"/>
              </a:rPr>
              <a:t>）是</a:t>
            </a:r>
            <a:r>
              <a:rPr lang="zh-CN" altLang="en-US" b="0" dirty="0">
                <a:latin typeface="+mn-lt"/>
              </a:rPr>
              <a:t>指计算机能够理解自然语言文本的意义</a:t>
            </a:r>
            <a:endParaRPr lang="en-US" altLang="zh-CN" b="0" dirty="0">
              <a:latin typeface="+mn-lt"/>
            </a:endParaRPr>
          </a:p>
          <a:p>
            <a:pPr marL="257175" indent="-257175">
              <a:lnSpc>
                <a:spcPct val="150000"/>
              </a:lnSpc>
              <a:buFont typeface="Arial" panose="020B0604020202090204" pitchFamily="34" charset="0"/>
              <a:buChar char="•"/>
            </a:pPr>
            <a:r>
              <a:rPr lang="zh-CN" altLang="en-US" b="0">
                <a:latin typeface="+mn-lt"/>
              </a:rPr>
              <a:t>自然语言生成（</a:t>
            </a:r>
            <a:r>
              <a:rPr lang="en-US" altLang="zh-CN" b="0">
                <a:latin typeface="+mn-lt"/>
              </a:rPr>
              <a:t>Natural Language Generating, LG</a:t>
            </a:r>
            <a:r>
              <a:rPr lang="zh-CN" altLang="en-US" b="0">
                <a:latin typeface="+mn-lt"/>
              </a:rPr>
              <a:t>）则</a:t>
            </a:r>
            <a:r>
              <a:rPr lang="zh-CN" altLang="en-US" b="0" dirty="0">
                <a:latin typeface="+mn-lt"/>
              </a:rPr>
              <a:t>是指能以自然语言文本来表达给定的意图。</a:t>
            </a:r>
            <a:endParaRPr lang="zh-CN" altLang="en-US" b="0" dirty="0">
              <a:latin typeface="+mn-lt"/>
            </a:endParaRPr>
          </a:p>
        </p:txBody>
      </p:sp>
      <p:sp>
        <p:nvSpPr>
          <p:cNvPr id="2" name="矩形 1"/>
          <p:cNvSpPr/>
          <p:nvPr/>
        </p:nvSpPr>
        <p:spPr>
          <a:xfrm>
            <a:off x="499512" y="996598"/>
            <a:ext cx="7967831" cy="455253"/>
          </a:xfrm>
          <a:prstGeom prst="rect">
            <a:avLst/>
          </a:prstGeom>
        </p:spPr>
        <p:txBody>
          <a:bodyPr wrap="square">
            <a:spAutoFit/>
          </a:bodyPr>
          <a:lstStyle/>
          <a:p>
            <a:pPr indent="457200">
              <a:lnSpc>
                <a:spcPct val="150000"/>
              </a:lnSpc>
            </a:pPr>
            <a:r>
              <a:rPr lang="zh-CN" altLang="en-US" b="0" dirty="0">
                <a:solidFill>
                  <a:prstClr val="black"/>
                </a:solidFill>
                <a:latin typeface="Times New Roman" panose="02020503050405090304" pitchFamily="18" charset="0"/>
              </a:rPr>
              <a:t>自然语言处理机制涉及两个流程，包括</a:t>
            </a:r>
            <a:r>
              <a:rPr lang="zh-CN" altLang="en-US" b="0" dirty="0">
                <a:solidFill>
                  <a:srgbClr val="3333FF"/>
                </a:solidFill>
                <a:latin typeface="Times New Roman" panose="02020503050405090304" pitchFamily="18" charset="0"/>
              </a:rPr>
              <a:t>自然语言理解</a:t>
            </a:r>
            <a:r>
              <a:rPr lang="zh-CN" altLang="en-US" b="0" dirty="0">
                <a:solidFill>
                  <a:prstClr val="black"/>
                </a:solidFill>
                <a:latin typeface="Times New Roman" panose="02020503050405090304" pitchFamily="18" charset="0"/>
              </a:rPr>
              <a:t>和</a:t>
            </a:r>
            <a:r>
              <a:rPr lang="zh-CN" altLang="en-US" b="0" dirty="0">
                <a:solidFill>
                  <a:srgbClr val="3333FF"/>
                </a:solidFill>
                <a:latin typeface="Times New Roman" panose="02020503050405090304" pitchFamily="18" charset="0"/>
              </a:rPr>
              <a:t>自然语言生成</a:t>
            </a:r>
            <a:r>
              <a:rPr lang="zh-CN" altLang="en-US" b="0" dirty="0">
                <a:solidFill>
                  <a:prstClr val="black"/>
                </a:solidFill>
                <a:latin typeface="Times New Roman" panose="02020503050405090304" pitchFamily="18" charset="0"/>
              </a:rPr>
              <a:t>。</a:t>
            </a:r>
            <a:endParaRPr lang="zh-CN" altLang="en-US" b="0" dirty="0">
              <a:latin typeface="Times New Roman" panose="02020503050405090304" pitchFamily="18" charset="0"/>
            </a:endParaRPr>
          </a:p>
        </p:txBody>
      </p:sp>
      <p:sp>
        <p:nvSpPr>
          <p:cNvPr id="3" name="标题 2"/>
          <p:cNvSpPr>
            <a:spLocks noGrp="1"/>
          </p:cNvSpPr>
          <p:nvPr>
            <p:ph type="title"/>
          </p:nvPr>
        </p:nvSpPr>
        <p:spPr/>
        <p:txBody>
          <a:bodyPr>
            <a:normAutofit/>
          </a:bodyPr>
          <a:lstStyle/>
          <a:p>
            <a:r>
              <a:rPr lang="zh-CN" altLang="en-US">
                <a:ea typeface="宋体" pitchFamily="2" charset="-122"/>
              </a:rPr>
              <a:t>自然语言处理</a:t>
            </a:r>
            <a:endParaRPr lang="zh-CN" altLang="en-US">
              <a:ea typeface="宋体" pitchFamily="2" charset="-122"/>
            </a:endParaRPr>
          </a:p>
        </p:txBody>
      </p:sp>
      <p:sp>
        <p:nvSpPr>
          <p:cNvPr id="6" name="矩形 5"/>
          <p:cNvSpPr/>
          <p:nvPr/>
        </p:nvSpPr>
        <p:spPr>
          <a:xfrm>
            <a:off x="730384" y="3195531"/>
            <a:ext cx="7581431" cy="1153586"/>
          </a:xfrm>
          <a:prstGeom prst="rect">
            <a:avLst/>
          </a:prstGeom>
        </p:spPr>
        <p:txBody>
          <a:bodyPr wrap="square">
            <a:spAutoFit/>
          </a:bodyPr>
          <a:lstStyle/>
          <a:p>
            <a:pPr indent="457200">
              <a:lnSpc>
                <a:spcPct val="150000"/>
              </a:lnSpc>
            </a:pPr>
            <a:r>
              <a:rPr lang="zh-CN" altLang="en-US" sz="1600" b="0" dirty="0">
                <a:solidFill>
                  <a:srgbClr val="FF0000"/>
                </a:solidFill>
                <a:latin typeface="Times New Roman" panose="02020503050405090304" pitchFamily="18" charset="0"/>
              </a:rPr>
              <a:t>例如</a:t>
            </a:r>
            <a:r>
              <a:rPr lang="zh-CN" altLang="en-US" sz="1600" b="0" dirty="0">
                <a:latin typeface="Times New Roman" panose="02020503050405090304" pitchFamily="18" charset="0"/>
              </a:rPr>
              <a:t>：人类对话小度智能音箱，“小度小度，现在几点了？”，智能音箱需要先利用</a:t>
            </a:r>
            <a:r>
              <a:rPr lang="en-US" altLang="zh-CN" sz="1600" b="0" dirty="0">
                <a:latin typeface="Times New Roman" panose="02020503050405090304" pitchFamily="18" charset="0"/>
              </a:rPr>
              <a:t>NLU</a:t>
            </a:r>
            <a:r>
              <a:rPr lang="zh-CN" altLang="en-US" sz="1600" b="0" dirty="0">
                <a:latin typeface="Times New Roman" panose="02020503050405090304" pitchFamily="18" charset="0"/>
              </a:rPr>
              <a:t>技术判断用户的意图，理解用户的需求是什么。然后再</a:t>
            </a:r>
            <a:r>
              <a:rPr lang="zh-CN" altLang="en-US" sz="1600" b="0">
                <a:latin typeface="Times New Roman" panose="02020503050405090304" pitchFamily="18" charset="0"/>
              </a:rPr>
              <a:t>利用自然语言生成技术</a:t>
            </a:r>
            <a:r>
              <a:rPr lang="zh-CN" altLang="en-US" sz="1600" b="0" dirty="0">
                <a:latin typeface="Times New Roman" panose="02020503050405090304" pitchFamily="18" charset="0"/>
              </a:rPr>
              <a:t>回复：“现在是早上</a:t>
            </a:r>
            <a:r>
              <a:rPr lang="en-US" altLang="zh-CN" sz="1600" b="0" dirty="0">
                <a:latin typeface="Times New Roman" panose="02020503050405090304" pitchFamily="18" charset="0"/>
              </a:rPr>
              <a:t>7</a:t>
            </a:r>
            <a:r>
              <a:rPr lang="zh-CN" altLang="en-US" sz="1600" b="0" dirty="0">
                <a:latin typeface="Times New Roman" panose="02020503050405090304" pitchFamily="18" charset="0"/>
              </a:rPr>
              <a:t>点整”。</a:t>
            </a:r>
            <a:endParaRPr lang="zh-CN" altLang="en-US" sz="1600" b="0" dirty="0">
              <a:latin typeface="Times New Roman" panose="02020503050405090304" pitchFamily="18" charset="0"/>
            </a:endParaRPr>
          </a:p>
        </p:txBody>
      </p:sp>
      <p:sp>
        <p:nvSpPr>
          <p:cNvPr id="5" name="日期占位符 4"/>
          <p:cNvSpPr>
            <a:spLocks noGrp="1"/>
          </p:cNvSpPr>
          <p:nvPr>
            <p:ph type="dt" sz="half" idx="10"/>
          </p:nvPr>
        </p:nvSpPr>
        <p:spPr/>
        <p:txBody>
          <a:bodyPr/>
          <a:lstStyle/>
          <a:p>
            <a:fld id="{D0F3C33A-2F88-4057-8AF3-9F5B6BBD2C20}" type="datetime1">
              <a:rPr lang="zh-CN" altLang="en-US" smtClean="0"/>
            </a:fld>
            <a:endParaRPr lang="zh-CN" altLang="en-US"/>
          </a:p>
        </p:txBody>
      </p:sp>
      <p:sp>
        <p:nvSpPr>
          <p:cNvPr id="7" name="灯片编号占位符 6"/>
          <p:cNvSpPr>
            <a:spLocks noGrp="1"/>
          </p:cNvSpPr>
          <p:nvPr>
            <p:ph type="sldNum" sz="quarter" idx="12"/>
          </p:nvPr>
        </p:nvSpPr>
        <p:spPr/>
        <p:txBody>
          <a:bodyPr/>
          <a:lstStyle/>
          <a:p>
            <a:fld id="{82952373-7980-4DA7-9ADE-54D716DB38BB}" type="slidenum">
              <a:rPr lang="zh-CN" altLang="en-US" smtClean="0"/>
            </a:fld>
            <a:endParaRPr lang="zh-CN" altLang="en-US"/>
          </a:p>
        </p:txBody>
      </p:sp>
    </p:spTree>
  </p:cSld>
  <p:clrMapOvr>
    <a:masterClrMapping/>
  </p:clrMapOvr>
  <mc:AlternateContent xmlns:mc="http://schemas.openxmlformats.org/markup-compatibility/2006">
    <mc:Choice xmlns:p14="http://schemas.microsoft.com/office/powerpoint/2010/main" Requires="p14">
      <p:transition p14:dur="0"/>
    </mc:Choice>
    <mc:Fallback>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grpId="0" nodeType="clickEffect">
                                  <p:stCondLst>
                                    <p:cond delay="0"/>
                                  </p:stCondLst>
                                  <p:childTnLst>
                                    <p:set>
                                      <p:cBhvr>
                                        <p:cTn id="6" dur="1" fill="hold">
                                          <p:stCondLst>
                                            <p:cond delay="0"/>
                                          </p:stCondLst>
                                        </p:cTn>
                                        <p:tgtEl>
                                          <p:spTgt spid="6"/>
                                        </p:tgtEl>
                                        <p:attrNameLst>
                                          <p:attrName>style.visibility</p:attrName>
                                        </p:attrNameLst>
                                      </p:cBhvr>
                                      <p:to>
                                        <p:strVal val="visible"/>
                                      </p:to>
                                    </p:set>
                                    <p:anim calcmode="lin" valueType="num">
                                      <p:cBhvr additive="base">
                                        <p:cTn id="7" dur="500" fill="hold"/>
                                        <p:tgtEl>
                                          <p:spTgt spid="6"/>
                                        </p:tgtEl>
                                        <p:attrNameLst>
                                          <p:attrName>ppt_x</p:attrName>
                                        </p:attrNameLst>
                                      </p:cBhvr>
                                      <p:tavLst>
                                        <p:tav tm="0">
                                          <p:val>
                                            <p:strVal val="#ppt_x"/>
                                          </p:val>
                                        </p:tav>
                                        <p:tav tm="100000">
                                          <p:val>
                                            <p:strVal val="#ppt_x"/>
                                          </p:val>
                                        </p:tav>
                                      </p:tavLst>
                                    </p:anim>
                                    <p:anim calcmode="lin" valueType="num">
                                      <p:cBhvr additive="base">
                                        <p:cTn id="8" dur="500" fill="hold"/>
                                        <p:tgtEl>
                                          <p:spTgt spid="6"/>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6" grpId="0"/>
    </p:bldLst>
  </p:timing>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en-US" altLang="zh-CN">
                <a:ea typeface="宋体" pitchFamily="2" charset="-122"/>
              </a:rPr>
              <a:t>1.1.1 </a:t>
            </a:r>
            <a:r>
              <a:rPr lang="zh-CN" altLang="en-US">
                <a:ea typeface="宋体" pitchFamily="2" charset="-122"/>
              </a:rPr>
              <a:t>什么是自然语言处理</a:t>
            </a:r>
            <a:r>
              <a:rPr lang="en-US" altLang="zh-CN">
                <a:ea typeface="宋体" pitchFamily="2" charset="-122"/>
              </a:rPr>
              <a:t>-</a:t>
            </a:r>
            <a:r>
              <a:rPr lang="zh-CN" altLang="en-US">
                <a:ea typeface="宋体" pitchFamily="2" charset="-122"/>
              </a:rPr>
              <a:t>概念</a:t>
            </a:r>
            <a:endParaRPr lang="zh-CN" altLang="en-US">
              <a:ea typeface="宋体" pitchFamily="2" charset="-122"/>
            </a:endParaRPr>
          </a:p>
        </p:txBody>
      </p:sp>
      <p:pic>
        <p:nvPicPr>
          <p:cNvPr id="3" name="Picture 3"/>
          <p:cNvPicPr>
            <a:picLocks noChangeAspect="1"/>
          </p:cNvPicPr>
          <p:nvPr/>
        </p:nvPicPr>
        <p:blipFill>
          <a:blip r:embed="rId1">
            <a:extLst>
              <a:ext uri="{28A0092B-C50C-407E-A947-70E740481C1C}">
                <a14:useLocalDpi xmlns:a14="http://schemas.microsoft.com/office/drawing/2010/main" val="0"/>
              </a:ext>
            </a:extLst>
          </a:blip>
          <a:stretch>
            <a:fillRect/>
          </a:stretch>
        </p:blipFill>
        <p:spPr>
          <a:xfrm>
            <a:off x="1197591" y="853915"/>
            <a:ext cx="6452890" cy="3435669"/>
          </a:xfrm>
          <a:prstGeom prst="rect">
            <a:avLst/>
          </a:prstGeom>
        </p:spPr>
      </p:pic>
      <p:sp>
        <p:nvSpPr>
          <p:cNvPr id="4" name="TextBox 5"/>
          <p:cNvSpPr txBox="1"/>
          <p:nvPr/>
        </p:nvSpPr>
        <p:spPr>
          <a:xfrm>
            <a:off x="2391226" y="4407690"/>
            <a:ext cx="4573484" cy="300210"/>
          </a:xfrm>
          <a:prstGeom prst="rect">
            <a:avLst/>
          </a:prstGeom>
          <a:noFill/>
        </p:spPr>
        <p:txBody>
          <a:bodyPr wrap="square">
            <a:spAutoFit/>
          </a:bodyPr>
          <a:lstStyle/>
          <a:p>
            <a:pPr algn="ctr"/>
            <a:r>
              <a:rPr lang="zh-CN" altLang="en-US" sz="1350">
                <a:latin typeface="Times New Roman" panose="02020503050405090304" pitchFamily="18" charset="0"/>
              </a:rPr>
              <a:t>图 自然语言处理</a:t>
            </a:r>
            <a:r>
              <a:rPr lang="zh-CN" altLang="en-US" sz="1350" dirty="0">
                <a:latin typeface="Times New Roman" panose="02020503050405090304" pitchFamily="18" charset="0"/>
              </a:rPr>
              <a:t>主要</a:t>
            </a:r>
            <a:r>
              <a:rPr lang="zh-CN" altLang="en-US" sz="1350">
                <a:latin typeface="Times New Roman" panose="02020503050405090304" pitchFamily="18" charset="0"/>
              </a:rPr>
              <a:t>研究内容</a:t>
            </a:r>
            <a:r>
              <a:rPr lang="en-US" altLang="zh-CN" sz="1350">
                <a:latin typeface="Times New Roman" panose="02020503050405090304" pitchFamily="18" charset="0"/>
              </a:rPr>
              <a:t>—</a:t>
            </a:r>
            <a:r>
              <a:rPr lang="zh-CN" altLang="en-US" sz="1350">
                <a:latin typeface="Times New Roman" panose="02020503050405090304" pitchFamily="18" charset="0"/>
              </a:rPr>
              <a:t>来自</a:t>
            </a:r>
            <a:r>
              <a:rPr lang="en-US" altLang="zh-CN" sz="1350">
                <a:latin typeface="Times New Roman" panose="02020503050405090304" pitchFamily="18" charset="0"/>
              </a:rPr>
              <a:t>《</a:t>
            </a:r>
            <a:r>
              <a:rPr lang="zh-CN" altLang="en-US" sz="1350">
                <a:latin typeface="Times New Roman" panose="02020503050405090304" pitchFamily="18" charset="0"/>
              </a:rPr>
              <a:t>自然语言处理导论</a:t>
            </a:r>
            <a:r>
              <a:rPr lang="en-US" altLang="zh-CN" sz="1350">
                <a:latin typeface="Times New Roman" panose="02020503050405090304" pitchFamily="18" charset="0"/>
              </a:rPr>
              <a:t>》</a:t>
            </a:r>
            <a:endParaRPr lang="en-US" sz="1350" dirty="0">
              <a:latin typeface="Times New Roman" panose="02020503050405090304" pitchFamily="18" charset="0"/>
            </a:endParaRPr>
          </a:p>
        </p:txBody>
      </p:sp>
      <p:sp>
        <p:nvSpPr>
          <p:cNvPr id="5" name="日期占位符 4"/>
          <p:cNvSpPr>
            <a:spLocks noGrp="1"/>
          </p:cNvSpPr>
          <p:nvPr>
            <p:ph type="dt" sz="half" idx="10"/>
          </p:nvPr>
        </p:nvSpPr>
        <p:spPr/>
        <p:txBody>
          <a:bodyPr/>
          <a:lstStyle/>
          <a:p>
            <a:fld id="{2C1C232D-DB16-4E12-8662-17EBBC9BA455}" type="datetime1">
              <a:rPr lang="zh-CN" altLang="en-US" smtClean="0"/>
            </a:fld>
            <a:endParaRPr lang="zh-CN" altLang="en-US"/>
          </a:p>
        </p:txBody>
      </p:sp>
      <p:sp>
        <p:nvSpPr>
          <p:cNvPr id="6" name="灯片编号占位符 5"/>
          <p:cNvSpPr>
            <a:spLocks noGrp="1"/>
          </p:cNvSpPr>
          <p:nvPr>
            <p:ph type="sldNum" sz="quarter" idx="12"/>
          </p:nvPr>
        </p:nvSpPr>
        <p:spPr/>
        <p:txBody>
          <a:bodyPr/>
          <a:lstStyle/>
          <a:p>
            <a:fld id="{82952373-7980-4DA7-9ADE-54D716DB38BB}" type="slidenum">
              <a:rPr lang="zh-CN" altLang="en-US" smtClean="0"/>
            </a:fld>
            <a:endParaRPr lang="zh-CN" altLang="en-US"/>
          </a:p>
        </p:txBody>
      </p:sp>
    </p:spTree>
  </p:cSld>
  <p:clrMapOvr>
    <a:masterClrMapping/>
  </p:clrMapOvr>
  <mc:AlternateContent xmlns:mc="http://schemas.openxmlformats.org/markup-compatibility/2006">
    <mc:Choice xmlns:p14="http://schemas.microsoft.com/office/powerpoint/2010/main" Requires="p14">
      <p:transition p14:dur="0"/>
    </mc:Choice>
    <mc:Fallback>
      <p:transition/>
    </mc:Fallback>
  </mc:AlternateContent>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15" name="2"/>
          <p:cNvGrpSpPr/>
          <p:nvPr/>
        </p:nvGrpSpPr>
        <p:grpSpPr>
          <a:xfrm>
            <a:off x="1002665" y="2049777"/>
            <a:ext cx="7488555" cy="1263014"/>
            <a:chOff x="31445" y="161947"/>
            <a:chExt cx="2500824" cy="318131"/>
          </a:xfrm>
          <a:solidFill>
            <a:srgbClr val="004C41"/>
          </a:solidFill>
        </p:grpSpPr>
        <p:sp>
          <p:nvSpPr>
            <p:cNvPr id="16" name="12"/>
            <p:cNvSpPr/>
            <p:nvPr/>
          </p:nvSpPr>
          <p:spPr>
            <a:xfrm>
              <a:off x="31445" y="176315"/>
              <a:ext cx="2268640" cy="293086"/>
            </a:xfrm>
            <a:prstGeom prst="rect">
              <a:avLst/>
            </a:prstGeom>
            <a:grpFill/>
            <a:ln w="25400" cap="flat" cmpd="sng" algn="ctr">
              <a:noFill/>
              <a:prstDash val="solid"/>
            </a:ln>
            <a:effectLst/>
          </p:spPr>
          <p:txBody>
            <a:bodyPr rtlCol="0" anchor="ctr"/>
            <a:lstStyle/>
            <a:p>
              <a:pPr algn="ctr">
                <a:defRPr/>
              </a:pPr>
              <a:endParaRPr lang="zh-CN" altLang="en-US" kern="0">
                <a:solidFill>
                  <a:prstClr val="white"/>
                </a:solidFill>
                <a:cs typeface="+mn-ea"/>
                <a:sym typeface="+mn-lt"/>
              </a:endParaRPr>
            </a:p>
          </p:txBody>
        </p:sp>
        <p:sp>
          <p:nvSpPr>
            <p:cNvPr id="17" name="等腰三角形 16"/>
            <p:cNvSpPr/>
            <p:nvPr/>
          </p:nvSpPr>
          <p:spPr>
            <a:xfrm rot="5400000">
              <a:off x="2257111" y="204921"/>
              <a:ext cx="318131" cy="232184"/>
            </a:xfrm>
            <a:prstGeom prst="triangle">
              <a:avLst/>
            </a:prstGeom>
            <a:grpFill/>
            <a:ln w="25400" cap="flat" cmpd="sng" algn="ctr">
              <a:noFill/>
              <a:prstDash val="solid"/>
            </a:ln>
            <a:effectLst/>
          </p:spPr>
          <p:txBody>
            <a:bodyPr rtlCol="0" anchor="ctr"/>
            <a:lstStyle/>
            <a:p>
              <a:pPr algn="ctr">
                <a:defRPr/>
              </a:pPr>
              <a:endParaRPr lang="zh-CN" altLang="en-US" kern="0">
                <a:solidFill>
                  <a:prstClr val="white"/>
                </a:solidFill>
                <a:cs typeface="+mn-ea"/>
                <a:sym typeface="+mn-lt"/>
              </a:endParaRPr>
            </a:p>
          </p:txBody>
        </p:sp>
        <p:sp>
          <p:nvSpPr>
            <p:cNvPr id="18" name="TextBox 8"/>
            <p:cNvSpPr txBox="1"/>
            <p:nvPr/>
          </p:nvSpPr>
          <p:spPr>
            <a:xfrm>
              <a:off x="1003528" y="202894"/>
              <a:ext cx="1265362" cy="240323"/>
            </a:xfrm>
            <a:prstGeom prst="rect">
              <a:avLst/>
            </a:prstGeom>
            <a:grpFill/>
            <a:ln>
              <a:noFill/>
            </a:ln>
          </p:spPr>
          <p:txBody>
            <a:bodyPr wrap="square" rtlCol="0">
              <a:spAutoFit/>
            </a:bodyPr>
            <a:lstStyle/>
            <a:p>
              <a:pPr algn="just">
                <a:spcBef>
                  <a:spcPct val="0"/>
                </a:spcBef>
              </a:pPr>
              <a:r>
                <a:rPr lang="zh-CN" altLang="en-US" sz="2800" b="1" kern="0" spc="300" dirty="0">
                  <a:solidFill>
                    <a:prstClr val="white"/>
                  </a:solidFill>
                  <a:latin typeface="Times New Roman" panose="02020503050405090304" pitchFamily="18" charset="0"/>
                  <a:cs typeface="+mn-ea"/>
                  <a:sym typeface="+mn-lt"/>
                </a:rPr>
                <a:t>自然语言处理的应用</a:t>
              </a:r>
              <a:endParaRPr lang="zh-CN" altLang="en-US" sz="2800" b="1" kern="0" spc="300" dirty="0">
                <a:solidFill>
                  <a:prstClr val="white"/>
                </a:solidFill>
                <a:latin typeface="Times New Roman" panose="02020503050405090304" pitchFamily="18" charset="0"/>
                <a:cs typeface="+mn-ea"/>
                <a:sym typeface="+mn-lt"/>
              </a:endParaRPr>
            </a:p>
            <a:p>
              <a:pPr algn="just">
                <a:spcBef>
                  <a:spcPct val="0"/>
                </a:spcBef>
              </a:pPr>
              <a:r>
                <a:rPr lang="zh-CN" altLang="en-US" sz="2800" b="1" kern="0" spc="300" dirty="0">
                  <a:solidFill>
                    <a:prstClr val="white"/>
                  </a:solidFill>
                  <a:latin typeface="Times New Roman" panose="02020503050405090304" pitchFamily="18" charset="0"/>
                  <a:cs typeface="+mn-ea"/>
                  <a:sym typeface="+mn-lt"/>
                </a:rPr>
                <a:t>领域</a:t>
              </a:r>
              <a:endParaRPr lang="zh-CN" altLang="en-US" sz="2800" b="1" kern="0" spc="300" dirty="0">
                <a:solidFill>
                  <a:prstClr val="white"/>
                </a:solidFill>
                <a:latin typeface="Times New Roman" panose="02020503050405090304" pitchFamily="18" charset="0"/>
                <a:cs typeface="+mn-ea"/>
                <a:sym typeface="+mn-lt"/>
              </a:endParaRPr>
            </a:p>
          </p:txBody>
        </p:sp>
      </p:grpSp>
      <p:grpSp>
        <p:nvGrpSpPr>
          <p:cNvPr id="19" name="1"/>
          <p:cNvGrpSpPr/>
          <p:nvPr/>
        </p:nvGrpSpPr>
        <p:grpSpPr>
          <a:xfrm>
            <a:off x="1200674" y="1373316"/>
            <a:ext cx="2619916" cy="2619916"/>
            <a:chOff x="267453" y="94709"/>
            <a:chExt cx="454824" cy="454824"/>
          </a:xfrm>
        </p:grpSpPr>
        <p:sp>
          <p:nvSpPr>
            <p:cNvPr id="20" name="4"/>
            <p:cNvSpPr/>
            <p:nvPr/>
          </p:nvSpPr>
          <p:spPr>
            <a:xfrm>
              <a:off x="301756" y="114952"/>
              <a:ext cx="390525" cy="395287"/>
            </a:xfrm>
            <a:prstGeom prst="ellipse">
              <a:avLst/>
            </a:prstGeom>
            <a:solidFill>
              <a:sysClr val="window" lastClr="FFFFFF"/>
            </a:solidFill>
            <a:ln w="25400" cap="flat" cmpd="sng" algn="ctr">
              <a:solidFill>
                <a:sysClr val="window" lastClr="FFFFFF"/>
              </a:solidFill>
              <a:prstDash val="solid"/>
            </a:ln>
            <a:effectLst/>
          </p:spPr>
          <p:txBody>
            <a:bodyPr rtlCol="0" anchor="ctr"/>
            <a:lstStyle/>
            <a:p>
              <a:pPr algn="ctr">
                <a:defRPr/>
              </a:pPr>
              <a:endParaRPr lang="zh-CN" altLang="en-US" kern="0">
                <a:solidFill>
                  <a:prstClr val="white"/>
                </a:solidFill>
                <a:cs typeface="+mn-ea"/>
                <a:sym typeface="+mn-lt"/>
              </a:endParaRPr>
            </a:p>
          </p:txBody>
        </p:sp>
        <p:sp>
          <p:nvSpPr>
            <p:cNvPr id="23" name="3"/>
            <p:cNvSpPr/>
            <p:nvPr/>
          </p:nvSpPr>
          <p:spPr>
            <a:xfrm>
              <a:off x="343738" y="170570"/>
              <a:ext cx="302255" cy="302255"/>
            </a:xfrm>
            <a:prstGeom prst="ellipse">
              <a:avLst/>
            </a:prstGeom>
            <a:solidFill>
              <a:srgbClr val="004C41"/>
            </a:solidFill>
            <a:ln w="25400" cap="flat" cmpd="sng" algn="ctr">
              <a:noFill/>
              <a:prstDash val="solid"/>
            </a:ln>
            <a:effectLst/>
          </p:spPr>
          <p:txBody>
            <a:bodyPr rtlCol="0" anchor="ctr"/>
            <a:lstStyle/>
            <a:p>
              <a:pPr algn="ctr">
                <a:defRPr/>
              </a:pPr>
              <a:endParaRPr lang="zh-CN" altLang="en-US" kern="0">
                <a:solidFill>
                  <a:prstClr val="white"/>
                </a:solidFill>
                <a:cs typeface="+mn-ea"/>
                <a:sym typeface="+mn-lt"/>
              </a:endParaRPr>
            </a:p>
          </p:txBody>
        </p:sp>
        <p:sp>
          <p:nvSpPr>
            <p:cNvPr id="24" name="同心圆 23"/>
            <p:cNvSpPr/>
            <p:nvPr/>
          </p:nvSpPr>
          <p:spPr>
            <a:xfrm>
              <a:off x="267453" y="94709"/>
              <a:ext cx="454824" cy="454824"/>
            </a:xfrm>
            <a:prstGeom prst="donut">
              <a:avLst>
                <a:gd name="adj" fmla="val 8567"/>
              </a:avLst>
            </a:prstGeom>
            <a:solidFill>
              <a:sysClr val="window" lastClr="FFFFFF"/>
            </a:solidFill>
            <a:ln w="9525" cap="flat" cmpd="sng" algn="ctr">
              <a:noFill/>
              <a:prstDash val="solid"/>
            </a:ln>
            <a:effectLst>
              <a:outerShdw blurRad="63500" sx="102000" sy="102000" algn="ctr" rotWithShape="0">
                <a:prstClr val="black">
                  <a:alpha val="20000"/>
                </a:prstClr>
              </a:outerShdw>
            </a:effectLst>
          </p:spPr>
          <p:txBody>
            <a:bodyPr rtlCol="0" anchor="ctr"/>
            <a:lstStyle/>
            <a:p>
              <a:pPr algn="ctr">
                <a:defRPr/>
              </a:pPr>
              <a:endParaRPr lang="zh-CN" altLang="en-US" sz="1200" kern="0">
                <a:solidFill>
                  <a:prstClr val="black"/>
                </a:solidFill>
                <a:cs typeface="+mn-ea"/>
                <a:sym typeface="+mn-lt"/>
              </a:endParaRPr>
            </a:p>
          </p:txBody>
        </p:sp>
        <p:sp>
          <p:nvSpPr>
            <p:cNvPr id="25" name="TextBox 9"/>
            <p:cNvSpPr txBox="1"/>
            <p:nvPr/>
          </p:nvSpPr>
          <p:spPr>
            <a:xfrm>
              <a:off x="370583" y="176347"/>
              <a:ext cx="248564" cy="272497"/>
            </a:xfrm>
            <a:prstGeom prst="rect">
              <a:avLst/>
            </a:prstGeom>
            <a:noFill/>
          </p:spPr>
          <p:txBody>
            <a:bodyPr wrap="none" rtlCol="0">
              <a:spAutoFit/>
            </a:bodyPr>
            <a:lstStyle/>
            <a:p>
              <a:pPr>
                <a:defRPr/>
              </a:pPr>
              <a:r>
                <a:rPr lang="en-US" altLang="zh-CN" sz="9600" kern="0" dirty="0">
                  <a:solidFill>
                    <a:prstClr val="white"/>
                  </a:solidFill>
                  <a:latin typeface="Times New Roman" panose="02020503050405090304" pitchFamily="18" charset="0"/>
                  <a:cs typeface="+mn-ea"/>
                  <a:sym typeface="+mn-lt"/>
                </a:rPr>
                <a:t>02</a:t>
              </a:r>
              <a:endParaRPr lang="zh-CN" altLang="en-US" sz="9600" kern="0" dirty="0">
                <a:solidFill>
                  <a:prstClr val="white"/>
                </a:solidFill>
                <a:latin typeface="Times New Roman" panose="02020503050405090304" pitchFamily="18" charset="0"/>
                <a:cs typeface="+mn-ea"/>
                <a:sym typeface="+mn-lt"/>
              </a:endParaRPr>
            </a:p>
          </p:txBody>
        </p:sp>
      </p:grpSp>
      <p:sp>
        <p:nvSpPr>
          <p:cNvPr id="2" name="标题 1"/>
          <p:cNvSpPr>
            <a:spLocks noGrp="1"/>
          </p:cNvSpPr>
          <p:nvPr>
            <p:ph type="title"/>
          </p:nvPr>
        </p:nvSpPr>
        <p:spPr/>
        <p:txBody>
          <a:bodyPr/>
          <a:lstStyle/>
          <a:p>
            <a:endParaRPr lang="zh-CN" altLang="en-US"/>
          </a:p>
        </p:txBody>
      </p:sp>
      <p:sp>
        <p:nvSpPr>
          <p:cNvPr id="3" name="日期占位符 2"/>
          <p:cNvSpPr>
            <a:spLocks noGrp="1"/>
          </p:cNvSpPr>
          <p:nvPr>
            <p:ph type="dt" sz="half" idx="10"/>
          </p:nvPr>
        </p:nvSpPr>
        <p:spPr/>
        <p:txBody>
          <a:bodyPr/>
          <a:lstStyle/>
          <a:p>
            <a:fld id="{ED1A5E72-E76E-476B-BFAB-E093685E0579}" type="datetime1">
              <a:rPr lang="zh-CN" altLang="en-US" smtClean="0"/>
            </a:fld>
            <a:endParaRPr lang="zh-CN" altLang="en-US"/>
          </a:p>
        </p:txBody>
      </p:sp>
      <p:sp>
        <p:nvSpPr>
          <p:cNvPr id="4" name="灯片编号占位符 3"/>
          <p:cNvSpPr>
            <a:spLocks noGrp="1"/>
          </p:cNvSpPr>
          <p:nvPr>
            <p:ph type="sldNum" sz="quarter" idx="12"/>
          </p:nvPr>
        </p:nvSpPr>
        <p:spPr/>
        <p:txBody>
          <a:bodyPr/>
          <a:lstStyle/>
          <a:p>
            <a:fld id="{82952373-7980-4DA7-9ADE-54D716DB38BB}" type="slidenum">
              <a:rPr lang="zh-CN" altLang="en-US" smtClean="0"/>
            </a:fld>
            <a:endParaRPr lang="zh-CN" altLang="en-US"/>
          </a:p>
        </p:txBody>
      </p:sp>
    </p:spTree>
  </p:cSld>
  <p:clrMapOvr>
    <a:masterClrMapping/>
  </p:clrMapOvr>
  <mc:AlternateContent xmlns:mc="http://schemas.openxmlformats.org/markup-compatibility/2006">
    <mc:Choice xmlns:p14="http://schemas.microsoft.com/office/powerpoint/2010/main" Requires="p14">
      <p:transition p14:dur="0"/>
    </mc:Choice>
    <mc:Fallback>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nodeType="afterEffect">
                                  <p:stCondLst>
                                    <p:cond delay="0"/>
                                  </p:stCondLst>
                                  <p:childTnLst>
                                    <p:set>
                                      <p:cBhvr>
                                        <p:cTn id="6" dur="1" fill="hold">
                                          <p:stCondLst>
                                            <p:cond delay="0"/>
                                          </p:stCondLst>
                                        </p:cTn>
                                        <p:tgtEl>
                                          <p:spTgt spid="19"/>
                                        </p:tgtEl>
                                        <p:attrNameLst>
                                          <p:attrName>style.visibility</p:attrName>
                                        </p:attrNameLst>
                                      </p:cBhvr>
                                      <p:to>
                                        <p:strVal val="visible"/>
                                      </p:to>
                                    </p:set>
                                    <p:animEffect transition="in" filter="fade">
                                      <p:cBhvr>
                                        <p:cTn id="7" dur="500"/>
                                        <p:tgtEl>
                                          <p:spTgt spid="19"/>
                                        </p:tgtEl>
                                      </p:cBhvr>
                                    </p:animEffect>
                                  </p:childTnLst>
                                </p:cTn>
                              </p:par>
                            </p:childTnLst>
                          </p:cTn>
                        </p:par>
                        <p:par>
                          <p:cTn id="8" fill="hold">
                            <p:stCondLst>
                              <p:cond delay="500"/>
                            </p:stCondLst>
                            <p:childTnLst>
                              <p:par>
                                <p:cTn id="9" presetID="22" presetClass="entr" presetSubtype="8" fill="hold" nodeType="afterEffect">
                                  <p:stCondLst>
                                    <p:cond delay="0"/>
                                  </p:stCondLst>
                                  <p:childTnLst>
                                    <p:set>
                                      <p:cBhvr>
                                        <p:cTn id="10" dur="1" fill="hold">
                                          <p:stCondLst>
                                            <p:cond delay="0"/>
                                          </p:stCondLst>
                                        </p:cTn>
                                        <p:tgtEl>
                                          <p:spTgt spid="15"/>
                                        </p:tgtEl>
                                        <p:attrNameLst>
                                          <p:attrName>style.visibility</p:attrName>
                                        </p:attrNameLst>
                                      </p:cBhvr>
                                      <p:to>
                                        <p:strVal val="visible"/>
                                      </p:to>
                                    </p:set>
                                    <p:animEffect transition="in" filter="wipe(left)">
                                      <p:cBhvr>
                                        <p:cTn id="11" dur="1000"/>
                                        <p:tgtEl>
                                          <p:spTgt spid="15"/>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文本框 3"/>
          <p:cNvSpPr txBox="1"/>
          <p:nvPr/>
        </p:nvSpPr>
        <p:spPr>
          <a:xfrm>
            <a:off x="670944" y="968039"/>
            <a:ext cx="7802111" cy="455253"/>
          </a:xfrm>
          <a:prstGeom prst="rect">
            <a:avLst/>
          </a:prstGeom>
          <a:ln>
            <a:noFill/>
          </a:ln>
          <a:effectLst>
            <a:outerShdw blurRad="57785" dist="33020" dir="3180000" algn="ctr">
              <a:srgbClr val="000000">
                <a:alpha val="30000"/>
              </a:srgbClr>
            </a:outerShdw>
          </a:effectLst>
          <a:scene3d>
            <a:camera prst="orthographicFront">
              <a:rot lat="0" lon="0" rev="0"/>
            </a:camera>
            <a:lightRig rig="brightRoom" dir="t">
              <a:rot lat="0" lon="0" rev="600000"/>
            </a:lightRig>
          </a:scene3d>
          <a:sp3d prstMaterial="metal">
            <a:bevelT w="38100" h="57150" prst="angle"/>
          </a:sp3d>
        </p:spPr>
        <p:style>
          <a:lnRef idx="2">
            <a:schemeClr val="dk1"/>
          </a:lnRef>
          <a:fillRef idx="1">
            <a:schemeClr val="lt1"/>
          </a:fillRef>
          <a:effectRef idx="0">
            <a:schemeClr val="dk1"/>
          </a:effectRef>
          <a:fontRef idx="minor">
            <a:schemeClr val="dk1"/>
          </a:fontRef>
        </p:style>
        <p:txBody>
          <a:bodyPr wrap="square" rtlCol="0" anchor="t">
            <a:spAutoFit/>
          </a:bodyPr>
          <a:lstStyle/>
          <a:p>
            <a:pPr>
              <a:lnSpc>
                <a:spcPct val="150000"/>
              </a:lnSpc>
            </a:pPr>
            <a:r>
              <a:rPr lang="zh-CN" altLang="en-US" b="0" dirty="0">
                <a:latin typeface="Times New Roman" panose="02020503050405090304" pitchFamily="18" charset="0"/>
                <a:ea typeface="宋体" pitchFamily="2" charset="-122"/>
              </a:rPr>
              <a:t>你知道有哪些机器翻译软件？你用过哪些？感觉</a:t>
            </a:r>
            <a:r>
              <a:rPr lang="zh-CN" altLang="en-US" b="0">
                <a:latin typeface="Times New Roman" panose="02020503050405090304" pitchFamily="18" charset="0"/>
                <a:ea typeface="宋体" pitchFamily="2" charset="-122"/>
              </a:rPr>
              <a:t>怎么样？</a:t>
            </a:r>
            <a:endParaRPr lang="zh-CN" altLang="en-US" b="0" dirty="0">
              <a:latin typeface="Times New Roman" panose="02020503050405090304" pitchFamily="18" charset="0"/>
              <a:ea typeface="宋体" pitchFamily="2" charset="-122"/>
            </a:endParaRPr>
          </a:p>
        </p:txBody>
      </p:sp>
      <p:sp>
        <p:nvSpPr>
          <p:cNvPr id="6" name="标题 5"/>
          <p:cNvSpPr>
            <a:spLocks noGrp="1"/>
          </p:cNvSpPr>
          <p:nvPr>
            <p:ph type="title"/>
          </p:nvPr>
        </p:nvSpPr>
        <p:spPr>
          <a:xfrm>
            <a:off x="-47208" y="5561"/>
            <a:ext cx="9109075" cy="702469"/>
          </a:xfrm>
        </p:spPr>
        <p:txBody>
          <a:bodyPr/>
          <a:lstStyle/>
          <a:p>
            <a:r>
              <a:rPr lang="zh-CN" altLang="en-US" sz="2800">
                <a:solidFill>
                  <a:srgbClr val="004C41"/>
                </a:solidFill>
                <a:ea typeface="宋体" pitchFamily="2" charset="-122"/>
                <a:cs typeface="+mn-ea"/>
                <a:sym typeface="+mn-lt"/>
              </a:rPr>
              <a:t>机器翻译</a:t>
            </a:r>
            <a:endParaRPr lang="zh-CN" altLang="en-US">
              <a:ea typeface="宋体" pitchFamily="2" charset="-122"/>
            </a:endParaRPr>
          </a:p>
        </p:txBody>
      </p:sp>
      <p:sp>
        <p:nvSpPr>
          <p:cNvPr id="10" name="文本框 9"/>
          <p:cNvSpPr txBox="1"/>
          <p:nvPr/>
        </p:nvSpPr>
        <p:spPr>
          <a:xfrm>
            <a:off x="5506041" y="1914994"/>
            <a:ext cx="3327705" cy="879087"/>
          </a:xfrm>
          <a:prstGeom prst="rect">
            <a:avLst/>
          </a:prstGeom>
          <a:noFill/>
        </p:spPr>
        <p:txBody>
          <a:bodyPr wrap="square">
            <a:spAutoFit/>
          </a:bodyPr>
          <a:lstStyle/>
          <a:p>
            <a:pPr>
              <a:lnSpc>
                <a:spcPct val="150000"/>
              </a:lnSpc>
            </a:pPr>
            <a:r>
              <a:rPr lang="zh-CN" altLang="en-US">
                <a:solidFill>
                  <a:prstClr val="black"/>
                </a:solidFill>
                <a:latin typeface="Times New Roman" panose="02020503050405090304" pitchFamily="18" charset="0"/>
              </a:rPr>
              <a:t>机器翻译涉及</a:t>
            </a:r>
            <a:r>
              <a:rPr lang="zh-CN" altLang="en-US">
                <a:solidFill>
                  <a:srgbClr val="0070C0"/>
                </a:solidFill>
                <a:latin typeface="Times New Roman" panose="02020503050405090304" pitchFamily="18" charset="0"/>
              </a:rPr>
              <a:t>语义分析、上下文环境</a:t>
            </a:r>
            <a:r>
              <a:rPr lang="zh-CN" altLang="en-US">
                <a:solidFill>
                  <a:prstClr val="black"/>
                </a:solidFill>
                <a:latin typeface="Times New Roman" panose="02020503050405090304" pitchFamily="18" charset="0"/>
              </a:rPr>
              <a:t>等诸多挑战。 </a:t>
            </a:r>
            <a:endParaRPr lang="zh-CN" altLang="en-US">
              <a:latin typeface="Times New Roman" panose="02020503050405090304" pitchFamily="18" charset="0"/>
            </a:endParaRPr>
          </a:p>
        </p:txBody>
      </p:sp>
      <p:pic>
        <p:nvPicPr>
          <p:cNvPr id="11" name="图片 10"/>
          <p:cNvPicPr>
            <a:picLocks noChangeAspect="1"/>
          </p:cNvPicPr>
          <p:nvPr/>
        </p:nvPicPr>
        <p:blipFill>
          <a:blip r:embed="rId1"/>
          <a:stretch>
            <a:fillRect/>
          </a:stretch>
        </p:blipFill>
        <p:spPr>
          <a:xfrm>
            <a:off x="2742184" y="2960996"/>
            <a:ext cx="3659632" cy="1928904"/>
          </a:xfrm>
          <a:prstGeom prst="rect">
            <a:avLst/>
          </a:prstGeom>
        </p:spPr>
      </p:pic>
      <p:sp>
        <p:nvSpPr>
          <p:cNvPr id="2" name="日期占位符 1"/>
          <p:cNvSpPr>
            <a:spLocks noGrp="1"/>
          </p:cNvSpPr>
          <p:nvPr>
            <p:ph type="dt" sz="half" idx="10"/>
          </p:nvPr>
        </p:nvSpPr>
        <p:spPr/>
        <p:txBody>
          <a:bodyPr/>
          <a:lstStyle/>
          <a:p>
            <a:fld id="{4DB026B0-7C67-49A2-B7C5-DA64B0E8EDB0}" type="datetime1">
              <a:rPr lang="zh-CN" altLang="en-US" smtClean="0"/>
            </a:fld>
            <a:endParaRPr lang="zh-CN" altLang="en-US"/>
          </a:p>
        </p:txBody>
      </p:sp>
      <p:sp>
        <p:nvSpPr>
          <p:cNvPr id="3" name="灯片编号占位符 2"/>
          <p:cNvSpPr>
            <a:spLocks noGrp="1"/>
          </p:cNvSpPr>
          <p:nvPr>
            <p:ph type="sldNum" sz="quarter" idx="12"/>
          </p:nvPr>
        </p:nvSpPr>
        <p:spPr/>
        <p:txBody>
          <a:bodyPr/>
          <a:lstStyle/>
          <a:p>
            <a:fld id="{82952373-7980-4DA7-9ADE-54D716DB38BB}" type="slidenum">
              <a:rPr lang="zh-CN" altLang="en-US" smtClean="0"/>
            </a:fld>
            <a:endParaRPr lang="zh-CN" altLang="en-US"/>
          </a:p>
        </p:txBody>
      </p:sp>
      <p:sp>
        <p:nvSpPr>
          <p:cNvPr id="9" name="文本框 8"/>
          <p:cNvSpPr txBox="1"/>
          <p:nvPr/>
        </p:nvSpPr>
        <p:spPr>
          <a:xfrm>
            <a:off x="854871" y="1914994"/>
            <a:ext cx="4594362" cy="870751"/>
          </a:xfrm>
          <a:prstGeom prst="rect">
            <a:avLst/>
          </a:prstGeom>
          <a:noFill/>
        </p:spPr>
        <p:txBody>
          <a:bodyPr wrap="square">
            <a:spAutoFit/>
          </a:bodyPr>
          <a:lstStyle/>
          <a:p>
            <a:pPr>
              <a:lnSpc>
                <a:spcPct val="150000"/>
              </a:lnSpc>
            </a:pPr>
            <a:r>
              <a:rPr lang="zh-CN" altLang="en-US" b="0">
                <a:latin typeface="Times New Roman" panose="02020503050405090304" pitchFamily="18" charset="0"/>
                <a:ea typeface="宋体" pitchFamily="2" charset="-122"/>
              </a:rPr>
              <a:t>谷歌翻译、百度翻译、有道翻译、</a:t>
            </a:r>
            <a:r>
              <a:rPr lang="en-US" altLang="zh-CN" b="0">
                <a:latin typeface="Times New Roman" panose="02020503050405090304" pitchFamily="18" charset="0"/>
                <a:ea typeface="宋体" pitchFamily="2" charset="-122"/>
              </a:rPr>
              <a:t>...</a:t>
            </a:r>
            <a:endParaRPr lang="en-US" altLang="zh-CN" b="0">
              <a:latin typeface="Times New Roman" panose="02020503050405090304" pitchFamily="18" charset="0"/>
              <a:ea typeface="宋体" pitchFamily="2" charset="-122"/>
            </a:endParaRPr>
          </a:p>
          <a:p>
            <a:pPr>
              <a:lnSpc>
                <a:spcPct val="150000"/>
              </a:lnSpc>
            </a:pPr>
            <a:r>
              <a:rPr lang="zh-CN" altLang="en-US" b="0">
                <a:latin typeface="Times New Roman" panose="02020503050405090304" pitchFamily="18" charset="0"/>
                <a:ea typeface="宋体" pitchFamily="2" charset="-122"/>
              </a:rPr>
              <a:t>还有其他的形式吗？</a:t>
            </a:r>
            <a:endParaRPr lang="zh-CN" altLang="en-US" b="0" dirty="0">
              <a:latin typeface="Times New Roman" panose="02020503050405090304" pitchFamily="18" charset="0"/>
              <a:ea typeface="宋体" pitchFamily="2" charset="-122"/>
            </a:endParaRPr>
          </a:p>
        </p:txBody>
      </p:sp>
    </p:spTree>
  </p:cSld>
  <p:clrMapOvr>
    <a:masterClrMapping/>
  </p:clrMapOvr>
  <mc:AlternateContent xmlns:mc="http://schemas.openxmlformats.org/markup-compatibility/2006">
    <mc:Choice xmlns:p14="http://schemas.microsoft.com/office/powerpoint/2010/main" Requires="p14">
      <p:transition p14:dur="0"/>
    </mc:Choice>
    <mc:Fallback>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grpId="0" nodeType="clickEffect">
                                  <p:stCondLst>
                                    <p:cond delay="0"/>
                                  </p:stCondLst>
                                  <p:childTnLst>
                                    <p:set>
                                      <p:cBhvr>
                                        <p:cTn id="6" dur="1" fill="hold">
                                          <p:stCondLst>
                                            <p:cond delay="0"/>
                                          </p:stCondLst>
                                        </p:cTn>
                                        <p:tgtEl>
                                          <p:spTgt spid="4"/>
                                        </p:tgtEl>
                                        <p:attrNameLst>
                                          <p:attrName>style.visibility</p:attrName>
                                        </p:attrNameLst>
                                      </p:cBhvr>
                                      <p:to>
                                        <p:strVal val="visible"/>
                                      </p:to>
                                    </p:set>
                                    <p:anim calcmode="lin" valueType="num">
                                      <p:cBhvr additive="base">
                                        <p:cTn id="7" dur="500" fill="hold"/>
                                        <p:tgtEl>
                                          <p:spTgt spid="4"/>
                                        </p:tgtEl>
                                        <p:attrNameLst>
                                          <p:attrName>ppt_x</p:attrName>
                                        </p:attrNameLst>
                                      </p:cBhvr>
                                      <p:tavLst>
                                        <p:tav tm="0">
                                          <p:val>
                                            <p:strVal val="#ppt_x"/>
                                          </p:val>
                                        </p:tav>
                                        <p:tav tm="100000">
                                          <p:val>
                                            <p:strVal val="#ppt_x"/>
                                          </p:val>
                                        </p:tav>
                                      </p:tavLst>
                                    </p:anim>
                                    <p:anim calcmode="lin" valueType="num">
                                      <p:cBhvr additive="base">
                                        <p:cTn id="8" dur="500" fill="hold"/>
                                        <p:tgtEl>
                                          <p:spTgt spid="4"/>
                                        </p:tgtEl>
                                        <p:attrNameLst>
                                          <p:attrName>ppt_y</p:attrName>
                                        </p:attrNameLst>
                                      </p:cBhvr>
                                      <p:tavLst>
                                        <p:tav tm="0">
                                          <p:val>
                                            <p:strVal val="1+#ppt_h/2"/>
                                          </p:val>
                                        </p:tav>
                                        <p:tav tm="100000">
                                          <p:val>
                                            <p:strVal val="#ppt_y"/>
                                          </p:val>
                                        </p:tav>
                                      </p:tavLst>
                                    </p:anim>
                                  </p:childTnLst>
                                </p:cTn>
                              </p:par>
                              <p:par>
                                <p:cTn id="9" presetID="2" presetClass="entr" presetSubtype="4" fill="hold" nodeType="withEffect">
                                  <p:stCondLst>
                                    <p:cond delay="0"/>
                                  </p:stCondLst>
                                  <p:childTnLst>
                                    <p:set>
                                      <p:cBhvr>
                                        <p:cTn id="10" dur="1" fill="hold">
                                          <p:stCondLst>
                                            <p:cond delay="0"/>
                                          </p:stCondLst>
                                        </p:cTn>
                                        <p:tgtEl>
                                          <p:spTgt spid="11"/>
                                        </p:tgtEl>
                                        <p:attrNameLst>
                                          <p:attrName>style.visibility</p:attrName>
                                        </p:attrNameLst>
                                      </p:cBhvr>
                                      <p:to>
                                        <p:strVal val="visible"/>
                                      </p:to>
                                    </p:set>
                                    <p:anim calcmode="lin" valueType="num">
                                      <p:cBhvr additive="base">
                                        <p:cTn id="11" dur="500" fill="hold"/>
                                        <p:tgtEl>
                                          <p:spTgt spid="11"/>
                                        </p:tgtEl>
                                        <p:attrNameLst>
                                          <p:attrName>ppt_x</p:attrName>
                                        </p:attrNameLst>
                                      </p:cBhvr>
                                      <p:tavLst>
                                        <p:tav tm="0">
                                          <p:val>
                                            <p:strVal val="#ppt_x"/>
                                          </p:val>
                                        </p:tav>
                                        <p:tav tm="100000">
                                          <p:val>
                                            <p:strVal val="#ppt_x"/>
                                          </p:val>
                                        </p:tav>
                                      </p:tavLst>
                                    </p:anim>
                                    <p:anim calcmode="lin" valueType="num">
                                      <p:cBhvr additive="base">
                                        <p:cTn id="12" dur="500" fill="hold"/>
                                        <p:tgtEl>
                                          <p:spTgt spid="11"/>
                                        </p:tgtEl>
                                        <p:attrNameLst>
                                          <p:attrName>ppt_y</p:attrName>
                                        </p:attrNameLst>
                                      </p:cBhvr>
                                      <p:tavLst>
                                        <p:tav tm="0">
                                          <p:val>
                                            <p:strVal val="1+#ppt_h/2"/>
                                          </p:val>
                                        </p:tav>
                                        <p:tav tm="100000">
                                          <p:val>
                                            <p:strVal val="#ppt_y"/>
                                          </p:val>
                                        </p:tav>
                                      </p:tavLst>
                                    </p:anim>
                                  </p:childTnLst>
                                </p:cTn>
                              </p:par>
                            </p:childTnLst>
                          </p:cTn>
                        </p:par>
                      </p:childTnLst>
                    </p:cTn>
                  </p:par>
                  <p:par>
                    <p:cTn id="13" fill="hold">
                      <p:stCondLst>
                        <p:cond delay="indefinite"/>
                      </p:stCondLst>
                      <p:childTnLst>
                        <p:par>
                          <p:cTn id="14" fill="hold">
                            <p:stCondLst>
                              <p:cond delay="0"/>
                            </p:stCondLst>
                            <p:childTnLst>
                              <p:par>
                                <p:cTn id="15" presetID="2" presetClass="entr" presetSubtype="4" fill="hold" grpId="0" nodeType="clickEffect">
                                  <p:stCondLst>
                                    <p:cond delay="0"/>
                                  </p:stCondLst>
                                  <p:childTnLst>
                                    <p:set>
                                      <p:cBhvr>
                                        <p:cTn id="16" dur="1" fill="hold">
                                          <p:stCondLst>
                                            <p:cond delay="0"/>
                                          </p:stCondLst>
                                        </p:cTn>
                                        <p:tgtEl>
                                          <p:spTgt spid="9"/>
                                        </p:tgtEl>
                                        <p:attrNameLst>
                                          <p:attrName>style.visibility</p:attrName>
                                        </p:attrNameLst>
                                      </p:cBhvr>
                                      <p:to>
                                        <p:strVal val="visible"/>
                                      </p:to>
                                    </p:set>
                                    <p:anim calcmode="lin" valueType="num">
                                      <p:cBhvr additive="base">
                                        <p:cTn id="17" dur="500" fill="hold"/>
                                        <p:tgtEl>
                                          <p:spTgt spid="9"/>
                                        </p:tgtEl>
                                        <p:attrNameLst>
                                          <p:attrName>ppt_x</p:attrName>
                                        </p:attrNameLst>
                                      </p:cBhvr>
                                      <p:tavLst>
                                        <p:tav tm="0">
                                          <p:val>
                                            <p:strVal val="#ppt_x"/>
                                          </p:val>
                                        </p:tav>
                                        <p:tav tm="100000">
                                          <p:val>
                                            <p:strVal val="#ppt_x"/>
                                          </p:val>
                                        </p:tav>
                                      </p:tavLst>
                                    </p:anim>
                                    <p:anim calcmode="lin" valueType="num">
                                      <p:cBhvr additive="base">
                                        <p:cTn id="18" dur="500" fill="hold"/>
                                        <p:tgtEl>
                                          <p:spTgt spid="9"/>
                                        </p:tgtEl>
                                        <p:attrNameLst>
                                          <p:attrName>ppt_y</p:attrName>
                                        </p:attrNameLst>
                                      </p:cBhvr>
                                      <p:tavLst>
                                        <p:tav tm="0">
                                          <p:val>
                                            <p:strVal val="1+#ppt_h/2"/>
                                          </p:val>
                                        </p:tav>
                                        <p:tav tm="100000">
                                          <p:val>
                                            <p:strVal val="#ppt_y"/>
                                          </p:val>
                                        </p:tav>
                                      </p:tavLst>
                                    </p:anim>
                                  </p:childTnLst>
                                </p:cTn>
                              </p:par>
                            </p:childTnLst>
                          </p:cTn>
                        </p:par>
                      </p:childTnLst>
                    </p:cTn>
                  </p:par>
                  <p:par>
                    <p:cTn id="19" fill="hold">
                      <p:stCondLst>
                        <p:cond delay="indefinite"/>
                      </p:stCondLst>
                      <p:childTnLst>
                        <p:par>
                          <p:cTn id="20" fill="hold">
                            <p:stCondLst>
                              <p:cond delay="0"/>
                            </p:stCondLst>
                            <p:childTnLst>
                              <p:par>
                                <p:cTn id="21" presetID="2" presetClass="entr" presetSubtype="4" fill="hold" grpId="0" nodeType="clickEffect">
                                  <p:stCondLst>
                                    <p:cond delay="0"/>
                                  </p:stCondLst>
                                  <p:childTnLst>
                                    <p:set>
                                      <p:cBhvr>
                                        <p:cTn id="22" dur="1" fill="hold">
                                          <p:stCondLst>
                                            <p:cond delay="0"/>
                                          </p:stCondLst>
                                        </p:cTn>
                                        <p:tgtEl>
                                          <p:spTgt spid="10"/>
                                        </p:tgtEl>
                                        <p:attrNameLst>
                                          <p:attrName>style.visibility</p:attrName>
                                        </p:attrNameLst>
                                      </p:cBhvr>
                                      <p:to>
                                        <p:strVal val="visible"/>
                                      </p:to>
                                    </p:set>
                                    <p:anim calcmode="lin" valueType="num">
                                      <p:cBhvr additive="base">
                                        <p:cTn id="23" dur="500" fill="hold"/>
                                        <p:tgtEl>
                                          <p:spTgt spid="10"/>
                                        </p:tgtEl>
                                        <p:attrNameLst>
                                          <p:attrName>ppt_x</p:attrName>
                                        </p:attrNameLst>
                                      </p:cBhvr>
                                      <p:tavLst>
                                        <p:tav tm="0">
                                          <p:val>
                                            <p:strVal val="#ppt_x"/>
                                          </p:val>
                                        </p:tav>
                                        <p:tav tm="100000">
                                          <p:val>
                                            <p:strVal val="#ppt_x"/>
                                          </p:val>
                                        </p:tav>
                                      </p:tavLst>
                                    </p:anim>
                                    <p:anim calcmode="lin" valueType="num">
                                      <p:cBhvr additive="base">
                                        <p:cTn id="24" dur="500" fill="hold"/>
                                        <p:tgtEl>
                                          <p:spTgt spid="10"/>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animBg="1"/>
      <p:bldP spid="10" grpId="0"/>
      <p:bldP spid="9" grpId="0"/>
    </p:bldLst>
  </p:timing>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sz="2400">
                <a:solidFill>
                  <a:srgbClr val="004C41"/>
                </a:solidFill>
                <a:ea typeface="宋体" pitchFamily="2" charset="-122"/>
                <a:cs typeface="+mn-ea"/>
                <a:sym typeface="+mn-lt"/>
              </a:rPr>
              <a:t>机器翻译</a:t>
            </a:r>
            <a:endParaRPr lang="zh-CN" altLang="en-US">
              <a:ea typeface="宋体" pitchFamily="2" charset="-122"/>
            </a:endParaRPr>
          </a:p>
        </p:txBody>
      </p:sp>
      <p:pic>
        <p:nvPicPr>
          <p:cNvPr id="4" name="图片 3"/>
          <p:cNvPicPr>
            <a:picLocks noChangeAspect="1"/>
          </p:cNvPicPr>
          <p:nvPr/>
        </p:nvPicPr>
        <p:blipFill>
          <a:blip r:embed="rId1"/>
          <a:stretch>
            <a:fillRect/>
          </a:stretch>
        </p:blipFill>
        <p:spPr>
          <a:xfrm>
            <a:off x="566928" y="810936"/>
            <a:ext cx="8334828" cy="2439563"/>
          </a:xfrm>
          <a:prstGeom prst="rect">
            <a:avLst/>
          </a:prstGeom>
        </p:spPr>
      </p:pic>
      <p:pic>
        <p:nvPicPr>
          <p:cNvPr id="6" name="图片 5"/>
          <p:cNvPicPr>
            <a:picLocks noChangeAspect="1"/>
          </p:cNvPicPr>
          <p:nvPr/>
        </p:nvPicPr>
        <p:blipFill>
          <a:blip r:embed="rId2"/>
          <a:stretch>
            <a:fillRect/>
          </a:stretch>
        </p:blipFill>
        <p:spPr>
          <a:xfrm>
            <a:off x="571500" y="3061055"/>
            <a:ext cx="8115300" cy="2140546"/>
          </a:xfrm>
          <a:prstGeom prst="rect">
            <a:avLst/>
          </a:prstGeom>
        </p:spPr>
      </p:pic>
      <p:sp>
        <p:nvSpPr>
          <p:cNvPr id="3" name="日期占位符 2"/>
          <p:cNvSpPr>
            <a:spLocks noGrp="1"/>
          </p:cNvSpPr>
          <p:nvPr>
            <p:ph type="dt" sz="half" idx="10"/>
          </p:nvPr>
        </p:nvSpPr>
        <p:spPr/>
        <p:txBody>
          <a:bodyPr/>
          <a:lstStyle/>
          <a:p>
            <a:fld id="{451ED115-6E0E-436A-8579-6532667A5CAF}" type="datetime1">
              <a:rPr lang="zh-CN" altLang="en-US" smtClean="0"/>
            </a:fld>
            <a:endParaRPr lang="zh-CN" altLang="en-US"/>
          </a:p>
        </p:txBody>
      </p:sp>
      <p:sp>
        <p:nvSpPr>
          <p:cNvPr id="5" name="灯片编号占位符 4"/>
          <p:cNvSpPr>
            <a:spLocks noGrp="1"/>
          </p:cNvSpPr>
          <p:nvPr>
            <p:ph type="sldNum" sz="quarter" idx="12"/>
          </p:nvPr>
        </p:nvSpPr>
        <p:spPr/>
        <p:txBody>
          <a:bodyPr/>
          <a:lstStyle/>
          <a:p>
            <a:fld id="{82952373-7980-4DA7-9ADE-54D716DB38BB}" type="slidenum">
              <a:rPr lang="zh-CN" altLang="en-US" smtClean="0"/>
            </a:fld>
            <a:endParaRPr lang="zh-CN" altLang="en-US"/>
          </a:p>
        </p:txBody>
      </p:sp>
    </p:spTree>
  </p:cSld>
  <p:clrMapOvr>
    <a:masterClrMapping/>
  </p:clrMapOvr>
  <mc:AlternateContent xmlns:mc="http://schemas.openxmlformats.org/markup-compatibility/2006">
    <mc:Choice xmlns:p14="http://schemas.microsoft.com/office/powerpoint/2010/main" Requires="p14">
      <p:transition p14:dur="0"/>
    </mc:Choice>
    <mc:Fallback>
      <p:transition/>
    </mc:Fallback>
  </mc:AlternateContent>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文本框 3"/>
          <p:cNvSpPr txBox="1"/>
          <p:nvPr/>
        </p:nvSpPr>
        <p:spPr>
          <a:xfrm>
            <a:off x="616329" y="892764"/>
            <a:ext cx="8527671" cy="455253"/>
          </a:xfrm>
          <a:prstGeom prst="rect">
            <a:avLst/>
          </a:prstGeom>
          <a:ln>
            <a:noFill/>
          </a:ln>
        </p:spPr>
        <p:style>
          <a:lnRef idx="2">
            <a:schemeClr val="dk1"/>
          </a:lnRef>
          <a:fillRef idx="1">
            <a:schemeClr val="lt1"/>
          </a:fillRef>
          <a:effectRef idx="0">
            <a:schemeClr val="dk1"/>
          </a:effectRef>
          <a:fontRef idx="minor">
            <a:schemeClr val="dk1"/>
          </a:fontRef>
        </p:style>
        <p:txBody>
          <a:bodyPr wrap="square" rtlCol="0" anchor="t">
            <a:spAutoFit/>
          </a:bodyPr>
          <a:lstStyle/>
          <a:p>
            <a:pPr>
              <a:lnSpc>
                <a:spcPct val="150000"/>
              </a:lnSpc>
            </a:pPr>
            <a:r>
              <a:rPr lang="zh-CN" altLang="en-US" b="0">
                <a:solidFill>
                  <a:srgbClr val="0000FF"/>
                </a:solidFill>
                <a:latin typeface="Times New Roman" panose="02020503050405090304" pitchFamily="18" charset="0"/>
                <a:ea typeface="宋体" pitchFamily="2" charset="-122"/>
              </a:rPr>
              <a:t>文本</a:t>
            </a:r>
            <a:r>
              <a:rPr lang="zh-CN" altLang="en-US" b="0" dirty="0">
                <a:solidFill>
                  <a:srgbClr val="0000FF"/>
                </a:solidFill>
                <a:latin typeface="Times New Roman" panose="02020503050405090304" pitchFamily="18" charset="0"/>
                <a:ea typeface="宋体" pitchFamily="2" charset="-122"/>
              </a:rPr>
              <a:t>分类是机器对文本按照一定的分类体系自动标注类别</a:t>
            </a:r>
            <a:r>
              <a:rPr lang="zh-CN" altLang="en-US" b="0">
                <a:solidFill>
                  <a:srgbClr val="0000FF"/>
                </a:solidFill>
                <a:latin typeface="Times New Roman" panose="02020503050405090304" pitchFamily="18" charset="0"/>
                <a:ea typeface="宋体" pitchFamily="2" charset="-122"/>
              </a:rPr>
              <a:t>的过程。</a:t>
            </a:r>
            <a:endParaRPr lang="zh-CN" altLang="en-US" b="0" dirty="0">
              <a:solidFill>
                <a:srgbClr val="0000FF"/>
              </a:solidFill>
              <a:latin typeface="Times New Roman" panose="02020503050405090304" pitchFamily="18" charset="0"/>
              <a:ea typeface="宋体" pitchFamily="2" charset="-122"/>
            </a:endParaRPr>
          </a:p>
        </p:txBody>
      </p:sp>
      <p:sp>
        <p:nvSpPr>
          <p:cNvPr id="6" name="标题 5"/>
          <p:cNvSpPr>
            <a:spLocks noGrp="1"/>
          </p:cNvSpPr>
          <p:nvPr>
            <p:ph type="title"/>
          </p:nvPr>
        </p:nvSpPr>
        <p:spPr>
          <a:xfrm>
            <a:off x="34925" y="1"/>
            <a:ext cx="9109075" cy="702469"/>
          </a:xfrm>
        </p:spPr>
        <p:txBody>
          <a:bodyPr/>
          <a:lstStyle/>
          <a:p>
            <a:r>
              <a:rPr lang="zh-CN" altLang="en-US" sz="2800">
                <a:solidFill>
                  <a:srgbClr val="004C41"/>
                </a:solidFill>
                <a:ea typeface="宋体" pitchFamily="2" charset="-122"/>
                <a:cs typeface="+mn-ea"/>
                <a:sym typeface="+mn-lt"/>
              </a:rPr>
              <a:t>文本分类和情感分析</a:t>
            </a:r>
            <a:endParaRPr lang="zh-CN" altLang="en-US">
              <a:ea typeface="宋体" pitchFamily="2" charset="-122"/>
            </a:endParaRPr>
          </a:p>
        </p:txBody>
      </p:sp>
      <p:sp>
        <p:nvSpPr>
          <p:cNvPr id="2" name="日期占位符 1"/>
          <p:cNvSpPr>
            <a:spLocks noGrp="1"/>
          </p:cNvSpPr>
          <p:nvPr>
            <p:ph type="dt" sz="half" idx="10"/>
          </p:nvPr>
        </p:nvSpPr>
        <p:spPr/>
        <p:txBody>
          <a:bodyPr/>
          <a:lstStyle/>
          <a:p>
            <a:fld id="{3F164FEC-6C2F-496B-A0EC-E4EEF068DC0F}" type="datetime1">
              <a:rPr lang="zh-CN" altLang="en-US" smtClean="0"/>
            </a:fld>
            <a:endParaRPr lang="zh-CN" altLang="en-US"/>
          </a:p>
        </p:txBody>
      </p:sp>
      <p:sp>
        <p:nvSpPr>
          <p:cNvPr id="7" name="灯片编号占位符 6"/>
          <p:cNvSpPr>
            <a:spLocks noGrp="1"/>
          </p:cNvSpPr>
          <p:nvPr>
            <p:ph type="sldNum" sz="quarter" idx="12"/>
          </p:nvPr>
        </p:nvSpPr>
        <p:spPr/>
        <p:txBody>
          <a:bodyPr/>
          <a:lstStyle/>
          <a:p>
            <a:fld id="{82952373-7980-4DA7-9ADE-54D716DB38BB}" type="slidenum">
              <a:rPr lang="zh-CN" altLang="en-US" smtClean="0"/>
            </a:fld>
            <a:endParaRPr lang="zh-CN" altLang="en-US"/>
          </a:p>
        </p:txBody>
      </p:sp>
      <p:sp>
        <p:nvSpPr>
          <p:cNvPr id="12" name="文本框 11"/>
          <p:cNvSpPr txBox="1"/>
          <p:nvPr/>
        </p:nvSpPr>
        <p:spPr>
          <a:xfrm>
            <a:off x="810453" y="1310684"/>
            <a:ext cx="7751003" cy="455253"/>
          </a:xfrm>
          <a:prstGeom prst="rect">
            <a:avLst/>
          </a:prstGeom>
          <a:noFill/>
        </p:spPr>
        <p:txBody>
          <a:bodyPr wrap="square">
            <a:spAutoFit/>
          </a:bodyPr>
          <a:lstStyle/>
          <a:p>
            <a:pPr>
              <a:lnSpc>
                <a:spcPct val="150000"/>
              </a:lnSpc>
            </a:pPr>
            <a:r>
              <a:rPr lang="zh-CN" altLang="en-US" b="0">
                <a:solidFill>
                  <a:srgbClr val="FF0000"/>
                </a:solidFill>
                <a:latin typeface="Times New Roman" panose="02020503050405090304" pitchFamily="18" charset="0"/>
                <a:ea typeface="宋体" pitchFamily="2" charset="-122"/>
              </a:rPr>
              <a:t>垃圾邮件分类，新闻类型分类</a:t>
            </a:r>
            <a:r>
              <a:rPr lang="zh-CN" altLang="en-US" b="0">
                <a:solidFill>
                  <a:srgbClr val="FF0000"/>
                </a:solidFill>
                <a:latin typeface="Times New Roman" panose="02020503050405090304" pitchFamily="18" charset="0"/>
              </a:rPr>
              <a:t>，情感分析，</a:t>
            </a:r>
            <a:r>
              <a:rPr lang="en-US" altLang="zh-CN" b="0">
                <a:solidFill>
                  <a:srgbClr val="FF0000"/>
                </a:solidFill>
                <a:latin typeface="Times New Roman" panose="02020503050405090304" pitchFamily="18" charset="0"/>
                <a:ea typeface="宋体" pitchFamily="2" charset="-122"/>
              </a:rPr>
              <a:t>...</a:t>
            </a:r>
            <a:endParaRPr lang="en-US" altLang="zh-CN" b="0">
              <a:solidFill>
                <a:srgbClr val="FF0000"/>
              </a:solidFill>
              <a:latin typeface="Times New Roman" panose="02020503050405090304" pitchFamily="18" charset="0"/>
              <a:ea typeface="宋体" pitchFamily="2" charset="-122"/>
            </a:endParaRPr>
          </a:p>
        </p:txBody>
      </p:sp>
      <p:pic>
        <p:nvPicPr>
          <p:cNvPr id="5" name="图片 4"/>
          <p:cNvPicPr>
            <a:picLocks noChangeAspect="1"/>
          </p:cNvPicPr>
          <p:nvPr/>
        </p:nvPicPr>
        <p:blipFill>
          <a:blip r:embed="rId1"/>
          <a:stretch>
            <a:fillRect/>
          </a:stretch>
        </p:blipFill>
        <p:spPr>
          <a:xfrm>
            <a:off x="388191" y="1842516"/>
            <a:ext cx="6744130" cy="2831771"/>
          </a:xfrm>
          <a:prstGeom prst="rect">
            <a:avLst/>
          </a:prstGeom>
        </p:spPr>
      </p:pic>
      <p:pic>
        <p:nvPicPr>
          <p:cNvPr id="9" name="图片 8"/>
          <p:cNvPicPr>
            <a:picLocks noChangeAspect="1"/>
          </p:cNvPicPr>
          <p:nvPr/>
        </p:nvPicPr>
        <p:blipFill>
          <a:blip r:embed="rId2"/>
          <a:stretch>
            <a:fillRect/>
          </a:stretch>
        </p:blipFill>
        <p:spPr>
          <a:xfrm>
            <a:off x="4589462" y="2028788"/>
            <a:ext cx="3634782" cy="2645499"/>
          </a:xfrm>
          <a:prstGeom prst="rect">
            <a:avLst/>
          </a:prstGeom>
        </p:spPr>
      </p:pic>
    </p:spTree>
  </p:cSld>
  <p:clrMapOvr>
    <a:masterClrMapping/>
  </p:clrMapOvr>
  <mc:AlternateContent xmlns:mc="http://schemas.openxmlformats.org/markup-compatibility/2006">
    <mc:Choice xmlns:p14="http://schemas.microsoft.com/office/powerpoint/2010/main" Requires="p14">
      <p:transition p14:dur="0"/>
    </mc:Choice>
    <mc:Fallback>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grpId="0" nodeType="clickEffect">
                                  <p:stCondLst>
                                    <p:cond delay="0"/>
                                  </p:stCondLst>
                                  <p:childTnLst>
                                    <p:set>
                                      <p:cBhvr>
                                        <p:cTn id="6" dur="1" fill="hold">
                                          <p:stCondLst>
                                            <p:cond delay="0"/>
                                          </p:stCondLst>
                                        </p:cTn>
                                        <p:tgtEl>
                                          <p:spTgt spid="12"/>
                                        </p:tgtEl>
                                        <p:attrNameLst>
                                          <p:attrName>style.visibility</p:attrName>
                                        </p:attrNameLst>
                                      </p:cBhvr>
                                      <p:to>
                                        <p:strVal val="visible"/>
                                      </p:to>
                                    </p:set>
                                    <p:anim calcmode="lin" valueType="num">
                                      <p:cBhvr additive="base">
                                        <p:cTn id="7" dur="500" fill="hold"/>
                                        <p:tgtEl>
                                          <p:spTgt spid="12"/>
                                        </p:tgtEl>
                                        <p:attrNameLst>
                                          <p:attrName>ppt_x</p:attrName>
                                        </p:attrNameLst>
                                      </p:cBhvr>
                                      <p:tavLst>
                                        <p:tav tm="0">
                                          <p:val>
                                            <p:strVal val="#ppt_x"/>
                                          </p:val>
                                        </p:tav>
                                        <p:tav tm="100000">
                                          <p:val>
                                            <p:strVal val="#ppt_x"/>
                                          </p:val>
                                        </p:tav>
                                      </p:tavLst>
                                    </p:anim>
                                    <p:anim calcmode="lin" valueType="num">
                                      <p:cBhvr additive="base">
                                        <p:cTn id="8" dur="500" fill="hold"/>
                                        <p:tgtEl>
                                          <p:spTgt spid="12"/>
                                        </p:tgtEl>
                                        <p:attrNameLst>
                                          <p:attrName>ppt_y</p:attrName>
                                        </p:attrNameLst>
                                      </p:cBhvr>
                                      <p:tavLst>
                                        <p:tav tm="0">
                                          <p:val>
                                            <p:strVal val="1+#ppt_h/2"/>
                                          </p:val>
                                        </p:tav>
                                        <p:tav tm="100000">
                                          <p:val>
                                            <p:strVal val="#ppt_y"/>
                                          </p:val>
                                        </p:tav>
                                      </p:tavLst>
                                    </p:anim>
                                  </p:childTnLst>
                                </p:cTn>
                              </p:par>
                            </p:childTnLst>
                          </p:cTn>
                        </p:par>
                      </p:childTnLst>
                    </p:cTn>
                  </p:par>
                  <p:par>
                    <p:cTn id="9" fill="hold">
                      <p:stCondLst>
                        <p:cond delay="indefinite"/>
                      </p:stCondLst>
                      <p:childTnLst>
                        <p:par>
                          <p:cTn id="10" fill="hold">
                            <p:stCondLst>
                              <p:cond delay="0"/>
                            </p:stCondLst>
                            <p:childTnLst>
                              <p:par>
                                <p:cTn id="11" presetID="2" presetClass="entr" presetSubtype="4" fill="hold" nodeType="clickEffect">
                                  <p:stCondLst>
                                    <p:cond delay="0"/>
                                  </p:stCondLst>
                                  <p:childTnLst>
                                    <p:set>
                                      <p:cBhvr>
                                        <p:cTn id="12" dur="1" fill="hold">
                                          <p:stCondLst>
                                            <p:cond delay="0"/>
                                          </p:stCondLst>
                                        </p:cTn>
                                        <p:tgtEl>
                                          <p:spTgt spid="5"/>
                                        </p:tgtEl>
                                        <p:attrNameLst>
                                          <p:attrName>style.visibility</p:attrName>
                                        </p:attrNameLst>
                                      </p:cBhvr>
                                      <p:to>
                                        <p:strVal val="visible"/>
                                      </p:to>
                                    </p:set>
                                    <p:anim calcmode="lin" valueType="num">
                                      <p:cBhvr additive="base">
                                        <p:cTn id="13" dur="500" fill="hold"/>
                                        <p:tgtEl>
                                          <p:spTgt spid="5"/>
                                        </p:tgtEl>
                                        <p:attrNameLst>
                                          <p:attrName>ppt_x</p:attrName>
                                        </p:attrNameLst>
                                      </p:cBhvr>
                                      <p:tavLst>
                                        <p:tav tm="0">
                                          <p:val>
                                            <p:strVal val="#ppt_x"/>
                                          </p:val>
                                        </p:tav>
                                        <p:tav tm="100000">
                                          <p:val>
                                            <p:strVal val="#ppt_x"/>
                                          </p:val>
                                        </p:tav>
                                      </p:tavLst>
                                    </p:anim>
                                    <p:anim calcmode="lin" valueType="num">
                                      <p:cBhvr additive="base">
                                        <p:cTn id="14" dur="500" fill="hold"/>
                                        <p:tgtEl>
                                          <p:spTgt spid="5"/>
                                        </p:tgtEl>
                                        <p:attrNameLst>
                                          <p:attrName>ppt_y</p:attrName>
                                        </p:attrNameLst>
                                      </p:cBhvr>
                                      <p:tavLst>
                                        <p:tav tm="0">
                                          <p:val>
                                            <p:strVal val="1+#ppt_h/2"/>
                                          </p:val>
                                        </p:tav>
                                        <p:tav tm="100000">
                                          <p:val>
                                            <p:strVal val="#ppt_y"/>
                                          </p:val>
                                        </p:tav>
                                      </p:tavLst>
                                    </p:anim>
                                  </p:childTnLst>
                                </p:cTn>
                              </p:par>
                            </p:childTnLst>
                          </p:cTn>
                        </p:par>
                      </p:childTnLst>
                    </p:cTn>
                  </p:par>
                  <p:par>
                    <p:cTn id="15" fill="hold">
                      <p:stCondLst>
                        <p:cond delay="indefinite"/>
                      </p:stCondLst>
                      <p:childTnLst>
                        <p:par>
                          <p:cTn id="16" fill="hold">
                            <p:stCondLst>
                              <p:cond delay="0"/>
                            </p:stCondLst>
                            <p:childTnLst>
                              <p:par>
                                <p:cTn id="17" presetID="2" presetClass="entr" presetSubtype="4" fill="hold" nodeType="clickEffect">
                                  <p:stCondLst>
                                    <p:cond delay="0"/>
                                  </p:stCondLst>
                                  <p:childTnLst>
                                    <p:set>
                                      <p:cBhvr>
                                        <p:cTn id="18" dur="1" fill="hold">
                                          <p:stCondLst>
                                            <p:cond delay="0"/>
                                          </p:stCondLst>
                                        </p:cTn>
                                        <p:tgtEl>
                                          <p:spTgt spid="9"/>
                                        </p:tgtEl>
                                        <p:attrNameLst>
                                          <p:attrName>style.visibility</p:attrName>
                                        </p:attrNameLst>
                                      </p:cBhvr>
                                      <p:to>
                                        <p:strVal val="visible"/>
                                      </p:to>
                                    </p:set>
                                    <p:anim calcmode="lin" valueType="num">
                                      <p:cBhvr additive="base">
                                        <p:cTn id="19" dur="500" fill="hold"/>
                                        <p:tgtEl>
                                          <p:spTgt spid="9"/>
                                        </p:tgtEl>
                                        <p:attrNameLst>
                                          <p:attrName>ppt_x</p:attrName>
                                        </p:attrNameLst>
                                      </p:cBhvr>
                                      <p:tavLst>
                                        <p:tav tm="0">
                                          <p:val>
                                            <p:strVal val="#ppt_x"/>
                                          </p:val>
                                        </p:tav>
                                        <p:tav tm="100000">
                                          <p:val>
                                            <p:strVal val="#ppt_x"/>
                                          </p:val>
                                        </p:tav>
                                      </p:tavLst>
                                    </p:anim>
                                    <p:anim calcmode="lin" valueType="num">
                                      <p:cBhvr additive="base">
                                        <p:cTn id="20" dur="500" fill="hold"/>
                                        <p:tgtEl>
                                          <p:spTgt spid="9"/>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2" grpId="0"/>
    </p:bldLst>
  </p:timing>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标题 5"/>
          <p:cNvSpPr>
            <a:spLocks noGrp="1"/>
          </p:cNvSpPr>
          <p:nvPr>
            <p:ph type="title"/>
          </p:nvPr>
        </p:nvSpPr>
        <p:spPr>
          <a:xfrm>
            <a:off x="34925" y="1"/>
            <a:ext cx="9109075" cy="702469"/>
          </a:xfrm>
        </p:spPr>
        <p:txBody>
          <a:bodyPr/>
          <a:lstStyle/>
          <a:p>
            <a:r>
              <a:rPr lang="zh-CN" altLang="en-US" sz="2800">
                <a:solidFill>
                  <a:srgbClr val="004C41"/>
                </a:solidFill>
                <a:ea typeface="宋体" pitchFamily="2" charset="-122"/>
                <a:cs typeface="+mn-ea"/>
                <a:sym typeface="+mn-lt"/>
              </a:rPr>
              <a:t>文本分类和情感分析</a:t>
            </a:r>
            <a:endParaRPr lang="zh-CN" altLang="en-US">
              <a:ea typeface="宋体" pitchFamily="2" charset="-122"/>
            </a:endParaRPr>
          </a:p>
        </p:txBody>
      </p:sp>
      <p:sp>
        <p:nvSpPr>
          <p:cNvPr id="2" name="日期占位符 1"/>
          <p:cNvSpPr>
            <a:spLocks noGrp="1"/>
          </p:cNvSpPr>
          <p:nvPr>
            <p:ph type="dt" sz="half" idx="10"/>
          </p:nvPr>
        </p:nvSpPr>
        <p:spPr/>
        <p:txBody>
          <a:bodyPr/>
          <a:lstStyle/>
          <a:p>
            <a:fld id="{3F164FEC-6C2F-496B-A0EC-E4EEF068DC0F}" type="datetime1">
              <a:rPr lang="zh-CN" altLang="en-US" smtClean="0"/>
            </a:fld>
            <a:endParaRPr lang="zh-CN" altLang="en-US"/>
          </a:p>
        </p:txBody>
      </p:sp>
      <p:sp>
        <p:nvSpPr>
          <p:cNvPr id="7" name="灯片编号占位符 6"/>
          <p:cNvSpPr>
            <a:spLocks noGrp="1"/>
          </p:cNvSpPr>
          <p:nvPr>
            <p:ph type="sldNum" sz="quarter" idx="12"/>
          </p:nvPr>
        </p:nvSpPr>
        <p:spPr/>
        <p:txBody>
          <a:bodyPr/>
          <a:lstStyle/>
          <a:p>
            <a:fld id="{82952373-7980-4DA7-9ADE-54D716DB38BB}" type="slidenum">
              <a:rPr lang="zh-CN" altLang="en-US" smtClean="0"/>
            </a:fld>
            <a:endParaRPr lang="zh-CN" altLang="en-US"/>
          </a:p>
        </p:txBody>
      </p:sp>
      <p:sp>
        <p:nvSpPr>
          <p:cNvPr id="11" name="矩形 10"/>
          <p:cNvSpPr/>
          <p:nvPr/>
        </p:nvSpPr>
        <p:spPr>
          <a:xfrm>
            <a:off x="526124" y="834871"/>
            <a:ext cx="8126676" cy="2117246"/>
          </a:xfrm>
          <a:prstGeom prst="rect">
            <a:avLst/>
          </a:prstGeom>
        </p:spPr>
        <p:txBody>
          <a:bodyPr wrap="square">
            <a:spAutoFit/>
          </a:bodyPr>
          <a:lstStyle/>
          <a:p>
            <a:pPr>
              <a:lnSpc>
                <a:spcPct val="150000"/>
              </a:lnSpc>
            </a:pPr>
            <a:r>
              <a:rPr lang="zh-CN" altLang="en-US">
                <a:solidFill>
                  <a:srgbClr val="3333FF"/>
                </a:solidFill>
                <a:latin typeface="Times New Roman" panose="02020503050405090304" pitchFamily="18" charset="0"/>
              </a:rPr>
              <a:t>情感</a:t>
            </a:r>
            <a:r>
              <a:rPr lang="zh-CN" altLang="en-US" dirty="0">
                <a:solidFill>
                  <a:srgbClr val="3333FF"/>
                </a:solidFill>
                <a:latin typeface="Times New Roman" panose="02020503050405090304" pitchFamily="18" charset="0"/>
              </a:rPr>
              <a:t>分析</a:t>
            </a:r>
            <a:endParaRPr lang="en-US" altLang="zh-CN" dirty="0">
              <a:solidFill>
                <a:srgbClr val="3333FF"/>
              </a:solidFill>
              <a:latin typeface="Times New Roman" panose="02020503050405090304" pitchFamily="18" charset="0"/>
            </a:endParaRPr>
          </a:p>
          <a:p>
            <a:pPr indent="342900">
              <a:lnSpc>
                <a:spcPct val="150000"/>
              </a:lnSpc>
            </a:pPr>
            <a:r>
              <a:rPr lang="zh-CN" altLang="en-US" b="0" dirty="0">
                <a:solidFill>
                  <a:srgbClr val="FF0000"/>
                </a:solidFill>
                <a:latin typeface="Times New Roman" panose="02020503050405090304" pitchFamily="18" charset="0"/>
              </a:rPr>
              <a:t>对带有感情色彩的主观性文本进行分析、处理、归纳和推理的</a:t>
            </a:r>
            <a:r>
              <a:rPr lang="zh-CN" altLang="en-US" b="0">
                <a:solidFill>
                  <a:srgbClr val="FF0000"/>
                </a:solidFill>
                <a:latin typeface="Times New Roman" panose="02020503050405090304" pitchFamily="18" charset="0"/>
              </a:rPr>
              <a:t>过程。</a:t>
            </a:r>
            <a:endParaRPr lang="en-US" altLang="zh-CN" b="0">
              <a:solidFill>
                <a:srgbClr val="FF0000"/>
              </a:solidFill>
              <a:latin typeface="Times New Roman" panose="02020503050405090304" pitchFamily="18" charset="0"/>
            </a:endParaRPr>
          </a:p>
          <a:p>
            <a:pPr indent="342900">
              <a:lnSpc>
                <a:spcPct val="150000"/>
              </a:lnSpc>
            </a:pPr>
            <a:r>
              <a:rPr lang="zh-CN" altLang="en-US" b="0">
                <a:solidFill>
                  <a:srgbClr val="3333FF"/>
                </a:solidFill>
                <a:latin typeface="Times New Roman" panose="02020503050405090304" pitchFamily="18" charset="0"/>
              </a:rPr>
              <a:t>正面</a:t>
            </a:r>
            <a:r>
              <a:rPr lang="en-US" altLang="zh-CN" b="0" dirty="0">
                <a:solidFill>
                  <a:srgbClr val="3333FF"/>
                </a:solidFill>
                <a:latin typeface="Times New Roman" panose="02020503050405090304" pitchFamily="18" charset="0"/>
              </a:rPr>
              <a:t>/</a:t>
            </a:r>
            <a:r>
              <a:rPr lang="zh-CN" altLang="en-US" b="0" dirty="0">
                <a:solidFill>
                  <a:srgbClr val="3333FF"/>
                </a:solidFill>
                <a:latin typeface="Times New Roman" panose="02020503050405090304" pitchFamily="18" charset="0"/>
              </a:rPr>
              <a:t>积极的 </a:t>
            </a:r>
            <a:r>
              <a:rPr lang="en-US" altLang="zh-CN" b="0" dirty="0">
                <a:solidFill>
                  <a:srgbClr val="3333FF"/>
                </a:solidFill>
                <a:latin typeface="Times New Roman" panose="02020503050405090304" pitchFamily="18" charset="0"/>
              </a:rPr>
              <a:t>– </a:t>
            </a:r>
            <a:r>
              <a:rPr lang="zh-CN" altLang="en-US" b="0" dirty="0">
                <a:solidFill>
                  <a:srgbClr val="3333FF"/>
                </a:solidFill>
                <a:latin typeface="Times New Roman" panose="02020503050405090304" pitchFamily="18" charset="0"/>
              </a:rPr>
              <a:t>负面</a:t>
            </a:r>
            <a:r>
              <a:rPr lang="en-US" altLang="zh-CN" b="0" dirty="0">
                <a:solidFill>
                  <a:srgbClr val="3333FF"/>
                </a:solidFill>
                <a:latin typeface="Times New Roman" panose="02020503050405090304" pitchFamily="18" charset="0"/>
              </a:rPr>
              <a:t>/</a:t>
            </a:r>
            <a:r>
              <a:rPr lang="zh-CN" altLang="en-US" b="0" dirty="0">
                <a:solidFill>
                  <a:srgbClr val="3333FF"/>
                </a:solidFill>
                <a:latin typeface="Times New Roman" panose="02020503050405090304" pitchFamily="18" charset="0"/>
              </a:rPr>
              <a:t>消极</a:t>
            </a:r>
            <a:r>
              <a:rPr lang="zh-CN" altLang="en-US" b="0">
                <a:solidFill>
                  <a:srgbClr val="3333FF"/>
                </a:solidFill>
                <a:latin typeface="Times New Roman" panose="02020503050405090304" pitchFamily="18" charset="0"/>
              </a:rPr>
              <a:t>的</a:t>
            </a:r>
            <a:r>
              <a:rPr lang="zh-CN" altLang="en-US" b="0">
                <a:latin typeface="Times New Roman" panose="02020503050405090304" pitchFamily="18" charset="0"/>
              </a:rPr>
              <a:t>。</a:t>
            </a:r>
            <a:endParaRPr lang="en-US" altLang="zh-CN" b="0">
              <a:latin typeface="Times New Roman" panose="02020503050405090304" pitchFamily="18" charset="0"/>
            </a:endParaRPr>
          </a:p>
          <a:p>
            <a:pPr indent="342900">
              <a:lnSpc>
                <a:spcPct val="150000"/>
              </a:lnSpc>
            </a:pPr>
            <a:r>
              <a:rPr lang="zh-CN" altLang="en-US" b="0">
                <a:latin typeface="Times New Roman" panose="02020503050405090304" pitchFamily="18" charset="0"/>
              </a:rPr>
              <a:t>通过</a:t>
            </a:r>
            <a:r>
              <a:rPr lang="zh-CN" altLang="en-US" b="0" dirty="0">
                <a:latin typeface="Times New Roman" panose="02020503050405090304" pitchFamily="18" charset="0"/>
              </a:rPr>
              <a:t>情感分析，可以快速了解用户的舆情情况。例如，我们可以对电影评论或由该电影引起的情绪状态进行分析。</a:t>
            </a:r>
            <a:endParaRPr lang="zh-CN" altLang="en-US" b="0" dirty="0">
              <a:latin typeface="Times New Roman" panose="02020503050405090304" pitchFamily="18" charset="0"/>
            </a:endParaRPr>
          </a:p>
        </p:txBody>
      </p:sp>
      <p:pic>
        <p:nvPicPr>
          <p:cNvPr id="5" name="图片 4"/>
          <p:cNvPicPr>
            <a:picLocks noChangeAspect="1"/>
          </p:cNvPicPr>
          <p:nvPr/>
        </p:nvPicPr>
        <p:blipFill>
          <a:blip r:embed="rId1"/>
          <a:stretch>
            <a:fillRect/>
          </a:stretch>
        </p:blipFill>
        <p:spPr>
          <a:xfrm>
            <a:off x="338328" y="1515818"/>
            <a:ext cx="4294940" cy="3307642"/>
          </a:xfrm>
          <a:prstGeom prst="rect">
            <a:avLst/>
          </a:prstGeom>
        </p:spPr>
      </p:pic>
      <p:pic>
        <p:nvPicPr>
          <p:cNvPr id="9" name="图片 8"/>
          <p:cNvPicPr>
            <a:picLocks noChangeAspect="1"/>
          </p:cNvPicPr>
          <p:nvPr/>
        </p:nvPicPr>
        <p:blipFill>
          <a:blip r:embed="rId2"/>
          <a:stretch>
            <a:fillRect/>
          </a:stretch>
        </p:blipFill>
        <p:spPr>
          <a:xfrm>
            <a:off x="4821064" y="1335024"/>
            <a:ext cx="3193195" cy="3488436"/>
          </a:xfrm>
          <a:prstGeom prst="rect">
            <a:avLst/>
          </a:prstGeom>
        </p:spPr>
      </p:pic>
    </p:spTree>
  </p:cSld>
  <p:clrMapOvr>
    <a:masterClrMapping/>
  </p:clrMapOvr>
  <mc:AlternateContent xmlns:mc="http://schemas.openxmlformats.org/markup-compatibility/2006">
    <mc:Choice xmlns:p14="http://schemas.microsoft.com/office/powerpoint/2010/main" Requires="p14">
      <p:transition p14:dur="0"/>
    </mc:Choice>
    <mc:Fallback>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nodeType="clickEffect">
                                  <p:stCondLst>
                                    <p:cond delay="0"/>
                                  </p:stCondLst>
                                  <p:childTnLst>
                                    <p:set>
                                      <p:cBhvr>
                                        <p:cTn id="6" dur="1" fill="hold">
                                          <p:stCondLst>
                                            <p:cond delay="0"/>
                                          </p:stCondLst>
                                        </p:cTn>
                                        <p:tgtEl>
                                          <p:spTgt spid="5"/>
                                        </p:tgtEl>
                                        <p:attrNameLst>
                                          <p:attrName>style.visibility</p:attrName>
                                        </p:attrNameLst>
                                      </p:cBhvr>
                                      <p:to>
                                        <p:strVal val="visible"/>
                                      </p:to>
                                    </p:set>
                                    <p:anim calcmode="lin" valueType="num">
                                      <p:cBhvr additive="base">
                                        <p:cTn id="7" dur="500" fill="hold"/>
                                        <p:tgtEl>
                                          <p:spTgt spid="5"/>
                                        </p:tgtEl>
                                        <p:attrNameLst>
                                          <p:attrName>ppt_x</p:attrName>
                                        </p:attrNameLst>
                                      </p:cBhvr>
                                      <p:tavLst>
                                        <p:tav tm="0">
                                          <p:val>
                                            <p:strVal val="#ppt_x"/>
                                          </p:val>
                                        </p:tav>
                                        <p:tav tm="100000">
                                          <p:val>
                                            <p:strVal val="#ppt_x"/>
                                          </p:val>
                                        </p:tav>
                                      </p:tavLst>
                                    </p:anim>
                                    <p:anim calcmode="lin" valueType="num">
                                      <p:cBhvr additive="base">
                                        <p:cTn id="8" dur="500" fill="hold"/>
                                        <p:tgtEl>
                                          <p:spTgt spid="5"/>
                                        </p:tgtEl>
                                        <p:attrNameLst>
                                          <p:attrName>ppt_y</p:attrName>
                                        </p:attrNameLst>
                                      </p:cBhvr>
                                      <p:tavLst>
                                        <p:tav tm="0">
                                          <p:val>
                                            <p:strVal val="1+#ppt_h/2"/>
                                          </p:val>
                                        </p:tav>
                                        <p:tav tm="100000">
                                          <p:val>
                                            <p:strVal val="#ppt_y"/>
                                          </p:val>
                                        </p:tav>
                                      </p:tavLst>
                                    </p:anim>
                                  </p:childTnLst>
                                </p:cTn>
                              </p:par>
                            </p:childTnLst>
                          </p:cTn>
                        </p:par>
                      </p:childTnLst>
                    </p:cTn>
                  </p:par>
                  <p:par>
                    <p:cTn id="9" fill="hold">
                      <p:stCondLst>
                        <p:cond delay="indefinite"/>
                      </p:stCondLst>
                      <p:childTnLst>
                        <p:par>
                          <p:cTn id="10" fill="hold">
                            <p:stCondLst>
                              <p:cond delay="0"/>
                            </p:stCondLst>
                            <p:childTnLst>
                              <p:par>
                                <p:cTn id="11" presetID="2" presetClass="entr" presetSubtype="4" fill="hold" nodeType="clickEffect">
                                  <p:stCondLst>
                                    <p:cond delay="0"/>
                                  </p:stCondLst>
                                  <p:childTnLst>
                                    <p:set>
                                      <p:cBhvr>
                                        <p:cTn id="12" dur="1" fill="hold">
                                          <p:stCondLst>
                                            <p:cond delay="0"/>
                                          </p:stCondLst>
                                        </p:cTn>
                                        <p:tgtEl>
                                          <p:spTgt spid="9"/>
                                        </p:tgtEl>
                                        <p:attrNameLst>
                                          <p:attrName>style.visibility</p:attrName>
                                        </p:attrNameLst>
                                      </p:cBhvr>
                                      <p:to>
                                        <p:strVal val="visible"/>
                                      </p:to>
                                    </p:set>
                                    <p:anim calcmode="lin" valueType="num">
                                      <p:cBhvr additive="base">
                                        <p:cTn id="13" dur="500" fill="hold"/>
                                        <p:tgtEl>
                                          <p:spTgt spid="9"/>
                                        </p:tgtEl>
                                        <p:attrNameLst>
                                          <p:attrName>ppt_x</p:attrName>
                                        </p:attrNameLst>
                                      </p:cBhvr>
                                      <p:tavLst>
                                        <p:tav tm="0">
                                          <p:val>
                                            <p:strVal val="#ppt_x"/>
                                          </p:val>
                                        </p:tav>
                                        <p:tav tm="100000">
                                          <p:val>
                                            <p:strVal val="#ppt_x"/>
                                          </p:val>
                                        </p:tav>
                                      </p:tavLst>
                                    </p:anim>
                                    <p:anim calcmode="lin" valueType="num">
                                      <p:cBhvr additive="base">
                                        <p:cTn id="14" dur="500" fill="hold"/>
                                        <p:tgtEl>
                                          <p:spTgt spid="9"/>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文本框 3"/>
          <p:cNvSpPr txBox="1"/>
          <p:nvPr/>
        </p:nvSpPr>
        <p:spPr>
          <a:xfrm>
            <a:off x="397765" y="966667"/>
            <a:ext cx="8586216" cy="1286250"/>
          </a:xfrm>
          <a:prstGeom prst="rect">
            <a:avLst/>
          </a:prstGeom>
          <a:ln>
            <a:noFill/>
          </a:ln>
        </p:spPr>
        <p:style>
          <a:lnRef idx="2">
            <a:schemeClr val="dk1"/>
          </a:lnRef>
          <a:fillRef idx="1">
            <a:schemeClr val="lt1"/>
          </a:fillRef>
          <a:effectRef idx="0">
            <a:schemeClr val="dk1"/>
          </a:effectRef>
          <a:fontRef idx="minor">
            <a:schemeClr val="dk1"/>
          </a:fontRef>
        </p:style>
        <p:txBody>
          <a:bodyPr wrap="square" rtlCol="0" anchor="t">
            <a:spAutoFit/>
          </a:bodyPr>
          <a:lstStyle/>
          <a:p>
            <a:pPr>
              <a:lnSpc>
                <a:spcPct val="150000"/>
              </a:lnSpc>
            </a:pPr>
            <a:r>
              <a:rPr lang="en-US" altLang="zh-CN" dirty="0">
                <a:latin typeface="Times New Roman" panose="02020503050405090304" pitchFamily="18" charset="0"/>
                <a:ea typeface="宋体" pitchFamily="2" charset="-122"/>
              </a:rPr>
              <a:t>       </a:t>
            </a:r>
            <a:r>
              <a:rPr lang="zh-CN" altLang="en-US" b="0" dirty="0">
                <a:latin typeface="Times New Roman" panose="02020503050405090304" pitchFamily="18" charset="0"/>
                <a:ea typeface="宋体" pitchFamily="2" charset="-122"/>
              </a:rPr>
              <a:t>信息抽取是采用机器学习算法从</a:t>
            </a:r>
            <a:r>
              <a:rPr lang="zh-CN" altLang="en-US" b="0" dirty="0">
                <a:solidFill>
                  <a:srgbClr val="FF0000"/>
                </a:solidFill>
                <a:latin typeface="Times New Roman" panose="02020503050405090304" pitchFamily="18" charset="0"/>
                <a:ea typeface="宋体" pitchFamily="2" charset="-122"/>
              </a:rPr>
              <a:t>非结构化文本</a:t>
            </a:r>
            <a:r>
              <a:rPr lang="zh-CN" altLang="en-US" b="0" dirty="0">
                <a:latin typeface="Times New Roman" panose="02020503050405090304" pitchFamily="18" charset="0"/>
                <a:ea typeface="宋体" pitchFamily="2" charset="-122"/>
              </a:rPr>
              <a:t>中自动抽取出用户感兴趣的内容，并进行结构化处理。例如</a:t>
            </a:r>
            <a:r>
              <a:rPr lang="zh-CN" altLang="en-US" b="0" dirty="0">
                <a:solidFill>
                  <a:srgbClr val="FF0000"/>
                </a:solidFill>
                <a:latin typeface="Times New Roman" panose="02020503050405090304" pitchFamily="18" charset="0"/>
                <a:ea typeface="宋体" pitchFamily="2" charset="-122"/>
              </a:rPr>
              <a:t>命名实体识别、实体关系抽取、事件抽取、因果关系抽取</a:t>
            </a:r>
            <a:r>
              <a:rPr lang="zh-CN" altLang="en-US" b="0" dirty="0">
                <a:latin typeface="Times New Roman" panose="02020503050405090304" pitchFamily="18" charset="0"/>
                <a:ea typeface="宋体" pitchFamily="2" charset="-122"/>
              </a:rPr>
              <a:t>等。</a:t>
            </a:r>
            <a:endParaRPr lang="zh-CN" altLang="en-US" b="0" dirty="0">
              <a:latin typeface="Times New Roman" panose="02020503050405090304" pitchFamily="18" charset="0"/>
              <a:ea typeface="宋体" pitchFamily="2" charset="-122"/>
            </a:endParaRPr>
          </a:p>
        </p:txBody>
      </p:sp>
      <p:pic>
        <p:nvPicPr>
          <p:cNvPr id="102" name="图片 101"/>
          <p:cNvPicPr/>
          <p:nvPr/>
        </p:nvPicPr>
        <p:blipFill>
          <a:blip r:embed="rId1"/>
          <a:stretch>
            <a:fillRect/>
          </a:stretch>
        </p:blipFill>
        <p:spPr>
          <a:xfrm>
            <a:off x="735965" y="2264601"/>
            <a:ext cx="6389371" cy="1746885"/>
          </a:xfrm>
          <a:prstGeom prst="rect">
            <a:avLst/>
          </a:prstGeom>
          <a:noFill/>
          <a:ln w="9525">
            <a:noFill/>
          </a:ln>
        </p:spPr>
      </p:pic>
      <p:pic>
        <p:nvPicPr>
          <p:cNvPr id="5" name="图片 4"/>
          <p:cNvPicPr>
            <a:picLocks noChangeAspect="1"/>
          </p:cNvPicPr>
          <p:nvPr/>
        </p:nvPicPr>
        <p:blipFill>
          <a:blip r:embed="rId2"/>
          <a:stretch>
            <a:fillRect/>
          </a:stretch>
        </p:blipFill>
        <p:spPr>
          <a:xfrm>
            <a:off x="7079615" y="2359025"/>
            <a:ext cx="1282700" cy="1574800"/>
          </a:xfrm>
          <a:prstGeom prst="rect">
            <a:avLst/>
          </a:prstGeom>
        </p:spPr>
      </p:pic>
      <p:sp>
        <p:nvSpPr>
          <p:cNvPr id="3" name="标题 2"/>
          <p:cNvSpPr>
            <a:spLocks noGrp="1"/>
          </p:cNvSpPr>
          <p:nvPr>
            <p:ph type="title"/>
          </p:nvPr>
        </p:nvSpPr>
        <p:spPr>
          <a:xfrm>
            <a:off x="1" y="-7237"/>
            <a:ext cx="9109075" cy="702469"/>
          </a:xfrm>
        </p:spPr>
        <p:txBody>
          <a:bodyPr/>
          <a:lstStyle/>
          <a:p>
            <a:r>
              <a:rPr lang="zh-CN" altLang="en-US" sz="2800">
                <a:solidFill>
                  <a:srgbClr val="004C41"/>
                </a:solidFill>
                <a:ea typeface="宋体" pitchFamily="2" charset="-122"/>
                <a:cs typeface="+mn-ea"/>
                <a:sym typeface="+mn-lt"/>
              </a:rPr>
              <a:t>信息抽取</a:t>
            </a:r>
            <a:endParaRPr lang="zh-CN" altLang="en-US">
              <a:ea typeface="宋体" pitchFamily="2" charset="-122"/>
            </a:endParaRPr>
          </a:p>
        </p:txBody>
      </p:sp>
      <p:sp>
        <p:nvSpPr>
          <p:cNvPr id="2" name="日期占位符 1"/>
          <p:cNvSpPr>
            <a:spLocks noGrp="1"/>
          </p:cNvSpPr>
          <p:nvPr>
            <p:ph type="dt" sz="half" idx="10"/>
          </p:nvPr>
        </p:nvSpPr>
        <p:spPr/>
        <p:txBody>
          <a:bodyPr/>
          <a:lstStyle/>
          <a:p>
            <a:fld id="{18D6B9B8-804D-4DCC-AF51-8F3DC727264E}" type="datetime1">
              <a:rPr lang="zh-CN" altLang="en-US" smtClean="0"/>
            </a:fld>
            <a:endParaRPr lang="zh-CN" altLang="en-US"/>
          </a:p>
        </p:txBody>
      </p:sp>
      <p:sp>
        <p:nvSpPr>
          <p:cNvPr id="6" name="灯片编号占位符 5"/>
          <p:cNvSpPr>
            <a:spLocks noGrp="1"/>
          </p:cNvSpPr>
          <p:nvPr>
            <p:ph type="sldNum" sz="quarter" idx="12"/>
          </p:nvPr>
        </p:nvSpPr>
        <p:spPr/>
        <p:txBody>
          <a:bodyPr/>
          <a:lstStyle/>
          <a:p>
            <a:fld id="{82952373-7980-4DA7-9ADE-54D716DB38BB}" type="slidenum">
              <a:rPr lang="zh-CN" altLang="en-US" smtClean="0"/>
            </a:fld>
            <a:endParaRPr lang="zh-CN" altLang="en-US"/>
          </a:p>
        </p:txBody>
      </p:sp>
    </p:spTree>
  </p:cSld>
  <p:clrMapOvr>
    <a:masterClrMapping/>
  </p:clrMapOvr>
  <mc:AlternateContent xmlns:mc="http://schemas.openxmlformats.org/markup-compatibility/2006">
    <mc:Choice xmlns:p14="http://schemas.microsoft.com/office/powerpoint/2010/main" Requires="p14">
      <p:transition p14:dur="0"/>
    </mc:Choice>
    <mc:Fallback>
      <p:transition/>
    </mc:Fallback>
  </mc:AlternateContent>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sz="2400">
                <a:solidFill>
                  <a:srgbClr val="004C41"/>
                </a:solidFill>
                <a:ea typeface="宋体" pitchFamily="2" charset="-122"/>
                <a:cs typeface="+mn-ea"/>
                <a:sym typeface="+mn-lt"/>
              </a:rPr>
              <a:t>信息抽取</a:t>
            </a:r>
            <a:endParaRPr lang="zh-CN" altLang="en-US">
              <a:ea typeface="宋体" pitchFamily="2" charset="-122"/>
            </a:endParaRPr>
          </a:p>
        </p:txBody>
      </p:sp>
      <p:sp>
        <p:nvSpPr>
          <p:cNvPr id="6" name="文本框 5"/>
          <p:cNvSpPr txBox="1"/>
          <p:nvPr/>
        </p:nvSpPr>
        <p:spPr>
          <a:xfrm>
            <a:off x="600148" y="904899"/>
            <a:ext cx="8164377" cy="3181961"/>
          </a:xfrm>
          <a:prstGeom prst="rect">
            <a:avLst/>
          </a:prstGeom>
          <a:noFill/>
        </p:spPr>
        <p:txBody>
          <a:bodyPr wrap="square">
            <a:spAutoFit/>
          </a:bodyPr>
          <a:lstStyle/>
          <a:p>
            <a:pPr marL="285750" indent="-285750">
              <a:lnSpc>
                <a:spcPct val="150000"/>
              </a:lnSpc>
              <a:buClr>
                <a:srgbClr val="0070C0"/>
              </a:buClr>
              <a:buFont typeface="Wingdings" panose="05000000000000000000" pitchFamily="2" charset="2"/>
              <a:buChar char="n"/>
            </a:pPr>
            <a:r>
              <a:rPr lang="zh-CN" altLang="en-US" sz="1700">
                <a:solidFill>
                  <a:srgbClr val="3333FF"/>
                </a:solidFill>
                <a:latin typeface="Times New Roman" panose="02020503050405090304" pitchFamily="18" charset="0"/>
                <a:cs typeface="Times New Roman" panose="02020503050405090304" pitchFamily="18" charset="0"/>
              </a:rPr>
              <a:t>非结构化数据</a:t>
            </a:r>
            <a:r>
              <a:rPr lang="zh-CN" altLang="en-US" sz="1700" b="0">
                <a:latin typeface="Times New Roman" panose="02020503050405090304" pitchFamily="18" charset="0"/>
                <a:cs typeface="Times New Roman" panose="02020503050405090304" pitchFamily="18" charset="0"/>
              </a:rPr>
              <a:t>是指没有固定格式或预先定义的数据结构的信息。这种数据通常是人类的直接产物。与结构化数据不同，</a:t>
            </a:r>
            <a:r>
              <a:rPr lang="zh-CN" altLang="en-US" sz="1700" b="0">
                <a:solidFill>
                  <a:srgbClr val="0000FF"/>
                </a:solidFill>
                <a:latin typeface="Times New Roman" panose="02020503050405090304" pitchFamily="18" charset="0"/>
                <a:cs typeface="Times New Roman" panose="02020503050405090304" pitchFamily="18" charset="0"/>
              </a:rPr>
              <a:t>非结构化数据不容易用传统数据库表格的形式进行组织和分析。</a:t>
            </a:r>
            <a:endParaRPr lang="zh-CN" altLang="en-US" sz="1700" b="0">
              <a:solidFill>
                <a:srgbClr val="0000FF"/>
              </a:solidFill>
              <a:latin typeface="Times New Roman" panose="02020503050405090304" pitchFamily="18" charset="0"/>
              <a:cs typeface="Times New Roman" panose="02020503050405090304" pitchFamily="18" charset="0"/>
            </a:endParaRPr>
          </a:p>
          <a:p>
            <a:pPr marL="285750" indent="-285750">
              <a:lnSpc>
                <a:spcPct val="150000"/>
              </a:lnSpc>
              <a:buClr>
                <a:srgbClr val="0070C0"/>
              </a:buClr>
              <a:buFont typeface="Wingdings" panose="05000000000000000000" pitchFamily="2" charset="2"/>
              <a:buChar char="n"/>
            </a:pPr>
            <a:r>
              <a:rPr lang="zh-CN" altLang="en-US" sz="1700" b="0">
                <a:solidFill>
                  <a:srgbClr val="0000FF"/>
                </a:solidFill>
                <a:latin typeface="Times New Roman" panose="02020503050405090304" pitchFamily="18" charset="0"/>
                <a:cs typeface="Times New Roman" panose="02020503050405090304" pitchFamily="18" charset="0"/>
              </a:rPr>
              <a:t>非结构化数据的例子</a:t>
            </a:r>
            <a:r>
              <a:rPr lang="zh-CN" altLang="en-US" sz="1700" b="0">
                <a:latin typeface="Times New Roman" panose="02020503050405090304" pitchFamily="18" charset="0"/>
                <a:cs typeface="Times New Roman" panose="02020503050405090304" pitchFamily="18" charset="0"/>
              </a:rPr>
              <a:t>：</a:t>
            </a:r>
            <a:r>
              <a:rPr lang="zh-CN" altLang="en-US" sz="1700" b="0">
                <a:solidFill>
                  <a:srgbClr val="0000FF"/>
                </a:solidFill>
                <a:latin typeface="Times New Roman" panose="02020503050405090304" pitchFamily="18" charset="0"/>
                <a:cs typeface="Times New Roman" panose="02020503050405090304" pitchFamily="18" charset="0"/>
              </a:rPr>
              <a:t>文本数据</a:t>
            </a:r>
            <a:r>
              <a:rPr lang="zh-CN" altLang="en-US" sz="1700" b="0">
                <a:latin typeface="Times New Roman" panose="02020503050405090304" pitchFamily="18" charset="0"/>
                <a:cs typeface="Times New Roman" panose="02020503050405090304" pitchFamily="18" charset="0"/>
              </a:rPr>
              <a:t>（电子邮件、报告、文章、社交媒体帖子、</a:t>
            </a:r>
            <a:r>
              <a:rPr lang="zh-CN" altLang="en-US" sz="1700" b="0">
                <a:solidFill>
                  <a:srgbClr val="191B1F"/>
                </a:solidFill>
                <a:latin typeface="Times New Roman" panose="02020503050405090304" pitchFamily="18" charset="0"/>
              </a:rPr>
              <a:t>病历、医疗报告</a:t>
            </a:r>
            <a:r>
              <a:rPr lang="zh-CN" altLang="en-US" sz="1700" b="0">
                <a:latin typeface="Times New Roman" panose="02020503050405090304" pitchFamily="18" charset="0"/>
                <a:cs typeface="Times New Roman" panose="02020503050405090304" pitchFamily="18" charset="0"/>
              </a:rPr>
              <a:t>等）、图像数据（照片、图表、扫描文档等）、</a:t>
            </a:r>
            <a:r>
              <a:rPr lang="zh-CN" altLang="en-US" sz="1700" b="0">
                <a:solidFill>
                  <a:srgbClr val="0000FF"/>
                </a:solidFill>
                <a:latin typeface="Times New Roman" panose="02020503050405090304" pitchFamily="18" charset="0"/>
                <a:cs typeface="Times New Roman" panose="02020503050405090304" pitchFamily="18" charset="0"/>
              </a:rPr>
              <a:t>音频数据</a:t>
            </a:r>
            <a:r>
              <a:rPr lang="zh-CN" altLang="en-US" sz="1700" b="0">
                <a:latin typeface="Times New Roman" panose="02020503050405090304" pitchFamily="18" charset="0"/>
                <a:cs typeface="Times New Roman" panose="02020503050405090304" pitchFamily="18" charset="0"/>
              </a:rPr>
              <a:t>（音乐、播客、电话录音等）和</a:t>
            </a:r>
            <a:r>
              <a:rPr lang="zh-CN" altLang="en-US" sz="1700" b="0">
                <a:solidFill>
                  <a:srgbClr val="0000FF"/>
                </a:solidFill>
                <a:latin typeface="Times New Roman" panose="02020503050405090304" pitchFamily="18" charset="0"/>
                <a:cs typeface="Times New Roman" panose="02020503050405090304" pitchFamily="18" charset="0"/>
              </a:rPr>
              <a:t>视频数据</a:t>
            </a:r>
            <a:r>
              <a:rPr lang="zh-CN" altLang="en-US" sz="1700" b="0">
                <a:latin typeface="Times New Roman" panose="02020503050405090304" pitchFamily="18" charset="0"/>
                <a:cs typeface="Times New Roman" panose="02020503050405090304" pitchFamily="18" charset="0"/>
              </a:rPr>
              <a:t>（电影、电视节目、网络视频、</a:t>
            </a:r>
            <a:r>
              <a:rPr lang="zh-CN" altLang="en-US" sz="1700" b="0">
                <a:solidFill>
                  <a:srgbClr val="191B1F"/>
                </a:solidFill>
                <a:latin typeface="Times New Roman" panose="02020503050405090304" pitchFamily="18" charset="0"/>
              </a:rPr>
              <a:t>医学影像</a:t>
            </a:r>
            <a:r>
              <a:rPr lang="zh-CN" altLang="en-US" sz="1700" b="0">
                <a:latin typeface="Times New Roman" panose="02020503050405090304" pitchFamily="18" charset="0"/>
                <a:cs typeface="Times New Roman" panose="02020503050405090304" pitchFamily="18" charset="0"/>
              </a:rPr>
              <a:t>等）。</a:t>
            </a:r>
            <a:endParaRPr lang="zh-CN" altLang="en-US" sz="1700" b="0">
              <a:latin typeface="Times New Roman" panose="02020503050405090304" pitchFamily="18" charset="0"/>
              <a:cs typeface="Times New Roman" panose="02020503050405090304" pitchFamily="18" charset="0"/>
            </a:endParaRPr>
          </a:p>
          <a:p>
            <a:pPr marL="285750" indent="-285750">
              <a:lnSpc>
                <a:spcPct val="150000"/>
              </a:lnSpc>
              <a:buClr>
                <a:srgbClr val="0070C0"/>
              </a:buClr>
              <a:buFont typeface="Wingdings" panose="05000000000000000000" pitchFamily="2" charset="2"/>
              <a:buChar char="n"/>
            </a:pPr>
            <a:r>
              <a:rPr lang="zh-CN" altLang="en-US" sz="1700" b="0">
                <a:latin typeface="Times New Roman" panose="02020503050405090304" pitchFamily="18" charset="0"/>
                <a:cs typeface="Times New Roman" panose="02020503050405090304" pitchFamily="18" charset="0"/>
              </a:rPr>
              <a:t>非结构化数据的挑战在于它的</a:t>
            </a:r>
            <a:r>
              <a:rPr lang="zh-CN" altLang="en-US" sz="1700">
                <a:solidFill>
                  <a:srgbClr val="FF0000"/>
                </a:solidFill>
                <a:latin typeface="Times New Roman" panose="02020503050405090304" pitchFamily="18" charset="0"/>
                <a:cs typeface="Times New Roman" panose="02020503050405090304" pitchFamily="18" charset="0"/>
              </a:rPr>
              <a:t>多样性和复杂性</a:t>
            </a:r>
            <a:r>
              <a:rPr lang="zh-CN" altLang="en-US" sz="1700" b="0">
                <a:latin typeface="Times New Roman" panose="02020503050405090304" pitchFamily="18" charset="0"/>
                <a:cs typeface="Times New Roman" panose="02020503050405090304" pitchFamily="18" charset="0"/>
              </a:rPr>
              <a:t>。它通常包含丰富的语义信息，但这些信息往往需要通过自然语言处理、图像识别、语音识别等技术来提取和理解。</a:t>
            </a:r>
            <a:endParaRPr lang="zh-CN" altLang="en-US" sz="1700" b="0">
              <a:latin typeface="Times New Roman" panose="02020503050405090304" pitchFamily="18" charset="0"/>
              <a:cs typeface="Times New Roman" panose="02020503050405090304" pitchFamily="18" charset="0"/>
            </a:endParaRPr>
          </a:p>
        </p:txBody>
      </p:sp>
      <p:sp>
        <p:nvSpPr>
          <p:cNvPr id="3" name="日期占位符 2"/>
          <p:cNvSpPr>
            <a:spLocks noGrp="1"/>
          </p:cNvSpPr>
          <p:nvPr>
            <p:ph type="dt" sz="half" idx="10"/>
          </p:nvPr>
        </p:nvSpPr>
        <p:spPr/>
        <p:txBody>
          <a:bodyPr/>
          <a:lstStyle/>
          <a:p>
            <a:fld id="{25908F61-06C5-4869-AA73-7D34E76C1B19}" type="datetime1">
              <a:rPr lang="zh-CN" altLang="en-US" smtClean="0"/>
            </a:fld>
            <a:endParaRPr lang="zh-CN" altLang="en-US"/>
          </a:p>
        </p:txBody>
      </p:sp>
      <p:sp>
        <p:nvSpPr>
          <p:cNvPr id="4" name="灯片编号占位符 3"/>
          <p:cNvSpPr>
            <a:spLocks noGrp="1"/>
          </p:cNvSpPr>
          <p:nvPr>
            <p:ph type="sldNum" sz="quarter" idx="12"/>
          </p:nvPr>
        </p:nvSpPr>
        <p:spPr/>
        <p:txBody>
          <a:bodyPr/>
          <a:lstStyle/>
          <a:p>
            <a:fld id="{82952373-7980-4DA7-9ADE-54D716DB38BB}" type="slidenum">
              <a:rPr lang="zh-CN" altLang="en-US" smtClean="0"/>
            </a:fld>
            <a:endParaRPr lang="zh-CN" altLang="en-US"/>
          </a:p>
        </p:txBody>
      </p:sp>
    </p:spTree>
  </p:cSld>
  <p:clrMapOvr>
    <a:masterClrMapping/>
  </p:clrMapOvr>
  <mc:AlternateContent xmlns:mc="http://schemas.openxmlformats.org/markup-compatibility/2006">
    <mc:Choice xmlns:p14="http://schemas.microsoft.com/office/powerpoint/2010/main" Requires="p14">
      <p:transition p14:dur="0"/>
    </mc:Choice>
    <mc:Fallback>
      <p:transition/>
    </mc:Fallback>
  </mc:AlternateContent>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sz="2400">
                <a:solidFill>
                  <a:srgbClr val="004C41"/>
                </a:solidFill>
                <a:ea typeface="宋体" pitchFamily="2" charset="-122"/>
                <a:cs typeface="+mn-ea"/>
                <a:sym typeface="+mn-lt"/>
              </a:rPr>
              <a:t>信息抽取</a:t>
            </a:r>
            <a:endParaRPr lang="zh-CN" altLang="en-US">
              <a:ea typeface="宋体" pitchFamily="2" charset="-122"/>
            </a:endParaRPr>
          </a:p>
        </p:txBody>
      </p:sp>
      <p:pic>
        <p:nvPicPr>
          <p:cNvPr id="6" name="图片 5"/>
          <p:cNvPicPr>
            <a:picLocks noChangeAspect="1"/>
          </p:cNvPicPr>
          <p:nvPr/>
        </p:nvPicPr>
        <p:blipFill>
          <a:blip r:embed="rId1">
            <a:extLst>
              <a:ext uri="{28A0092B-C50C-407E-A947-70E740481C1C}">
                <a14:useLocalDpi xmlns:a14="http://schemas.microsoft.com/office/drawing/2010/main" val="0"/>
              </a:ext>
            </a:extLst>
          </a:blip>
          <a:stretch>
            <a:fillRect/>
          </a:stretch>
        </p:blipFill>
        <p:spPr>
          <a:xfrm>
            <a:off x="1503200" y="1465580"/>
            <a:ext cx="5598640" cy="3185992"/>
          </a:xfrm>
          <a:prstGeom prst="rect">
            <a:avLst/>
          </a:prstGeom>
        </p:spPr>
      </p:pic>
      <p:sp>
        <p:nvSpPr>
          <p:cNvPr id="8" name="文本框 7"/>
          <p:cNvSpPr txBox="1"/>
          <p:nvPr/>
        </p:nvSpPr>
        <p:spPr>
          <a:xfrm>
            <a:off x="713561" y="1010920"/>
            <a:ext cx="1579278" cy="369332"/>
          </a:xfrm>
          <a:prstGeom prst="rect">
            <a:avLst/>
          </a:prstGeom>
          <a:noFill/>
        </p:spPr>
        <p:txBody>
          <a:bodyPr wrap="none" rtlCol="0">
            <a:spAutoFit/>
          </a:bodyPr>
          <a:lstStyle/>
          <a:p>
            <a:r>
              <a:rPr lang="zh-CN" altLang="en-US">
                <a:latin typeface="Times New Roman" panose="02020503050405090304" pitchFamily="18" charset="0"/>
              </a:rPr>
              <a:t>非结构化数据</a:t>
            </a:r>
            <a:endParaRPr lang="zh-CN" altLang="en-US">
              <a:latin typeface="Times New Roman" panose="02020503050405090304" pitchFamily="18" charset="0"/>
            </a:endParaRPr>
          </a:p>
        </p:txBody>
      </p:sp>
      <p:sp>
        <p:nvSpPr>
          <p:cNvPr id="3" name="日期占位符 2"/>
          <p:cNvSpPr>
            <a:spLocks noGrp="1"/>
          </p:cNvSpPr>
          <p:nvPr>
            <p:ph type="dt" sz="half" idx="10"/>
          </p:nvPr>
        </p:nvSpPr>
        <p:spPr/>
        <p:txBody>
          <a:bodyPr/>
          <a:lstStyle/>
          <a:p>
            <a:fld id="{011C3422-0F16-41D8-BAF6-C8EC98BE9F24}" type="datetime1">
              <a:rPr lang="zh-CN" altLang="en-US" smtClean="0"/>
            </a:fld>
            <a:endParaRPr lang="zh-CN" altLang="en-US"/>
          </a:p>
        </p:txBody>
      </p:sp>
      <p:sp>
        <p:nvSpPr>
          <p:cNvPr id="4" name="灯片编号占位符 3"/>
          <p:cNvSpPr>
            <a:spLocks noGrp="1"/>
          </p:cNvSpPr>
          <p:nvPr>
            <p:ph type="sldNum" sz="quarter" idx="12"/>
          </p:nvPr>
        </p:nvSpPr>
        <p:spPr/>
        <p:txBody>
          <a:bodyPr/>
          <a:lstStyle/>
          <a:p>
            <a:fld id="{82952373-7980-4DA7-9ADE-54D716DB38BB}" type="slidenum">
              <a:rPr lang="zh-CN" altLang="en-US" smtClean="0"/>
            </a:fld>
            <a:endParaRPr lang="zh-CN" altLang="en-US"/>
          </a:p>
        </p:txBody>
      </p:sp>
    </p:spTree>
  </p:cSld>
  <p:clrMapOvr>
    <a:masterClrMapping/>
  </p:clrMapOvr>
  <mc:AlternateContent xmlns:mc="http://schemas.openxmlformats.org/markup-compatibility/2006">
    <mc:Choice xmlns:p14="http://schemas.microsoft.com/office/powerpoint/2010/main" Requires="p14">
      <p:transition p14:dur="0"/>
    </mc:Choice>
    <mc:Fallback>
      <p:transition/>
    </mc:Fallback>
  </mc:AlternateContent>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sz="2400">
                <a:solidFill>
                  <a:srgbClr val="004C41"/>
                </a:solidFill>
                <a:ea typeface="宋体" pitchFamily="2" charset="-122"/>
                <a:cs typeface="+mn-ea"/>
                <a:sym typeface="+mn-lt"/>
              </a:rPr>
              <a:t>信息抽取</a:t>
            </a:r>
            <a:endParaRPr lang="zh-CN" altLang="en-US">
              <a:ea typeface="宋体" pitchFamily="2" charset="-122"/>
            </a:endParaRPr>
          </a:p>
        </p:txBody>
      </p:sp>
      <p:pic>
        <p:nvPicPr>
          <p:cNvPr id="4" name="图片 3"/>
          <p:cNvPicPr>
            <a:picLocks noChangeAspect="1"/>
          </p:cNvPicPr>
          <p:nvPr/>
        </p:nvPicPr>
        <p:blipFill>
          <a:blip r:embed="rId1">
            <a:extLst>
              <a:ext uri="{28A0092B-C50C-407E-A947-70E740481C1C}">
                <a14:useLocalDpi xmlns:a14="http://schemas.microsoft.com/office/drawing/2010/main" val="0"/>
              </a:ext>
            </a:extLst>
          </a:blip>
          <a:stretch>
            <a:fillRect/>
          </a:stretch>
        </p:blipFill>
        <p:spPr>
          <a:xfrm>
            <a:off x="1061136" y="1101734"/>
            <a:ext cx="5649544" cy="3777606"/>
          </a:xfrm>
          <a:prstGeom prst="rect">
            <a:avLst/>
          </a:prstGeom>
        </p:spPr>
      </p:pic>
      <p:sp>
        <p:nvSpPr>
          <p:cNvPr id="5" name="文本框 4"/>
          <p:cNvSpPr txBox="1"/>
          <p:nvPr/>
        </p:nvSpPr>
        <p:spPr>
          <a:xfrm>
            <a:off x="713561" y="1010920"/>
            <a:ext cx="1579278" cy="369332"/>
          </a:xfrm>
          <a:prstGeom prst="rect">
            <a:avLst/>
          </a:prstGeom>
          <a:noFill/>
        </p:spPr>
        <p:txBody>
          <a:bodyPr wrap="none" rtlCol="0">
            <a:spAutoFit/>
          </a:bodyPr>
          <a:lstStyle/>
          <a:p>
            <a:r>
              <a:rPr lang="zh-CN" altLang="en-US">
                <a:latin typeface="Times New Roman" panose="02020503050405090304" pitchFamily="18" charset="0"/>
              </a:rPr>
              <a:t>非结构化数据</a:t>
            </a:r>
            <a:endParaRPr lang="zh-CN" altLang="en-US">
              <a:latin typeface="Times New Roman" panose="02020503050405090304" pitchFamily="18" charset="0"/>
            </a:endParaRPr>
          </a:p>
        </p:txBody>
      </p:sp>
      <p:sp>
        <p:nvSpPr>
          <p:cNvPr id="3" name="日期占位符 2"/>
          <p:cNvSpPr>
            <a:spLocks noGrp="1"/>
          </p:cNvSpPr>
          <p:nvPr>
            <p:ph type="dt" sz="half" idx="10"/>
          </p:nvPr>
        </p:nvSpPr>
        <p:spPr/>
        <p:txBody>
          <a:bodyPr/>
          <a:lstStyle/>
          <a:p>
            <a:fld id="{D016009F-2D2C-47F9-91E6-6362389CDD24}" type="datetime1">
              <a:rPr lang="zh-CN" altLang="en-US" smtClean="0"/>
            </a:fld>
            <a:endParaRPr lang="zh-CN" altLang="en-US"/>
          </a:p>
        </p:txBody>
      </p:sp>
      <p:sp>
        <p:nvSpPr>
          <p:cNvPr id="6" name="灯片编号占位符 5"/>
          <p:cNvSpPr>
            <a:spLocks noGrp="1"/>
          </p:cNvSpPr>
          <p:nvPr>
            <p:ph type="sldNum" sz="quarter" idx="12"/>
          </p:nvPr>
        </p:nvSpPr>
        <p:spPr/>
        <p:txBody>
          <a:bodyPr/>
          <a:lstStyle/>
          <a:p>
            <a:fld id="{82952373-7980-4DA7-9ADE-54D716DB38BB}" type="slidenum">
              <a:rPr lang="zh-CN" altLang="en-US" smtClean="0"/>
            </a:fld>
            <a:endParaRPr lang="zh-CN" altLang="en-US"/>
          </a:p>
        </p:txBody>
      </p:sp>
    </p:spTree>
  </p:cSld>
  <p:clrMapOvr>
    <a:masterClrMapping/>
  </p:clrMapOvr>
  <mc:AlternateContent xmlns:mc="http://schemas.openxmlformats.org/markup-compatibility/2006">
    <mc:Choice xmlns:p14="http://schemas.microsoft.com/office/powerpoint/2010/main" Requires="p14">
      <p:transition p14:dur="0"/>
    </mc:Choice>
    <mc:Fallback>
      <p:transition/>
    </mc:Fallback>
  </mc:AlternateContent>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sz="2400">
                <a:solidFill>
                  <a:srgbClr val="004C41"/>
                </a:solidFill>
                <a:ea typeface="宋体" pitchFamily="2" charset="-122"/>
                <a:cs typeface="+mn-ea"/>
                <a:sym typeface="+mn-lt"/>
              </a:rPr>
              <a:t>信息抽取</a:t>
            </a:r>
            <a:endParaRPr lang="zh-CN" altLang="en-US">
              <a:ea typeface="宋体" pitchFamily="2" charset="-122"/>
            </a:endParaRPr>
          </a:p>
        </p:txBody>
      </p:sp>
      <p:pic>
        <p:nvPicPr>
          <p:cNvPr id="4" name="图片 3"/>
          <p:cNvPicPr>
            <a:picLocks noChangeAspect="1"/>
          </p:cNvPicPr>
          <p:nvPr/>
        </p:nvPicPr>
        <p:blipFill>
          <a:blip r:embed="rId1">
            <a:extLst>
              <a:ext uri="{28A0092B-C50C-407E-A947-70E740481C1C}">
                <a14:useLocalDpi xmlns:a14="http://schemas.microsoft.com/office/drawing/2010/main" val="0"/>
              </a:ext>
            </a:extLst>
          </a:blip>
          <a:stretch>
            <a:fillRect/>
          </a:stretch>
        </p:blipFill>
        <p:spPr>
          <a:xfrm>
            <a:off x="1376680" y="1320013"/>
            <a:ext cx="6471920" cy="3537142"/>
          </a:xfrm>
          <a:prstGeom prst="rect">
            <a:avLst/>
          </a:prstGeom>
        </p:spPr>
      </p:pic>
      <p:sp>
        <p:nvSpPr>
          <p:cNvPr id="5" name="文本框 4"/>
          <p:cNvSpPr txBox="1"/>
          <p:nvPr/>
        </p:nvSpPr>
        <p:spPr>
          <a:xfrm>
            <a:off x="587041" y="909320"/>
            <a:ext cx="1346844" cy="369332"/>
          </a:xfrm>
          <a:prstGeom prst="rect">
            <a:avLst/>
          </a:prstGeom>
          <a:noFill/>
        </p:spPr>
        <p:txBody>
          <a:bodyPr wrap="none" rtlCol="0">
            <a:spAutoFit/>
          </a:bodyPr>
          <a:lstStyle/>
          <a:p>
            <a:r>
              <a:rPr lang="zh-CN" altLang="en-US">
                <a:latin typeface="Times New Roman" panose="02020503050405090304" pitchFamily="18" charset="0"/>
              </a:rPr>
              <a:t>结构化数据</a:t>
            </a:r>
            <a:endParaRPr lang="zh-CN" altLang="en-US">
              <a:latin typeface="Times New Roman" panose="02020503050405090304" pitchFamily="18" charset="0"/>
            </a:endParaRPr>
          </a:p>
        </p:txBody>
      </p:sp>
      <p:sp>
        <p:nvSpPr>
          <p:cNvPr id="3" name="日期占位符 2"/>
          <p:cNvSpPr>
            <a:spLocks noGrp="1"/>
          </p:cNvSpPr>
          <p:nvPr>
            <p:ph type="dt" sz="half" idx="10"/>
          </p:nvPr>
        </p:nvSpPr>
        <p:spPr/>
        <p:txBody>
          <a:bodyPr/>
          <a:lstStyle/>
          <a:p>
            <a:fld id="{826435E7-19A1-46AA-99FA-9D4D9793C790}" type="datetime1">
              <a:rPr lang="zh-CN" altLang="en-US" smtClean="0"/>
            </a:fld>
            <a:endParaRPr lang="zh-CN" altLang="en-US"/>
          </a:p>
        </p:txBody>
      </p:sp>
      <p:sp>
        <p:nvSpPr>
          <p:cNvPr id="6" name="灯片编号占位符 5"/>
          <p:cNvSpPr>
            <a:spLocks noGrp="1"/>
          </p:cNvSpPr>
          <p:nvPr>
            <p:ph type="sldNum" sz="quarter" idx="12"/>
          </p:nvPr>
        </p:nvSpPr>
        <p:spPr/>
        <p:txBody>
          <a:bodyPr/>
          <a:lstStyle/>
          <a:p>
            <a:fld id="{82952373-7980-4DA7-9ADE-54D716DB38BB}" type="slidenum">
              <a:rPr lang="zh-CN" altLang="en-US" smtClean="0"/>
            </a:fld>
            <a:endParaRPr lang="zh-CN" altLang="en-US"/>
          </a:p>
        </p:txBody>
      </p:sp>
    </p:spTree>
  </p:cSld>
  <p:clrMapOvr>
    <a:masterClrMapping/>
  </p:clrMapOvr>
  <mc:AlternateContent xmlns:mc="http://schemas.openxmlformats.org/markup-compatibility/2006">
    <mc:Choice xmlns:p14="http://schemas.microsoft.com/office/powerpoint/2010/main" Requires="p14">
      <p:transition p14:dur="0"/>
    </mc:Choice>
    <mc:Fallback>
      <p:transition/>
    </mc:Fallback>
  </mc:AlternateContent>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文本框 3"/>
          <p:cNvSpPr txBox="1"/>
          <p:nvPr/>
        </p:nvSpPr>
        <p:spPr>
          <a:xfrm>
            <a:off x="718423" y="916017"/>
            <a:ext cx="8069581" cy="1701748"/>
          </a:xfrm>
          <a:prstGeom prst="rect">
            <a:avLst/>
          </a:prstGeom>
          <a:ln>
            <a:noFill/>
          </a:ln>
        </p:spPr>
        <p:style>
          <a:lnRef idx="2">
            <a:schemeClr val="dk1"/>
          </a:lnRef>
          <a:fillRef idx="1">
            <a:schemeClr val="lt1"/>
          </a:fillRef>
          <a:effectRef idx="0">
            <a:schemeClr val="dk1"/>
          </a:effectRef>
          <a:fontRef idx="minor">
            <a:schemeClr val="dk1"/>
          </a:fontRef>
        </p:style>
        <p:txBody>
          <a:bodyPr wrap="square" rtlCol="0" anchor="t">
            <a:spAutoFit/>
          </a:bodyPr>
          <a:lstStyle/>
          <a:p>
            <a:pPr marL="285750" indent="-285750">
              <a:lnSpc>
                <a:spcPct val="150000"/>
              </a:lnSpc>
              <a:buFont typeface="Wingdings" panose="05000000000000000000" pitchFamily="2" charset="2"/>
              <a:buChar char="ü"/>
            </a:pPr>
            <a:r>
              <a:rPr lang="zh-CN" altLang="en-US" b="0">
                <a:latin typeface="Times New Roman" panose="02020503050405090304" pitchFamily="18" charset="0"/>
                <a:ea typeface="宋体" pitchFamily="2" charset="-122"/>
              </a:rPr>
              <a:t>智能</a:t>
            </a:r>
            <a:r>
              <a:rPr lang="zh-CN" altLang="en-US" b="0" dirty="0">
                <a:latin typeface="Times New Roman" panose="02020503050405090304" pitchFamily="18" charset="0"/>
                <a:ea typeface="宋体" pitchFamily="2" charset="-122"/>
              </a:rPr>
              <a:t>问答往往是基于领域知识的单轮对话，即用户就某一领域的问题进行提问，机器基于领域知识给出答案的</a:t>
            </a:r>
            <a:r>
              <a:rPr lang="zh-CN" altLang="en-US" b="0">
                <a:latin typeface="Times New Roman" panose="02020503050405090304" pitchFamily="18" charset="0"/>
                <a:ea typeface="宋体" pitchFamily="2" charset="-122"/>
              </a:rPr>
              <a:t>过程。</a:t>
            </a:r>
            <a:endParaRPr lang="en-US" altLang="zh-CN" b="0">
              <a:latin typeface="Times New Roman" panose="02020503050405090304" pitchFamily="18" charset="0"/>
              <a:ea typeface="宋体" pitchFamily="2" charset="-122"/>
            </a:endParaRPr>
          </a:p>
          <a:p>
            <a:pPr marL="285750" indent="-285750">
              <a:lnSpc>
                <a:spcPct val="150000"/>
              </a:lnSpc>
              <a:buFont typeface="Wingdings" panose="05000000000000000000" pitchFamily="2" charset="2"/>
              <a:buChar char="ü"/>
            </a:pPr>
            <a:r>
              <a:rPr lang="zh-CN" altLang="en-US" b="0">
                <a:latin typeface="Times New Roman" panose="02020503050405090304" pitchFamily="18" charset="0"/>
                <a:ea typeface="宋体" pitchFamily="2" charset="-122"/>
              </a:rPr>
              <a:t>聊天</a:t>
            </a:r>
            <a:r>
              <a:rPr lang="zh-CN" altLang="en-US" b="0" dirty="0">
                <a:latin typeface="Times New Roman" panose="02020503050405090304" pitchFamily="18" charset="0"/>
                <a:ea typeface="宋体" pitchFamily="2" charset="-122"/>
              </a:rPr>
              <a:t>系统则属于多轮对话过程，往往涉及领域知识的多轮对话或者闲聊等内容。</a:t>
            </a:r>
            <a:endParaRPr lang="zh-CN" altLang="en-US" b="0" dirty="0">
              <a:latin typeface="Times New Roman" panose="02020503050405090304" pitchFamily="18" charset="0"/>
              <a:ea typeface="宋体" pitchFamily="2" charset="-122"/>
            </a:endParaRPr>
          </a:p>
        </p:txBody>
      </p:sp>
      <p:pic>
        <p:nvPicPr>
          <p:cNvPr id="103" name="图片 102"/>
          <p:cNvPicPr/>
          <p:nvPr/>
        </p:nvPicPr>
        <p:blipFill>
          <a:blip r:embed="rId1"/>
          <a:stretch>
            <a:fillRect/>
          </a:stretch>
        </p:blipFill>
        <p:spPr>
          <a:xfrm>
            <a:off x="5274946" y="2663191"/>
            <a:ext cx="2267585" cy="1605439"/>
          </a:xfrm>
          <a:prstGeom prst="rect">
            <a:avLst/>
          </a:prstGeom>
          <a:noFill/>
          <a:ln w="9525">
            <a:noFill/>
          </a:ln>
        </p:spPr>
      </p:pic>
      <p:pic>
        <p:nvPicPr>
          <p:cNvPr id="5" name="图片 4"/>
          <p:cNvPicPr>
            <a:picLocks noChangeAspect="1"/>
          </p:cNvPicPr>
          <p:nvPr/>
        </p:nvPicPr>
        <p:blipFill>
          <a:blip r:embed="rId2"/>
          <a:stretch>
            <a:fillRect/>
          </a:stretch>
        </p:blipFill>
        <p:spPr>
          <a:xfrm>
            <a:off x="1276478" y="2695196"/>
            <a:ext cx="3572103" cy="1605439"/>
          </a:xfrm>
          <a:prstGeom prst="rect">
            <a:avLst/>
          </a:prstGeom>
        </p:spPr>
      </p:pic>
      <p:sp>
        <p:nvSpPr>
          <p:cNvPr id="3" name="标题 2"/>
          <p:cNvSpPr>
            <a:spLocks noGrp="1"/>
          </p:cNvSpPr>
          <p:nvPr>
            <p:ph type="title"/>
          </p:nvPr>
        </p:nvSpPr>
        <p:spPr/>
        <p:txBody>
          <a:bodyPr/>
          <a:lstStyle/>
          <a:p>
            <a:r>
              <a:rPr lang="zh-CN" altLang="en-US" sz="2800">
                <a:solidFill>
                  <a:srgbClr val="004C41"/>
                </a:solidFill>
                <a:ea typeface="宋体" pitchFamily="2" charset="-122"/>
                <a:cs typeface="+mn-ea"/>
                <a:sym typeface="+mn-lt"/>
              </a:rPr>
              <a:t>智能问答与聊天系统</a:t>
            </a:r>
            <a:endParaRPr lang="zh-CN" altLang="en-US">
              <a:ea typeface="宋体" pitchFamily="2" charset="-122"/>
            </a:endParaRPr>
          </a:p>
        </p:txBody>
      </p:sp>
      <p:sp>
        <p:nvSpPr>
          <p:cNvPr id="2" name="日期占位符 1"/>
          <p:cNvSpPr>
            <a:spLocks noGrp="1"/>
          </p:cNvSpPr>
          <p:nvPr>
            <p:ph type="dt" sz="half" idx="10"/>
          </p:nvPr>
        </p:nvSpPr>
        <p:spPr/>
        <p:txBody>
          <a:bodyPr/>
          <a:lstStyle/>
          <a:p>
            <a:fld id="{07FA4E8D-E854-49EF-BF02-3123FB8598F9}" type="datetime1">
              <a:rPr lang="zh-CN" altLang="en-US" smtClean="0"/>
            </a:fld>
            <a:endParaRPr lang="zh-CN" altLang="en-US"/>
          </a:p>
        </p:txBody>
      </p:sp>
      <p:sp>
        <p:nvSpPr>
          <p:cNvPr id="6" name="灯片编号占位符 5"/>
          <p:cNvSpPr>
            <a:spLocks noGrp="1"/>
          </p:cNvSpPr>
          <p:nvPr>
            <p:ph type="sldNum" sz="quarter" idx="12"/>
          </p:nvPr>
        </p:nvSpPr>
        <p:spPr/>
        <p:txBody>
          <a:bodyPr/>
          <a:lstStyle/>
          <a:p>
            <a:fld id="{82952373-7980-4DA7-9ADE-54D716DB38BB}" type="slidenum">
              <a:rPr lang="zh-CN" altLang="en-US" smtClean="0"/>
            </a:fld>
            <a:endParaRPr lang="zh-CN" altLang="en-US"/>
          </a:p>
        </p:txBody>
      </p:sp>
    </p:spTree>
  </p:cSld>
  <p:clrMapOvr>
    <a:masterClrMapping/>
  </p:clrMapOvr>
  <mc:AlternateContent xmlns:mc="http://schemas.openxmlformats.org/markup-compatibility/2006">
    <mc:Choice xmlns:p14="http://schemas.microsoft.com/office/powerpoint/2010/main" Requires="p14">
      <p:transition p14:dur="0"/>
    </mc:Choice>
    <mc:Fallback>
      <p:transition/>
    </mc:Fallback>
  </mc:AlternateContent>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b="0">
                <a:latin typeface="Times New Roman" panose="02020503050405090304" pitchFamily="18" charset="0"/>
              </a:rPr>
              <a:t>人工智能客服</a:t>
            </a:r>
            <a:endParaRPr lang="zh-CN" altLang="en-US">
              <a:ea typeface="宋体" pitchFamily="2" charset="-122"/>
            </a:endParaRPr>
          </a:p>
        </p:txBody>
      </p:sp>
      <p:sp>
        <p:nvSpPr>
          <p:cNvPr id="4" name="文本框 3"/>
          <p:cNvSpPr txBox="1"/>
          <p:nvPr/>
        </p:nvSpPr>
        <p:spPr>
          <a:xfrm>
            <a:off x="530353" y="865536"/>
            <a:ext cx="8270748" cy="1289905"/>
          </a:xfrm>
          <a:prstGeom prst="rect">
            <a:avLst/>
          </a:prstGeom>
          <a:noFill/>
        </p:spPr>
        <p:txBody>
          <a:bodyPr wrap="square">
            <a:spAutoFit/>
          </a:bodyPr>
          <a:lstStyle/>
          <a:p>
            <a:pPr indent="457200">
              <a:lnSpc>
                <a:spcPct val="150000"/>
              </a:lnSpc>
            </a:pPr>
            <a:r>
              <a:rPr lang="zh-CN" altLang="en-US" b="0">
                <a:latin typeface="Times New Roman" panose="02020503050405090304" pitchFamily="18" charset="0"/>
              </a:rPr>
              <a:t>人工智能客服是一种基于人工智能技术的自动化客户服务系统，采用自然语言处理和机器学习等技术，可以自动识别和回答客户问题，处理客户的投诉和建议，提供快速、准确的服务响应，提高客户满意度。</a:t>
            </a:r>
            <a:endParaRPr lang="zh-CN" altLang="en-US" b="0" dirty="0">
              <a:latin typeface="Times New Roman" panose="02020503050405090304" pitchFamily="18" charset="0"/>
            </a:endParaRPr>
          </a:p>
        </p:txBody>
      </p:sp>
      <p:sp>
        <p:nvSpPr>
          <p:cNvPr id="5" name="文本框 4"/>
          <p:cNvSpPr txBox="1"/>
          <p:nvPr/>
        </p:nvSpPr>
        <p:spPr>
          <a:xfrm>
            <a:off x="1023395" y="2289741"/>
            <a:ext cx="3216219" cy="1999522"/>
          </a:xfrm>
          <a:prstGeom prst="rect">
            <a:avLst/>
          </a:prstGeom>
          <a:noFill/>
        </p:spPr>
        <p:txBody>
          <a:bodyPr wrap="square" rtlCol="0">
            <a:spAutoFit/>
          </a:bodyPr>
          <a:lstStyle/>
          <a:p>
            <a:r>
              <a:rPr lang="zh-CN" altLang="en-US" b="1" dirty="0">
                <a:solidFill>
                  <a:srgbClr val="FF0000"/>
                </a:solidFill>
                <a:latin typeface="Times New Roman" panose="02020503050405090304" pitchFamily="18" charset="0"/>
              </a:rPr>
              <a:t>优势：</a:t>
            </a:r>
            <a:endParaRPr lang="en-US" altLang="zh-CN" b="1" dirty="0">
              <a:solidFill>
                <a:srgbClr val="FF0000"/>
              </a:solidFill>
              <a:latin typeface="Times New Roman" panose="02020503050405090304" pitchFamily="18" charset="0"/>
            </a:endParaRPr>
          </a:p>
          <a:p>
            <a:pPr marL="342900" indent="-342900">
              <a:lnSpc>
                <a:spcPct val="120000"/>
              </a:lnSpc>
              <a:buClr>
                <a:srgbClr val="0070C0"/>
              </a:buClr>
              <a:buFont typeface="Wingdings" panose="05000000000000000000" pitchFamily="2" charset="2"/>
              <a:buChar char="n"/>
            </a:pPr>
            <a:r>
              <a:rPr lang="zh-CN" altLang="en-US" b="0" dirty="0">
                <a:latin typeface="Times New Roman" panose="02020503050405090304" pitchFamily="18" charset="0"/>
              </a:rPr>
              <a:t>自动化</a:t>
            </a:r>
            <a:endParaRPr lang="en-US" altLang="zh-CN" b="0" dirty="0">
              <a:latin typeface="Times New Roman" panose="02020503050405090304" pitchFamily="18" charset="0"/>
            </a:endParaRPr>
          </a:p>
          <a:p>
            <a:pPr marL="342900" indent="-342900">
              <a:lnSpc>
                <a:spcPct val="120000"/>
              </a:lnSpc>
              <a:buClr>
                <a:srgbClr val="0070C0"/>
              </a:buClr>
              <a:buFont typeface="Wingdings" panose="05000000000000000000" pitchFamily="2" charset="2"/>
              <a:buChar char="n"/>
            </a:pPr>
            <a:r>
              <a:rPr lang="en-US" altLang="zh-CN" b="0">
                <a:latin typeface="Times New Roman" panose="02020503050405090304" pitchFamily="18" charset="0"/>
              </a:rPr>
              <a:t>7×24</a:t>
            </a:r>
            <a:r>
              <a:rPr lang="zh-CN" altLang="en-US" b="0" dirty="0">
                <a:latin typeface="Times New Roman" panose="02020503050405090304" pitchFamily="18" charset="0"/>
              </a:rPr>
              <a:t>全天候服务</a:t>
            </a:r>
            <a:endParaRPr lang="zh-CN" altLang="en-US" b="0" dirty="0">
              <a:latin typeface="Times New Roman" panose="02020503050405090304" pitchFamily="18" charset="0"/>
            </a:endParaRPr>
          </a:p>
          <a:p>
            <a:pPr marL="342900" indent="-342900">
              <a:lnSpc>
                <a:spcPct val="120000"/>
              </a:lnSpc>
              <a:buClr>
                <a:srgbClr val="0070C0"/>
              </a:buClr>
              <a:buFont typeface="Wingdings" panose="05000000000000000000" pitchFamily="2" charset="2"/>
              <a:buChar char="n"/>
            </a:pPr>
            <a:r>
              <a:rPr lang="zh-CN" altLang="en-US" b="0" dirty="0">
                <a:latin typeface="Times New Roman" panose="02020503050405090304" pitchFamily="18" charset="0"/>
              </a:rPr>
              <a:t>快速响应</a:t>
            </a:r>
            <a:endParaRPr lang="zh-CN" altLang="en-US" b="0" dirty="0">
              <a:latin typeface="Times New Roman" panose="02020503050405090304" pitchFamily="18" charset="0"/>
            </a:endParaRPr>
          </a:p>
          <a:p>
            <a:pPr marL="342900" indent="-342900">
              <a:lnSpc>
                <a:spcPct val="120000"/>
              </a:lnSpc>
              <a:buClr>
                <a:srgbClr val="0070C0"/>
              </a:buClr>
              <a:buFont typeface="Wingdings" panose="05000000000000000000" pitchFamily="2" charset="2"/>
              <a:buChar char="n"/>
            </a:pPr>
            <a:r>
              <a:rPr lang="zh-CN" altLang="en-US" b="0" dirty="0">
                <a:latin typeface="Times New Roman" panose="02020503050405090304" pitchFamily="18" charset="0"/>
              </a:rPr>
              <a:t>大规模处理</a:t>
            </a:r>
            <a:endParaRPr lang="zh-CN" altLang="en-US" b="0" dirty="0">
              <a:latin typeface="Times New Roman" panose="02020503050405090304" pitchFamily="18" charset="0"/>
            </a:endParaRPr>
          </a:p>
          <a:p>
            <a:pPr marL="342900" indent="-342900">
              <a:lnSpc>
                <a:spcPct val="120000"/>
              </a:lnSpc>
              <a:buClr>
                <a:srgbClr val="0070C0"/>
              </a:buClr>
              <a:buFont typeface="Wingdings" panose="05000000000000000000" pitchFamily="2" charset="2"/>
              <a:buChar char="n"/>
            </a:pPr>
            <a:r>
              <a:rPr lang="zh-CN" altLang="en-US" b="0" dirty="0">
                <a:latin typeface="Times New Roman" panose="02020503050405090304" pitchFamily="18" charset="0"/>
              </a:rPr>
              <a:t>精准度高</a:t>
            </a:r>
            <a:endParaRPr lang="zh-CN" altLang="en-US" b="0" dirty="0">
              <a:latin typeface="Times New Roman" panose="02020503050405090304" pitchFamily="18" charset="0"/>
            </a:endParaRPr>
          </a:p>
        </p:txBody>
      </p:sp>
      <p:sp>
        <p:nvSpPr>
          <p:cNvPr id="3" name="日期占位符 2"/>
          <p:cNvSpPr>
            <a:spLocks noGrp="1"/>
          </p:cNvSpPr>
          <p:nvPr>
            <p:ph type="dt" sz="half" idx="10"/>
          </p:nvPr>
        </p:nvSpPr>
        <p:spPr/>
        <p:txBody>
          <a:bodyPr/>
          <a:lstStyle/>
          <a:p>
            <a:fld id="{EDEBA8A2-00CB-497D-86B1-9560500871DD}" type="datetime1">
              <a:rPr lang="zh-CN" altLang="en-US" smtClean="0"/>
            </a:fld>
            <a:endParaRPr lang="zh-CN" altLang="en-US"/>
          </a:p>
        </p:txBody>
      </p:sp>
      <p:sp>
        <p:nvSpPr>
          <p:cNvPr id="6" name="灯片编号占位符 5"/>
          <p:cNvSpPr>
            <a:spLocks noGrp="1"/>
          </p:cNvSpPr>
          <p:nvPr>
            <p:ph type="sldNum" sz="quarter" idx="12"/>
          </p:nvPr>
        </p:nvSpPr>
        <p:spPr/>
        <p:txBody>
          <a:bodyPr/>
          <a:lstStyle/>
          <a:p>
            <a:fld id="{82952373-7980-4DA7-9ADE-54D716DB38BB}" type="slidenum">
              <a:rPr lang="zh-CN" altLang="en-US" smtClean="0"/>
            </a:fld>
            <a:endParaRPr lang="zh-CN" altLang="en-US"/>
          </a:p>
        </p:txBody>
      </p:sp>
    </p:spTree>
  </p:cSld>
  <p:clrMapOvr>
    <a:masterClrMapping/>
  </p:clrMapOvr>
  <mc:AlternateContent xmlns:mc="http://schemas.openxmlformats.org/markup-compatibility/2006">
    <mc:Choice xmlns:p14="http://schemas.microsoft.com/office/powerpoint/2010/main" Requires="p14">
      <p:transition p14:dur="0"/>
    </mc:Choice>
    <mc:Fallback>
      <p:transition/>
    </mc:Fallback>
  </mc:AlternateContent>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3" name="2"/>
          <p:cNvSpPr/>
          <p:nvPr/>
        </p:nvSpPr>
        <p:spPr>
          <a:xfrm>
            <a:off x="1" y="381001"/>
            <a:ext cx="136923" cy="381000"/>
          </a:xfrm>
          <a:prstGeom prst="rect">
            <a:avLst/>
          </a:prstGeom>
          <a:solidFill>
            <a:srgbClr val="8CC345"/>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endParaRPr lang="zh-CN" altLang="en-US" sz="1015">
              <a:solidFill>
                <a:prstClr val="white"/>
              </a:solidFill>
              <a:cs typeface="+mn-ea"/>
              <a:sym typeface="+mn-lt"/>
            </a:endParaRPr>
          </a:p>
        </p:txBody>
      </p:sp>
      <p:sp>
        <p:nvSpPr>
          <p:cNvPr id="4" name="文本框 3"/>
          <p:cNvSpPr txBox="1"/>
          <p:nvPr/>
        </p:nvSpPr>
        <p:spPr>
          <a:xfrm>
            <a:off x="651796" y="950355"/>
            <a:ext cx="4079175" cy="3779240"/>
          </a:xfrm>
          <a:prstGeom prst="rect">
            <a:avLst/>
          </a:prstGeom>
          <a:ln>
            <a:noFill/>
          </a:ln>
          <a:effectLst>
            <a:outerShdw blurRad="57785" dist="33020" dir="3180000" algn="ctr">
              <a:srgbClr val="000000">
                <a:alpha val="30000"/>
              </a:srgbClr>
            </a:outerShdw>
          </a:effectLst>
          <a:scene3d>
            <a:camera prst="orthographicFront">
              <a:rot lat="0" lon="0" rev="0"/>
            </a:camera>
            <a:lightRig rig="brightRoom" dir="t">
              <a:rot lat="0" lon="0" rev="600000"/>
            </a:lightRig>
          </a:scene3d>
          <a:sp3d prstMaterial="metal">
            <a:bevelT w="38100" h="57150" prst="angle"/>
          </a:sp3d>
        </p:spPr>
        <p:style>
          <a:lnRef idx="2">
            <a:schemeClr val="dk1"/>
          </a:lnRef>
          <a:fillRef idx="1">
            <a:schemeClr val="lt1"/>
          </a:fillRef>
          <a:effectRef idx="0">
            <a:schemeClr val="dk1"/>
          </a:effectRef>
          <a:fontRef idx="minor">
            <a:schemeClr val="dk1"/>
          </a:fontRef>
        </p:style>
        <p:txBody>
          <a:bodyPr wrap="square" rtlCol="0" anchor="t">
            <a:spAutoFit/>
          </a:bodyPr>
          <a:lstStyle/>
          <a:p>
            <a:pPr marL="285750" indent="-285750">
              <a:lnSpc>
                <a:spcPct val="150000"/>
              </a:lnSpc>
              <a:buClr>
                <a:srgbClr val="0070C0"/>
              </a:buClr>
              <a:buFont typeface="Wingdings" panose="05000000000000000000" pitchFamily="2" charset="2"/>
              <a:buChar char="n"/>
            </a:pPr>
            <a:r>
              <a:rPr lang="zh-CN" altLang="en-US">
                <a:solidFill>
                  <a:srgbClr val="4D4D4D"/>
                </a:solidFill>
                <a:latin typeface="Times New Roman" panose="02020503050405090304" pitchFamily="18" charset="0"/>
                <a:ea typeface="宋体" pitchFamily="2" charset="-122"/>
              </a:rPr>
              <a:t>文本生成（</a:t>
            </a:r>
            <a:r>
              <a:rPr lang="en-US" altLang="zh-CN">
                <a:solidFill>
                  <a:srgbClr val="4D4D4D"/>
                </a:solidFill>
                <a:latin typeface="Times New Roman" panose="02020503050405090304" pitchFamily="18" charset="0"/>
                <a:ea typeface="宋体" pitchFamily="2" charset="-122"/>
              </a:rPr>
              <a:t>Text Generation</a:t>
            </a:r>
            <a:r>
              <a:rPr lang="zh-CN" altLang="en-US">
                <a:solidFill>
                  <a:srgbClr val="4D4D4D"/>
                </a:solidFill>
                <a:latin typeface="Times New Roman" panose="02020503050405090304" pitchFamily="18" charset="0"/>
                <a:ea typeface="宋体" pitchFamily="2" charset="-122"/>
              </a:rPr>
              <a:t>）旨在通过计算机自动生成符合语法规则、语义连贯且具有意义的文本。文本生成技术广泛应用于机器翻译、对话系统、内容创作、摘要生成等领域。</a:t>
            </a:r>
            <a:endParaRPr lang="en-US" altLang="zh-CN">
              <a:solidFill>
                <a:srgbClr val="4D4D4D"/>
              </a:solidFill>
              <a:latin typeface="Times New Roman" panose="02020503050405090304" pitchFamily="18" charset="0"/>
              <a:ea typeface="宋体" pitchFamily="2" charset="-122"/>
            </a:endParaRPr>
          </a:p>
          <a:p>
            <a:pPr marL="285750" indent="-285750">
              <a:lnSpc>
                <a:spcPct val="150000"/>
              </a:lnSpc>
              <a:buClr>
                <a:srgbClr val="0070C0"/>
              </a:buClr>
              <a:buFont typeface="Wingdings" panose="05000000000000000000" pitchFamily="2" charset="2"/>
              <a:buChar char="n"/>
            </a:pPr>
            <a:r>
              <a:rPr lang="zh-CN" altLang="en-US">
                <a:solidFill>
                  <a:srgbClr val="4D4D4D"/>
                </a:solidFill>
                <a:latin typeface="Times New Roman" panose="02020503050405090304" pitchFamily="18" charset="0"/>
                <a:ea typeface="宋体" pitchFamily="2" charset="-122"/>
              </a:rPr>
              <a:t>例如，通过自然语言告知大模型你的需求，让其帮你生成一个求职信等。</a:t>
            </a:r>
            <a:endParaRPr lang="zh-CN" altLang="en-US" dirty="0">
              <a:latin typeface="Times New Roman" panose="02020503050405090304" pitchFamily="18" charset="0"/>
              <a:ea typeface="宋体" pitchFamily="2" charset="-122"/>
            </a:endParaRPr>
          </a:p>
        </p:txBody>
      </p:sp>
      <p:pic>
        <p:nvPicPr>
          <p:cNvPr id="105" name="图片 104"/>
          <p:cNvPicPr/>
          <p:nvPr/>
        </p:nvPicPr>
        <p:blipFill>
          <a:blip r:embed="rId1"/>
          <a:srcRect t="15578" b="4644"/>
          <a:stretch>
            <a:fillRect/>
          </a:stretch>
        </p:blipFill>
        <p:spPr>
          <a:xfrm>
            <a:off x="5989399" y="1133120"/>
            <a:ext cx="1897301" cy="3374871"/>
          </a:xfrm>
          <a:prstGeom prst="rect">
            <a:avLst/>
          </a:prstGeom>
          <a:noFill/>
          <a:ln w="9525">
            <a:noFill/>
          </a:ln>
        </p:spPr>
      </p:pic>
      <p:sp>
        <p:nvSpPr>
          <p:cNvPr id="3" name="标题 2"/>
          <p:cNvSpPr>
            <a:spLocks noGrp="1"/>
          </p:cNvSpPr>
          <p:nvPr>
            <p:ph type="title"/>
          </p:nvPr>
        </p:nvSpPr>
        <p:spPr/>
        <p:txBody>
          <a:bodyPr/>
          <a:lstStyle/>
          <a:p>
            <a:r>
              <a:rPr lang="zh-CN" altLang="en-US" sz="2800">
                <a:solidFill>
                  <a:srgbClr val="004C41"/>
                </a:solidFill>
                <a:ea typeface="宋体" pitchFamily="2" charset="-122"/>
                <a:cs typeface="+mn-ea"/>
                <a:sym typeface="+mn-lt"/>
              </a:rPr>
              <a:t>文本生成</a:t>
            </a:r>
            <a:endParaRPr lang="zh-CN" altLang="en-US">
              <a:ea typeface="宋体" pitchFamily="2" charset="-122"/>
            </a:endParaRPr>
          </a:p>
        </p:txBody>
      </p:sp>
      <p:sp>
        <p:nvSpPr>
          <p:cNvPr id="2" name="日期占位符 1"/>
          <p:cNvSpPr>
            <a:spLocks noGrp="1"/>
          </p:cNvSpPr>
          <p:nvPr>
            <p:ph type="dt" sz="half" idx="10"/>
          </p:nvPr>
        </p:nvSpPr>
        <p:spPr/>
        <p:txBody>
          <a:bodyPr/>
          <a:lstStyle/>
          <a:p>
            <a:fld id="{9CAE69F4-5896-49EC-AC16-524B4EF495A0}" type="datetime1">
              <a:rPr lang="zh-CN" altLang="en-US" smtClean="0"/>
            </a:fld>
            <a:endParaRPr lang="zh-CN" altLang="en-US"/>
          </a:p>
        </p:txBody>
      </p:sp>
      <p:sp>
        <p:nvSpPr>
          <p:cNvPr id="5" name="灯片编号占位符 4"/>
          <p:cNvSpPr>
            <a:spLocks noGrp="1"/>
          </p:cNvSpPr>
          <p:nvPr>
            <p:ph type="sldNum" sz="quarter" idx="12"/>
          </p:nvPr>
        </p:nvSpPr>
        <p:spPr/>
        <p:txBody>
          <a:bodyPr/>
          <a:lstStyle/>
          <a:p>
            <a:fld id="{82952373-7980-4DA7-9ADE-54D716DB38BB}" type="slidenum">
              <a:rPr lang="zh-CN" altLang="en-US" smtClean="0"/>
            </a:fld>
            <a:endParaRPr lang="zh-CN" altLang="en-US"/>
          </a:p>
        </p:txBody>
      </p:sp>
    </p:spTree>
  </p:cSld>
  <p:clrMapOvr>
    <a:masterClrMapping/>
  </p:clrMapOvr>
  <mc:AlternateContent xmlns:mc="http://schemas.openxmlformats.org/markup-compatibility/2006">
    <mc:Choice xmlns:p14="http://schemas.microsoft.com/office/powerpoint/2010/main" Requires="p14">
      <p:transition p14:dur="0"/>
    </mc:Choice>
    <mc:Fallback>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2" presetClass="entr" presetSubtype="8" fill="hold" grpId="0" nodeType="afterEffect">
                                  <p:stCondLst>
                                    <p:cond delay="0"/>
                                  </p:stCondLst>
                                  <p:childTnLst>
                                    <p:set>
                                      <p:cBhvr>
                                        <p:cTn id="6" dur="1" fill="hold">
                                          <p:stCondLst>
                                            <p:cond delay="0"/>
                                          </p:stCondLst>
                                        </p:cTn>
                                        <p:tgtEl>
                                          <p:spTgt spid="123"/>
                                        </p:tgtEl>
                                        <p:attrNameLst>
                                          <p:attrName>style.visibility</p:attrName>
                                        </p:attrNameLst>
                                      </p:cBhvr>
                                      <p:to>
                                        <p:strVal val="visible"/>
                                      </p:to>
                                    </p:set>
                                    <p:animEffect transition="in" filter="wipe(left)">
                                      <p:cBhvr>
                                        <p:cTn id="7" dur="500"/>
                                        <p:tgtEl>
                                          <p:spTgt spid="123"/>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23" grpId="0" bldLvl="0" animBg="1"/>
    </p:bldLst>
  </p:timing>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normAutofit/>
          </a:bodyPr>
          <a:lstStyle/>
          <a:p>
            <a:r>
              <a:rPr lang="zh-CN" altLang="en-US" sz="2800">
                <a:solidFill>
                  <a:srgbClr val="004C41"/>
                </a:solidFill>
                <a:ea typeface="宋体" pitchFamily="2" charset="-122"/>
                <a:cs typeface="+mn-ea"/>
              </a:rPr>
              <a:t>自动文本摘要和舆论分析</a:t>
            </a:r>
            <a:endParaRPr lang="zh-CN" altLang="en-US" sz="2800" dirty="0">
              <a:solidFill>
                <a:srgbClr val="004C41"/>
              </a:solidFill>
              <a:ea typeface="宋体" pitchFamily="2" charset="-122"/>
              <a:cs typeface="+mn-ea"/>
            </a:endParaRPr>
          </a:p>
        </p:txBody>
      </p:sp>
      <p:sp>
        <p:nvSpPr>
          <p:cNvPr id="6" name="矩形 5"/>
          <p:cNvSpPr/>
          <p:nvPr/>
        </p:nvSpPr>
        <p:spPr>
          <a:xfrm>
            <a:off x="362427" y="1012934"/>
            <a:ext cx="5904305" cy="369332"/>
          </a:xfrm>
          <a:prstGeom prst="rect">
            <a:avLst/>
          </a:prstGeom>
        </p:spPr>
        <p:txBody>
          <a:bodyPr wrap="square">
            <a:spAutoFit/>
          </a:bodyPr>
          <a:lstStyle/>
          <a:p>
            <a:r>
              <a:rPr lang="zh-CN" altLang="en-US" b="1" dirty="0">
                <a:solidFill>
                  <a:srgbClr val="121212"/>
                </a:solidFill>
                <a:latin typeface="Times New Roman" panose="02020503050405090304" pitchFamily="18" charset="0"/>
              </a:rPr>
              <a:t>为什么要文本摘要？</a:t>
            </a:r>
            <a:endParaRPr lang="zh-CN" altLang="en-US" b="1" dirty="0">
              <a:solidFill>
                <a:srgbClr val="121212"/>
              </a:solidFill>
              <a:latin typeface="Times New Roman" panose="02020503050405090304" pitchFamily="18" charset="0"/>
            </a:endParaRPr>
          </a:p>
        </p:txBody>
      </p:sp>
      <p:sp>
        <p:nvSpPr>
          <p:cNvPr id="7" name="矩形 6"/>
          <p:cNvSpPr/>
          <p:nvPr/>
        </p:nvSpPr>
        <p:spPr>
          <a:xfrm>
            <a:off x="1019557" y="1406379"/>
            <a:ext cx="7214615" cy="788806"/>
          </a:xfrm>
          <a:prstGeom prst="rect">
            <a:avLst/>
          </a:prstGeom>
        </p:spPr>
        <p:txBody>
          <a:bodyPr wrap="square">
            <a:spAutoFit/>
          </a:bodyPr>
          <a:lstStyle/>
          <a:p>
            <a:pPr indent="342900">
              <a:lnSpc>
                <a:spcPct val="150000"/>
              </a:lnSpc>
            </a:pPr>
            <a:r>
              <a:rPr lang="zh-CN" altLang="en-US" sz="1600" b="0" dirty="0">
                <a:solidFill>
                  <a:srgbClr val="121212"/>
                </a:solidFill>
                <a:latin typeface="Times New Roman" panose="02020503050405090304" pitchFamily="18" charset="0"/>
              </a:rPr>
              <a:t>信息“爆炸”，文本信息过载问题日益</a:t>
            </a:r>
            <a:r>
              <a:rPr lang="zh-CN" altLang="en-US" sz="1600" b="0">
                <a:solidFill>
                  <a:srgbClr val="121212"/>
                </a:solidFill>
                <a:latin typeface="Times New Roman" panose="02020503050405090304" pitchFamily="18" charset="0"/>
              </a:rPr>
              <a:t>严重，生活节凑加快，如何快速地获取想</a:t>
            </a:r>
            <a:r>
              <a:rPr lang="zh-CN" altLang="en-US" sz="1600" b="0" dirty="0">
                <a:solidFill>
                  <a:srgbClr val="121212"/>
                </a:solidFill>
                <a:latin typeface="Times New Roman" panose="02020503050405090304" pitchFamily="18" charset="0"/>
              </a:rPr>
              <a:t>要的信息，对各类文本进行“</a:t>
            </a:r>
            <a:r>
              <a:rPr lang="zh-CN" altLang="en-US" sz="1600" b="0" dirty="0">
                <a:solidFill>
                  <a:srgbClr val="0000FF"/>
                </a:solidFill>
                <a:latin typeface="Times New Roman" panose="02020503050405090304" pitchFamily="18" charset="0"/>
              </a:rPr>
              <a:t>降维</a:t>
            </a:r>
            <a:r>
              <a:rPr lang="zh-CN" altLang="en-US" sz="1600" b="0" dirty="0">
                <a:solidFill>
                  <a:srgbClr val="121212"/>
                </a:solidFill>
                <a:latin typeface="Times New Roman" panose="02020503050405090304" pitchFamily="18" charset="0"/>
              </a:rPr>
              <a:t>”处理变得非常必要。</a:t>
            </a:r>
            <a:endParaRPr lang="zh-CN" altLang="en-US" sz="1600" b="0" dirty="0">
              <a:solidFill>
                <a:srgbClr val="121212"/>
              </a:solidFill>
              <a:latin typeface="Times New Roman" panose="02020503050405090304" pitchFamily="18" charset="0"/>
            </a:endParaRPr>
          </a:p>
        </p:txBody>
      </p:sp>
      <p:sp>
        <p:nvSpPr>
          <p:cNvPr id="5" name="矩形 4"/>
          <p:cNvSpPr/>
          <p:nvPr/>
        </p:nvSpPr>
        <p:spPr>
          <a:xfrm>
            <a:off x="884494" y="2351194"/>
            <a:ext cx="7518842" cy="1892249"/>
          </a:xfrm>
          <a:prstGeom prst="rect">
            <a:avLst/>
          </a:prstGeom>
        </p:spPr>
        <p:txBody>
          <a:bodyPr wrap="square">
            <a:spAutoFit/>
          </a:bodyPr>
          <a:lstStyle/>
          <a:p>
            <a:pPr indent="342900">
              <a:lnSpc>
                <a:spcPct val="150000"/>
              </a:lnSpc>
            </a:pPr>
            <a:r>
              <a:rPr lang="zh-CN" altLang="zh-CN" sz="1600" dirty="0">
                <a:solidFill>
                  <a:srgbClr val="FF0000"/>
                </a:solidFill>
                <a:latin typeface="Times New Roman" panose="02020503050405090304" pitchFamily="18" charset="0"/>
              </a:rPr>
              <a:t>自动文本摘要</a:t>
            </a:r>
            <a:r>
              <a:rPr lang="zh-CN" altLang="en-US" sz="1600" dirty="0">
                <a:solidFill>
                  <a:srgbClr val="FF0000"/>
                </a:solidFill>
                <a:latin typeface="Times New Roman" panose="02020503050405090304" pitchFamily="18" charset="0"/>
              </a:rPr>
              <a:t>通过各种技术，对文本或者是文本的集合进行内容的抽取、总结和提炼，使其处理后的内容能够概括和展示原文本的主要内容或主要思想。例如，</a:t>
            </a:r>
            <a:r>
              <a:rPr lang="zh-CN" altLang="en-US" sz="1600" dirty="0">
                <a:latin typeface="Times New Roman" panose="02020503050405090304" pitchFamily="18" charset="0"/>
              </a:rPr>
              <a:t>抽取时间、地点、人物、事件等，可以帮人们节省大量时间成本，且效率更高。</a:t>
            </a:r>
            <a:r>
              <a:rPr lang="zh-CN" altLang="en-US" sz="1600" dirty="0">
                <a:solidFill>
                  <a:srgbClr val="FF0000"/>
                </a:solidFill>
                <a:latin typeface="Times New Roman" panose="02020503050405090304" pitchFamily="18" charset="0"/>
              </a:rPr>
              <a:t>从本质上来讲，是一种信息压缩技术。</a:t>
            </a:r>
            <a:r>
              <a:rPr lang="zh-CN" altLang="en-US" sz="1600" dirty="0">
                <a:latin typeface="Times New Roman" panose="02020503050405090304" pitchFamily="18" charset="0"/>
              </a:rPr>
              <a:t>其应用包括</a:t>
            </a:r>
            <a:r>
              <a:rPr lang="zh-CN" altLang="zh-CN" sz="1600" dirty="0">
                <a:latin typeface="Times New Roman" panose="02020503050405090304" pitchFamily="18" charset="0"/>
              </a:rPr>
              <a:t>如</a:t>
            </a:r>
            <a:r>
              <a:rPr lang="zh-CN" altLang="zh-CN" sz="1600" dirty="0">
                <a:solidFill>
                  <a:srgbClr val="0070C0"/>
                </a:solidFill>
                <a:latin typeface="Times New Roman" panose="02020503050405090304" pitchFamily="18" charset="0"/>
              </a:rPr>
              <a:t>自动报告生成、新闻标题生成、搜索结果预览</a:t>
            </a:r>
            <a:r>
              <a:rPr lang="zh-CN" altLang="zh-CN" sz="1600" dirty="0">
                <a:latin typeface="Times New Roman" panose="02020503050405090304" pitchFamily="18" charset="0"/>
              </a:rPr>
              <a:t>等。</a:t>
            </a:r>
            <a:endParaRPr lang="en-US" altLang="zh-CN" sz="1600" dirty="0">
              <a:latin typeface="Times New Roman" panose="02020503050405090304" pitchFamily="18" charset="0"/>
            </a:endParaRPr>
          </a:p>
        </p:txBody>
      </p:sp>
      <p:sp>
        <p:nvSpPr>
          <p:cNvPr id="3" name="日期占位符 2"/>
          <p:cNvSpPr>
            <a:spLocks noGrp="1"/>
          </p:cNvSpPr>
          <p:nvPr>
            <p:ph type="dt" sz="half" idx="10"/>
          </p:nvPr>
        </p:nvSpPr>
        <p:spPr/>
        <p:txBody>
          <a:bodyPr/>
          <a:lstStyle/>
          <a:p>
            <a:fld id="{09BF0AE8-EAAD-4BFE-B24C-2C54372404D4}" type="datetime1">
              <a:rPr lang="zh-CN" altLang="en-US" smtClean="0"/>
            </a:fld>
            <a:endParaRPr lang="zh-CN" altLang="en-US"/>
          </a:p>
        </p:txBody>
      </p:sp>
      <p:sp>
        <p:nvSpPr>
          <p:cNvPr id="8" name="灯片编号占位符 7"/>
          <p:cNvSpPr>
            <a:spLocks noGrp="1"/>
          </p:cNvSpPr>
          <p:nvPr>
            <p:ph type="sldNum" sz="quarter" idx="12"/>
          </p:nvPr>
        </p:nvSpPr>
        <p:spPr/>
        <p:txBody>
          <a:bodyPr/>
          <a:lstStyle/>
          <a:p>
            <a:fld id="{82952373-7980-4DA7-9ADE-54D716DB38BB}" type="slidenum">
              <a:rPr lang="zh-CN" altLang="en-US" smtClean="0"/>
            </a:fld>
            <a:endParaRPr lang="zh-CN" altLang="en-US"/>
          </a:p>
        </p:txBody>
      </p:sp>
    </p:spTree>
  </p:cSld>
  <p:clrMapOvr>
    <a:masterClrMapping/>
  </p:clrMapOvr>
  <mc:AlternateContent xmlns:mc="http://schemas.openxmlformats.org/markup-compatibility/2006">
    <mc:Choice xmlns:p14="http://schemas.microsoft.com/office/powerpoint/2010/main" Requires="p14">
      <p:transition p14:dur="0"/>
    </mc:Choice>
    <mc:Fallback>
      <p:transition/>
    </mc:Fallback>
  </mc:AlternateContent>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sz="2400">
                <a:solidFill>
                  <a:srgbClr val="004C41"/>
                </a:solidFill>
                <a:ea typeface="宋体" pitchFamily="2" charset="-122"/>
                <a:cs typeface="+mn-ea"/>
              </a:rPr>
              <a:t>自动文本摘要和舆论分析</a:t>
            </a:r>
            <a:endParaRPr lang="zh-CN" altLang="en-US"/>
          </a:p>
        </p:txBody>
      </p:sp>
      <p:sp>
        <p:nvSpPr>
          <p:cNvPr id="3" name="日期占位符 2"/>
          <p:cNvSpPr>
            <a:spLocks noGrp="1"/>
          </p:cNvSpPr>
          <p:nvPr>
            <p:ph type="dt" sz="half" idx="10"/>
          </p:nvPr>
        </p:nvSpPr>
        <p:spPr/>
        <p:txBody>
          <a:bodyPr/>
          <a:lstStyle/>
          <a:p>
            <a:fld id="{59EA5E4C-3639-4B8B-822E-E7371B831F99}" type="datetime1">
              <a:rPr lang="zh-CN" altLang="en-US" smtClean="0"/>
            </a:fld>
            <a:endParaRPr lang="zh-CN" altLang="en-US"/>
          </a:p>
        </p:txBody>
      </p:sp>
      <p:sp>
        <p:nvSpPr>
          <p:cNvPr id="4" name="灯片编号占位符 3"/>
          <p:cNvSpPr>
            <a:spLocks noGrp="1"/>
          </p:cNvSpPr>
          <p:nvPr>
            <p:ph type="sldNum" sz="quarter" idx="12"/>
          </p:nvPr>
        </p:nvSpPr>
        <p:spPr/>
        <p:txBody>
          <a:bodyPr/>
          <a:lstStyle/>
          <a:p>
            <a:fld id="{82952373-7980-4DA7-9ADE-54D716DB38BB}" type="slidenum">
              <a:rPr lang="zh-CN" altLang="en-US" smtClean="0"/>
            </a:fld>
            <a:endParaRPr lang="zh-CN" altLang="en-US"/>
          </a:p>
        </p:txBody>
      </p:sp>
      <p:pic>
        <p:nvPicPr>
          <p:cNvPr id="6" name="图片 5"/>
          <p:cNvPicPr>
            <a:picLocks noChangeAspect="1"/>
          </p:cNvPicPr>
          <p:nvPr/>
        </p:nvPicPr>
        <p:blipFill>
          <a:blip r:embed="rId1"/>
          <a:stretch>
            <a:fillRect/>
          </a:stretch>
        </p:blipFill>
        <p:spPr>
          <a:xfrm>
            <a:off x="2394923" y="1362988"/>
            <a:ext cx="4175041" cy="3447656"/>
          </a:xfrm>
          <a:prstGeom prst="rect">
            <a:avLst/>
          </a:prstGeom>
        </p:spPr>
      </p:pic>
      <p:sp>
        <p:nvSpPr>
          <p:cNvPr id="7" name="文本框 6"/>
          <p:cNvSpPr txBox="1"/>
          <p:nvPr/>
        </p:nvSpPr>
        <p:spPr>
          <a:xfrm>
            <a:off x="928116" y="914400"/>
            <a:ext cx="2044149" cy="369332"/>
          </a:xfrm>
          <a:prstGeom prst="rect">
            <a:avLst/>
          </a:prstGeom>
          <a:noFill/>
        </p:spPr>
        <p:txBody>
          <a:bodyPr wrap="none" rtlCol="0">
            <a:spAutoFit/>
          </a:bodyPr>
          <a:lstStyle/>
          <a:p>
            <a:r>
              <a:rPr lang="zh-CN" altLang="en-US"/>
              <a:t>学术论文中的摘要</a:t>
            </a:r>
            <a:endParaRPr lang="zh-CN" altLang="en-US"/>
          </a:p>
        </p:txBody>
      </p:sp>
    </p:spTree>
  </p:cSld>
  <p:clrMapOvr>
    <a:masterClrMapping/>
  </p:clrMapOvr>
  <mc:AlternateContent xmlns:mc="http://schemas.openxmlformats.org/markup-compatibility/2006">
    <mc:Choice xmlns:p14="http://schemas.microsoft.com/office/powerpoint/2010/main" Requires="p14">
      <p:transition p14:dur="0"/>
    </mc:Choice>
    <mc:Fallback>
      <p:transition/>
    </mc:Fallback>
  </mc:AlternateContent>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sz="2800">
                <a:solidFill>
                  <a:srgbClr val="004C41"/>
                </a:solidFill>
                <a:ea typeface="宋体" pitchFamily="2" charset="-122"/>
                <a:cs typeface="+mn-ea"/>
              </a:rPr>
              <a:t>自动文本摘要和舆论分析</a:t>
            </a:r>
            <a:endParaRPr lang="zh-CN" altLang="en-US" sz="2800" dirty="0">
              <a:solidFill>
                <a:srgbClr val="004C41"/>
              </a:solidFill>
              <a:ea typeface="宋体" pitchFamily="2" charset="-122"/>
              <a:cs typeface="+mn-ea"/>
            </a:endParaRPr>
          </a:p>
        </p:txBody>
      </p:sp>
      <p:sp>
        <p:nvSpPr>
          <p:cNvPr id="4" name="矩形 3"/>
          <p:cNvSpPr/>
          <p:nvPr/>
        </p:nvSpPr>
        <p:spPr>
          <a:xfrm>
            <a:off x="529046" y="1328335"/>
            <a:ext cx="8428789" cy="1156855"/>
          </a:xfrm>
          <a:prstGeom prst="rect">
            <a:avLst/>
          </a:prstGeom>
        </p:spPr>
        <p:txBody>
          <a:bodyPr wrap="square">
            <a:spAutoFit/>
          </a:bodyPr>
          <a:lstStyle/>
          <a:p>
            <a:pPr indent="342900">
              <a:lnSpc>
                <a:spcPct val="150000"/>
              </a:lnSpc>
            </a:pPr>
            <a:r>
              <a:rPr lang="zh-CN" altLang="zh-CN" sz="1600" b="0" dirty="0">
                <a:latin typeface="Times New Roman" panose="02020503050405090304" pitchFamily="18" charset="0"/>
              </a:rPr>
              <a:t>对计算机而言，生成摘要是一件很有挑战性的任务。从一份或多份文本生成一份合格摘要，要求计算机在阅读原文本后</a:t>
            </a:r>
            <a:r>
              <a:rPr lang="zh-CN" altLang="zh-CN" sz="1600" b="0" dirty="0">
                <a:solidFill>
                  <a:srgbClr val="FF0000"/>
                </a:solidFill>
                <a:latin typeface="Times New Roman" panose="02020503050405090304" pitchFamily="18" charset="0"/>
              </a:rPr>
              <a:t>理解其内容</a:t>
            </a:r>
            <a:r>
              <a:rPr lang="zh-CN" altLang="zh-CN" sz="1600" b="0" dirty="0">
                <a:latin typeface="Times New Roman" panose="02020503050405090304" pitchFamily="18" charset="0"/>
              </a:rPr>
              <a:t>，并根据轻重缓急</a:t>
            </a:r>
            <a:r>
              <a:rPr lang="zh-CN" altLang="en-US" sz="1600" b="0" dirty="0">
                <a:latin typeface="Times New Roman" panose="02020503050405090304" pitchFamily="18" charset="0"/>
              </a:rPr>
              <a:t>和重要程度</a:t>
            </a:r>
            <a:r>
              <a:rPr lang="zh-CN" altLang="zh-CN" sz="1600" b="0" dirty="0">
                <a:latin typeface="Times New Roman" panose="02020503050405090304" pitchFamily="18" charset="0"/>
              </a:rPr>
              <a:t>对内容进行取舍，裁剪和拼接内容，最后生成流畅的短文本。 </a:t>
            </a:r>
            <a:r>
              <a:rPr lang="zh-CN" altLang="en-US" sz="1600" b="0" dirty="0">
                <a:latin typeface="Times New Roman" panose="02020503050405090304" pitchFamily="18" charset="0"/>
              </a:rPr>
              <a:t> </a:t>
            </a:r>
            <a:endParaRPr lang="en-US" altLang="zh-CN" sz="1600" b="0" dirty="0">
              <a:latin typeface="Times New Roman" panose="02020503050405090304" pitchFamily="18" charset="0"/>
            </a:endParaRPr>
          </a:p>
        </p:txBody>
      </p:sp>
      <p:sp>
        <p:nvSpPr>
          <p:cNvPr id="5" name="矩形 4"/>
          <p:cNvSpPr/>
          <p:nvPr/>
        </p:nvSpPr>
        <p:spPr>
          <a:xfrm>
            <a:off x="392851" y="956163"/>
            <a:ext cx="1454244" cy="323165"/>
          </a:xfrm>
          <a:prstGeom prst="rect">
            <a:avLst/>
          </a:prstGeom>
        </p:spPr>
        <p:txBody>
          <a:bodyPr wrap="none">
            <a:spAutoFit/>
          </a:bodyPr>
          <a:lstStyle/>
          <a:p>
            <a:r>
              <a:rPr lang="zh-CN" altLang="en-US" sz="1500" b="1">
                <a:solidFill>
                  <a:schemeClr val="accent5"/>
                </a:solidFill>
                <a:latin typeface="Times New Roman" panose="02020503050405090304" pitchFamily="18" charset="0"/>
              </a:rPr>
              <a:t>自动</a:t>
            </a:r>
            <a:r>
              <a:rPr lang="zh-CN" altLang="en-US" sz="1500" b="1" dirty="0">
                <a:solidFill>
                  <a:schemeClr val="accent5"/>
                </a:solidFill>
                <a:latin typeface="Times New Roman" panose="02020503050405090304" pitchFamily="18" charset="0"/>
              </a:rPr>
              <a:t>文本摘要  </a:t>
            </a:r>
            <a:endParaRPr lang="en-US" altLang="zh-CN" sz="1500" b="1" dirty="0">
              <a:solidFill>
                <a:schemeClr val="accent5"/>
              </a:solidFill>
              <a:latin typeface="Times New Roman" panose="02020503050405090304" pitchFamily="18" charset="0"/>
            </a:endParaRPr>
          </a:p>
        </p:txBody>
      </p:sp>
      <p:sp>
        <p:nvSpPr>
          <p:cNvPr id="3" name="矩形 2"/>
          <p:cNvSpPr/>
          <p:nvPr/>
        </p:nvSpPr>
        <p:spPr>
          <a:xfrm>
            <a:off x="529047" y="3333060"/>
            <a:ext cx="8313804" cy="1153586"/>
          </a:xfrm>
          <a:prstGeom prst="rect">
            <a:avLst/>
          </a:prstGeom>
        </p:spPr>
        <p:txBody>
          <a:bodyPr wrap="square">
            <a:spAutoFit/>
          </a:bodyPr>
          <a:lstStyle/>
          <a:p>
            <a:pPr indent="342900">
              <a:lnSpc>
                <a:spcPct val="150000"/>
              </a:lnSpc>
            </a:pPr>
            <a:r>
              <a:rPr lang="zh-CN" altLang="en-US" sz="1600">
                <a:latin typeface="Times New Roman" panose="02020503050405090304" pitchFamily="18" charset="0"/>
              </a:rPr>
              <a:t>通过</a:t>
            </a:r>
            <a:r>
              <a:rPr lang="zh-CN" altLang="en-US" sz="1600" dirty="0">
                <a:latin typeface="Times New Roman" panose="02020503050405090304" pitchFamily="18" charset="0"/>
              </a:rPr>
              <a:t>收集和处理海量信息，对网络舆情</a:t>
            </a:r>
            <a:r>
              <a:rPr lang="zh-CN" altLang="en-US" sz="1600">
                <a:latin typeface="Times New Roman" panose="02020503050405090304" pitchFamily="18" charset="0"/>
              </a:rPr>
              <a:t>进行自动化分析</a:t>
            </a:r>
            <a:r>
              <a:rPr lang="zh-CN" altLang="en-US" sz="1600" dirty="0">
                <a:latin typeface="Times New Roman" panose="02020503050405090304" pitchFamily="18" charset="0"/>
              </a:rPr>
              <a:t>，帮助分析哪些话题是目前的热点，同时对热点的传播路径及发展趋势进行分析判断，以实现及时应对网络</a:t>
            </a:r>
            <a:r>
              <a:rPr lang="zh-CN" altLang="en-US" sz="1600">
                <a:latin typeface="Times New Roman" panose="02020503050405090304" pitchFamily="18" charset="0"/>
              </a:rPr>
              <a:t>舆情。</a:t>
            </a:r>
            <a:r>
              <a:rPr lang="zh-CN" altLang="en-US" sz="1600" b="0"/>
              <a:t>舆情分析广泛应用于社交媒体监控、品牌管理、市场调研、公共政策分析等领域。</a:t>
            </a:r>
            <a:endParaRPr lang="zh-CN" altLang="en-US" sz="1600" dirty="0">
              <a:latin typeface="Times New Roman" panose="02020503050405090304" pitchFamily="18" charset="0"/>
            </a:endParaRPr>
          </a:p>
        </p:txBody>
      </p:sp>
      <p:sp>
        <p:nvSpPr>
          <p:cNvPr id="6" name="矩形 5"/>
          <p:cNvSpPr/>
          <p:nvPr/>
        </p:nvSpPr>
        <p:spPr>
          <a:xfrm>
            <a:off x="389646" y="2941909"/>
            <a:ext cx="954107" cy="323165"/>
          </a:xfrm>
          <a:prstGeom prst="rect">
            <a:avLst/>
          </a:prstGeom>
        </p:spPr>
        <p:txBody>
          <a:bodyPr wrap="none">
            <a:spAutoFit/>
          </a:bodyPr>
          <a:lstStyle/>
          <a:p>
            <a:r>
              <a:rPr lang="zh-CN" altLang="en-US" sz="1500" b="1">
                <a:solidFill>
                  <a:schemeClr val="accent5"/>
                </a:solidFill>
                <a:latin typeface="Times New Roman" panose="02020503050405090304" pitchFamily="18" charset="0"/>
              </a:rPr>
              <a:t>舆情分析</a:t>
            </a:r>
            <a:endParaRPr lang="en-US" altLang="zh-CN" sz="1500" b="1" dirty="0">
              <a:solidFill>
                <a:schemeClr val="accent5"/>
              </a:solidFill>
              <a:latin typeface="Times New Roman" panose="02020503050405090304" pitchFamily="18" charset="0"/>
            </a:endParaRPr>
          </a:p>
        </p:txBody>
      </p:sp>
      <p:sp>
        <p:nvSpPr>
          <p:cNvPr id="7" name="日期占位符 6"/>
          <p:cNvSpPr>
            <a:spLocks noGrp="1"/>
          </p:cNvSpPr>
          <p:nvPr>
            <p:ph type="dt" sz="half" idx="10"/>
          </p:nvPr>
        </p:nvSpPr>
        <p:spPr/>
        <p:txBody>
          <a:bodyPr/>
          <a:lstStyle/>
          <a:p>
            <a:fld id="{7739C0F7-F5A3-4D73-951E-1D9C0EED82AB}" type="datetime1">
              <a:rPr lang="zh-CN" altLang="en-US" smtClean="0"/>
            </a:fld>
            <a:endParaRPr lang="zh-CN" altLang="en-US"/>
          </a:p>
        </p:txBody>
      </p:sp>
      <p:sp>
        <p:nvSpPr>
          <p:cNvPr id="8" name="灯片编号占位符 7"/>
          <p:cNvSpPr>
            <a:spLocks noGrp="1"/>
          </p:cNvSpPr>
          <p:nvPr>
            <p:ph type="sldNum" sz="quarter" idx="12"/>
          </p:nvPr>
        </p:nvSpPr>
        <p:spPr/>
        <p:txBody>
          <a:bodyPr/>
          <a:lstStyle/>
          <a:p>
            <a:fld id="{82952373-7980-4DA7-9ADE-54D716DB38BB}" type="slidenum">
              <a:rPr lang="zh-CN" altLang="en-US" smtClean="0"/>
            </a:fld>
            <a:endParaRPr lang="zh-CN" altLang="en-US"/>
          </a:p>
        </p:txBody>
      </p:sp>
    </p:spTree>
  </p:cSld>
  <p:clrMapOvr>
    <a:masterClrMapping/>
  </p:clrMapOvr>
  <mc:AlternateContent xmlns:mc="http://schemas.openxmlformats.org/markup-compatibility/2006">
    <mc:Choice xmlns:p14="http://schemas.microsoft.com/office/powerpoint/2010/main" Requires="p14">
      <p:transition p14:dur="0"/>
    </mc:Choice>
    <mc:Fallback>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grpId="0" nodeType="clickEffect">
                                  <p:stCondLst>
                                    <p:cond delay="0"/>
                                  </p:stCondLst>
                                  <p:childTnLst>
                                    <p:set>
                                      <p:cBhvr>
                                        <p:cTn id="6" dur="1" fill="hold">
                                          <p:stCondLst>
                                            <p:cond delay="0"/>
                                          </p:stCondLst>
                                        </p:cTn>
                                        <p:tgtEl>
                                          <p:spTgt spid="5"/>
                                        </p:tgtEl>
                                        <p:attrNameLst>
                                          <p:attrName>style.visibility</p:attrName>
                                        </p:attrNameLst>
                                      </p:cBhvr>
                                      <p:to>
                                        <p:strVal val="visible"/>
                                      </p:to>
                                    </p:set>
                                    <p:anim calcmode="lin" valueType="num">
                                      <p:cBhvr additive="base">
                                        <p:cTn id="7" dur="500" fill="hold"/>
                                        <p:tgtEl>
                                          <p:spTgt spid="5"/>
                                        </p:tgtEl>
                                        <p:attrNameLst>
                                          <p:attrName>ppt_x</p:attrName>
                                        </p:attrNameLst>
                                      </p:cBhvr>
                                      <p:tavLst>
                                        <p:tav tm="0">
                                          <p:val>
                                            <p:strVal val="#ppt_x"/>
                                          </p:val>
                                        </p:tav>
                                        <p:tav tm="100000">
                                          <p:val>
                                            <p:strVal val="#ppt_x"/>
                                          </p:val>
                                        </p:tav>
                                      </p:tavLst>
                                    </p:anim>
                                    <p:anim calcmode="lin" valueType="num">
                                      <p:cBhvr additive="base">
                                        <p:cTn id="8" dur="500" fill="hold"/>
                                        <p:tgtEl>
                                          <p:spTgt spid="5"/>
                                        </p:tgtEl>
                                        <p:attrNameLst>
                                          <p:attrName>ppt_y</p:attrName>
                                        </p:attrNameLst>
                                      </p:cBhvr>
                                      <p:tavLst>
                                        <p:tav tm="0">
                                          <p:val>
                                            <p:strVal val="1+#ppt_h/2"/>
                                          </p:val>
                                        </p:tav>
                                        <p:tav tm="100000">
                                          <p:val>
                                            <p:strVal val="#ppt_y"/>
                                          </p:val>
                                        </p:tav>
                                      </p:tavLst>
                                    </p:anim>
                                  </p:childTnLst>
                                </p:cTn>
                              </p:par>
                              <p:par>
                                <p:cTn id="9" presetID="2" presetClass="entr" presetSubtype="4" fill="hold" grpId="0" nodeType="withEffect">
                                  <p:stCondLst>
                                    <p:cond delay="0"/>
                                  </p:stCondLst>
                                  <p:childTnLst>
                                    <p:set>
                                      <p:cBhvr>
                                        <p:cTn id="10" dur="1" fill="hold">
                                          <p:stCondLst>
                                            <p:cond delay="0"/>
                                          </p:stCondLst>
                                        </p:cTn>
                                        <p:tgtEl>
                                          <p:spTgt spid="4"/>
                                        </p:tgtEl>
                                        <p:attrNameLst>
                                          <p:attrName>style.visibility</p:attrName>
                                        </p:attrNameLst>
                                      </p:cBhvr>
                                      <p:to>
                                        <p:strVal val="visible"/>
                                      </p:to>
                                    </p:set>
                                    <p:anim calcmode="lin" valueType="num">
                                      <p:cBhvr additive="base">
                                        <p:cTn id="11" dur="500" fill="hold"/>
                                        <p:tgtEl>
                                          <p:spTgt spid="4"/>
                                        </p:tgtEl>
                                        <p:attrNameLst>
                                          <p:attrName>ppt_x</p:attrName>
                                        </p:attrNameLst>
                                      </p:cBhvr>
                                      <p:tavLst>
                                        <p:tav tm="0">
                                          <p:val>
                                            <p:strVal val="#ppt_x"/>
                                          </p:val>
                                        </p:tav>
                                        <p:tav tm="100000">
                                          <p:val>
                                            <p:strVal val="#ppt_x"/>
                                          </p:val>
                                        </p:tav>
                                      </p:tavLst>
                                    </p:anim>
                                    <p:anim calcmode="lin" valueType="num">
                                      <p:cBhvr additive="base">
                                        <p:cTn id="12" dur="500" fill="hold"/>
                                        <p:tgtEl>
                                          <p:spTgt spid="4"/>
                                        </p:tgtEl>
                                        <p:attrNameLst>
                                          <p:attrName>ppt_y</p:attrName>
                                        </p:attrNameLst>
                                      </p:cBhvr>
                                      <p:tavLst>
                                        <p:tav tm="0">
                                          <p:val>
                                            <p:strVal val="1+#ppt_h/2"/>
                                          </p:val>
                                        </p:tav>
                                        <p:tav tm="100000">
                                          <p:val>
                                            <p:strVal val="#ppt_y"/>
                                          </p:val>
                                        </p:tav>
                                      </p:tavLst>
                                    </p:anim>
                                  </p:childTnLst>
                                </p:cTn>
                              </p:par>
                            </p:childTnLst>
                          </p:cTn>
                        </p:par>
                      </p:childTnLst>
                    </p:cTn>
                  </p:par>
                  <p:par>
                    <p:cTn id="13" fill="hold">
                      <p:stCondLst>
                        <p:cond delay="indefinite"/>
                      </p:stCondLst>
                      <p:childTnLst>
                        <p:par>
                          <p:cTn id="14" fill="hold">
                            <p:stCondLst>
                              <p:cond delay="0"/>
                            </p:stCondLst>
                            <p:childTnLst>
                              <p:par>
                                <p:cTn id="15" presetID="2" presetClass="entr" presetSubtype="4" fill="hold" grpId="0" nodeType="clickEffect">
                                  <p:stCondLst>
                                    <p:cond delay="0"/>
                                  </p:stCondLst>
                                  <p:childTnLst>
                                    <p:set>
                                      <p:cBhvr>
                                        <p:cTn id="16" dur="1" fill="hold">
                                          <p:stCondLst>
                                            <p:cond delay="0"/>
                                          </p:stCondLst>
                                        </p:cTn>
                                        <p:tgtEl>
                                          <p:spTgt spid="6"/>
                                        </p:tgtEl>
                                        <p:attrNameLst>
                                          <p:attrName>style.visibility</p:attrName>
                                        </p:attrNameLst>
                                      </p:cBhvr>
                                      <p:to>
                                        <p:strVal val="visible"/>
                                      </p:to>
                                    </p:set>
                                    <p:anim calcmode="lin" valueType="num">
                                      <p:cBhvr additive="base">
                                        <p:cTn id="17" dur="500" fill="hold"/>
                                        <p:tgtEl>
                                          <p:spTgt spid="6"/>
                                        </p:tgtEl>
                                        <p:attrNameLst>
                                          <p:attrName>ppt_x</p:attrName>
                                        </p:attrNameLst>
                                      </p:cBhvr>
                                      <p:tavLst>
                                        <p:tav tm="0">
                                          <p:val>
                                            <p:strVal val="#ppt_x"/>
                                          </p:val>
                                        </p:tav>
                                        <p:tav tm="100000">
                                          <p:val>
                                            <p:strVal val="#ppt_x"/>
                                          </p:val>
                                        </p:tav>
                                      </p:tavLst>
                                    </p:anim>
                                    <p:anim calcmode="lin" valueType="num">
                                      <p:cBhvr additive="base">
                                        <p:cTn id="18" dur="500" fill="hold"/>
                                        <p:tgtEl>
                                          <p:spTgt spid="6"/>
                                        </p:tgtEl>
                                        <p:attrNameLst>
                                          <p:attrName>ppt_y</p:attrName>
                                        </p:attrNameLst>
                                      </p:cBhvr>
                                      <p:tavLst>
                                        <p:tav tm="0">
                                          <p:val>
                                            <p:strVal val="1+#ppt_h/2"/>
                                          </p:val>
                                        </p:tav>
                                        <p:tav tm="100000">
                                          <p:val>
                                            <p:strVal val="#ppt_y"/>
                                          </p:val>
                                        </p:tav>
                                      </p:tavLst>
                                    </p:anim>
                                  </p:childTnLst>
                                </p:cTn>
                              </p:par>
                              <p:par>
                                <p:cTn id="19" presetID="2" presetClass="entr" presetSubtype="4" fill="hold" grpId="0" nodeType="withEffect">
                                  <p:stCondLst>
                                    <p:cond delay="0"/>
                                  </p:stCondLst>
                                  <p:childTnLst>
                                    <p:set>
                                      <p:cBhvr>
                                        <p:cTn id="20" dur="1" fill="hold">
                                          <p:stCondLst>
                                            <p:cond delay="0"/>
                                          </p:stCondLst>
                                        </p:cTn>
                                        <p:tgtEl>
                                          <p:spTgt spid="3"/>
                                        </p:tgtEl>
                                        <p:attrNameLst>
                                          <p:attrName>style.visibility</p:attrName>
                                        </p:attrNameLst>
                                      </p:cBhvr>
                                      <p:to>
                                        <p:strVal val="visible"/>
                                      </p:to>
                                    </p:set>
                                    <p:anim calcmode="lin" valueType="num">
                                      <p:cBhvr additive="base">
                                        <p:cTn id="21" dur="500" fill="hold"/>
                                        <p:tgtEl>
                                          <p:spTgt spid="3"/>
                                        </p:tgtEl>
                                        <p:attrNameLst>
                                          <p:attrName>ppt_x</p:attrName>
                                        </p:attrNameLst>
                                      </p:cBhvr>
                                      <p:tavLst>
                                        <p:tav tm="0">
                                          <p:val>
                                            <p:strVal val="#ppt_x"/>
                                          </p:val>
                                        </p:tav>
                                        <p:tav tm="100000">
                                          <p:val>
                                            <p:strVal val="#ppt_x"/>
                                          </p:val>
                                        </p:tav>
                                      </p:tavLst>
                                    </p:anim>
                                    <p:anim calcmode="lin" valueType="num">
                                      <p:cBhvr additive="base">
                                        <p:cTn id="22" dur="500" fill="hold"/>
                                        <p:tgtEl>
                                          <p:spTgt spid="3"/>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p:bldP spid="5" grpId="0"/>
      <p:bldP spid="3" grpId="0"/>
      <p:bldP spid="6" grpId="0"/>
    </p:bldLst>
  </p:timing>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sz="2800">
                <a:solidFill>
                  <a:srgbClr val="004C41"/>
                </a:solidFill>
                <a:ea typeface="宋体" pitchFamily="2" charset="-122"/>
                <a:cs typeface="+mn-ea"/>
                <a:sym typeface="+mn-lt"/>
              </a:rPr>
              <a:t>信息检索</a:t>
            </a:r>
            <a:endParaRPr lang="zh-CN" altLang="en-US">
              <a:ea typeface="宋体" pitchFamily="2" charset="-122"/>
            </a:endParaRPr>
          </a:p>
        </p:txBody>
      </p:sp>
      <p:sp>
        <p:nvSpPr>
          <p:cNvPr id="4" name="文本框 3"/>
          <p:cNvSpPr txBox="1"/>
          <p:nvPr/>
        </p:nvSpPr>
        <p:spPr>
          <a:xfrm>
            <a:off x="462479" y="868659"/>
            <a:ext cx="8421625" cy="2999740"/>
          </a:xfrm>
          <a:prstGeom prst="rect">
            <a:avLst/>
          </a:prstGeom>
          <a:noFill/>
        </p:spPr>
        <p:txBody>
          <a:bodyPr wrap="square">
            <a:spAutoFit/>
          </a:bodyPr>
          <a:lstStyle/>
          <a:p>
            <a:pPr marL="285750" indent="-285750">
              <a:lnSpc>
                <a:spcPct val="150000"/>
              </a:lnSpc>
              <a:buClr>
                <a:srgbClr val="0070C0"/>
              </a:buClr>
              <a:buFont typeface="Wingdings" panose="05000000000000000000" pitchFamily="2" charset="2"/>
              <a:buChar char="n"/>
            </a:pPr>
            <a:r>
              <a:rPr lang="en-US" altLang="zh-CN" b="0">
                <a:latin typeface="Times New Roman" panose="02020503050405090304" pitchFamily="18" charset="0"/>
              </a:rPr>
              <a:t> </a:t>
            </a:r>
            <a:r>
              <a:rPr lang="zh-CN" altLang="en-US" b="0">
                <a:latin typeface="Times New Roman" panose="02020503050405090304" pitchFamily="18" charset="0"/>
              </a:rPr>
              <a:t>信息检索指信息按一定的方式组织起来，并根据用户的需要找出有关的信息的过程和技术。</a:t>
            </a:r>
            <a:endParaRPr lang="en-US" altLang="zh-CN" b="0">
              <a:latin typeface="Times New Roman" panose="02020503050405090304" pitchFamily="18" charset="0"/>
            </a:endParaRPr>
          </a:p>
          <a:p>
            <a:pPr marL="285750" indent="-285750">
              <a:lnSpc>
                <a:spcPct val="150000"/>
              </a:lnSpc>
              <a:buClr>
                <a:srgbClr val="0070C0"/>
              </a:buClr>
              <a:buFont typeface="Wingdings" panose="05000000000000000000" pitchFamily="2" charset="2"/>
              <a:buChar char="n"/>
            </a:pPr>
            <a:r>
              <a:rPr lang="zh-CN" altLang="en-US" b="0">
                <a:latin typeface="Times New Roman" panose="02020503050405090304" pitchFamily="18" charset="0"/>
              </a:rPr>
              <a:t>搜索引擎是当前主流的信息检索方式，Google、百度、必应等搜索引擎在信息检索方面已经取得了巨大的成就，从最初的</a:t>
            </a:r>
            <a:r>
              <a:rPr lang="zh-CN" altLang="en-US" b="0">
                <a:solidFill>
                  <a:srgbClr val="0000FF"/>
                </a:solidFill>
                <a:latin typeface="Times New Roman" panose="02020503050405090304" pitchFamily="18" charset="0"/>
              </a:rPr>
              <a:t>关键词匹配算法</a:t>
            </a:r>
            <a:r>
              <a:rPr lang="zh-CN" altLang="en-US" b="0">
                <a:latin typeface="Times New Roman" panose="02020503050405090304" pitchFamily="18" charset="0"/>
              </a:rPr>
              <a:t>到如今的</a:t>
            </a:r>
            <a:r>
              <a:rPr lang="zh-CN" altLang="en-US" b="0">
                <a:solidFill>
                  <a:srgbClr val="0000FF"/>
                </a:solidFill>
                <a:latin typeface="Times New Roman" panose="02020503050405090304" pitchFamily="18" charset="0"/>
              </a:rPr>
              <a:t>语义检索</a:t>
            </a:r>
            <a:r>
              <a:rPr lang="zh-CN" altLang="en-US" b="0">
                <a:latin typeface="Times New Roman" panose="02020503050405090304" pitchFamily="18" charset="0"/>
              </a:rPr>
              <a:t>技术， 用户已经能够随心所欲地检索自己所需的信息。</a:t>
            </a:r>
            <a:endParaRPr lang="zh-CN" altLang="en-US" b="0">
              <a:latin typeface="Times New Roman" panose="02020503050405090304" pitchFamily="18" charset="0"/>
            </a:endParaRPr>
          </a:p>
          <a:p>
            <a:pPr marL="285750" indent="-285750">
              <a:lnSpc>
                <a:spcPct val="150000"/>
              </a:lnSpc>
              <a:buClr>
                <a:srgbClr val="0070C0"/>
              </a:buClr>
              <a:buFont typeface="Wingdings" panose="05000000000000000000" pitchFamily="2" charset="2"/>
              <a:buChar char="n"/>
            </a:pPr>
            <a:r>
              <a:rPr lang="zh-CN" altLang="en-US" b="0">
                <a:latin typeface="Times New Roman" panose="02020503050405090304" pitchFamily="18" charset="0"/>
              </a:rPr>
              <a:t>例如</a:t>
            </a:r>
            <a:r>
              <a:rPr lang="en-US" altLang="zh-CN" b="0">
                <a:latin typeface="Times New Roman" panose="02020503050405090304" pitchFamily="18" charset="0"/>
              </a:rPr>
              <a:t>，</a:t>
            </a:r>
            <a:r>
              <a:rPr lang="zh-CN" altLang="en-US" b="0">
                <a:latin typeface="Times New Roman" panose="02020503050405090304" pitchFamily="18" charset="0"/>
              </a:rPr>
              <a:t>当用户搜索</a:t>
            </a:r>
            <a:r>
              <a:rPr lang="en-US" altLang="zh-CN" b="0">
                <a:latin typeface="Times New Roman" panose="02020503050405090304" pitchFamily="18" charset="0"/>
              </a:rPr>
              <a:t>“</a:t>
            </a:r>
            <a:r>
              <a:rPr lang="zh-CN" altLang="en-US" b="0">
                <a:latin typeface="Times New Roman" panose="02020503050405090304" pitchFamily="18" charset="0"/>
              </a:rPr>
              <a:t>表现春天的图片</a:t>
            </a:r>
            <a:r>
              <a:rPr lang="en-US" altLang="zh-CN" b="0">
                <a:latin typeface="Times New Roman" panose="02020503050405090304" pitchFamily="18" charset="0"/>
              </a:rPr>
              <a:t>”</a:t>
            </a:r>
            <a:r>
              <a:rPr lang="zh-CN" altLang="en-US" b="0">
                <a:latin typeface="Times New Roman" panose="02020503050405090304" pitchFamily="18" charset="0"/>
              </a:rPr>
              <a:t>时，搜索引擎会向其呈现出各种与春天相关的图片，而不仅仅局限于该图片的标题是否包含</a:t>
            </a:r>
            <a:r>
              <a:rPr lang="en-US" altLang="zh-CN" b="0">
                <a:latin typeface="Times New Roman" panose="02020503050405090304" pitchFamily="18" charset="0"/>
              </a:rPr>
              <a:t>“</a:t>
            </a:r>
            <a:r>
              <a:rPr lang="zh-CN" altLang="en-US" b="0">
                <a:latin typeface="Times New Roman" panose="02020503050405090304" pitchFamily="18" charset="0"/>
              </a:rPr>
              <a:t>春天</a:t>
            </a:r>
            <a:r>
              <a:rPr lang="en-US" altLang="zh-CN" b="0">
                <a:latin typeface="Times New Roman" panose="02020503050405090304" pitchFamily="18" charset="0"/>
              </a:rPr>
              <a:t>”</a:t>
            </a:r>
            <a:r>
              <a:rPr lang="zh-CN" altLang="en-US" b="0">
                <a:latin typeface="Times New Roman" panose="02020503050405090304" pitchFamily="18" charset="0"/>
              </a:rPr>
              <a:t>字样。</a:t>
            </a:r>
            <a:endParaRPr lang="zh-CN" altLang="en-US" b="0">
              <a:latin typeface="Times New Roman" panose="02020503050405090304" pitchFamily="18" charset="0"/>
            </a:endParaRPr>
          </a:p>
        </p:txBody>
      </p:sp>
      <p:sp>
        <p:nvSpPr>
          <p:cNvPr id="3" name="日期占位符 2"/>
          <p:cNvSpPr>
            <a:spLocks noGrp="1"/>
          </p:cNvSpPr>
          <p:nvPr>
            <p:ph type="dt" sz="half" idx="10"/>
          </p:nvPr>
        </p:nvSpPr>
        <p:spPr/>
        <p:txBody>
          <a:bodyPr/>
          <a:lstStyle/>
          <a:p>
            <a:fld id="{01B068C1-BCAC-4A08-AEE6-75ED9FD10E9F}" type="datetime1">
              <a:rPr lang="zh-CN" altLang="en-US" smtClean="0"/>
            </a:fld>
            <a:endParaRPr lang="zh-CN" altLang="en-US"/>
          </a:p>
        </p:txBody>
      </p:sp>
      <p:sp>
        <p:nvSpPr>
          <p:cNvPr id="5" name="灯片编号占位符 4"/>
          <p:cNvSpPr>
            <a:spLocks noGrp="1"/>
          </p:cNvSpPr>
          <p:nvPr>
            <p:ph type="sldNum" sz="quarter" idx="12"/>
          </p:nvPr>
        </p:nvSpPr>
        <p:spPr/>
        <p:txBody>
          <a:bodyPr/>
          <a:lstStyle/>
          <a:p>
            <a:fld id="{82952373-7980-4DA7-9ADE-54D716DB38BB}" type="slidenum">
              <a:rPr lang="zh-CN" altLang="en-US" smtClean="0"/>
            </a:fld>
            <a:endParaRPr lang="zh-CN" altLang="en-US"/>
          </a:p>
        </p:txBody>
      </p:sp>
    </p:spTree>
  </p:cSld>
  <p:clrMapOvr>
    <a:masterClrMapping/>
  </p:clrMapOvr>
  <mc:AlternateContent xmlns:mc="http://schemas.openxmlformats.org/markup-compatibility/2006">
    <mc:Choice xmlns:p14="http://schemas.microsoft.com/office/powerpoint/2010/main" Requires="p14">
      <p:transition p14:dur="0"/>
    </mc:Choice>
    <mc:Fallback>
      <p:transition/>
    </mc:Fallback>
  </mc:AlternateContent>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normAutofit/>
          </a:bodyPr>
          <a:lstStyle/>
          <a:p>
            <a:r>
              <a:rPr lang="zh-CN" altLang="en-US" sz="2800">
                <a:solidFill>
                  <a:srgbClr val="004C41"/>
                </a:solidFill>
                <a:ea typeface="宋体" pitchFamily="2" charset="-122"/>
                <a:cs typeface="+mn-ea"/>
                <a:sym typeface="+mn-lt"/>
              </a:rPr>
              <a:t>信息检索</a:t>
            </a:r>
            <a:endParaRPr lang="zh-CN" altLang="en-US" sz="2800" dirty="0">
              <a:solidFill>
                <a:srgbClr val="004C41"/>
              </a:solidFill>
              <a:ea typeface="宋体" pitchFamily="2" charset="-122"/>
              <a:cs typeface="+mn-ea"/>
            </a:endParaRPr>
          </a:p>
        </p:txBody>
      </p:sp>
      <p:sp>
        <p:nvSpPr>
          <p:cNvPr id="4" name="文本框 3"/>
          <p:cNvSpPr txBox="1"/>
          <p:nvPr/>
        </p:nvSpPr>
        <p:spPr>
          <a:xfrm>
            <a:off x="450670" y="773383"/>
            <a:ext cx="8072847" cy="1153586"/>
          </a:xfrm>
          <a:prstGeom prst="rect">
            <a:avLst/>
          </a:prstGeom>
          <a:noFill/>
        </p:spPr>
        <p:txBody>
          <a:bodyPr wrap="square">
            <a:spAutoFit/>
          </a:bodyPr>
          <a:lstStyle/>
          <a:p>
            <a:pPr indent="342900">
              <a:lnSpc>
                <a:spcPct val="150000"/>
              </a:lnSpc>
            </a:pPr>
            <a:r>
              <a:rPr lang="zh-CN" altLang="en-US" sz="1600" b="0">
                <a:latin typeface="Times New Roman" panose="02020503050405090304" pitchFamily="18" charset="0"/>
              </a:rPr>
              <a:t>在</a:t>
            </a:r>
            <a:r>
              <a:rPr lang="zh-CN" altLang="en-US" sz="1600" b="0" dirty="0">
                <a:latin typeface="Times New Roman" panose="02020503050405090304" pitchFamily="18" charset="0"/>
              </a:rPr>
              <a:t>搜索引擎中，常常使用</a:t>
            </a:r>
            <a:r>
              <a:rPr lang="zh-CN" altLang="en-US" sz="1600" b="0" dirty="0">
                <a:solidFill>
                  <a:srgbClr val="0070C0"/>
                </a:solidFill>
                <a:latin typeface="Times New Roman" panose="02020503050405090304" pitchFamily="18" charset="0"/>
              </a:rPr>
              <a:t>分词、词性标注、句法分析、命名实体识别等包括词法分析、语法分析和语义分析等步骤。</a:t>
            </a:r>
            <a:r>
              <a:rPr lang="zh-CN" altLang="en-US" sz="1600" b="0" dirty="0">
                <a:latin typeface="Times New Roman" panose="02020503050405090304" pitchFamily="18" charset="0"/>
              </a:rPr>
              <a:t>可以通过使用命名实体识别来抽取</a:t>
            </a:r>
            <a:r>
              <a:rPr lang="en-US" altLang="zh-CN" sz="1600" b="0" dirty="0">
                <a:latin typeface="Times New Roman" panose="02020503050405090304" pitchFamily="18" charset="0"/>
              </a:rPr>
              <a:t>Web</a:t>
            </a:r>
            <a:r>
              <a:rPr lang="zh-CN" altLang="en-US" sz="1600" b="0" dirty="0">
                <a:latin typeface="Times New Roman" panose="02020503050405090304" pitchFamily="18" charset="0"/>
              </a:rPr>
              <a:t>页面中的实体</a:t>
            </a:r>
            <a:r>
              <a:rPr lang="en-US" altLang="zh-CN" sz="1600" b="0" dirty="0">
                <a:latin typeface="Times New Roman" panose="02020503050405090304" pitchFamily="18" charset="0"/>
              </a:rPr>
              <a:t>, </a:t>
            </a:r>
            <a:r>
              <a:rPr lang="zh-CN" altLang="en-US" sz="1600" b="0" dirty="0">
                <a:latin typeface="Times New Roman" panose="02020503050405090304" pitchFamily="18" charset="0"/>
              </a:rPr>
              <a:t>后续可以使用这些信息来提高搜索效率和准确度。</a:t>
            </a:r>
            <a:endParaRPr lang="en-US" altLang="zh-CN" sz="1600" b="0" dirty="0">
              <a:latin typeface="Times New Roman" panose="02020503050405090304" pitchFamily="18" charset="0"/>
            </a:endParaRPr>
          </a:p>
        </p:txBody>
      </p:sp>
      <p:sp>
        <p:nvSpPr>
          <p:cNvPr id="5" name="矩形 4"/>
          <p:cNvSpPr/>
          <p:nvPr/>
        </p:nvSpPr>
        <p:spPr>
          <a:xfrm>
            <a:off x="450670" y="1863090"/>
            <a:ext cx="7837715" cy="3415030"/>
          </a:xfrm>
          <a:prstGeom prst="rect">
            <a:avLst/>
          </a:prstGeom>
          <a:noFill/>
        </p:spPr>
        <p:txBody>
          <a:bodyPr wrap="square">
            <a:spAutoFit/>
          </a:bodyPr>
          <a:lstStyle/>
          <a:p>
            <a:pPr indent="342900">
              <a:lnSpc>
                <a:spcPct val="150000"/>
              </a:lnSpc>
            </a:pPr>
            <a:r>
              <a:rPr lang="zh-CN" altLang="en-US" sz="1600" b="0">
                <a:latin typeface="Times New Roman" panose="02020503050405090304" pitchFamily="18" charset="0"/>
              </a:rPr>
              <a:t>当在</a:t>
            </a:r>
            <a:r>
              <a:rPr lang="zh-CN" altLang="en-US" sz="1600" b="0" dirty="0">
                <a:latin typeface="Times New Roman" panose="02020503050405090304" pitchFamily="18" charset="0"/>
              </a:rPr>
              <a:t>搜索引擎中输入搜索关键词时，搜索引擎</a:t>
            </a:r>
            <a:r>
              <a:rPr lang="zh-CN" altLang="en-US" sz="1600" b="0">
                <a:latin typeface="Times New Roman" panose="02020503050405090304" pitchFamily="18" charset="0"/>
              </a:rPr>
              <a:t>会根据输入</a:t>
            </a:r>
            <a:r>
              <a:rPr lang="zh-CN" altLang="en-US" sz="1600" b="0" dirty="0">
                <a:latin typeface="Times New Roman" panose="02020503050405090304" pitchFamily="18" charset="0"/>
              </a:rPr>
              <a:t>的关键词去匹配相关网页，并返回相关的搜索结果。这个过程是通过一系列的计算机算法和数据处理技术实现的。但是，</a:t>
            </a:r>
            <a:r>
              <a:rPr lang="zh-CN" altLang="en-US" sz="1600" b="0" dirty="0">
                <a:solidFill>
                  <a:srgbClr val="0000FF"/>
                </a:solidFill>
                <a:latin typeface="Times New Roman" panose="02020503050405090304" pitchFamily="18" charset="0"/>
              </a:rPr>
              <a:t>在传统搜索中，搜索引擎只能根据关键词去匹配相关的网页，而不能真正理解我们输入的自然语言。</a:t>
            </a:r>
            <a:endParaRPr lang="zh-CN" altLang="en-US" sz="1600" b="0" dirty="0">
              <a:solidFill>
                <a:srgbClr val="0000FF"/>
              </a:solidFill>
              <a:latin typeface="Times New Roman" panose="02020503050405090304" pitchFamily="18" charset="0"/>
            </a:endParaRPr>
          </a:p>
          <a:p>
            <a:pPr indent="342900">
              <a:lnSpc>
                <a:spcPct val="150000"/>
              </a:lnSpc>
            </a:pPr>
            <a:r>
              <a:rPr lang="zh-CN" altLang="en-US" sz="1600" b="0" dirty="0">
                <a:solidFill>
                  <a:schemeClr val="tx1"/>
                </a:solidFill>
                <a:latin typeface="Times New Roman" panose="02020503050405090304" pitchFamily="18" charset="0"/>
              </a:rPr>
              <a:t>语义搜索是计算机科学与技术领域的研究对象，指搜索引擎通过理解用户查询的深层意图而非字面匹配进行精准检索的技术，主要分为知识型语义搜索、语义网文档搜索和领域知识搜索三种类型</a:t>
            </a:r>
            <a:r>
              <a:rPr lang="en-US" altLang="zh-CN" sz="1600" b="0" dirty="0">
                <a:solidFill>
                  <a:schemeClr val="tx1"/>
                </a:solidFill>
                <a:latin typeface="Times New Roman" panose="02020503050405090304" pitchFamily="18" charset="0"/>
              </a:rPr>
              <a:t> [1-2]</a:t>
            </a:r>
            <a:r>
              <a:rPr lang="zh-CN" altLang="en-US" sz="1600" b="0" dirty="0">
                <a:solidFill>
                  <a:schemeClr val="tx1"/>
                </a:solidFill>
                <a:latin typeface="Times New Roman" panose="02020503050405090304" pitchFamily="18" charset="0"/>
              </a:rPr>
              <a:t>。其核心技术包括</a:t>
            </a:r>
            <a:r>
              <a:rPr lang="zh-CN" altLang="en-US" sz="1600" b="0" dirty="0">
                <a:solidFill>
                  <a:srgbClr val="3333FF"/>
                </a:solidFill>
                <a:latin typeface="Times New Roman" panose="02020503050405090304" pitchFamily="18" charset="0"/>
              </a:rPr>
              <a:t>概念模型建立、本体知识库构建与维护、推理机制实现及结果排序算法</a:t>
            </a:r>
            <a:r>
              <a:rPr lang="zh-CN" altLang="en-US" sz="1600" b="0" dirty="0">
                <a:solidFill>
                  <a:schemeClr val="tx1"/>
                </a:solidFill>
                <a:latin typeface="Times New Roman" panose="02020503050405090304" pitchFamily="18" charset="0"/>
              </a:rPr>
              <a:t>，依托</a:t>
            </a:r>
            <a:r>
              <a:rPr lang="zh-CN" altLang="en-US" sz="1600" b="0" dirty="0">
                <a:solidFill>
                  <a:srgbClr val="3333FF"/>
                </a:solidFill>
                <a:latin typeface="Times New Roman" panose="02020503050405090304" pitchFamily="18" charset="0"/>
              </a:rPr>
              <a:t>知识图谱</a:t>
            </a:r>
            <a:r>
              <a:rPr lang="zh-CN" altLang="en-US" sz="1600" b="0" dirty="0">
                <a:solidFill>
                  <a:schemeClr val="tx1"/>
                </a:solidFill>
                <a:latin typeface="Times New Roman" panose="02020503050405090304" pitchFamily="18" charset="0"/>
              </a:rPr>
              <a:t>等技术实现语义关联识别</a:t>
            </a:r>
            <a:r>
              <a:rPr lang="en-US" altLang="zh-CN" sz="1600" b="0" dirty="0">
                <a:solidFill>
                  <a:schemeClr val="tx1"/>
                </a:solidFill>
                <a:latin typeface="Times New Roman" panose="02020503050405090304" pitchFamily="18" charset="0"/>
              </a:rPr>
              <a:t>。</a:t>
            </a:r>
            <a:endParaRPr lang="en-US" altLang="zh-CN" sz="1600" b="0" dirty="0">
              <a:solidFill>
                <a:schemeClr val="tx1"/>
              </a:solidFill>
              <a:latin typeface="Times New Roman" panose="02020503050405090304" pitchFamily="18" charset="0"/>
            </a:endParaRPr>
          </a:p>
          <a:p>
            <a:pPr indent="342900">
              <a:lnSpc>
                <a:spcPct val="150000"/>
              </a:lnSpc>
            </a:pPr>
            <a:endParaRPr lang="en-US" altLang="zh-CN" sz="1600" b="0" dirty="0">
              <a:solidFill>
                <a:schemeClr val="tx1"/>
              </a:solidFill>
              <a:latin typeface="Times New Roman" panose="02020503050405090304" pitchFamily="18" charset="0"/>
            </a:endParaRPr>
          </a:p>
        </p:txBody>
      </p:sp>
      <p:sp>
        <p:nvSpPr>
          <p:cNvPr id="3" name="日期占位符 2"/>
          <p:cNvSpPr>
            <a:spLocks noGrp="1"/>
          </p:cNvSpPr>
          <p:nvPr>
            <p:ph type="dt" sz="half" idx="10"/>
          </p:nvPr>
        </p:nvSpPr>
        <p:spPr/>
        <p:txBody>
          <a:bodyPr/>
          <a:lstStyle/>
          <a:p>
            <a:fld id="{1583578B-E872-4E34-A969-659E9CF85F10}" type="datetime1">
              <a:rPr lang="zh-CN" altLang="en-US" smtClean="0"/>
            </a:fld>
            <a:endParaRPr lang="zh-CN" altLang="en-US"/>
          </a:p>
        </p:txBody>
      </p:sp>
      <p:sp>
        <p:nvSpPr>
          <p:cNvPr id="6" name="灯片编号占位符 5"/>
          <p:cNvSpPr>
            <a:spLocks noGrp="1"/>
          </p:cNvSpPr>
          <p:nvPr>
            <p:ph type="sldNum" sz="quarter" idx="12"/>
          </p:nvPr>
        </p:nvSpPr>
        <p:spPr/>
        <p:txBody>
          <a:bodyPr/>
          <a:lstStyle/>
          <a:p>
            <a:fld id="{82952373-7980-4DA7-9ADE-54D716DB38BB}" type="slidenum">
              <a:rPr lang="zh-CN" altLang="en-US" smtClean="0"/>
            </a:fld>
            <a:endParaRPr lang="zh-CN" altLang="en-US"/>
          </a:p>
        </p:txBody>
      </p:sp>
    </p:spTree>
  </p:cSld>
  <p:clrMapOvr>
    <a:masterClrMapping/>
  </p:clrMapOvr>
  <mc:AlternateContent xmlns:mc="http://schemas.openxmlformats.org/markup-compatibility/2006">
    <mc:Choice xmlns:p14="http://schemas.microsoft.com/office/powerpoint/2010/main" Requires="p14">
      <p:transition p14:dur="0"/>
    </mc:Choice>
    <mc:Fallback>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grpId="0" nodeType="clickEffect">
                                  <p:stCondLst>
                                    <p:cond delay="0"/>
                                  </p:stCondLst>
                                  <p:childTnLst>
                                    <p:set>
                                      <p:cBhvr>
                                        <p:cTn id="6" dur="1" fill="hold">
                                          <p:stCondLst>
                                            <p:cond delay="0"/>
                                          </p:stCondLst>
                                        </p:cTn>
                                        <p:tgtEl>
                                          <p:spTgt spid="5"/>
                                        </p:tgtEl>
                                        <p:attrNameLst>
                                          <p:attrName>style.visibility</p:attrName>
                                        </p:attrNameLst>
                                      </p:cBhvr>
                                      <p:to>
                                        <p:strVal val="visible"/>
                                      </p:to>
                                    </p:set>
                                    <p:anim calcmode="lin" valueType="num">
                                      <p:cBhvr additive="base">
                                        <p:cTn id="7" dur="500" fill="hold"/>
                                        <p:tgtEl>
                                          <p:spTgt spid="5"/>
                                        </p:tgtEl>
                                        <p:attrNameLst>
                                          <p:attrName>ppt_x</p:attrName>
                                        </p:attrNameLst>
                                      </p:cBhvr>
                                      <p:tavLst>
                                        <p:tav tm="0">
                                          <p:val>
                                            <p:strVal val="#ppt_x"/>
                                          </p:val>
                                        </p:tav>
                                        <p:tav tm="100000">
                                          <p:val>
                                            <p:strVal val="#ppt_x"/>
                                          </p:val>
                                        </p:tav>
                                      </p:tavLst>
                                    </p:anim>
                                    <p:anim calcmode="lin" valueType="num">
                                      <p:cBhvr additive="base">
                                        <p:cTn id="8" dur="500" fill="hold"/>
                                        <p:tgtEl>
                                          <p:spTgt spid="5"/>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 grpId="0"/>
    </p:bldLst>
  </p:timing>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sz="2400">
                <a:solidFill>
                  <a:srgbClr val="004C41"/>
                </a:solidFill>
                <a:ea typeface="宋体" pitchFamily="2" charset="-122"/>
                <a:cs typeface="+mn-ea"/>
                <a:sym typeface="+mn-lt"/>
              </a:rPr>
              <a:t>信息检索</a:t>
            </a:r>
            <a:endParaRPr lang="zh-CN" altLang="en-US"/>
          </a:p>
        </p:txBody>
      </p:sp>
      <p:sp>
        <p:nvSpPr>
          <p:cNvPr id="3" name="日期占位符 2"/>
          <p:cNvSpPr>
            <a:spLocks noGrp="1"/>
          </p:cNvSpPr>
          <p:nvPr>
            <p:ph type="dt" sz="half" idx="10"/>
          </p:nvPr>
        </p:nvSpPr>
        <p:spPr/>
        <p:txBody>
          <a:bodyPr/>
          <a:lstStyle/>
          <a:p>
            <a:fld id="{59EA5E4C-3639-4B8B-822E-E7371B831F99}" type="datetime1">
              <a:rPr lang="zh-CN" altLang="en-US" smtClean="0"/>
            </a:fld>
            <a:endParaRPr lang="zh-CN" altLang="en-US"/>
          </a:p>
        </p:txBody>
      </p:sp>
      <p:sp>
        <p:nvSpPr>
          <p:cNvPr id="4" name="灯片编号占位符 3"/>
          <p:cNvSpPr>
            <a:spLocks noGrp="1"/>
          </p:cNvSpPr>
          <p:nvPr>
            <p:ph type="sldNum" sz="quarter" idx="12"/>
          </p:nvPr>
        </p:nvSpPr>
        <p:spPr/>
        <p:txBody>
          <a:bodyPr/>
          <a:lstStyle/>
          <a:p>
            <a:fld id="{82952373-7980-4DA7-9ADE-54D716DB38BB}" type="slidenum">
              <a:rPr lang="zh-CN" altLang="en-US" smtClean="0"/>
            </a:fld>
            <a:endParaRPr lang="zh-CN" altLang="en-US"/>
          </a:p>
        </p:txBody>
      </p:sp>
      <p:pic>
        <p:nvPicPr>
          <p:cNvPr id="6" name="图片 5"/>
          <p:cNvPicPr>
            <a:picLocks noChangeAspect="1"/>
          </p:cNvPicPr>
          <p:nvPr/>
        </p:nvPicPr>
        <p:blipFill>
          <a:blip r:embed="rId1"/>
          <a:stretch>
            <a:fillRect/>
          </a:stretch>
        </p:blipFill>
        <p:spPr>
          <a:xfrm>
            <a:off x="1136424" y="868983"/>
            <a:ext cx="6151344" cy="3992085"/>
          </a:xfrm>
          <a:prstGeom prst="rect">
            <a:avLst/>
          </a:prstGeom>
        </p:spPr>
      </p:pic>
    </p:spTree>
  </p:cSld>
  <p:clrMapOvr>
    <a:masterClrMapping/>
  </p:clrMapOvr>
  <mc:AlternateContent xmlns:mc="http://schemas.openxmlformats.org/markup-compatibility/2006">
    <mc:Choice xmlns:p14="http://schemas.microsoft.com/office/powerpoint/2010/main" Requires="p14">
      <p:transition p14:dur="0"/>
    </mc:Choice>
    <mc:Fallback>
      <p:transition/>
    </mc:Fallback>
  </mc:AlternateContent>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normAutofit/>
          </a:bodyPr>
          <a:lstStyle/>
          <a:p>
            <a:r>
              <a:rPr lang="zh-CN" altLang="en-US" sz="2800">
                <a:solidFill>
                  <a:schemeClr val="accent5"/>
                </a:solidFill>
                <a:ea typeface="宋体" pitchFamily="2" charset="-122"/>
              </a:rPr>
              <a:t>推荐系统</a:t>
            </a:r>
            <a:endParaRPr lang="zh-CN" altLang="en-US">
              <a:ea typeface="宋体" pitchFamily="2" charset="-122"/>
            </a:endParaRPr>
          </a:p>
        </p:txBody>
      </p:sp>
      <p:sp>
        <p:nvSpPr>
          <p:cNvPr id="3" name="文本框 2"/>
          <p:cNvSpPr txBox="1"/>
          <p:nvPr/>
        </p:nvSpPr>
        <p:spPr>
          <a:xfrm>
            <a:off x="732140" y="1215685"/>
            <a:ext cx="8042148" cy="2117246"/>
          </a:xfrm>
          <a:prstGeom prst="rect">
            <a:avLst/>
          </a:prstGeom>
          <a:noFill/>
        </p:spPr>
        <p:txBody>
          <a:bodyPr wrap="square">
            <a:spAutoFit/>
          </a:bodyPr>
          <a:lstStyle/>
          <a:p>
            <a:pPr marL="285750" indent="-285750">
              <a:lnSpc>
                <a:spcPct val="150000"/>
              </a:lnSpc>
              <a:buClr>
                <a:srgbClr val="0070C0"/>
              </a:buClr>
              <a:buFont typeface="Wingdings" panose="05000000000000000000" pitchFamily="2" charset="2"/>
              <a:buChar char="n"/>
            </a:pPr>
            <a:r>
              <a:rPr lang="zh-CN" altLang="en-US" b="0">
                <a:latin typeface="Times New Roman" panose="02020503050405090304" pitchFamily="18" charset="0"/>
              </a:rPr>
              <a:t>推荐</a:t>
            </a:r>
            <a:r>
              <a:rPr lang="zh-CN" altLang="en-US" b="0" dirty="0">
                <a:latin typeface="Times New Roman" panose="02020503050405090304" pitchFamily="18" charset="0"/>
              </a:rPr>
              <a:t>系统是一种</a:t>
            </a:r>
            <a:r>
              <a:rPr lang="zh-CN" altLang="en-US" b="0" dirty="0">
                <a:solidFill>
                  <a:srgbClr val="3333FF"/>
                </a:solidFill>
                <a:latin typeface="Times New Roman" panose="02020503050405090304" pitchFamily="18" charset="0"/>
              </a:rPr>
              <a:t>信息过滤系统</a:t>
            </a:r>
            <a:r>
              <a:rPr lang="zh-CN" altLang="en-US" b="0" dirty="0">
                <a:latin typeface="Times New Roman" panose="02020503050405090304" pitchFamily="18" charset="0"/>
              </a:rPr>
              <a:t>，它为与特定用户相关的物品提供个性化建议</a:t>
            </a:r>
            <a:r>
              <a:rPr lang="zh-CN" altLang="en-US" b="0">
                <a:latin typeface="Times New Roman" panose="02020503050405090304" pitchFamily="18" charset="0"/>
              </a:rPr>
              <a:t>，在电商、信息分发、计算广告、互联网金融、社交媒体服务等应用中无处不在。个性化推荐是大数据时代不可或缺的技术。</a:t>
            </a:r>
            <a:endParaRPr lang="en-US" altLang="zh-CN" b="0">
              <a:latin typeface="Times New Roman" panose="02020503050405090304" pitchFamily="18" charset="0"/>
            </a:endParaRPr>
          </a:p>
          <a:p>
            <a:pPr marL="285750" indent="-285750">
              <a:lnSpc>
                <a:spcPct val="150000"/>
              </a:lnSpc>
              <a:buClr>
                <a:srgbClr val="0070C0"/>
              </a:buClr>
              <a:buFont typeface="Wingdings" panose="05000000000000000000" pitchFamily="2" charset="2"/>
              <a:buChar char="n"/>
            </a:pPr>
            <a:r>
              <a:rPr lang="zh-CN" altLang="en-US" b="0">
                <a:latin typeface="Times New Roman" panose="02020503050405090304" pitchFamily="18" charset="0"/>
              </a:rPr>
              <a:t>推荐系统中经常需要处理各种文本类数据，例如商品描述、新闻资讯、用户留言等等。</a:t>
            </a:r>
            <a:endParaRPr lang="zh-CN" altLang="en-US" b="0" dirty="0">
              <a:latin typeface="Times New Roman" panose="02020503050405090304" pitchFamily="18" charset="0"/>
            </a:endParaRPr>
          </a:p>
        </p:txBody>
      </p:sp>
      <p:sp>
        <p:nvSpPr>
          <p:cNvPr id="5" name="日期占位符 4"/>
          <p:cNvSpPr>
            <a:spLocks noGrp="1"/>
          </p:cNvSpPr>
          <p:nvPr>
            <p:ph type="dt" sz="half" idx="10"/>
          </p:nvPr>
        </p:nvSpPr>
        <p:spPr/>
        <p:txBody>
          <a:bodyPr/>
          <a:lstStyle/>
          <a:p>
            <a:fld id="{CF2E4323-C076-4654-9F35-9A1CAB20236F}" type="datetime1">
              <a:rPr lang="zh-CN" altLang="en-US" smtClean="0"/>
            </a:fld>
            <a:endParaRPr lang="zh-CN" altLang="en-US"/>
          </a:p>
        </p:txBody>
      </p:sp>
      <p:sp>
        <p:nvSpPr>
          <p:cNvPr id="6" name="灯片编号占位符 5"/>
          <p:cNvSpPr>
            <a:spLocks noGrp="1"/>
          </p:cNvSpPr>
          <p:nvPr>
            <p:ph type="sldNum" sz="quarter" idx="12"/>
          </p:nvPr>
        </p:nvSpPr>
        <p:spPr/>
        <p:txBody>
          <a:bodyPr/>
          <a:lstStyle/>
          <a:p>
            <a:fld id="{82952373-7980-4DA7-9ADE-54D716DB38BB}" type="slidenum">
              <a:rPr lang="zh-CN" altLang="en-US" smtClean="0"/>
            </a:fld>
            <a:endParaRPr lang="zh-CN" altLang="en-US"/>
          </a:p>
        </p:txBody>
      </p:sp>
    </p:spTree>
  </p:cSld>
  <p:clrMapOvr>
    <a:masterClrMapping/>
  </p:clrMapOvr>
  <mc:AlternateContent xmlns:mc="http://schemas.openxmlformats.org/markup-compatibility/2006">
    <mc:Choice xmlns:p14="http://schemas.microsoft.com/office/powerpoint/2010/main" Requires="p14">
      <p:transition p14:dur="0"/>
    </mc:Choice>
    <mc:Fallback>
      <p:transition/>
    </mc:Fallback>
  </mc:AlternateContent>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文本框 3"/>
          <p:cNvSpPr txBox="1"/>
          <p:nvPr/>
        </p:nvSpPr>
        <p:spPr>
          <a:xfrm>
            <a:off x="681228" y="1002283"/>
            <a:ext cx="8249230" cy="1286250"/>
          </a:xfrm>
          <a:prstGeom prst="rect">
            <a:avLst/>
          </a:prstGeom>
          <a:ln>
            <a:noFill/>
          </a:ln>
        </p:spPr>
        <p:style>
          <a:lnRef idx="2">
            <a:schemeClr val="dk1"/>
          </a:lnRef>
          <a:fillRef idx="1">
            <a:schemeClr val="lt1"/>
          </a:fillRef>
          <a:effectRef idx="0">
            <a:schemeClr val="dk1"/>
          </a:effectRef>
          <a:fontRef idx="minor">
            <a:schemeClr val="dk1"/>
          </a:fontRef>
        </p:style>
        <p:txBody>
          <a:bodyPr wrap="square" rtlCol="0" anchor="t">
            <a:spAutoFit/>
          </a:bodyPr>
          <a:lstStyle/>
          <a:p>
            <a:pPr indent="457200">
              <a:lnSpc>
                <a:spcPct val="150000"/>
              </a:lnSpc>
            </a:pPr>
            <a:r>
              <a:rPr lang="zh-CN" altLang="en-US" b="0" dirty="0">
                <a:solidFill>
                  <a:srgbClr val="333333"/>
                </a:solidFill>
                <a:latin typeface="Times New Roman" panose="02020503050405090304" pitchFamily="18" charset="0"/>
                <a:ea typeface="宋体" pitchFamily="2" charset="-122"/>
              </a:rPr>
              <a:t>利用自然语言处理技术，对文本中出现的书写、文法错误进行检测并校正的过程、技术和</a:t>
            </a:r>
            <a:r>
              <a:rPr lang="zh-CN" altLang="en-US" b="0">
                <a:solidFill>
                  <a:srgbClr val="333333"/>
                </a:solidFill>
                <a:latin typeface="Times New Roman" panose="02020503050405090304" pitchFamily="18" charset="0"/>
                <a:ea typeface="宋体" pitchFamily="2" charset="-122"/>
              </a:rPr>
              <a:t>方法。例如，将自己写的论文的初稿告诉大模型，让其帮你润色修改语法错误，优化文章的逻辑结构。</a:t>
            </a:r>
            <a:endParaRPr lang="zh-CN" altLang="en-US" b="0" dirty="0">
              <a:latin typeface="Times New Roman" panose="02020503050405090304" pitchFamily="18" charset="0"/>
              <a:ea typeface="宋体" pitchFamily="2" charset="-122"/>
            </a:endParaRPr>
          </a:p>
        </p:txBody>
      </p:sp>
      <p:pic>
        <p:nvPicPr>
          <p:cNvPr id="5" name="图片 4"/>
          <p:cNvPicPr>
            <a:picLocks noChangeAspect="1"/>
          </p:cNvPicPr>
          <p:nvPr/>
        </p:nvPicPr>
        <p:blipFill>
          <a:blip r:embed="rId1"/>
          <a:stretch>
            <a:fillRect/>
          </a:stretch>
        </p:blipFill>
        <p:spPr>
          <a:xfrm>
            <a:off x="1010920" y="2325371"/>
            <a:ext cx="1727200" cy="1155700"/>
          </a:xfrm>
          <a:prstGeom prst="rect">
            <a:avLst/>
          </a:prstGeom>
        </p:spPr>
      </p:pic>
      <p:pic>
        <p:nvPicPr>
          <p:cNvPr id="6" name="图片 5"/>
          <p:cNvPicPr>
            <a:picLocks noChangeAspect="1"/>
          </p:cNvPicPr>
          <p:nvPr/>
        </p:nvPicPr>
        <p:blipFill>
          <a:blip r:embed="rId2"/>
          <a:stretch>
            <a:fillRect/>
          </a:stretch>
        </p:blipFill>
        <p:spPr>
          <a:xfrm>
            <a:off x="6303011" y="2325370"/>
            <a:ext cx="1663700" cy="1066800"/>
          </a:xfrm>
          <a:prstGeom prst="rect">
            <a:avLst/>
          </a:prstGeom>
        </p:spPr>
      </p:pic>
      <p:pic>
        <p:nvPicPr>
          <p:cNvPr id="7" name="图片 6"/>
          <p:cNvPicPr>
            <a:picLocks noChangeAspect="1"/>
          </p:cNvPicPr>
          <p:nvPr/>
        </p:nvPicPr>
        <p:blipFill>
          <a:blip r:embed="rId3"/>
          <a:stretch>
            <a:fillRect/>
          </a:stretch>
        </p:blipFill>
        <p:spPr>
          <a:xfrm>
            <a:off x="3714115" y="2366964"/>
            <a:ext cx="1612900" cy="1054100"/>
          </a:xfrm>
          <a:prstGeom prst="rect">
            <a:avLst/>
          </a:prstGeom>
        </p:spPr>
      </p:pic>
      <p:sp>
        <p:nvSpPr>
          <p:cNvPr id="3" name="标题 2"/>
          <p:cNvSpPr>
            <a:spLocks noGrp="1"/>
          </p:cNvSpPr>
          <p:nvPr>
            <p:ph type="title"/>
          </p:nvPr>
        </p:nvSpPr>
        <p:spPr/>
        <p:txBody>
          <a:bodyPr/>
          <a:lstStyle/>
          <a:p>
            <a:r>
              <a:rPr lang="zh-CN" altLang="en-US" sz="2800">
                <a:solidFill>
                  <a:srgbClr val="004C41"/>
                </a:solidFill>
                <a:ea typeface="宋体" pitchFamily="2" charset="-122"/>
                <a:cs typeface="+mn-ea"/>
                <a:sym typeface="+mn-lt"/>
              </a:rPr>
              <a:t>文本校对</a:t>
            </a:r>
            <a:endParaRPr lang="zh-CN" altLang="en-US">
              <a:ea typeface="宋体" pitchFamily="2" charset="-122"/>
            </a:endParaRPr>
          </a:p>
        </p:txBody>
      </p:sp>
      <p:sp>
        <p:nvSpPr>
          <p:cNvPr id="2" name="日期占位符 1"/>
          <p:cNvSpPr>
            <a:spLocks noGrp="1"/>
          </p:cNvSpPr>
          <p:nvPr>
            <p:ph type="dt" sz="half" idx="10"/>
          </p:nvPr>
        </p:nvSpPr>
        <p:spPr/>
        <p:txBody>
          <a:bodyPr/>
          <a:lstStyle/>
          <a:p>
            <a:fld id="{D8FFFFA6-AF8D-4ABC-AF0B-DA841BAC577C}" type="datetime1">
              <a:rPr lang="zh-CN" altLang="en-US" smtClean="0"/>
            </a:fld>
            <a:endParaRPr lang="zh-CN" altLang="en-US"/>
          </a:p>
        </p:txBody>
      </p:sp>
      <p:sp>
        <p:nvSpPr>
          <p:cNvPr id="8" name="灯片编号占位符 7"/>
          <p:cNvSpPr>
            <a:spLocks noGrp="1"/>
          </p:cNvSpPr>
          <p:nvPr>
            <p:ph type="sldNum" sz="quarter" idx="12"/>
          </p:nvPr>
        </p:nvSpPr>
        <p:spPr/>
        <p:txBody>
          <a:bodyPr/>
          <a:lstStyle/>
          <a:p>
            <a:fld id="{82952373-7980-4DA7-9ADE-54D716DB38BB}" type="slidenum">
              <a:rPr lang="zh-CN" altLang="en-US" smtClean="0"/>
            </a:fld>
            <a:endParaRPr lang="zh-CN" altLang="en-US"/>
          </a:p>
        </p:txBody>
      </p:sp>
    </p:spTree>
  </p:cSld>
  <p:clrMapOvr>
    <a:masterClrMapping/>
  </p:clrMapOvr>
  <mc:AlternateContent xmlns:mc="http://schemas.openxmlformats.org/markup-compatibility/2006">
    <mc:Choice xmlns:p14="http://schemas.microsoft.com/office/powerpoint/2010/main" Requires="p14">
      <p:transition p14:dur="0"/>
    </mc:Choice>
    <mc:Fallback>
      <p:transition/>
    </mc:Fallback>
  </mc:AlternateContent>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文本框 3"/>
          <p:cNvSpPr txBox="1"/>
          <p:nvPr/>
        </p:nvSpPr>
        <p:spPr>
          <a:xfrm>
            <a:off x="658367" y="1004275"/>
            <a:ext cx="8252909" cy="2537874"/>
          </a:xfrm>
          <a:prstGeom prst="rect">
            <a:avLst/>
          </a:prstGeom>
          <a:ln>
            <a:noFill/>
          </a:ln>
        </p:spPr>
        <p:style>
          <a:lnRef idx="2">
            <a:schemeClr val="dk1"/>
          </a:lnRef>
          <a:fillRef idx="1">
            <a:schemeClr val="lt1"/>
          </a:fillRef>
          <a:effectRef idx="0">
            <a:schemeClr val="dk1"/>
          </a:effectRef>
          <a:fontRef idx="minor">
            <a:schemeClr val="dk1"/>
          </a:fontRef>
        </p:style>
        <p:txBody>
          <a:bodyPr wrap="square" rtlCol="0" anchor="t">
            <a:spAutoFit/>
          </a:bodyPr>
          <a:lstStyle/>
          <a:p>
            <a:pPr marL="285750" indent="-285750">
              <a:lnSpc>
                <a:spcPct val="150000"/>
              </a:lnSpc>
              <a:buClr>
                <a:srgbClr val="0070C0"/>
              </a:buClr>
              <a:buFont typeface="Wingdings" panose="05000000000000000000" pitchFamily="2" charset="2"/>
              <a:buChar char="n"/>
            </a:pPr>
            <a:r>
              <a:rPr lang="zh-CN" altLang="en-US" b="0">
                <a:solidFill>
                  <a:srgbClr val="3333FF"/>
                </a:solidFill>
                <a:latin typeface="Times New Roman" panose="02020503050405090304" pitchFamily="18" charset="0"/>
                <a:ea typeface="宋体" pitchFamily="2" charset="-122"/>
              </a:rPr>
              <a:t>知识图谱</a:t>
            </a:r>
            <a:r>
              <a:rPr lang="zh-CN" altLang="en-US" b="0">
                <a:solidFill>
                  <a:srgbClr val="333333"/>
                </a:solidFill>
                <a:latin typeface="Times New Roman" panose="02020503050405090304" pitchFamily="18" charset="0"/>
                <a:ea typeface="宋体" pitchFamily="2" charset="-122"/>
              </a:rPr>
              <a:t>是一种将实体、关系和属性等知识以图形化的形式表示出来的知识库。它通过将知识以结构化的方式表示出来，使得计算机可以更好地理解和处理人类语言。</a:t>
            </a:r>
            <a:endParaRPr lang="en-US" altLang="zh-CN" b="0">
              <a:solidFill>
                <a:srgbClr val="333333"/>
              </a:solidFill>
              <a:latin typeface="Times New Roman" panose="02020503050405090304" pitchFamily="18" charset="0"/>
              <a:ea typeface="宋体" pitchFamily="2" charset="-122"/>
            </a:endParaRPr>
          </a:p>
          <a:p>
            <a:pPr marL="285750" indent="-285750">
              <a:lnSpc>
                <a:spcPct val="150000"/>
              </a:lnSpc>
              <a:buClr>
                <a:srgbClr val="0070C0"/>
              </a:buClr>
              <a:buFont typeface="Wingdings" panose="05000000000000000000" pitchFamily="2" charset="2"/>
              <a:buChar char="n"/>
            </a:pPr>
            <a:r>
              <a:rPr lang="zh-CN" altLang="en-US" b="0">
                <a:solidFill>
                  <a:srgbClr val="333333"/>
                </a:solidFill>
                <a:latin typeface="Times New Roman" panose="02020503050405090304" pitchFamily="18" charset="0"/>
                <a:ea typeface="宋体" pitchFamily="2" charset="-122"/>
              </a:rPr>
              <a:t>知识图谱通常是一个</a:t>
            </a:r>
            <a:r>
              <a:rPr lang="zh-CN" altLang="en-US" b="0">
                <a:solidFill>
                  <a:srgbClr val="0000FF"/>
                </a:solidFill>
                <a:latin typeface="Times New Roman" panose="02020503050405090304" pitchFamily="18" charset="0"/>
                <a:ea typeface="宋体" pitchFamily="2" charset="-122"/>
              </a:rPr>
              <a:t>大型的、半结构化的、面向主题的、多模态的知识库</a:t>
            </a:r>
            <a:r>
              <a:rPr lang="zh-CN" altLang="en-US" b="0">
                <a:solidFill>
                  <a:srgbClr val="333333"/>
                </a:solidFill>
                <a:latin typeface="Times New Roman" panose="02020503050405090304" pitchFamily="18" charset="0"/>
                <a:ea typeface="宋体" pitchFamily="2" charset="-122"/>
              </a:rPr>
              <a:t>，其中包含了各种实体、关系和属性等信息，这些信息通过一系列的算法和模型进行处理和推理，使得计算机能够自动地从中获取、推理和生成新的知识。</a:t>
            </a:r>
            <a:endParaRPr lang="zh-CN" altLang="en-US" b="0" dirty="0">
              <a:latin typeface="Times New Roman" panose="02020503050405090304" pitchFamily="18" charset="0"/>
              <a:ea typeface="宋体" pitchFamily="2" charset="-122"/>
            </a:endParaRPr>
          </a:p>
        </p:txBody>
      </p:sp>
      <p:sp>
        <p:nvSpPr>
          <p:cNvPr id="3" name="标题 2"/>
          <p:cNvSpPr>
            <a:spLocks noGrp="1"/>
          </p:cNvSpPr>
          <p:nvPr>
            <p:ph type="title"/>
          </p:nvPr>
        </p:nvSpPr>
        <p:spPr/>
        <p:txBody>
          <a:bodyPr/>
          <a:lstStyle/>
          <a:p>
            <a:r>
              <a:rPr lang="zh-CN" altLang="en-US" sz="2800">
                <a:solidFill>
                  <a:srgbClr val="004C41"/>
                </a:solidFill>
                <a:ea typeface="宋体" pitchFamily="2" charset="-122"/>
                <a:cs typeface="+mn-ea"/>
                <a:sym typeface="+mn-lt"/>
              </a:rPr>
              <a:t>知识图谱</a:t>
            </a:r>
            <a:endParaRPr lang="zh-CN" altLang="en-US">
              <a:ea typeface="宋体" pitchFamily="2" charset="-122"/>
            </a:endParaRPr>
          </a:p>
        </p:txBody>
      </p:sp>
      <p:sp>
        <p:nvSpPr>
          <p:cNvPr id="2" name="日期占位符 1"/>
          <p:cNvSpPr>
            <a:spLocks noGrp="1"/>
          </p:cNvSpPr>
          <p:nvPr>
            <p:ph type="dt" sz="half" idx="10"/>
          </p:nvPr>
        </p:nvSpPr>
        <p:spPr/>
        <p:txBody>
          <a:bodyPr/>
          <a:lstStyle/>
          <a:p>
            <a:fld id="{B7E48566-D58D-4376-B827-99A0E6EA3A43}" type="datetime1">
              <a:rPr lang="zh-CN" altLang="en-US" smtClean="0"/>
            </a:fld>
            <a:endParaRPr lang="zh-CN" altLang="en-US"/>
          </a:p>
        </p:txBody>
      </p:sp>
      <p:sp>
        <p:nvSpPr>
          <p:cNvPr id="5" name="灯片编号占位符 4"/>
          <p:cNvSpPr>
            <a:spLocks noGrp="1"/>
          </p:cNvSpPr>
          <p:nvPr>
            <p:ph type="sldNum" sz="quarter" idx="12"/>
          </p:nvPr>
        </p:nvSpPr>
        <p:spPr/>
        <p:txBody>
          <a:bodyPr/>
          <a:lstStyle/>
          <a:p>
            <a:fld id="{82952373-7980-4DA7-9ADE-54D716DB38BB}" type="slidenum">
              <a:rPr lang="zh-CN" altLang="en-US" smtClean="0"/>
            </a:fld>
            <a:endParaRPr lang="zh-CN" altLang="en-US"/>
          </a:p>
        </p:txBody>
      </p:sp>
    </p:spTree>
  </p:cSld>
  <p:clrMapOvr>
    <a:masterClrMapping/>
  </p:clrMapOvr>
  <mc:AlternateContent xmlns:mc="http://schemas.openxmlformats.org/markup-compatibility/2006">
    <mc:Choice xmlns:p14="http://schemas.microsoft.com/office/powerpoint/2010/main" Requires="p14">
      <p:transition p14:dur="0"/>
    </mc:Choice>
    <mc:Fallback>
      <p:transition/>
    </mc:Fallback>
  </mc:AlternateContent>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sz="2400">
                <a:solidFill>
                  <a:srgbClr val="004C41"/>
                </a:solidFill>
                <a:ea typeface="宋体" pitchFamily="2" charset="-122"/>
                <a:cs typeface="+mn-ea"/>
                <a:sym typeface="+mn-lt"/>
              </a:rPr>
              <a:t>知识图谱</a:t>
            </a:r>
            <a:endParaRPr lang="zh-CN" altLang="en-US">
              <a:ea typeface="宋体" pitchFamily="2" charset="-122"/>
            </a:endParaRPr>
          </a:p>
        </p:txBody>
      </p:sp>
      <p:pic>
        <p:nvPicPr>
          <p:cNvPr id="1026" name="Picture 2" descr="image"/>
          <p:cNvPicPr>
            <a:picLocks noChangeAspect="1" noChangeArrowheads="1"/>
          </p:cNvPicPr>
          <p:nvPr/>
        </p:nvPicPr>
        <p:blipFill>
          <a:blip r:embed="rId1">
            <a:extLst>
              <a:ext uri="{28A0092B-C50C-407E-A947-70E740481C1C}">
                <a14:useLocalDpi xmlns:a14="http://schemas.microsoft.com/office/drawing/2010/main" val="0"/>
              </a:ext>
            </a:extLst>
          </a:blip>
          <a:srcRect/>
          <a:stretch>
            <a:fillRect/>
          </a:stretch>
        </p:blipFill>
        <p:spPr bwMode="auto">
          <a:xfrm>
            <a:off x="1266655" y="1193393"/>
            <a:ext cx="6096000" cy="3457575"/>
          </a:xfrm>
          <a:prstGeom prst="rect">
            <a:avLst/>
          </a:prstGeom>
          <a:noFill/>
          <a:extLst>
            <a:ext uri="{909E8E84-426E-40DD-AFC4-6F175D3DCCD1}">
              <a14:hiddenFill xmlns:a14="http://schemas.microsoft.com/office/drawing/2010/main">
                <a:solidFill>
                  <a:srgbClr val="FFFFFF"/>
                </a:solidFill>
              </a14:hiddenFill>
            </a:ext>
          </a:extLst>
        </p:spPr>
      </p:pic>
      <p:sp>
        <p:nvSpPr>
          <p:cNvPr id="3" name="日期占位符 2"/>
          <p:cNvSpPr>
            <a:spLocks noGrp="1"/>
          </p:cNvSpPr>
          <p:nvPr>
            <p:ph type="dt" sz="half" idx="10"/>
          </p:nvPr>
        </p:nvSpPr>
        <p:spPr/>
        <p:txBody>
          <a:bodyPr/>
          <a:lstStyle/>
          <a:p>
            <a:fld id="{857B57AE-9721-4FD5-BBC1-BADC83CBB27C}" type="datetime1">
              <a:rPr lang="zh-CN" altLang="en-US" smtClean="0"/>
            </a:fld>
            <a:endParaRPr lang="zh-CN" altLang="en-US"/>
          </a:p>
        </p:txBody>
      </p:sp>
      <p:sp>
        <p:nvSpPr>
          <p:cNvPr id="4" name="灯片编号占位符 3"/>
          <p:cNvSpPr>
            <a:spLocks noGrp="1"/>
          </p:cNvSpPr>
          <p:nvPr>
            <p:ph type="sldNum" sz="quarter" idx="12"/>
          </p:nvPr>
        </p:nvSpPr>
        <p:spPr/>
        <p:txBody>
          <a:bodyPr/>
          <a:lstStyle/>
          <a:p>
            <a:fld id="{82952373-7980-4DA7-9ADE-54D716DB38BB}" type="slidenum">
              <a:rPr lang="zh-CN" altLang="en-US" smtClean="0"/>
            </a:fld>
            <a:endParaRPr lang="zh-CN" altLang="en-US"/>
          </a:p>
        </p:txBody>
      </p:sp>
    </p:spTree>
  </p:cSld>
  <p:clrMapOvr>
    <a:masterClrMapping/>
  </p:clrMapOvr>
  <mc:AlternateContent xmlns:mc="http://schemas.openxmlformats.org/markup-compatibility/2006">
    <mc:Choice xmlns:p14="http://schemas.microsoft.com/office/powerpoint/2010/main" Requires="p14">
      <p:transition p14:dur="0"/>
    </mc:Choice>
    <mc:Fallback>
      <p:transition/>
    </mc:Fallback>
  </mc:AlternateContent>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15" name="2"/>
          <p:cNvGrpSpPr/>
          <p:nvPr/>
        </p:nvGrpSpPr>
        <p:grpSpPr>
          <a:xfrm>
            <a:off x="1002665" y="2046602"/>
            <a:ext cx="7488555" cy="1263015"/>
            <a:chOff x="31445" y="161947"/>
            <a:chExt cx="2500824" cy="318131"/>
          </a:xfrm>
          <a:solidFill>
            <a:srgbClr val="004C41"/>
          </a:solidFill>
        </p:grpSpPr>
        <p:sp>
          <p:nvSpPr>
            <p:cNvPr id="16" name="12"/>
            <p:cNvSpPr/>
            <p:nvPr/>
          </p:nvSpPr>
          <p:spPr>
            <a:xfrm>
              <a:off x="31445" y="176315"/>
              <a:ext cx="2268640" cy="293086"/>
            </a:xfrm>
            <a:prstGeom prst="rect">
              <a:avLst/>
            </a:prstGeom>
            <a:grpFill/>
            <a:ln w="25400" cap="flat" cmpd="sng" algn="ctr">
              <a:noFill/>
              <a:prstDash val="solid"/>
            </a:ln>
            <a:effectLst/>
          </p:spPr>
          <p:txBody>
            <a:bodyPr rtlCol="0" anchor="ctr"/>
            <a:lstStyle/>
            <a:p>
              <a:pPr algn="ctr">
                <a:defRPr/>
              </a:pPr>
              <a:endParaRPr lang="zh-CN" altLang="en-US" kern="0">
                <a:solidFill>
                  <a:prstClr val="white"/>
                </a:solidFill>
                <a:cs typeface="+mn-ea"/>
                <a:sym typeface="+mn-lt"/>
              </a:endParaRPr>
            </a:p>
          </p:txBody>
        </p:sp>
        <p:sp>
          <p:nvSpPr>
            <p:cNvPr id="17" name="等腰三角形 16"/>
            <p:cNvSpPr/>
            <p:nvPr/>
          </p:nvSpPr>
          <p:spPr>
            <a:xfrm rot="5400000">
              <a:off x="2257111" y="204921"/>
              <a:ext cx="318131" cy="232184"/>
            </a:xfrm>
            <a:prstGeom prst="triangle">
              <a:avLst/>
            </a:prstGeom>
            <a:grpFill/>
            <a:ln w="25400" cap="flat" cmpd="sng" algn="ctr">
              <a:noFill/>
              <a:prstDash val="solid"/>
            </a:ln>
            <a:effectLst/>
          </p:spPr>
          <p:txBody>
            <a:bodyPr rtlCol="0" anchor="ctr"/>
            <a:lstStyle/>
            <a:p>
              <a:pPr algn="ctr">
                <a:defRPr/>
              </a:pPr>
              <a:endParaRPr lang="zh-CN" altLang="en-US" kern="0">
                <a:solidFill>
                  <a:prstClr val="white"/>
                </a:solidFill>
                <a:cs typeface="+mn-ea"/>
                <a:sym typeface="+mn-lt"/>
              </a:endParaRPr>
            </a:p>
          </p:txBody>
        </p:sp>
        <p:sp>
          <p:nvSpPr>
            <p:cNvPr id="18" name="TextBox 8"/>
            <p:cNvSpPr txBox="1"/>
            <p:nvPr/>
          </p:nvSpPr>
          <p:spPr>
            <a:xfrm>
              <a:off x="998863" y="209292"/>
              <a:ext cx="1273633" cy="240323"/>
            </a:xfrm>
            <a:prstGeom prst="rect">
              <a:avLst/>
            </a:prstGeom>
            <a:grpFill/>
            <a:ln>
              <a:noFill/>
            </a:ln>
          </p:spPr>
          <p:txBody>
            <a:bodyPr wrap="square" rtlCol="0">
              <a:spAutoFit/>
            </a:bodyPr>
            <a:lstStyle/>
            <a:p>
              <a:pPr algn="just">
                <a:spcBef>
                  <a:spcPct val="0"/>
                </a:spcBef>
              </a:pPr>
              <a:r>
                <a:rPr lang="zh-CN" altLang="en-US" sz="2800" b="1" kern="0" spc="300" dirty="0">
                  <a:solidFill>
                    <a:prstClr val="white"/>
                  </a:solidFill>
                  <a:latin typeface="Times New Roman" panose="02020503050405090304" pitchFamily="18" charset="0"/>
                  <a:cs typeface="+mn-ea"/>
                  <a:sym typeface="+mn-lt"/>
                </a:rPr>
                <a:t>自然语言处理的难点与特点</a:t>
              </a:r>
              <a:endParaRPr lang="zh-CN" altLang="en-US" sz="2800" b="1" kern="0" spc="300" dirty="0">
                <a:solidFill>
                  <a:prstClr val="white"/>
                </a:solidFill>
                <a:latin typeface="Times New Roman" panose="02020503050405090304" pitchFamily="18" charset="0"/>
                <a:cs typeface="+mn-ea"/>
                <a:sym typeface="+mn-lt"/>
              </a:endParaRPr>
            </a:p>
          </p:txBody>
        </p:sp>
      </p:grpSp>
      <p:grpSp>
        <p:nvGrpSpPr>
          <p:cNvPr id="19" name="1"/>
          <p:cNvGrpSpPr/>
          <p:nvPr/>
        </p:nvGrpSpPr>
        <p:grpSpPr>
          <a:xfrm>
            <a:off x="1200674" y="1403796"/>
            <a:ext cx="2619916" cy="2619916"/>
            <a:chOff x="267453" y="94709"/>
            <a:chExt cx="454824" cy="454824"/>
          </a:xfrm>
        </p:grpSpPr>
        <p:sp>
          <p:nvSpPr>
            <p:cNvPr id="20" name="4"/>
            <p:cNvSpPr/>
            <p:nvPr/>
          </p:nvSpPr>
          <p:spPr>
            <a:xfrm>
              <a:off x="301756" y="114952"/>
              <a:ext cx="390525" cy="395287"/>
            </a:xfrm>
            <a:prstGeom prst="ellipse">
              <a:avLst/>
            </a:prstGeom>
            <a:solidFill>
              <a:sysClr val="window" lastClr="FFFFFF"/>
            </a:solidFill>
            <a:ln w="25400" cap="flat" cmpd="sng" algn="ctr">
              <a:solidFill>
                <a:sysClr val="window" lastClr="FFFFFF"/>
              </a:solidFill>
              <a:prstDash val="solid"/>
            </a:ln>
            <a:effectLst/>
          </p:spPr>
          <p:txBody>
            <a:bodyPr rtlCol="0" anchor="ctr"/>
            <a:lstStyle/>
            <a:p>
              <a:pPr algn="ctr">
                <a:defRPr/>
              </a:pPr>
              <a:endParaRPr lang="zh-CN" altLang="en-US" kern="0">
                <a:solidFill>
                  <a:prstClr val="white"/>
                </a:solidFill>
                <a:cs typeface="+mn-ea"/>
                <a:sym typeface="+mn-lt"/>
              </a:endParaRPr>
            </a:p>
          </p:txBody>
        </p:sp>
        <p:sp>
          <p:nvSpPr>
            <p:cNvPr id="23" name="3"/>
            <p:cNvSpPr/>
            <p:nvPr/>
          </p:nvSpPr>
          <p:spPr>
            <a:xfrm>
              <a:off x="343738" y="170570"/>
              <a:ext cx="302255" cy="302255"/>
            </a:xfrm>
            <a:prstGeom prst="ellipse">
              <a:avLst/>
            </a:prstGeom>
            <a:solidFill>
              <a:srgbClr val="004C41"/>
            </a:solidFill>
            <a:ln w="25400" cap="flat" cmpd="sng" algn="ctr">
              <a:noFill/>
              <a:prstDash val="solid"/>
            </a:ln>
            <a:effectLst/>
          </p:spPr>
          <p:txBody>
            <a:bodyPr rtlCol="0" anchor="ctr"/>
            <a:lstStyle/>
            <a:p>
              <a:pPr algn="ctr">
                <a:defRPr/>
              </a:pPr>
              <a:endParaRPr lang="zh-CN" altLang="en-US" kern="0">
                <a:solidFill>
                  <a:prstClr val="white"/>
                </a:solidFill>
                <a:cs typeface="+mn-ea"/>
                <a:sym typeface="+mn-lt"/>
              </a:endParaRPr>
            </a:p>
          </p:txBody>
        </p:sp>
        <p:sp>
          <p:nvSpPr>
            <p:cNvPr id="24" name="同心圆 23"/>
            <p:cNvSpPr/>
            <p:nvPr/>
          </p:nvSpPr>
          <p:spPr>
            <a:xfrm>
              <a:off x="267453" y="94709"/>
              <a:ext cx="454824" cy="454824"/>
            </a:xfrm>
            <a:prstGeom prst="donut">
              <a:avLst>
                <a:gd name="adj" fmla="val 8567"/>
              </a:avLst>
            </a:prstGeom>
            <a:solidFill>
              <a:sysClr val="window" lastClr="FFFFFF"/>
            </a:solidFill>
            <a:ln w="9525" cap="flat" cmpd="sng" algn="ctr">
              <a:noFill/>
              <a:prstDash val="solid"/>
            </a:ln>
            <a:effectLst>
              <a:outerShdw blurRad="63500" sx="102000" sy="102000" algn="ctr" rotWithShape="0">
                <a:prstClr val="black">
                  <a:alpha val="20000"/>
                </a:prstClr>
              </a:outerShdw>
            </a:effectLst>
          </p:spPr>
          <p:txBody>
            <a:bodyPr rtlCol="0" anchor="ctr"/>
            <a:lstStyle/>
            <a:p>
              <a:pPr algn="ctr">
                <a:defRPr/>
              </a:pPr>
              <a:endParaRPr lang="zh-CN" altLang="en-US" sz="1200" kern="0">
                <a:solidFill>
                  <a:prstClr val="black"/>
                </a:solidFill>
                <a:cs typeface="+mn-ea"/>
                <a:sym typeface="+mn-lt"/>
              </a:endParaRPr>
            </a:p>
          </p:txBody>
        </p:sp>
        <p:sp>
          <p:nvSpPr>
            <p:cNvPr id="25" name="TextBox 9"/>
            <p:cNvSpPr txBox="1"/>
            <p:nvPr/>
          </p:nvSpPr>
          <p:spPr>
            <a:xfrm>
              <a:off x="370583" y="176347"/>
              <a:ext cx="248564" cy="272497"/>
            </a:xfrm>
            <a:prstGeom prst="rect">
              <a:avLst/>
            </a:prstGeom>
            <a:noFill/>
          </p:spPr>
          <p:txBody>
            <a:bodyPr wrap="none" rtlCol="0">
              <a:spAutoFit/>
            </a:bodyPr>
            <a:lstStyle/>
            <a:p>
              <a:pPr>
                <a:defRPr/>
              </a:pPr>
              <a:r>
                <a:rPr lang="en-US" altLang="zh-CN" sz="9600" kern="0" dirty="0">
                  <a:solidFill>
                    <a:prstClr val="white"/>
                  </a:solidFill>
                  <a:latin typeface="Times New Roman" panose="02020503050405090304" pitchFamily="18" charset="0"/>
                  <a:cs typeface="+mn-ea"/>
                  <a:sym typeface="+mn-lt"/>
                </a:rPr>
                <a:t>03</a:t>
              </a:r>
              <a:endParaRPr lang="zh-CN" altLang="en-US" sz="9600" kern="0" dirty="0">
                <a:solidFill>
                  <a:prstClr val="white"/>
                </a:solidFill>
                <a:latin typeface="Times New Roman" panose="02020503050405090304" pitchFamily="18" charset="0"/>
                <a:cs typeface="+mn-ea"/>
                <a:sym typeface="+mn-lt"/>
              </a:endParaRPr>
            </a:p>
          </p:txBody>
        </p:sp>
      </p:grpSp>
      <p:sp>
        <p:nvSpPr>
          <p:cNvPr id="2" name="标题 1"/>
          <p:cNvSpPr>
            <a:spLocks noGrp="1"/>
          </p:cNvSpPr>
          <p:nvPr>
            <p:ph type="title"/>
          </p:nvPr>
        </p:nvSpPr>
        <p:spPr/>
        <p:txBody>
          <a:bodyPr/>
          <a:lstStyle/>
          <a:p>
            <a:endParaRPr lang="zh-CN" altLang="en-US"/>
          </a:p>
        </p:txBody>
      </p:sp>
      <p:sp>
        <p:nvSpPr>
          <p:cNvPr id="3" name="日期占位符 2"/>
          <p:cNvSpPr>
            <a:spLocks noGrp="1"/>
          </p:cNvSpPr>
          <p:nvPr>
            <p:ph type="dt" sz="half" idx="10"/>
          </p:nvPr>
        </p:nvSpPr>
        <p:spPr/>
        <p:txBody>
          <a:bodyPr/>
          <a:lstStyle/>
          <a:p>
            <a:fld id="{085EDC8A-0BDB-468C-96FB-D834389D98A4}" type="datetime1">
              <a:rPr lang="zh-CN" altLang="en-US" smtClean="0"/>
            </a:fld>
            <a:endParaRPr lang="zh-CN" altLang="en-US"/>
          </a:p>
        </p:txBody>
      </p:sp>
      <p:sp>
        <p:nvSpPr>
          <p:cNvPr id="4" name="灯片编号占位符 3"/>
          <p:cNvSpPr>
            <a:spLocks noGrp="1"/>
          </p:cNvSpPr>
          <p:nvPr>
            <p:ph type="sldNum" sz="quarter" idx="12"/>
          </p:nvPr>
        </p:nvSpPr>
        <p:spPr/>
        <p:txBody>
          <a:bodyPr/>
          <a:lstStyle/>
          <a:p>
            <a:fld id="{82952373-7980-4DA7-9ADE-54D716DB38BB}" type="slidenum">
              <a:rPr lang="zh-CN" altLang="en-US" smtClean="0"/>
            </a:fld>
            <a:endParaRPr lang="zh-CN" altLang="en-US"/>
          </a:p>
        </p:txBody>
      </p:sp>
    </p:spTree>
  </p:cSld>
  <p:clrMapOvr>
    <a:masterClrMapping/>
  </p:clrMapOvr>
  <mc:AlternateContent xmlns:mc="http://schemas.openxmlformats.org/markup-compatibility/2006">
    <mc:Choice xmlns:p14="http://schemas.microsoft.com/office/powerpoint/2010/main" Requires="p14">
      <p:transition p14:dur="0"/>
    </mc:Choice>
    <mc:Fallback>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nodeType="afterEffect">
                                  <p:stCondLst>
                                    <p:cond delay="0"/>
                                  </p:stCondLst>
                                  <p:childTnLst>
                                    <p:set>
                                      <p:cBhvr>
                                        <p:cTn id="6" dur="1" fill="hold">
                                          <p:stCondLst>
                                            <p:cond delay="0"/>
                                          </p:stCondLst>
                                        </p:cTn>
                                        <p:tgtEl>
                                          <p:spTgt spid="19"/>
                                        </p:tgtEl>
                                        <p:attrNameLst>
                                          <p:attrName>style.visibility</p:attrName>
                                        </p:attrNameLst>
                                      </p:cBhvr>
                                      <p:to>
                                        <p:strVal val="visible"/>
                                      </p:to>
                                    </p:set>
                                    <p:animEffect transition="in" filter="fade">
                                      <p:cBhvr>
                                        <p:cTn id="7" dur="500"/>
                                        <p:tgtEl>
                                          <p:spTgt spid="19"/>
                                        </p:tgtEl>
                                      </p:cBhvr>
                                    </p:animEffect>
                                  </p:childTnLst>
                                </p:cTn>
                              </p:par>
                            </p:childTnLst>
                          </p:cTn>
                        </p:par>
                        <p:par>
                          <p:cTn id="8" fill="hold">
                            <p:stCondLst>
                              <p:cond delay="500"/>
                            </p:stCondLst>
                            <p:childTnLst>
                              <p:par>
                                <p:cTn id="9" presetID="22" presetClass="entr" presetSubtype="8" fill="hold" nodeType="afterEffect">
                                  <p:stCondLst>
                                    <p:cond delay="0"/>
                                  </p:stCondLst>
                                  <p:childTnLst>
                                    <p:set>
                                      <p:cBhvr>
                                        <p:cTn id="10" dur="1" fill="hold">
                                          <p:stCondLst>
                                            <p:cond delay="0"/>
                                          </p:stCondLst>
                                        </p:cTn>
                                        <p:tgtEl>
                                          <p:spTgt spid="15"/>
                                        </p:tgtEl>
                                        <p:attrNameLst>
                                          <p:attrName>style.visibility</p:attrName>
                                        </p:attrNameLst>
                                      </p:cBhvr>
                                      <p:to>
                                        <p:strVal val="visible"/>
                                      </p:to>
                                    </p:set>
                                    <p:animEffect transition="in" filter="wipe(left)">
                                      <p:cBhvr>
                                        <p:cTn id="11" dur="1000"/>
                                        <p:tgtEl>
                                          <p:spTgt spid="15"/>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文本框 3"/>
          <p:cNvSpPr txBox="1"/>
          <p:nvPr/>
        </p:nvSpPr>
        <p:spPr>
          <a:xfrm>
            <a:off x="557921" y="925775"/>
            <a:ext cx="7127240" cy="869533"/>
          </a:xfrm>
          <a:prstGeom prst="rect">
            <a:avLst/>
          </a:prstGeom>
          <a:ln>
            <a:noFill/>
          </a:ln>
        </p:spPr>
        <p:style>
          <a:lnRef idx="2">
            <a:schemeClr val="dk1"/>
          </a:lnRef>
          <a:fillRef idx="1">
            <a:schemeClr val="lt1"/>
          </a:fillRef>
          <a:effectRef idx="0">
            <a:schemeClr val="dk1"/>
          </a:effectRef>
          <a:fontRef idx="minor">
            <a:schemeClr val="dk1"/>
          </a:fontRef>
        </p:style>
        <p:txBody>
          <a:bodyPr wrap="square" rtlCol="0" anchor="t">
            <a:spAutoFit/>
          </a:bodyPr>
          <a:lstStyle/>
          <a:p>
            <a:pPr marL="285750" indent="-285750">
              <a:lnSpc>
                <a:spcPct val="150000"/>
              </a:lnSpc>
              <a:buClr>
                <a:srgbClr val="0070C0"/>
              </a:buClr>
              <a:buFont typeface="Wingdings" panose="05000000000000000000" pitchFamily="2" charset="2"/>
              <a:buChar char="n"/>
            </a:pPr>
            <a:r>
              <a:rPr lang="zh-CN" altLang="en-US" b="1" dirty="0">
                <a:solidFill>
                  <a:srgbClr val="C00000"/>
                </a:solidFill>
                <a:latin typeface="Times New Roman" panose="02020503050405090304" pitchFamily="18" charset="0"/>
                <a:ea typeface="宋体" pitchFamily="2" charset="-122"/>
              </a:rPr>
              <a:t>认知智能</a:t>
            </a:r>
            <a:r>
              <a:rPr lang="zh-CN" altLang="en-US" dirty="0">
                <a:latin typeface="Times New Roman" panose="02020503050405090304" pitchFamily="18" charset="0"/>
                <a:ea typeface="宋体" pitchFamily="2" charset="-122"/>
              </a:rPr>
              <a:t>是人类和动物的主要区别之一</a:t>
            </a:r>
            <a:endParaRPr lang="en-US" altLang="zh-CN" dirty="0">
              <a:latin typeface="Times New Roman" panose="02020503050405090304" pitchFamily="18" charset="0"/>
              <a:ea typeface="宋体" pitchFamily="2" charset="-122"/>
            </a:endParaRPr>
          </a:p>
          <a:p>
            <a:pPr marL="285750" indent="-285750">
              <a:lnSpc>
                <a:spcPct val="150000"/>
              </a:lnSpc>
              <a:buClr>
                <a:srgbClr val="0070C0"/>
              </a:buClr>
              <a:buFont typeface="Wingdings" panose="05000000000000000000" pitchFamily="2" charset="2"/>
              <a:buChar char="n"/>
            </a:pPr>
            <a:r>
              <a:rPr lang="zh-CN" altLang="en-US" dirty="0">
                <a:latin typeface="Times New Roman" panose="02020503050405090304" pitchFamily="18" charset="0"/>
                <a:ea typeface="宋体" pitchFamily="2" charset="-122"/>
              </a:rPr>
              <a:t>需要更强的</a:t>
            </a:r>
            <a:r>
              <a:rPr lang="zh-CN" altLang="en-US" dirty="0">
                <a:solidFill>
                  <a:srgbClr val="C00000"/>
                </a:solidFill>
                <a:latin typeface="Times New Roman" panose="02020503050405090304" pitchFamily="18" charset="0"/>
                <a:ea typeface="宋体" pitchFamily="2" charset="-122"/>
              </a:rPr>
              <a:t>抽象</a:t>
            </a:r>
            <a:r>
              <a:rPr lang="zh-CN" altLang="en-US" dirty="0">
                <a:latin typeface="Times New Roman" panose="02020503050405090304" pitchFamily="18" charset="0"/>
                <a:ea typeface="宋体" pitchFamily="2" charset="-122"/>
              </a:rPr>
              <a:t>和</a:t>
            </a:r>
            <a:r>
              <a:rPr lang="zh-CN" altLang="en-US" dirty="0">
                <a:solidFill>
                  <a:srgbClr val="C00000"/>
                </a:solidFill>
                <a:latin typeface="Times New Roman" panose="02020503050405090304" pitchFamily="18" charset="0"/>
                <a:ea typeface="宋体" pitchFamily="2" charset="-122"/>
              </a:rPr>
              <a:t>推理</a:t>
            </a:r>
            <a:r>
              <a:rPr lang="zh-CN" altLang="en-US" dirty="0">
                <a:latin typeface="Times New Roman" panose="02020503050405090304" pitchFamily="18" charset="0"/>
                <a:ea typeface="宋体" pitchFamily="2" charset="-122"/>
              </a:rPr>
              <a:t>能力  </a:t>
            </a:r>
            <a:endParaRPr lang="zh-CN" altLang="en-US" dirty="0">
              <a:latin typeface="Times New Roman" panose="02020503050405090304" pitchFamily="18" charset="0"/>
              <a:ea typeface="宋体" pitchFamily="2" charset="-122"/>
            </a:endParaRPr>
          </a:p>
        </p:txBody>
      </p:sp>
      <p:pic>
        <p:nvPicPr>
          <p:cNvPr id="3" name="图片 2"/>
          <p:cNvPicPr>
            <a:picLocks noChangeAspect="1"/>
          </p:cNvPicPr>
          <p:nvPr/>
        </p:nvPicPr>
        <p:blipFill rotWithShape="1">
          <a:blip r:embed="rId1"/>
          <a:srcRect b="1984"/>
          <a:stretch>
            <a:fillRect/>
          </a:stretch>
        </p:blipFill>
        <p:spPr>
          <a:xfrm>
            <a:off x="814260" y="2016077"/>
            <a:ext cx="6943091" cy="3028364"/>
          </a:xfrm>
          <a:prstGeom prst="rect">
            <a:avLst/>
          </a:prstGeom>
        </p:spPr>
      </p:pic>
      <p:sp>
        <p:nvSpPr>
          <p:cNvPr id="5" name="标题 4"/>
          <p:cNvSpPr>
            <a:spLocks noGrp="1"/>
          </p:cNvSpPr>
          <p:nvPr>
            <p:ph type="title"/>
          </p:nvPr>
        </p:nvSpPr>
        <p:spPr>
          <a:xfrm>
            <a:off x="17463" y="1"/>
            <a:ext cx="9109075" cy="702469"/>
          </a:xfrm>
        </p:spPr>
        <p:txBody>
          <a:bodyPr/>
          <a:lstStyle/>
          <a:p>
            <a:r>
              <a:rPr lang="zh-CN" altLang="en-US" sz="2800">
                <a:solidFill>
                  <a:srgbClr val="004C41"/>
                </a:solidFill>
                <a:ea typeface="宋体" pitchFamily="2" charset="-122"/>
                <a:cs typeface="+mn-ea"/>
                <a:sym typeface="+mn-lt"/>
              </a:rPr>
              <a:t>自然语言处理属于认知智能任务</a:t>
            </a:r>
            <a:endParaRPr lang="zh-CN" altLang="en-US">
              <a:ea typeface="宋体" pitchFamily="2" charset="-122"/>
            </a:endParaRPr>
          </a:p>
        </p:txBody>
      </p:sp>
      <p:sp>
        <p:nvSpPr>
          <p:cNvPr id="2" name="日期占位符 1"/>
          <p:cNvSpPr>
            <a:spLocks noGrp="1"/>
          </p:cNvSpPr>
          <p:nvPr>
            <p:ph type="dt" sz="half" idx="10"/>
          </p:nvPr>
        </p:nvSpPr>
        <p:spPr/>
        <p:txBody>
          <a:bodyPr/>
          <a:lstStyle/>
          <a:p>
            <a:fld id="{73EA0845-9C61-4EC1-B6A2-1092F06BA995}" type="datetime1">
              <a:rPr lang="zh-CN" altLang="en-US" smtClean="0"/>
            </a:fld>
            <a:endParaRPr lang="zh-CN" altLang="en-US"/>
          </a:p>
        </p:txBody>
      </p:sp>
      <p:sp>
        <p:nvSpPr>
          <p:cNvPr id="6" name="灯片编号占位符 5"/>
          <p:cNvSpPr>
            <a:spLocks noGrp="1"/>
          </p:cNvSpPr>
          <p:nvPr>
            <p:ph type="sldNum" sz="quarter" idx="12"/>
          </p:nvPr>
        </p:nvSpPr>
        <p:spPr/>
        <p:txBody>
          <a:bodyPr/>
          <a:lstStyle/>
          <a:p>
            <a:fld id="{82952373-7980-4DA7-9ADE-54D716DB38BB}" type="slidenum">
              <a:rPr lang="zh-CN" altLang="en-US" smtClean="0"/>
            </a:fld>
            <a:endParaRPr lang="zh-CN" altLang="en-US"/>
          </a:p>
        </p:txBody>
      </p:sp>
    </p:spTree>
  </p:cSld>
  <p:clrMapOvr>
    <a:masterClrMapping/>
  </p:clrMapOvr>
  <mc:AlternateContent xmlns:mc="http://schemas.openxmlformats.org/markup-compatibility/2006">
    <mc:Choice xmlns:p14="http://schemas.microsoft.com/office/powerpoint/2010/main" Requires="p14">
      <p:transition p14:dur="0"/>
    </mc:Choice>
    <mc:Fallback>
      <p:transition/>
    </mc:Fallback>
  </mc:AlternateContent>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 name="文本框 8"/>
          <p:cNvSpPr txBox="1"/>
          <p:nvPr/>
        </p:nvSpPr>
        <p:spPr>
          <a:xfrm>
            <a:off x="640080" y="1149588"/>
            <a:ext cx="3310508" cy="2999154"/>
          </a:xfrm>
          <a:prstGeom prst="rect">
            <a:avLst/>
          </a:prstGeom>
          <a:noFill/>
          <a:ln>
            <a:solidFill>
              <a:schemeClr val="accent2">
                <a:lumMod val="20000"/>
                <a:lumOff val="80000"/>
              </a:schemeClr>
            </a:solidFill>
          </a:ln>
        </p:spPr>
        <p:txBody>
          <a:bodyPr wrap="square">
            <a:spAutoFit/>
          </a:bodyPr>
          <a:lstStyle/>
          <a:p>
            <a:pPr>
              <a:lnSpc>
                <a:spcPct val="150000"/>
              </a:lnSpc>
            </a:pPr>
            <a:r>
              <a:rPr lang="zh-CN" altLang="en-US" sz="1600" dirty="0">
                <a:latin typeface="Times New Roman" panose="02020503050405090304" pitchFamily="18" charset="0"/>
              </a:rPr>
              <a:t>领导：“你这是什么</a:t>
            </a:r>
            <a:r>
              <a:rPr lang="zh-CN" altLang="en-US" sz="1600" dirty="0">
                <a:solidFill>
                  <a:srgbClr val="C00000"/>
                </a:solidFill>
                <a:latin typeface="Times New Roman" panose="02020503050405090304" pitchFamily="18" charset="0"/>
              </a:rPr>
              <a:t>意思</a:t>
            </a:r>
            <a:r>
              <a:rPr lang="zh-CN" altLang="en-US" sz="1600" dirty="0">
                <a:latin typeface="Times New Roman" panose="02020503050405090304" pitchFamily="18" charset="0"/>
              </a:rPr>
              <a:t>？”</a:t>
            </a:r>
            <a:endParaRPr lang="en-US" altLang="zh-CN" sz="1600" dirty="0">
              <a:latin typeface="Times New Roman" panose="02020503050405090304" pitchFamily="18" charset="0"/>
            </a:endParaRPr>
          </a:p>
          <a:p>
            <a:pPr>
              <a:lnSpc>
                <a:spcPct val="150000"/>
              </a:lnSpc>
            </a:pPr>
            <a:r>
              <a:rPr lang="zh-CN" altLang="en-US" sz="1600" dirty="0">
                <a:latin typeface="Times New Roman" panose="02020503050405090304" pitchFamily="18" charset="0"/>
              </a:rPr>
              <a:t>阿呆：“没什么</a:t>
            </a:r>
            <a:r>
              <a:rPr lang="zh-CN" altLang="en-US" sz="1600" dirty="0">
                <a:solidFill>
                  <a:srgbClr val="C00000"/>
                </a:solidFill>
                <a:latin typeface="Times New Roman" panose="02020503050405090304" pitchFamily="18" charset="0"/>
              </a:rPr>
              <a:t>意思</a:t>
            </a:r>
            <a:r>
              <a:rPr lang="zh-CN" altLang="en-US" sz="1600" dirty="0">
                <a:latin typeface="Times New Roman" panose="02020503050405090304" pitchFamily="18" charset="0"/>
              </a:rPr>
              <a:t>，</a:t>
            </a:r>
            <a:r>
              <a:rPr lang="zh-CN" altLang="en-US" sz="1600" dirty="0">
                <a:solidFill>
                  <a:srgbClr val="C00000"/>
                </a:solidFill>
                <a:latin typeface="Times New Roman" panose="02020503050405090304" pitchFamily="18" charset="0"/>
              </a:rPr>
              <a:t>意思意思</a:t>
            </a:r>
            <a:r>
              <a:rPr lang="zh-CN" altLang="en-US" sz="1600" dirty="0">
                <a:latin typeface="Times New Roman" panose="02020503050405090304" pitchFamily="18" charset="0"/>
              </a:rPr>
              <a:t>。” </a:t>
            </a:r>
            <a:endParaRPr lang="en-US" altLang="zh-CN" sz="1600" dirty="0">
              <a:latin typeface="Times New Roman" panose="02020503050405090304" pitchFamily="18" charset="0"/>
            </a:endParaRPr>
          </a:p>
          <a:p>
            <a:pPr>
              <a:lnSpc>
                <a:spcPct val="150000"/>
              </a:lnSpc>
            </a:pPr>
            <a:r>
              <a:rPr lang="zh-CN" altLang="en-US" sz="1600" dirty="0">
                <a:latin typeface="Times New Roman" panose="02020503050405090304" pitchFamily="18" charset="0"/>
              </a:rPr>
              <a:t>领导：“你这就不够</a:t>
            </a:r>
            <a:r>
              <a:rPr lang="zh-CN" altLang="en-US" sz="1600" dirty="0">
                <a:solidFill>
                  <a:srgbClr val="C00000"/>
                </a:solidFill>
                <a:latin typeface="Times New Roman" panose="02020503050405090304" pitchFamily="18" charset="0"/>
              </a:rPr>
              <a:t>意思</a:t>
            </a:r>
            <a:r>
              <a:rPr lang="zh-CN" altLang="en-US" sz="1600" dirty="0">
                <a:latin typeface="Times New Roman" panose="02020503050405090304" pitchFamily="18" charset="0"/>
              </a:rPr>
              <a:t>了。” </a:t>
            </a:r>
            <a:endParaRPr lang="en-US" altLang="zh-CN" sz="1600" dirty="0">
              <a:latin typeface="Times New Roman" panose="02020503050405090304" pitchFamily="18" charset="0"/>
            </a:endParaRPr>
          </a:p>
          <a:p>
            <a:pPr>
              <a:lnSpc>
                <a:spcPct val="150000"/>
              </a:lnSpc>
            </a:pPr>
            <a:r>
              <a:rPr lang="zh-CN" altLang="en-US" sz="1600" dirty="0">
                <a:latin typeface="Times New Roman" panose="02020503050405090304" pitchFamily="18" charset="0"/>
              </a:rPr>
              <a:t>阿呆：“小</a:t>
            </a:r>
            <a:r>
              <a:rPr lang="zh-CN" altLang="en-US" sz="1600" dirty="0">
                <a:solidFill>
                  <a:srgbClr val="C00000"/>
                </a:solidFill>
                <a:latin typeface="Times New Roman" panose="02020503050405090304" pitchFamily="18" charset="0"/>
              </a:rPr>
              <a:t>意思</a:t>
            </a:r>
            <a:r>
              <a:rPr lang="zh-CN" altLang="en-US" sz="1600" dirty="0">
                <a:latin typeface="Times New Roman" panose="02020503050405090304" pitchFamily="18" charset="0"/>
              </a:rPr>
              <a:t>，小</a:t>
            </a:r>
            <a:r>
              <a:rPr lang="zh-CN" altLang="en-US" sz="1600" dirty="0">
                <a:solidFill>
                  <a:srgbClr val="C00000"/>
                </a:solidFill>
                <a:latin typeface="Times New Roman" panose="02020503050405090304" pitchFamily="18" charset="0"/>
              </a:rPr>
              <a:t>意思</a:t>
            </a:r>
            <a:r>
              <a:rPr lang="zh-CN" altLang="en-US" sz="1600" dirty="0">
                <a:latin typeface="Times New Roman" panose="02020503050405090304" pitchFamily="18" charset="0"/>
              </a:rPr>
              <a:t>。” </a:t>
            </a:r>
            <a:endParaRPr lang="en-US" altLang="zh-CN" sz="1600" dirty="0">
              <a:latin typeface="Times New Roman" panose="02020503050405090304" pitchFamily="18" charset="0"/>
            </a:endParaRPr>
          </a:p>
          <a:p>
            <a:pPr>
              <a:lnSpc>
                <a:spcPct val="150000"/>
              </a:lnSpc>
            </a:pPr>
            <a:r>
              <a:rPr lang="zh-CN" altLang="en-US" sz="1600" dirty="0">
                <a:latin typeface="Times New Roman" panose="02020503050405090304" pitchFamily="18" charset="0"/>
              </a:rPr>
              <a:t>领导：“你这人真有</a:t>
            </a:r>
            <a:r>
              <a:rPr lang="zh-CN" altLang="en-US" sz="1600" dirty="0">
                <a:solidFill>
                  <a:srgbClr val="C00000"/>
                </a:solidFill>
                <a:latin typeface="Times New Roman" panose="02020503050405090304" pitchFamily="18" charset="0"/>
              </a:rPr>
              <a:t>意思</a:t>
            </a:r>
            <a:r>
              <a:rPr lang="zh-CN" altLang="en-US" sz="1600" dirty="0">
                <a:latin typeface="Times New Roman" panose="02020503050405090304" pitchFamily="18" charset="0"/>
              </a:rPr>
              <a:t>。” </a:t>
            </a:r>
            <a:endParaRPr lang="en-US" altLang="zh-CN" sz="1600" dirty="0">
              <a:latin typeface="Times New Roman" panose="02020503050405090304" pitchFamily="18" charset="0"/>
            </a:endParaRPr>
          </a:p>
          <a:p>
            <a:pPr>
              <a:lnSpc>
                <a:spcPct val="150000"/>
              </a:lnSpc>
            </a:pPr>
            <a:r>
              <a:rPr lang="zh-CN" altLang="en-US" sz="1600" dirty="0">
                <a:latin typeface="Times New Roman" panose="02020503050405090304" pitchFamily="18" charset="0"/>
              </a:rPr>
              <a:t>阿呆：“其实也没有别的</a:t>
            </a:r>
            <a:r>
              <a:rPr lang="zh-CN" altLang="en-US" sz="1600" dirty="0">
                <a:solidFill>
                  <a:srgbClr val="C00000"/>
                </a:solidFill>
                <a:latin typeface="Times New Roman" panose="02020503050405090304" pitchFamily="18" charset="0"/>
              </a:rPr>
              <a:t>意思</a:t>
            </a:r>
            <a:r>
              <a:rPr lang="zh-CN" altLang="en-US" sz="1600" dirty="0">
                <a:latin typeface="Times New Roman" panose="02020503050405090304" pitchFamily="18" charset="0"/>
              </a:rPr>
              <a:t>。” </a:t>
            </a:r>
            <a:endParaRPr lang="en-US" altLang="zh-CN" sz="1600" dirty="0">
              <a:latin typeface="Times New Roman" panose="02020503050405090304" pitchFamily="18" charset="0"/>
            </a:endParaRPr>
          </a:p>
          <a:p>
            <a:pPr>
              <a:lnSpc>
                <a:spcPct val="150000"/>
              </a:lnSpc>
            </a:pPr>
            <a:r>
              <a:rPr lang="zh-CN" altLang="en-US" sz="1600" dirty="0">
                <a:latin typeface="Times New Roman" panose="02020503050405090304" pitchFamily="18" charset="0"/>
              </a:rPr>
              <a:t>领导：“那我就不好</a:t>
            </a:r>
            <a:r>
              <a:rPr lang="zh-CN" altLang="en-US" sz="1600" dirty="0">
                <a:solidFill>
                  <a:srgbClr val="C00000"/>
                </a:solidFill>
                <a:latin typeface="Times New Roman" panose="02020503050405090304" pitchFamily="18" charset="0"/>
              </a:rPr>
              <a:t>意思</a:t>
            </a:r>
            <a:r>
              <a:rPr lang="zh-CN" altLang="en-US" sz="1600" dirty="0">
                <a:latin typeface="Times New Roman" panose="02020503050405090304" pitchFamily="18" charset="0"/>
              </a:rPr>
              <a:t>了。” </a:t>
            </a:r>
            <a:endParaRPr lang="en-US" altLang="zh-CN" sz="1600" dirty="0">
              <a:latin typeface="Times New Roman" panose="02020503050405090304" pitchFamily="18" charset="0"/>
            </a:endParaRPr>
          </a:p>
          <a:p>
            <a:pPr>
              <a:lnSpc>
                <a:spcPct val="150000"/>
              </a:lnSpc>
            </a:pPr>
            <a:r>
              <a:rPr lang="zh-CN" altLang="en-US" sz="1600" dirty="0">
                <a:latin typeface="Times New Roman" panose="02020503050405090304" pitchFamily="18" charset="0"/>
              </a:rPr>
              <a:t>阿呆：“是我不好</a:t>
            </a:r>
            <a:r>
              <a:rPr lang="zh-CN" altLang="en-US" sz="1600" dirty="0">
                <a:solidFill>
                  <a:srgbClr val="C00000"/>
                </a:solidFill>
                <a:latin typeface="Times New Roman" panose="02020503050405090304" pitchFamily="18" charset="0"/>
              </a:rPr>
              <a:t>意思</a:t>
            </a:r>
            <a:r>
              <a:rPr lang="zh-CN" altLang="en-US" sz="1600" dirty="0">
                <a:latin typeface="Times New Roman" panose="02020503050405090304" pitchFamily="18" charset="0"/>
              </a:rPr>
              <a:t>。” </a:t>
            </a:r>
            <a:endParaRPr lang="zh-CN" altLang="en-US" sz="1600" dirty="0">
              <a:latin typeface="Times New Roman" panose="02020503050405090304" pitchFamily="18" charset="0"/>
            </a:endParaRPr>
          </a:p>
        </p:txBody>
      </p:sp>
      <p:sp>
        <p:nvSpPr>
          <p:cNvPr id="3" name="标题 2"/>
          <p:cNvSpPr>
            <a:spLocks noGrp="1"/>
          </p:cNvSpPr>
          <p:nvPr>
            <p:ph type="title"/>
          </p:nvPr>
        </p:nvSpPr>
        <p:spPr>
          <a:xfrm>
            <a:off x="1" y="1"/>
            <a:ext cx="9109075" cy="702469"/>
          </a:xfrm>
        </p:spPr>
        <p:txBody>
          <a:bodyPr/>
          <a:lstStyle/>
          <a:p>
            <a:r>
              <a:rPr lang="zh-CN" altLang="en-US" sz="2800">
                <a:solidFill>
                  <a:srgbClr val="004C41"/>
                </a:solidFill>
                <a:ea typeface="宋体" pitchFamily="2" charset="-122"/>
                <a:cs typeface="+mn-ea"/>
                <a:sym typeface="+mn-lt"/>
              </a:rPr>
              <a:t>自然语言处理的难点与特点</a:t>
            </a:r>
            <a:endParaRPr lang="zh-CN" altLang="en-US">
              <a:ea typeface="宋体" pitchFamily="2" charset="-122"/>
            </a:endParaRPr>
          </a:p>
        </p:txBody>
      </p:sp>
      <p:sp>
        <p:nvSpPr>
          <p:cNvPr id="4" name="文本框 3"/>
          <p:cNvSpPr txBox="1"/>
          <p:nvPr/>
        </p:nvSpPr>
        <p:spPr>
          <a:xfrm>
            <a:off x="4815840" y="1249680"/>
            <a:ext cx="3794760" cy="2531527"/>
          </a:xfrm>
          <a:prstGeom prst="rect">
            <a:avLst/>
          </a:prstGeom>
          <a:noFill/>
        </p:spPr>
        <p:txBody>
          <a:bodyPr wrap="square" rtlCol="0">
            <a:spAutoFit/>
          </a:bodyPr>
          <a:lstStyle/>
          <a:p>
            <a:pPr indent="457200">
              <a:lnSpc>
                <a:spcPct val="150000"/>
              </a:lnSpc>
            </a:pPr>
            <a:r>
              <a:rPr lang="zh-CN" altLang="en-US">
                <a:solidFill>
                  <a:srgbClr val="3333FF"/>
                </a:solidFill>
                <a:latin typeface="Times New Roman" panose="02020503050405090304" pitchFamily="18" charset="0"/>
              </a:rPr>
              <a:t>为什么计算机在处理自然语言时会如此困难呢？</a:t>
            </a:r>
            <a:r>
              <a:rPr lang="zh-CN" altLang="en-US">
                <a:latin typeface="Times New Roman" panose="02020503050405090304" pitchFamily="18" charset="0"/>
              </a:rPr>
              <a:t>这主要是因为自然语言具有高度的抽象性、近乎无穷变化的语义组合性、无处不在的歧义性和进化性</a:t>
            </a:r>
            <a:r>
              <a:rPr lang="en-US" altLang="zh-CN">
                <a:latin typeface="Times New Roman" panose="02020503050405090304" pitchFamily="18" charset="0"/>
              </a:rPr>
              <a:t>,</a:t>
            </a:r>
            <a:r>
              <a:rPr lang="zh-CN" altLang="en-US">
                <a:latin typeface="Times New Roman" panose="02020503050405090304" pitchFamily="18" charset="0"/>
              </a:rPr>
              <a:t>以及理解语言通常需要背景知识和推理能力等。</a:t>
            </a:r>
            <a:endParaRPr lang="zh-CN" altLang="en-US">
              <a:latin typeface="Times New Roman" panose="02020503050405090304" pitchFamily="18" charset="0"/>
            </a:endParaRPr>
          </a:p>
        </p:txBody>
      </p:sp>
      <p:sp>
        <p:nvSpPr>
          <p:cNvPr id="2" name="日期占位符 1"/>
          <p:cNvSpPr>
            <a:spLocks noGrp="1"/>
          </p:cNvSpPr>
          <p:nvPr>
            <p:ph type="dt" sz="half" idx="10"/>
          </p:nvPr>
        </p:nvSpPr>
        <p:spPr/>
        <p:txBody>
          <a:bodyPr/>
          <a:lstStyle/>
          <a:p>
            <a:fld id="{E6A390DA-B9DE-4416-A51B-36A4637947B9}" type="datetime1">
              <a:rPr lang="zh-CN" altLang="en-US" smtClean="0"/>
            </a:fld>
            <a:endParaRPr lang="zh-CN" altLang="en-US"/>
          </a:p>
        </p:txBody>
      </p:sp>
      <p:sp>
        <p:nvSpPr>
          <p:cNvPr id="5" name="灯片编号占位符 4"/>
          <p:cNvSpPr>
            <a:spLocks noGrp="1"/>
          </p:cNvSpPr>
          <p:nvPr>
            <p:ph type="sldNum" sz="quarter" idx="12"/>
          </p:nvPr>
        </p:nvSpPr>
        <p:spPr/>
        <p:txBody>
          <a:bodyPr/>
          <a:lstStyle/>
          <a:p>
            <a:fld id="{82952373-7980-4DA7-9ADE-54D716DB38BB}" type="slidenum">
              <a:rPr lang="zh-CN" altLang="en-US" smtClean="0"/>
            </a:fld>
            <a:endParaRPr lang="zh-CN" altLang="en-US"/>
          </a:p>
        </p:txBody>
      </p:sp>
    </p:spTree>
  </p:cSld>
  <p:clrMapOvr>
    <a:masterClrMapping/>
  </p:clrMapOvr>
  <mc:AlternateContent xmlns:mc="http://schemas.openxmlformats.org/markup-compatibility/2006">
    <mc:Choice xmlns:p14="http://schemas.microsoft.com/office/powerpoint/2010/main" Requires="p14">
      <p:transition p14:dur="0"/>
    </mc:Choice>
    <mc:Fallback>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grpId="0" nodeType="clickEffect">
                                  <p:stCondLst>
                                    <p:cond delay="0"/>
                                  </p:stCondLst>
                                  <p:childTnLst>
                                    <p:set>
                                      <p:cBhvr>
                                        <p:cTn id="6" dur="1" fill="hold">
                                          <p:stCondLst>
                                            <p:cond delay="0"/>
                                          </p:stCondLst>
                                        </p:cTn>
                                        <p:tgtEl>
                                          <p:spTgt spid="4"/>
                                        </p:tgtEl>
                                        <p:attrNameLst>
                                          <p:attrName>style.visibility</p:attrName>
                                        </p:attrNameLst>
                                      </p:cBhvr>
                                      <p:to>
                                        <p:strVal val="visible"/>
                                      </p:to>
                                    </p:set>
                                    <p:anim calcmode="lin" valueType="num">
                                      <p:cBhvr additive="base">
                                        <p:cTn id="7" dur="500" fill="hold"/>
                                        <p:tgtEl>
                                          <p:spTgt spid="4"/>
                                        </p:tgtEl>
                                        <p:attrNameLst>
                                          <p:attrName>ppt_x</p:attrName>
                                        </p:attrNameLst>
                                      </p:cBhvr>
                                      <p:tavLst>
                                        <p:tav tm="0">
                                          <p:val>
                                            <p:strVal val="#ppt_x"/>
                                          </p:val>
                                        </p:tav>
                                        <p:tav tm="100000">
                                          <p:val>
                                            <p:strVal val="#ppt_x"/>
                                          </p:val>
                                        </p:tav>
                                      </p:tavLst>
                                    </p:anim>
                                    <p:anim calcmode="lin" valueType="num">
                                      <p:cBhvr additive="base">
                                        <p:cTn id="8" dur="500" fill="hold"/>
                                        <p:tgtEl>
                                          <p:spTgt spid="4"/>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p:bldLst>
  </p:timing>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sz="2400">
                <a:solidFill>
                  <a:srgbClr val="004C41"/>
                </a:solidFill>
                <a:ea typeface="宋体" pitchFamily="2" charset="-122"/>
                <a:cs typeface="+mn-ea"/>
                <a:sym typeface="+mn-lt"/>
              </a:rPr>
              <a:t>自然语言处理的难点与特点</a:t>
            </a:r>
            <a:endParaRPr lang="zh-CN" altLang="en-US">
              <a:ea typeface="宋体" pitchFamily="2" charset="-122"/>
            </a:endParaRPr>
          </a:p>
        </p:txBody>
      </p:sp>
      <p:pic>
        <p:nvPicPr>
          <p:cNvPr id="3" name="图片 2"/>
          <p:cNvPicPr>
            <a:picLocks noChangeAspect="1"/>
          </p:cNvPicPr>
          <p:nvPr/>
        </p:nvPicPr>
        <p:blipFill>
          <a:blip r:embed="rId1"/>
          <a:stretch>
            <a:fillRect/>
          </a:stretch>
        </p:blipFill>
        <p:spPr>
          <a:xfrm>
            <a:off x="2810752" y="1012427"/>
            <a:ext cx="3522495" cy="3505200"/>
          </a:xfrm>
          <a:prstGeom prst="rect">
            <a:avLst/>
          </a:prstGeom>
        </p:spPr>
      </p:pic>
      <p:sp>
        <p:nvSpPr>
          <p:cNvPr id="4" name="日期占位符 3"/>
          <p:cNvSpPr>
            <a:spLocks noGrp="1"/>
          </p:cNvSpPr>
          <p:nvPr>
            <p:ph type="dt" sz="half" idx="10"/>
          </p:nvPr>
        </p:nvSpPr>
        <p:spPr/>
        <p:txBody>
          <a:bodyPr/>
          <a:lstStyle/>
          <a:p>
            <a:fld id="{85735830-3BE9-4BB4-9A0D-B7358DE726F5}" type="datetime1">
              <a:rPr lang="zh-CN" altLang="en-US" smtClean="0"/>
            </a:fld>
            <a:endParaRPr lang="zh-CN" altLang="en-US"/>
          </a:p>
        </p:txBody>
      </p:sp>
      <p:sp>
        <p:nvSpPr>
          <p:cNvPr id="5" name="灯片编号占位符 4"/>
          <p:cNvSpPr>
            <a:spLocks noGrp="1"/>
          </p:cNvSpPr>
          <p:nvPr>
            <p:ph type="sldNum" sz="quarter" idx="12"/>
          </p:nvPr>
        </p:nvSpPr>
        <p:spPr/>
        <p:txBody>
          <a:bodyPr/>
          <a:lstStyle/>
          <a:p>
            <a:fld id="{82952373-7980-4DA7-9ADE-54D716DB38BB}" type="slidenum">
              <a:rPr lang="zh-CN" altLang="en-US" smtClean="0"/>
            </a:fld>
            <a:endParaRPr lang="zh-CN" altLang="en-US"/>
          </a:p>
        </p:txBody>
      </p:sp>
    </p:spTree>
  </p:cSld>
  <p:clrMapOvr>
    <a:masterClrMapping/>
  </p:clrMapOvr>
  <mc:AlternateContent xmlns:mc="http://schemas.openxmlformats.org/markup-compatibility/2006">
    <mc:Choice xmlns:p14="http://schemas.microsoft.com/office/powerpoint/2010/main" Requires="p14">
      <p:transition p14:dur="0"/>
    </mc:Choice>
    <mc:Fallback>
      <p:transition/>
    </mc:Fallback>
  </mc:AlternateContent>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文本框 3"/>
          <p:cNvSpPr txBox="1"/>
          <p:nvPr/>
        </p:nvSpPr>
        <p:spPr>
          <a:xfrm>
            <a:off x="384047" y="994551"/>
            <a:ext cx="8579263" cy="1521827"/>
          </a:xfrm>
          <a:prstGeom prst="rect">
            <a:avLst/>
          </a:prstGeom>
          <a:noFill/>
        </p:spPr>
        <p:txBody>
          <a:bodyPr wrap="square">
            <a:spAutoFit/>
          </a:bodyPr>
          <a:lstStyle/>
          <a:p>
            <a:pPr>
              <a:lnSpc>
                <a:spcPct val="150000"/>
              </a:lnSpc>
            </a:pPr>
            <a:r>
              <a:rPr lang="zh-CN" altLang="en-US" sz="1600" b="1" dirty="0">
                <a:solidFill>
                  <a:srgbClr val="C00000"/>
                </a:solidFill>
                <a:latin typeface="Times New Roman" panose="02020503050405090304" pitchFamily="18" charset="0"/>
              </a:rPr>
              <a:t>（</a:t>
            </a:r>
            <a:r>
              <a:rPr lang="en-US" altLang="zh-CN" sz="1600" b="1" dirty="0">
                <a:solidFill>
                  <a:srgbClr val="C00000"/>
                </a:solidFill>
                <a:latin typeface="Times New Roman" panose="02020503050405090304" pitchFamily="18" charset="0"/>
              </a:rPr>
              <a:t>1</a:t>
            </a:r>
            <a:r>
              <a:rPr lang="zh-CN" altLang="en-US" sz="1600" b="1" dirty="0">
                <a:solidFill>
                  <a:srgbClr val="C00000"/>
                </a:solidFill>
                <a:latin typeface="Times New Roman" panose="02020503050405090304" pitchFamily="18" charset="0"/>
              </a:rPr>
              <a:t>）抽象性</a:t>
            </a:r>
            <a:endParaRPr lang="en-US" altLang="zh-CN" sz="1600" b="1" dirty="0">
              <a:solidFill>
                <a:srgbClr val="C00000"/>
              </a:solidFill>
              <a:latin typeface="Times New Roman" panose="02020503050405090304" pitchFamily="18" charset="0"/>
            </a:endParaRPr>
          </a:p>
          <a:p>
            <a:pPr indent="457200" algn="just">
              <a:lnSpc>
                <a:spcPct val="150000"/>
              </a:lnSpc>
            </a:pPr>
            <a:r>
              <a:rPr lang="zh-CN" altLang="en-US" sz="1600" b="0" dirty="0">
                <a:solidFill>
                  <a:srgbClr val="3333FF"/>
                </a:solidFill>
                <a:latin typeface="Times New Roman" panose="02020503050405090304" pitchFamily="18" charset="0"/>
              </a:rPr>
              <a:t>语言是由抽象符号构成的</a:t>
            </a:r>
            <a:r>
              <a:rPr lang="zh-CN" altLang="en-US" sz="1600" b="0" dirty="0">
                <a:latin typeface="Times New Roman" panose="02020503050405090304" pitchFamily="18" charset="0"/>
              </a:rPr>
              <a:t>，每个符号背后都对应着现实世界或人们头脑中的复杂概念，如“车”表示各种交通工具--汽车、火车、自行车等，它们都具有共同的属性，有轮子、能载人或物等。</a:t>
            </a:r>
            <a:endParaRPr lang="zh-CN" altLang="en-US" sz="1600" b="0" dirty="0">
              <a:latin typeface="Times New Roman" panose="02020503050405090304" pitchFamily="18" charset="0"/>
            </a:endParaRPr>
          </a:p>
        </p:txBody>
      </p:sp>
      <p:sp>
        <p:nvSpPr>
          <p:cNvPr id="6" name="文本框 5"/>
          <p:cNvSpPr txBox="1"/>
          <p:nvPr/>
        </p:nvSpPr>
        <p:spPr>
          <a:xfrm>
            <a:off x="384047" y="2627123"/>
            <a:ext cx="8477885" cy="1881284"/>
          </a:xfrm>
          <a:prstGeom prst="rect">
            <a:avLst/>
          </a:prstGeom>
          <a:noFill/>
        </p:spPr>
        <p:txBody>
          <a:bodyPr wrap="square">
            <a:spAutoFit/>
          </a:bodyPr>
          <a:lstStyle/>
          <a:p>
            <a:pPr>
              <a:lnSpc>
                <a:spcPct val="150000"/>
              </a:lnSpc>
            </a:pPr>
            <a:r>
              <a:rPr lang="zh-CN" altLang="en-US" sz="1600" b="1" dirty="0">
                <a:solidFill>
                  <a:srgbClr val="C00000"/>
                </a:solidFill>
                <a:latin typeface="Times New Roman" panose="02020503050405090304" pitchFamily="18" charset="0"/>
              </a:rPr>
              <a:t>（</a:t>
            </a:r>
            <a:r>
              <a:rPr lang="en-US" altLang="zh-CN" sz="1600" b="1" dirty="0">
                <a:solidFill>
                  <a:srgbClr val="C00000"/>
                </a:solidFill>
                <a:latin typeface="Times New Roman" panose="02020503050405090304" pitchFamily="18" charset="0"/>
              </a:rPr>
              <a:t>2</a:t>
            </a:r>
            <a:r>
              <a:rPr lang="zh-CN" altLang="en-US" sz="1600" b="1" dirty="0">
                <a:solidFill>
                  <a:srgbClr val="C00000"/>
                </a:solidFill>
                <a:latin typeface="Times New Roman" panose="02020503050405090304" pitchFamily="18" charset="0"/>
              </a:rPr>
              <a:t>）组合性</a:t>
            </a:r>
            <a:endParaRPr lang="en-US" altLang="zh-CN" sz="1600" b="1" dirty="0">
              <a:solidFill>
                <a:srgbClr val="C00000"/>
              </a:solidFill>
              <a:latin typeface="Times New Roman" panose="02020503050405090304" pitchFamily="18" charset="0"/>
            </a:endParaRPr>
          </a:p>
          <a:p>
            <a:pPr indent="457200" algn="just">
              <a:lnSpc>
                <a:spcPct val="150000"/>
              </a:lnSpc>
            </a:pPr>
            <a:r>
              <a:rPr lang="zh-CN" altLang="en-US" sz="1600" b="0" dirty="0">
                <a:latin typeface="Times New Roman" panose="02020503050405090304" pitchFamily="18" charset="0"/>
              </a:rPr>
              <a:t>每种语言的基本符号单元都是有限的，如英文仅有26个字母，中国</a:t>
            </a:r>
            <a:r>
              <a:rPr lang="zh-CN" altLang="en-US" sz="1600" b="0">
                <a:latin typeface="Times New Roman" panose="02020503050405090304" pitchFamily="18" charset="0"/>
              </a:rPr>
              <a:t>国家标准GB2312</a:t>
            </a:r>
            <a:r>
              <a:rPr lang="zh-CN" altLang="en-US" sz="1600" b="0" dirty="0">
                <a:latin typeface="Times New Roman" panose="02020503050405090304" pitchFamily="18" charset="0"/>
              </a:rPr>
              <a:t>《信息交换用汉字编码字符集·基本集》共收录6,763个汉字，即便是常用的单词，英文和中文也不过各几十万个。然而，这些有限的符号却可以组合成无限</a:t>
            </a:r>
            <a:r>
              <a:rPr lang="zh-CN" altLang="en-US" sz="1600" b="0">
                <a:latin typeface="Times New Roman" panose="02020503050405090304" pitchFamily="18" charset="0"/>
              </a:rPr>
              <a:t>的语义。即使</a:t>
            </a:r>
            <a:r>
              <a:rPr lang="zh-CN" altLang="en-US" sz="1600" b="0" dirty="0">
                <a:latin typeface="Times New Roman" panose="02020503050405090304" pitchFamily="18" charset="0"/>
              </a:rPr>
              <a:t>是相同</a:t>
            </a:r>
            <a:r>
              <a:rPr lang="zh-CN" altLang="en-US" sz="1600" b="0">
                <a:latin typeface="Times New Roman" panose="02020503050405090304" pitchFamily="18" charset="0"/>
              </a:rPr>
              <a:t>的词汇，由于顺序不同，组合</a:t>
            </a:r>
            <a:r>
              <a:rPr lang="zh-CN" altLang="en-US" sz="1600" b="0" dirty="0">
                <a:latin typeface="Times New Roman" panose="02020503050405090304" pitchFamily="18" charset="0"/>
              </a:rPr>
              <a:t>的语义也是不</a:t>
            </a:r>
            <a:r>
              <a:rPr lang="zh-CN" altLang="en-US" sz="1600" b="0">
                <a:latin typeface="Times New Roman" panose="02020503050405090304" pitchFamily="18" charset="0"/>
              </a:rPr>
              <a:t>相同的。</a:t>
            </a:r>
            <a:r>
              <a:rPr lang="zh-CN" altLang="en-US" sz="1600" b="0">
                <a:solidFill>
                  <a:srgbClr val="3333FF"/>
                </a:solidFill>
                <a:latin typeface="Times New Roman" panose="02020503050405090304" pitchFamily="18" charset="0"/>
              </a:rPr>
              <a:t>因此，无法</a:t>
            </a:r>
            <a:r>
              <a:rPr lang="zh-CN" altLang="en-US" sz="1600" b="0" dirty="0">
                <a:solidFill>
                  <a:srgbClr val="3333FF"/>
                </a:solidFill>
                <a:latin typeface="Times New Roman" panose="02020503050405090304" pitchFamily="18" charset="0"/>
              </a:rPr>
              <a:t>使用穷举的方法实现对自然语言的理解。</a:t>
            </a:r>
            <a:endParaRPr lang="zh-CN" altLang="en-US" sz="1600" b="0" dirty="0">
              <a:solidFill>
                <a:srgbClr val="3333FF"/>
              </a:solidFill>
              <a:latin typeface="Times New Roman" panose="02020503050405090304" pitchFamily="18" charset="0"/>
            </a:endParaRPr>
          </a:p>
        </p:txBody>
      </p:sp>
      <p:sp>
        <p:nvSpPr>
          <p:cNvPr id="3" name="标题 2"/>
          <p:cNvSpPr>
            <a:spLocks noGrp="1"/>
          </p:cNvSpPr>
          <p:nvPr>
            <p:ph type="title"/>
          </p:nvPr>
        </p:nvSpPr>
        <p:spPr>
          <a:xfrm>
            <a:off x="1" y="1"/>
            <a:ext cx="9109075" cy="702469"/>
          </a:xfrm>
        </p:spPr>
        <p:txBody>
          <a:bodyPr/>
          <a:lstStyle/>
          <a:p>
            <a:r>
              <a:rPr lang="zh-CN" altLang="en-US" sz="2400">
                <a:solidFill>
                  <a:srgbClr val="004C41"/>
                </a:solidFill>
                <a:ea typeface="宋体" pitchFamily="2" charset="-122"/>
                <a:cs typeface="+mn-ea"/>
                <a:sym typeface="+mn-lt"/>
              </a:rPr>
              <a:t>自然语言处理的难点与特点</a:t>
            </a:r>
            <a:endParaRPr lang="zh-CN" altLang="en-US">
              <a:ea typeface="宋体" pitchFamily="2" charset="-122"/>
            </a:endParaRPr>
          </a:p>
        </p:txBody>
      </p:sp>
      <p:sp>
        <p:nvSpPr>
          <p:cNvPr id="2" name="日期占位符 1"/>
          <p:cNvSpPr>
            <a:spLocks noGrp="1"/>
          </p:cNvSpPr>
          <p:nvPr>
            <p:ph type="dt" sz="half" idx="10"/>
          </p:nvPr>
        </p:nvSpPr>
        <p:spPr/>
        <p:txBody>
          <a:bodyPr/>
          <a:lstStyle/>
          <a:p>
            <a:fld id="{AA6D3AF3-193C-4F35-A89C-67DB7D74F8DF}" type="datetime1">
              <a:rPr lang="zh-CN" altLang="en-US" smtClean="0"/>
            </a:fld>
            <a:endParaRPr lang="zh-CN" altLang="en-US"/>
          </a:p>
        </p:txBody>
      </p:sp>
      <p:sp>
        <p:nvSpPr>
          <p:cNvPr id="5" name="灯片编号占位符 4"/>
          <p:cNvSpPr>
            <a:spLocks noGrp="1"/>
          </p:cNvSpPr>
          <p:nvPr>
            <p:ph type="sldNum" sz="quarter" idx="12"/>
          </p:nvPr>
        </p:nvSpPr>
        <p:spPr/>
        <p:txBody>
          <a:bodyPr/>
          <a:lstStyle/>
          <a:p>
            <a:fld id="{82952373-7980-4DA7-9ADE-54D716DB38BB}" type="slidenum">
              <a:rPr lang="zh-CN" altLang="en-US" smtClean="0"/>
            </a:fld>
            <a:endParaRPr lang="zh-CN" altLang="en-US"/>
          </a:p>
        </p:txBody>
      </p:sp>
    </p:spTree>
  </p:cSld>
  <p:clrMapOvr>
    <a:masterClrMapping/>
  </p:clrMapOvr>
  <mc:AlternateContent xmlns:mc="http://schemas.openxmlformats.org/markup-compatibility/2006">
    <mc:Choice xmlns:p14="http://schemas.microsoft.com/office/powerpoint/2010/main" Requires="p14">
      <p:transition p14:dur="0"/>
    </mc:Choice>
    <mc:Fallback>
      <p:transition/>
    </mc:Fallback>
  </mc:AlternateContent>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文本框 3"/>
          <p:cNvSpPr txBox="1"/>
          <p:nvPr/>
        </p:nvSpPr>
        <p:spPr>
          <a:xfrm>
            <a:off x="380758" y="788496"/>
            <a:ext cx="8503346" cy="1522917"/>
          </a:xfrm>
          <a:prstGeom prst="rect">
            <a:avLst/>
          </a:prstGeom>
          <a:noFill/>
        </p:spPr>
        <p:txBody>
          <a:bodyPr wrap="square">
            <a:spAutoFit/>
          </a:bodyPr>
          <a:lstStyle/>
          <a:p>
            <a:pPr>
              <a:lnSpc>
                <a:spcPct val="150000"/>
              </a:lnSpc>
            </a:pPr>
            <a:r>
              <a:rPr lang="zh-CN" altLang="en-US" sz="1600" b="1" dirty="0">
                <a:solidFill>
                  <a:srgbClr val="C00000"/>
                </a:solidFill>
                <a:latin typeface="Times New Roman" panose="02020503050405090304" pitchFamily="18" charset="0"/>
              </a:rPr>
              <a:t>（</a:t>
            </a:r>
            <a:r>
              <a:rPr lang="en-US" altLang="zh-CN" sz="1600" b="1" dirty="0">
                <a:solidFill>
                  <a:srgbClr val="C00000"/>
                </a:solidFill>
                <a:latin typeface="Times New Roman" panose="02020503050405090304" pitchFamily="18" charset="0"/>
              </a:rPr>
              <a:t>3</a:t>
            </a:r>
            <a:r>
              <a:rPr lang="zh-CN" altLang="en-US" sz="1600" b="1" dirty="0">
                <a:solidFill>
                  <a:srgbClr val="C00000"/>
                </a:solidFill>
                <a:latin typeface="Times New Roman" panose="02020503050405090304" pitchFamily="18" charset="0"/>
              </a:rPr>
              <a:t>）歧义性</a:t>
            </a:r>
            <a:endParaRPr lang="en-US" altLang="zh-CN" sz="1600" b="1" dirty="0">
              <a:solidFill>
                <a:srgbClr val="C00000"/>
              </a:solidFill>
              <a:latin typeface="Times New Roman" panose="02020503050405090304" pitchFamily="18" charset="0"/>
            </a:endParaRPr>
          </a:p>
          <a:p>
            <a:pPr indent="457200" algn="just">
              <a:lnSpc>
                <a:spcPct val="150000"/>
              </a:lnSpc>
            </a:pPr>
            <a:r>
              <a:rPr lang="zh-CN" altLang="en-US" sz="1600" b="0">
                <a:solidFill>
                  <a:srgbClr val="000000"/>
                </a:solidFill>
                <a:latin typeface="Times New Roman" panose="02020503050405090304" pitchFamily="18" charset="0"/>
              </a:rPr>
              <a:t>自然语言中存在大量的歧义现象。歧义是</a:t>
            </a:r>
            <a:r>
              <a:rPr lang="zh-CN" altLang="en-US" sz="1600" b="0">
                <a:latin typeface="Times New Roman" panose="02020503050405090304" pitchFamily="18" charset="0"/>
              </a:rPr>
              <a:t>由语言</a:t>
            </a:r>
            <a:r>
              <a:rPr lang="zh-CN" altLang="en-US" sz="1600" b="0" dirty="0">
                <a:latin typeface="Times New Roman" panose="02020503050405090304" pitchFamily="18" charset="0"/>
              </a:rPr>
              <a:t>的形式和语义之间存在多对多的对应关系导致的，如：“苹果”一词，既可以指水果，也可以指一家公司或手机、电脑等</a:t>
            </a:r>
            <a:r>
              <a:rPr lang="zh-CN" altLang="en-US" sz="1600" b="0">
                <a:latin typeface="Times New Roman" panose="02020503050405090304" pitchFamily="18" charset="0"/>
              </a:rPr>
              <a:t>电子设备，这</a:t>
            </a:r>
            <a:r>
              <a:rPr lang="zh-CN" altLang="en-US" sz="1600" b="0" dirty="0">
                <a:latin typeface="Times New Roman" panose="02020503050405090304" pitchFamily="18" charset="0"/>
              </a:rPr>
              <a:t>就是典型的一</a:t>
            </a:r>
            <a:r>
              <a:rPr lang="zh-CN" altLang="en-US" sz="1600" b="0" dirty="0">
                <a:solidFill>
                  <a:srgbClr val="3333FF"/>
                </a:solidFill>
                <a:latin typeface="Times New Roman" panose="02020503050405090304" pitchFamily="18" charset="0"/>
              </a:rPr>
              <a:t>词多义</a:t>
            </a:r>
            <a:r>
              <a:rPr lang="zh-CN" altLang="en-US" sz="1600" b="0">
                <a:solidFill>
                  <a:srgbClr val="3333FF"/>
                </a:solidFill>
                <a:latin typeface="Times New Roman" panose="02020503050405090304" pitchFamily="18" charset="0"/>
              </a:rPr>
              <a:t>现象</a:t>
            </a:r>
            <a:r>
              <a:rPr lang="zh-CN" altLang="en-US" sz="1600" b="0">
                <a:latin typeface="Times New Roman" panose="02020503050405090304" pitchFamily="18" charset="0"/>
              </a:rPr>
              <a:t>。</a:t>
            </a:r>
            <a:endParaRPr lang="zh-CN" altLang="en-US" sz="1600" b="0" dirty="0">
              <a:latin typeface="Times New Roman" panose="02020503050405090304" pitchFamily="18" charset="0"/>
            </a:endParaRPr>
          </a:p>
        </p:txBody>
      </p:sp>
      <p:sp>
        <p:nvSpPr>
          <p:cNvPr id="3" name="标题 2"/>
          <p:cNvSpPr>
            <a:spLocks noGrp="1"/>
          </p:cNvSpPr>
          <p:nvPr>
            <p:ph type="title"/>
          </p:nvPr>
        </p:nvSpPr>
        <p:spPr>
          <a:xfrm>
            <a:off x="1" y="28634"/>
            <a:ext cx="9109075" cy="702469"/>
          </a:xfrm>
        </p:spPr>
        <p:txBody>
          <a:bodyPr/>
          <a:lstStyle/>
          <a:p>
            <a:r>
              <a:rPr lang="zh-CN" altLang="en-US" sz="2400">
                <a:solidFill>
                  <a:srgbClr val="004C41"/>
                </a:solidFill>
                <a:ea typeface="宋体" pitchFamily="2" charset="-122"/>
                <a:cs typeface="+mn-ea"/>
                <a:sym typeface="+mn-lt"/>
              </a:rPr>
              <a:t>自然语言处理的难点与特点</a:t>
            </a:r>
            <a:endParaRPr lang="zh-CN" altLang="en-US">
              <a:ea typeface="宋体" pitchFamily="2" charset="-122"/>
            </a:endParaRPr>
          </a:p>
        </p:txBody>
      </p:sp>
      <p:pic>
        <p:nvPicPr>
          <p:cNvPr id="5" name="Picture 2"/>
          <p:cNvPicPr>
            <a:picLocks noChangeAspect="1" noChangeArrowheads="1"/>
          </p:cNvPicPr>
          <p:nvPr/>
        </p:nvPicPr>
        <p:blipFill>
          <a:blip r:embed="rId1" cstate="print">
            <a:extLst>
              <a:ext uri="{28A0092B-C50C-407E-A947-70E740481C1C}">
                <a14:useLocalDpi xmlns:a14="http://schemas.microsoft.com/office/drawing/2010/main" val="0"/>
              </a:ext>
            </a:extLst>
          </a:blip>
          <a:srcRect/>
          <a:stretch>
            <a:fillRect/>
          </a:stretch>
        </p:blipFill>
        <p:spPr bwMode="auto">
          <a:xfrm>
            <a:off x="516753" y="2361175"/>
            <a:ext cx="3154136" cy="1858664"/>
          </a:xfrm>
          <a:prstGeom prst="rect">
            <a:avLst/>
          </a:prstGeom>
          <a:noFill/>
          <a:extLst>
            <a:ext uri="{909E8E84-426E-40DD-AFC4-6F175D3DCCD1}">
              <a14:hiddenFill xmlns:a14="http://schemas.microsoft.com/office/drawing/2010/main">
                <a:solidFill>
                  <a:srgbClr val="FFFFFF"/>
                </a:solidFill>
              </a14:hiddenFill>
            </a:ext>
          </a:extLst>
        </p:spPr>
      </p:pic>
      <p:sp>
        <p:nvSpPr>
          <p:cNvPr id="2" name="日期占位符 1"/>
          <p:cNvSpPr>
            <a:spLocks noGrp="1"/>
          </p:cNvSpPr>
          <p:nvPr>
            <p:ph type="dt" sz="half" idx="10"/>
          </p:nvPr>
        </p:nvSpPr>
        <p:spPr/>
        <p:txBody>
          <a:bodyPr/>
          <a:lstStyle/>
          <a:p>
            <a:fld id="{F33D968F-DE8B-450D-91DE-FF9CA3E5C4C1}" type="datetime1">
              <a:rPr lang="zh-CN" altLang="en-US" smtClean="0"/>
            </a:fld>
            <a:endParaRPr lang="zh-CN" altLang="en-US"/>
          </a:p>
        </p:txBody>
      </p:sp>
      <p:sp>
        <p:nvSpPr>
          <p:cNvPr id="6" name="灯片编号占位符 5"/>
          <p:cNvSpPr>
            <a:spLocks noGrp="1"/>
          </p:cNvSpPr>
          <p:nvPr>
            <p:ph type="sldNum" sz="quarter" idx="12"/>
          </p:nvPr>
        </p:nvSpPr>
        <p:spPr/>
        <p:txBody>
          <a:bodyPr/>
          <a:lstStyle/>
          <a:p>
            <a:fld id="{82952373-7980-4DA7-9ADE-54D716DB38BB}" type="slidenum">
              <a:rPr lang="zh-CN" altLang="en-US" smtClean="0"/>
            </a:fld>
            <a:endParaRPr lang="zh-CN" altLang="en-US"/>
          </a:p>
        </p:txBody>
      </p:sp>
      <p:sp>
        <p:nvSpPr>
          <p:cNvPr id="7" name="文本框 6"/>
          <p:cNvSpPr txBox="1"/>
          <p:nvPr/>
        </p:nvSpPr>
        <p:spPr>
          <a:xfrm>
            <a:off x="3952493" y="2248584"/>
            <a:ext cx="4674753" cy="646331"/>
          </a:xfrm>
          <a:prstGeom prst="rect">
            <a:avLst/>
          </a:prstGeom>
          <a:noFill/>
        </p:spPr>
        <p:txBody>
          <a:bodyPr wrap="square" rtlCol="0">
            <a:spAutoFit/>
          </a:bodyPr>
          <a:lstStyle/>
          <a:p>
            <a:r>
              <a:rPr lang="en-US" altLang="zh-CN"/>
              <a:t>I saw a man in the park with a telescope. </a:t>
            </a:r>
            <a:r>
              <a:rPr lang="zh-CN" altLang="en-US">
                <a:solidFill>
                  <a:srgbClr val="0000FF"/>
                </a:solidFill>
              </a:rPr>
              <a:t>这句话表达什么意思？</a:t>
            </a:r>
            <a:endParaRPr lang="zh-CN" altLang="en-US">
              <a:solidFill>
                <a:srgbClr val="0000FF"/>
              </a:solidFill>
            </a:endParaRPr>
          </a:p>
        </p:txBody>
      </p:sp>
      <p:sp>
        <p:nvSpPr>
          <p:cNvPr id="8" name="文本框 7"/>
          <p:cNvSpPr txBox="1"/>
          <p:nvPr/>
        </p:nvSpPr>
        <p:spPr>
          <a:xfrm>
            <a:off x="3952922" y="3073837"/>
            <a:ext cx="4674753" cy="369332"/>
          </a:xfrm>
          <a:prstGeom prst="rect">
            <a:avLst/>
          </a:prstGeom>
          <a:noFill/>
        </p:spPr>
        <p:txBody>
          <a:bodyPr wrap="square" rtlCol="0">
            <a:spAutoFit/>
          </a:bodyPr>
          <a:lstStyle/>
          <a:p>
            <a:r>
              <a:rPr lang="zh-CN" altLang="en-US"/>
              <a:t>下雨天留客天留人不留。</a:t>
            </a:r>
            <a:endParaRPr lang="zh-CN" altLang="en-US">
              <a:solidFill>
                <a:srgbClr val="0000FF"/>
              </a:solidFill>
            </a:endParaRPr>
          </a:p>
        </p:txBody>
      </p:sp>
      <p:sp>
        <p:nvSpPr>
          <p:cNvPr id="9" name="文本框 8"/>
          <p:cNvSpPr txBox="1"/>
          <p:nvPr/>
        </p:nvSpPr>
        <p:spPr>
          <a:xfrm>
            <a:off x="4057650" y="3710869"/>
            <a:ext cx="4674753" cy="369332"/>
          </a:xfrm>
          <a:prstGeom prst="rect">
            <a:avLst/>
          </a:prstGeom>
          <a:noFill/>
        </p:spPr>
        <p:txBody>
          <a:bodyPr wrap="square" rtlCol="0">
            <a:spAutoFit/>
          </a:bodyPr>
          <a:lstStyle/>
          <a:p>
            <a:r>
              <a:rPr lang="zh-CN" altLang="en-US"/>
              <a:t>做手术的是张老师。</a:t>
            </a:r>
            <a:endParaRPr lang="zh-CN" altLang="en-US">
              <a:solidFill>
                <a:srgbClr val="0000FF"/>
              </a:solidFill>
            </a:endParaRPr>
          </a:p>
        </p:txBody>
      </p:sp>
    </p:spTree>
  </p:cSld>
  <p:clrMapOvr>
    <a:masterClrMapping/>
  </p:clrMapOvr>
  <mc:AlternateContent xmlns:mc="http://schemas.openxmlformats.org/markup-compatibility/2006">
    <mc:Choice xmlns:p14="http://schemas.microsoft.com/office/powerpoint/2010/main" Requires="p14">
      <p:transition p14:dur="0"/>
    </mc:Choice>
    <mc:Fallback>
      <p:transition/>
    </mc:Fallback>
  </mc:AlternateContent>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sz="2400">
                <a:solidFill>
                  <a:srgbClr val="004C41"/>
                </a:solidFill>
                <a:ea typeface="宋体" pitchFamily="2" charset="-122"/>
                <a:cs typeface="+mn-ea"/>
                <a:sym typeface="+mn-lt"/>
              </a:rPr>
              <a:t>自然语言处理的难点与特点</a:t>
            </a:r>
            <a:endParaRPr lang="zh-CN" altLang="en-US"/>
          </a:p>
        </p:txBody>
      </p:sp>
      <p:sp>
        <p:nvSpPr>
          <p:cNvPr id="3" name="矩形 2"/>
          <p:cNvSpPr/>
          <p:nvPr/>
        </p:nvSpPr>
        <p:spPr>
          <a:xfrm>
            <a:off x="923544" y="1303550"/>
            <a:ext cx="7836408" cy="2117246"/>
          </a:xfrm>
          <a:prstGeom prst="rect">
            <a:avLst/>
          </a:prstGeom>
        </p:spPr>
        <p:txBody>
          <a:bodyPr wrap="square">
            <a:spAutoFit/>
          </a:bodyPr>
          <a:lstStyle/>
          <a:p>
            <a:pPr marL="285750" indent="-285750">
              <a:lnSpc>
                <a:spcPct val="150000"/>
              </a:lnSpc>
              <a:buFont typeface="Wingdings" panose="05000000000000000000" pitchFamily="2" charset="2"/>
              <a:buChar char="ü"/>
            </a:pPr>
            <a:r>
              <a:rPr lang="zh-CN" altLang="en-US" b="0">
                <a:solidFill>
                  <a:srgbClr val="000000"/>
                </a:solidFill>
                <a:latin typeface="Times New Roman" panose="02020503050405090304" pitchFamily="18" charset="0"/>
              </a:rPr>
              <a:t>对人类而言，这些歧义在绝大多数的情况下都可以根据上下文以及相应的语境和场景得到解决。但是，为了消解这些歧义，需要使用大量的知识进行推理才能完成。</a:t>
            </a:r>
            <a:endParaRPr lang="en-US" altLang="zh-CN" b="0">
              <a:solidFill>
                <a:srgbClr val="000000"/>
              </a:solidFill>
              <a:latin typeface="Times New Roman" panose="02020503050405090304" pitchFamily="18" charset="0"/>
            </a:endParaRPr>
          </a:p>
          <a:p>
            <a:pPr marL="285750" indent="-285750">
              <a:lnSpc>
                <a:spcPct val="150000"/>
              </a:lnSpc>
              <a:buFont typeface="Wingdings" panose="05000000000000000000" pitchFamily="2" charset="2"/>
              <a:buChar char="ü"/>
            </a:pPr>
            <a:r>
              <a:rPr lang="zh-CN" altLang="en-US" b="0">
                <a:solidFill>
                  <a:srgbClr val="000000"/>
                </a:solidFill>
                <a:latin typeface="Times New Roman" panose="02020503050405090304" pitchFamily="18" charset="0"/>
              </a:rPr>
              <a:t>而如何表示知识和使用知识、如何完整收集和整理知识以及常识都是极其困难的问题。</a:t>
            </a:r>
            <a:r>
              <a:rPr lang="zh-CN" altLang="en-US" b="0">
                <a:solidFill>
                  <a:srgbClr val="3333FF"/>
                </a:solidFill>
                <a:latin typeface="Times New Roman" panose="02020503050405090304" pitchFamily="18" charset="0"/>
              </a:rPr>
              <a:t>消解歧义是自然语言处理中最大的难点之一</a:t>
            </a:r>
            <a:r>
              <a:rPr lang="zh-CN" altLang="en-US" b="0">
                <a:solidFill>
                  <a:srgbClr val="000000"/>
                </a:solidFill>
                <a:latin typeface="Times New Roman" panose="02020503050405090304" pitchFamily="18" charset="0"/>
              </a:rPr>
              <a:t>。</a:t>
            </a:r>
            <a:r>
              <a:rPr lang="zh-CN" altLang="en-US" b="0">
                <a:latin typeface="Times New Roman" panose="02020503050405090304" pitchFamily="18" charset="0"/>
              </a:rPr>
              <a:t> </a:t>
            </a:r>
            <a:endParaRPr lang="zh-CN" altLang="en-US" b="0">
              <a:latin typeface="Times New Roman" panose="02020503050405090304" pitchFamily="18" charset="0"/>
            </a:endParaRPr>
          </a:p>
        </p:txBody>
      </p:sp>
      <p:sp>
        <p:nvSpPr>
          <p:cNvPr id="7" name="文本框 6"/>
          <p:cNvSpPr txBox="1"/>
          <p:nvPr/>
        </p:nvSpPr>
        <p:spPr>
          <a:xfrm>
            <a:off x="510921" y="889719"/>
            <a:ext cx="4578858" cy="413831"/>
          </a:xfrm>
          <a:prstGeom prst="rect">
            <a:avLst/>
          </a:prstGeom>
          <a:noFill/>
        </p:spPr>
        <p:txBody>
          <a:bodyPr wrap="square">
            <a:spAutoFit/>
          </a:bodyPr>
          <a:lstStyle/>
          <a:p>
            <a:pPr marL="0" marR="0" lvl="0" indent="0" algn="l" defTabSz="914400" rtl="0" eaLnBrk="1" fontAlgn="base" latinLnBrk="0" hangingPunct="1">
              <a:lnSpc>
                <a:spcPct val="150000"/>
              </a:lnSpc>
              <a:spcBef>
                <a:spcPct val="0"/>
              </a:spcBef>
              <a:spcAft>
                <a:spcPct val="0"/>
              </a:spcAft>
              <a:buClrTx/>
              <a:buSzTx/>
              <a:buFontTx/>
              <a:buNone/>
              <a:defRPr/>
            </a:pPr>
            <a:r>
              <a:rPr kumimoji="0" lang="zh-CN" altLang="en-US" sz="1600" b="1" i="0" u="none" strike="noStrike" kern="1200" cap="none" spc="0" normalizeH="0" baseline="0" noProof="0">
                <a:ln>
                  <a:noFill/>
                </a:ln>
                <a:solidFill>
                  <a:srgbClr val="C00000"/>
                </a:solidFill>
                <a:effectLst/>
                <a:uLnTx/>
                <a:uFillTx/>
                <a:latin typeface="Times New Roman" panose="02020503050405090304" pitchFamily="18" charset="0"/>
                <a:cs typeface="+mn-cs"/>
              </a:rPr>
              <a:t>（</a:t>
            </a:r>
            <a:r>
              <a:rPr kumimoji="0" lang="en-US" altLang="zh-CN" sz="1600" b="1" i="0" u="none" strike="noStrike" kern="1200" cap="none" spc="0" normalizeH="0" baseline="0" noProof="0">
                <a:ln>
                  <a:noFill/>
                </a:ln>
                <a:solidFill>
                  <a:srgbClr val="C00000"/>
                </a:solidFill>
                <a:effectLst/>
                <a:uLnTx/>
                <a:uFillTx/>
                <a:latin typeface="Times New Roman" panose="02020503050405090304" pitchFamily="18" charset="0"/>
                <a:cs typeface="+mn-cs"/>
              </a:rPr>
              <a:t>3</a:t>
            </a:r>
            <a:r>
              <a:rPr kumimoji="0" lang="zh-CN" altLang="en-US" sz="1600" b="1" i="0" u="none" strike="noStrike" kern="1200" cap="none" spc="0" normalizeH="0" baseline="0" noProof="0">
                <a:ln>
                  <a:noFill/>
                </a:ln>
                <a:solidFill>
                  <a:srgbClr val="C00000"/>
                </a:solidFill>
                <a:effectLst/>
                <a:uLnTx/>
                <a:uFillTx/>
                <a:latin typeface="Times New Roman" panose="02020503050405090304" pitchFamily="18" charset="0"/>
                <a:cs typeface="+mn-cs"/>
              </a:rPr>
              <a:t>）歧义性</a:t>
            </a:r>
            <a:endParaRPr kumimoji="0" lang="en-US" altLang="zh-CN" sz="1600" b="1" i="0" u="none" strike="noStrike" kern="1200" cap="none" spc="0" normalizeH="0" baseline="0" noProof="0" dirty="0">
              <a:ln>
                <a:noFill/>
              </a:ln>
              <a:solidFill>
                <a:srgbClr val="C00000"/>
              </a:solidFill>
              <a:effectLst/>
              <a:uLnTx/>
              <a:uFillTx/>
              <a:latin typeface="Times New Roman" panose="02020503050405090304" pitchFamily="18" charset="0"/>
              <a:cs typeface="+mn-cs"/>
            </a:endParaRPr>
          </a:p>
        </p:txBody>
      </p:sp>
      <p:sp>
        <p:nvSpPr>
          <p:cNvPr id="4" name="日期占位符 3"/>
          <p:cNvSpPr>
            <a:spLocks noGrp="1"/>
          </p:cNvSpPr>
          <p:nvPr>
            <p:ph type="dt" sz="half" idx="10"/>
          </p:nvPr>
        </p:nvSpPr>
        <p:spPr/>
        <p:txBody>
          <a:bodyPr/>
          <a:lstStyle/>
          <a:p>
            <a:fld id="{936C4549-EE16-40BC-9138-E8E18A2EE0BB}" type="datetime1">
              <a:rPr lang="zh-CN" altLang="en-US" smtClean="0"/>
            </a:fld>
            <a:endParaRPr lang="zh-CN" altLang="en-US"/>
          </a:p>
        </p:txBody>
      </p:sp>
      <p:sp>
        <p:nvSpPr>
          <p:cNvPr id="5" name="灯片编号占位符 4"/>
          <p:cNvSpPr>
            <a:spLocks noGrp="1"/>
          </p:cNvSpPr>
          <p:nvPr>
            <p:ph type="sldNum" sz="quarter" idx="12"/>
          </p:nvPr>
        </p:nvSpPr>
        <p:spPr/>
        <p:txBody>
          <a:bodyPr/>
          <a:lstStyle/>
          <a:p>
            <a:fld id="{82952373-7980-4DA7-9ADE-54D716DB38BB}" type="slidenum">
              <a:rPr lang="zh-CN" altLang="en-US" smtClean="0"/>
            </a:fld>
            <a:endParaRPr lang="zh-CN" altLang="en-US"/>
          </a:p>
        </p:txBody>
      </p:sp>
    </p:spTree>
  </p:cSld>
  <p:clrMapOvr>
    <a:masterClrMapping/>
  </p:clrMapOvr>
  <mc:AlternateContent xmlns:mc="http://schemas.openxmlformats.org/markup-compatibility/2006">
    <mc:Choice xmlns:p14="http://schemas.microsoft.com/office/powerpoint/2010/main" Requires="p14">
      <p:transition p14:dur="0"/>
    </mc:Choice>
    <mc:Fallback>
      <p:transition/>
    </mc:Fallback>
  </mc:AlternateContent>
</p:sld>
</file>

<file path=ppt/slides/slide4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sz="2400">
                <a:solidFill>
                  <a:srgbClr val="004C41"/>
                </a:solidFill>
                <a:ea typeface="宋体" pitchFamily="2" charset="-122"/>
                <a:cs typeface="+mn-ea"/>
                <a:sym typeface="+mn-lt"/>
              </a:rPr>
              <a:t>自然语言处理的难点与特点</a:t>
            </a:r>
            <a:endParaRPr lang="zh-CN" altLang="en-US">
              <a:ea typeface="宋体" pitchFamily="2" charset="-122"/>
            </a:endParaRPr>
          </a:p>
        </p:txBody>
      </p:sp>
      <p:sp>
        <p:nvSpPr>
          <p:cNvPr id="3" name="文本框 2"/>
          <p:cNvSpPr txBox="1"/>
          <p:nvPr/>
        </p:nvSpPr>
        <p:spPr>
          <a:xfrm>
            <a:off x="362427" y="955728"/>
            <a:ext cx="8501915" cy="1983740"/>
          </a:xfrm>
          <a:prstGeom prst="rect">
            <a:avLst/>
          </a:prstGeom>
          <a:noFill/>
        </p:spPr>
        <p:txBody>
          <a:bodyPr wrap="square">
            <a:spAutoFit/>
          </a:bodyPr>
          <a:lstStyle/>
          <a:p>
            <a:pPr>
              <a:lnSpc>
                <a:spcPct val="150000"/>
              </a:lnSpc>
            </a:pPr>
            <a:r>
              <a:rPr lang="zh-CN" altLang="en-US" b="1" dirty="0">
                <a:solidFill>
                  <a:srgbClr val="C00000"/>
                </a:solidFill>
                <a:latin typeface="Times New Roman" panose="02020503050405090304" pitchFamily="18" charset="0"/>
              </a:rPr>
              <a:t>（</a:t>
            </a:r>
            <a:r>
              <a:rPr lang="en-US" altLang="zh-CN" b="1" dirty="0">
                <a:solidFill>
                  <a:srgbClr val="C00000"/>
                </a:solidFill>
                <a:latin typeface="Times New Roman" panose="02020503050405090304" pitchFamily="18" charset="0"/>
              </a:rPr>
              <a:t>4</a:t>
            </a:r>
            <a:r>
              <a:rPr lang="zh-CN" altLang="en-US" b="1" dirty="0">
                <a:solidFill>
                  <a:srgbClr val="C00000"/>
                </a:solidFill>
                <a:latin typeface="Times New Roman" panose="02020503050405090304" pitchFamily="18" charset="0"/>
              </a:rPr>
              <a:t>）进化性</a:t>
            </a:r>
            <a:endParaRPr lang="en-US" altLang="zh-CN" b="1" dirty="0">
              <a:solidFill>
                <a:srgbClr val="C00000"/>
              </a:solidFill>
              <a:latin typeface="Times New Roman" panose="02020503050405090304" pitchFamily="18" charset="0"/>
            </a:endParaRPr>
          </a:p>
          <a:p>
            <a:pPr indent="457200" algn="just">
              <a:lnSpc>
                <a:spcPct val="150000"/>
              </a:lnSpc>
            </a:pPr>
            <a:r>
              <a:rPr lang="zh-CN" altLang="en-US" sz="1600" b="0" dirty="0">
                <a:latin typeface="Times New Roman" panose="02020503050405090304" pitchFamily="18" charset="0"/>
              </a:rPr>
              <a:t>任何一种“活着”的语言都是在不断发展变化的，即语言具有明显的进化性，也称创造性。这主要体现在</a:t>
            </a:r>
            <a:r>
              <a:rPr lang="zh-CN" altLang="en-US" sz="1600" b="0">
                <a:latin typeface="Times New Roman" panose="02020503050405090304" pitchFamily="18" charset="0"/>
              </a:rPr>
              <a:t>两方面：一方面</a:t>
            </a:r>
            <a:r>
              <a:rPr lang="zh-CN" altLang="en-US" sz="1600" b="0" dirty="0">
                <a:latin typeface="Times New Roman" panose="02020503050405090304" pitchFamily="18" charset="0"/>
              </a:rPr>
              <a:t>是</a:t>
            </a:r>
            <a:r>
              <a:rPr lang="zh-CN" altLang="en-US" sz="1600" dirty="0">
                <a:solidFill>
                  <a:srgbClr val="3333FF"/>
                </a:solidFill>
                <a:latin typeface="Times New Roman" panose="02020503050405090304" pitchFamily="18" charset="0"/>
              </a:rPr>
              <a:t>新</a:t>
            </a:r>
            <a:r>
              <a:rPr lang="zh-CN" altLang="en-US" sz="1600">
                <a:solidFill>
                  <a:srgbClr val="3333FF"/>
                </a:solidFill>
                <a:latin typeface="Times New Roman" panose="02020503050405090304" pitchFamily="18" charset="0"/>
              </a:rPr>
              <a:t>词汇层出不穷</a:t>
            </a:r>
            <a:r>
              <a:rPr lang="zh-CN" altLang="en-US" sz="1600" b="0">
                <a:latin typeface="Times New Roman" panose="02020503050405090304" pitchFamily="18" charset="0"/>
              </a:rPr>
              <a:t>，如“超女”、“非典”、“新冠”等；另一方面</a:t>
            </a:r>
            <a:r>
              <a:rPr lang="zh-CN" altLang="en-US" sz="1600" b="0" dirty="0">
                <a:latin typeface="Times New Roman" panose="02020503050405090304" pitchFamily="18" charset="0"/>
              </a:rPr>
              <a:t>则体现在</a:t>
            </a:r>
            <a:r>
              <a:rPr lang="zh-CN" altLang="en-US" sz="1600" dirty="0">
                <a:solidFill>
                  <a:srgbClr val="3333FF"/>
                </a:solidFill>
                <a:latin typeface="Times New Roman" panose="02020503050405090304" pitchFamily="18" charset="0"/>
              </a:rPr>
              <a:t>旧词汇被赋予新</a:t>
            </a:r>
            <a:r>
              <a:rPr lang="zh-CN" altLang="en-US" sz="1600">
                <a:solidFill>
                  <a:srgbClr val="3333FF"/>
                </a:solidFill>
                <a:latin typeface="Times New Roman" panose="02020503050405090304" pitchFamily="18" charset="0"/>
              </a:rPr>
              <a:t>的含义</a:t>
            </a:r>
            <a:r>
              <a:rPr lang="zh-CN" altLang="en-US" sz="1600" b="0">
                <a:latin typeface="Times New Roman" panose="02020503050405090304" pitchFamily="18" charset="0"/>
              </a:rPr>
              <a:t>，如“</a:t>
            </a:r>
            <a:r>
              <a:rPr lang="zh-CN" altLang="en-US" sz="1600" b="0">
                <a:latin typeface="Times New Roman" panose="02020503050405090304" pitchFamily="18" charset="0"/>
              </a:rPr>
              <a:t>潜水”、“杯具”</a:t>
            </a:r>
            <a:r>
              <a:rPr lang="zh-CN" altLang="en-US" sz="1600" b="0" dirty="0">
                <a:latin typeface="Times New Roman" panose="02020503050405090304" pitchFamily="18" charset="0"/>
              </a:rPr>
              <a:t>等。除了词汇，语言的语法等也在不断变化，新的用法层出不穷。</a:t>
            </a:r>
            <a:endParaRPr lang="zh-CN" altLang="en-US" sz="1600" b="0" dirty="0">
              <a:latin typeface="Times New Roman" panose="02020503050405090304" pitchFamily="18" charset="0"/>
            </a:endParaRPr>
          </a:p>
        </p:txBody>
      </p:sp>
      <p:sp>
        <p:nvSpPr>
          <p:cNvPr id="5" name="文本框 4"/>
          <p:cNvSpPr txBox="1"/>
          <p:nvPr/>
        </p:nvSpPr>
        <p:spPr>
          <a:xfrm>
            <a:off x="302992" y="3035409"/>
            <a:ext cx="8383809" cy="1285032"/>
          </a:xfrm>
          <a:prstGeom prst="rect">
            <a:avLst/>
          </a:prstGeom>
          <a:noFill/>
        </p:spPr>
        <p:txBody>
          <a:bodyPr wrap="square">
            <a:spAutoFit/>
          </a:bodyPr>
          <a:lstStyle/>
          <a:p>
            <a:pPr indent="457200">
              <a:lnSpc>
                <a:spcPct val="150000"/>
              </a:lnSpc>
            </a:pPr>
            <a:r>
              <a:rPr lang="zh-CN" altLang="en-US">
                <a:solidFill>
                  <a:srgbClr val="3333FF"/>
                </a:solidFill>
                <a:latin typeface="Times New Roman" panose="02020503050405090304" pitchFamily="18" charset="0"/>
              </a:rPr>
              <a:t>这些层见迭出的语言现象对于自然语言处理系统来说也是巨大的挑战。无论是自然语言处理基础任务还是应用系统，如何应对这些未知的情况都是巨大的挑战。 </a:t>
            </a:r>
            <a:endParaRPr lang="zh-CN" altLang="en-US">
              <a:solidFill>
                <a:srgbClr val="3333FF"/>
              </a:solidFill>
              <a:latin typeface="Times New Roman" panose="02020503050405090304" pitchFamily="18" charset="0"/>
            </a:endParaRPr>
          </a:p>
        </p:txBody>
      </p:sp>
      <p:sp>
        <p:nvSpPr>
          <p:cNvPr id="4" name="日期占位符 3"/>
          <p:cNvSpPr>
            <a:spLocks noGrp="1"/>
          </p:cNvSpPr>
          <p:nvPr>
            <p:ph type="dt" sz="half" idx="10"/>
          </p:nvPr>
        </p:nvSpPr>
        <p:spPr/>
        <p:txBody>
          <a:bodyPr/>
          <a:lstStyle/>
          <a:p>
            <a:fld id="{28F8BFD1-E356-4B8F-85E2-A1C461EA5041}" type="datetime1">
              <a:rPr lang="zh-CN" altLang="en-US" smtClean="0"/>
            </a:fld>
            <a:endParaRPr lang="zh-CN" altLang="en-US"/>
          </a:p>
        </p:txBody>
      </p:sp>
      <p:sp>
        <p:nvSpPr>
          <p:cNvPr id="6" name="灯片编号占位符 5"/>
          <p:cNvSpPr>
            <a:spLocks noGrp="1"/>
          </p:cNvSpPr>
          <p:nvPr>
            <p:ph type="sldNum" sz="quarter" idx="12"/>
          </p:nvPr>
        </p:nvSpPr>
        <p:spPr/>
        <p:txBody>
          <a:bodyPr/>
          <a:lstStyle/>
          <a:p>
            <a:fld id="{82952373-7980-4DA7-9ADE-54D716DB38BB}" type="slidenum">
              <a:rPr lang="zh-CN" altLang="en-US" smtClean="0"/>
            </a:fld>
            <a:endParaRPr lang="zh-CN" altLang="en-US"/>
          </a:p>
        </p:txBody>
      </p:sp>
    </p:spTree>
  </p:cSld>
  <p:clrMapOvr>
    <a:masterClrMapping/>
  </p:clrMapOvr>
  <mc:AlternateContent xmlns:mc="http://schemas.openxmlformats.org/markup-compatibility/2006">
    <mc:Choice xmlns:p14="http://schemas.microsoft.com/office/powerpoint/2010/main" Requires="p14">
      <p:transition p14:dur="0"/>
    </mc:Choice>
    <mc:Fallback>
      <p:transition/>
    </mc:Fallback>
  </mc:AlternateContent>
</p:sld>
</file>

<file path=ppt/slides/slide4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文本框 3"/>
          <p:cNvSpPr txBox="1"/>
          <p:nvPr/>
        </p:nvSpPr>
        <p:spPr>
          <a:xfrm>
            <a:off x="457199" y="1015774"/>
            <a:ext cx="8584683" cy="455253"/>
          </a:xfrm>
          <a:prstGeom prst="rect">
            <a:avLst/>
          </a:prstGeom>
          <a:noFill/>
        </p:spPr>
        <p:txBody>
          <a:bodyPr wrap="square">
            <a:spAutoFit/>
          </a:bodyPr>
          <a:lstStyle/>
          <a:p>
            <a:pPr>
              <a:lnSpc>
                <a:spcPct val="150000"/>
              </a:lnSpc>
            </a:pPr>
            <a:r>
              <a:rPr lang="zh-CN" altLang="en-US" b="1" dirty="0">
                <a:solidFill>
                  <a:srgbClr val="C00000"/>
                </a:solidFill>
                <a:latin typeface="Times New Roman" panose="02020503050405090304" pitchFamily="18" charset="0"/>
              </a:rPr>
              <a:t>（</a:t>
            </a:r>
            <a:r>
              <a:rPr lang="en-US" altLang="zh-CN" b="1" dirty="0">
                <a:solidFill>
                  <a:srgbClr val="C00000"/>
                </a:solidFill>
                <a:latin typeface="Times New Roman" panose="02020503050405090304" pitchFamily="18" charset="0"/>
              </a:rPr>
              <a:t>5</a:t>
            </a:r>
            <a:r>
              <a:rPr lang="zh-CN" altLang="en-US" b="1" dirty="0">
                <a:solidFill>
                  <a:srgbClr val="C00000"/>
                </a:solidFill>
                <a:latin typeface="Times New Roman" panose="02020503050405090304" pitchFamily="18" charset="0"/>
              </a:rPr>
              <a:t>）</a:t>
            </a:r>
            <a:r>
              <a:rPr lang="zh-CN" altLang="en-US" b="1">
                <a:solidFill>
                  <a:srgbClr val="C00000"/>
                </a:solidFill>
                <a:latin typeface="Times New Roman" panose="02020503050405090304" pitchFamily="18" charset="0"/>
              </a:rPr>
              <a:t>非规范性</a:t>
            </a:r>
            <a:endParaRPr lang="en-US" altLang="zh-CN" b="1" dirty="0">
              <a:solidFill>
                <a:srgbClr val="C00000"/>
              </a:solidFill>
              <a:latin typeface="Times New Roman" panose="02020503050405090304" pitchFamily="18" charset="0"/>
            </a:endParaRPr>
          </a:p>
        </p:txBody>
      </p:sp>
      <p:sp>
        <p:nvSpPr>
          <p:cNvPr id="3" name="标题 2"/>
          <p:cNvSpPr>
            <a:spLocks noGrp="1"/>
          </p:cNvSpPr>
          <p:nvPr>
            <p:ph type="title"/>
          </p:nvPr>
        </p:nvSpPr>
        <p:spPr>
          <a:xfrm>
            <a:off x="1" y="1"/>
            <a:ext cx="9109075" cy="702469"/>
          </a:xfrm>
        </p:spPr>
        <p:txBody>
          <a:bodyPr/>
          <a:lstStyle/>
          <a:p>
            <a:r>
              <a:rPr lang="zh-CN" altLang="en-US" sz="2400">
                <a:solidFill>
                  <a:srgbClr val="004C41"/>
                </a:solidFill>
                <a:ea typeface="宋体" pitchFamily="2" charset="-122"/>
                <a:cs typeface="+mn-ea"/>
                <a:sym typeface="+mn-lt"/>
              </a:rPr>
              <a:t>自然语言处理的难点与特点</a:t>
            </a:r>
            <a:endParaRPr lang="zh-CN" altLang="en-US">
              <a:ea typeface="宋体" pitchFamily="2" charset="-122"/>
            </a:endParaRPr>
          </a:p>
        </p:txBody>
      </p:sp>
      <p:sp>
        <p:nvSpPr>
          <p:cNvPr id="2" name="日期占位符 1"/>
          <p:cNvSpPr>
            <a:spLocks noGrp="1"/>
          </p:cNvSpPr>
          <p:nvPr>
            <p:ph type="dt" sz="half" idx="10"/>
          </p:nvPr>
        </p:nvSpPr>
        <p:spPr/>
        <p:txBody>
          <a:bodyPr/>
          <a:lstStyle/>
          <a:p>
            <a:fld id="{EE849076-4E1F-4DFE-8B75-8724B4FFE4E9}" type="datetime1">
              <a:rPr lang="zh-CN" altLang="en-US" smtClean="0"/>
            </a:fld>
            <a:endParaRPr lang="zh-CN" altLang="en-US"/>
          </a:p>
        </p:txBody>
      </p:sp>
      <p:sp>
        <p:nvSpPr>
          <p:cNvPr id="5" name="灯片编号占位符 4"/>
          <p:cNvSpPr>
            <a:spLocks noGrp="1"/>
          </p:cNvSpPr>
          <p:nvPr>
            <p:ph type="sldNum" sz="quarter" idx="12"/>
          </p:nvPr>
        </p:nvSpPr>
        <p:spPr/>
        <p:txBody>
          <a:bodyPr/>
          <a:lstStyle/>
          <a:p>
            <a:fld id="{82952373-7980-4DA7-9ADE-54D716DB38BB}" type="slidenum">
              <a:rPr lang="zh-CN" altLang="en-US" smtClean="0"/>
            </a:fld>
            <a:endParaRPr lang="zh-CN" altLang="en-US"/>
          </a:p>
        </p:txBody>
      </p:sp>
      <p:sp>
        <p:nvSpPr>
          <p:cNvPr id="7" name="文本框 6"/>
          <p:cNvSpPr txBox="1"/>
          <p:nvPr/>
        </p:nvSpPr>
        <p:spPr>
          <a:xfrm>
            <a:off x="690372" y="1598263"/>
            <a:ext cx="8252460" cy="1701748"/>
          </a:xfrm>
          <a:prstGeom prst="rect">
            <a:avLst/>
          </a:prstGeom>
          <a:noFill/>
        </p:spPr>
        <p:txBody>
          <a:bodyPr wrap="square">
            <a:spAutoFit/>
          </a:bodyPr>
          <a:lstStyle/>
          <a:p>
            <a:pPr indent="457200" algn="just">
              <a:lnSpc>
                <a:spcPct val="150000"/>
              </a:lnSpc>
            </a:pPr>
            <a:r>
              <a:rPr lang="zh-CN" altLang="en-US" sz="1800" b="0">
                <a:latin typeface="Times New Roman" panose="02020503050405090304" pitchFamily="18" charset="0"/>
                <a:cs typeface="Times New Roman" panose="02020503050405090304" pitchFamily="18" charset="0"/>
              </a:rPr>
              <a:t>在互联网上，尤其是在用户产生的内容中经常有一些有意或无意造成的非规范文本，为自然语言处理带来了不小的挑战，如音近词</a:t>
            </a:r>
            <a:r>
              <a:rPr lang="en-US" altLang="zh-CN" sz="1800" b="0">
                <a:latin typeface="Times New Roman" panose="02020503050405090304" pitchFamily="18" charset="0"/>
                <a:cs typeface="Times New Roman" panose="02020503050405090304" pitchFamily="18" charset="0"/>
              </a:rPr>
              <a:t>(</a:t>
            </a:r>
            <a:r>
              <a:rPr lang="zh-CN" altLang="en-US" sz="1800" b="0">
                <a:latin typeface="Times New Roman" panose="02020503050405090304" pitchFamily="18" charset="0"/>
                <a:cs typeface="Times New Roman" panose="02020503050405090304" pitchFamily="18" charset="0"/>
              </a:rPr>
              <a:t>“为什么”→“为森么”，“怎么了”→“肿么了”</a:t>
            </a:r>
            <a:r>
              <a:rPr lang="en-US" altLang="zh-CN" sz="1800" b="0">
                <a:latin typeface="Times New Roman" panose="02020503050405090304" pitchFamily="18" charset="0"/>
                <a:cs typeface="Times New Roman" panose="02020503050405090304" pitchFamily="18" charset="0"/>
              </a:rPr>
              <a:t>)</a:t>
            </a:r>
            <a:r>
              <a:rPr lang="zh-CN" altLang="en-US" sz="1800" b="0">
                <a:latin typeface="Times New Roman" panose="02020503050405090304" pitchFamily="18" charset="0"/>
                <a:cs typeface="Times New Roman" panose="02020503050405090304" pitchFamily="18" charset="0"/>
              </a:rPr>
              <a:t>、单词的简写或变形</a:t>
            </a:r>
            <a:r>
              <a:rPr lang="en-US" altLang="zh-CN" sz="1800" b="0">
                <a:latin typeface="Times New Roman" panose="02020503050405090304" pitchFamily="18" charset="0"/>
                <a:cs typeface="Times New Roman" panose="02020503050405090304" pitchFamily="18" charset="0"/>
              </a:rPr>
              <a:t>(</a:t>
            </a:r>
            <a:r>
              <a:rPr lang="en-GB" altLang="zh-CN" sz="1800" b="0">
                <a:latin typeface="Times New Roman" panose="02020503050405090304" pitchFamily="18" charset="0"/>
                <a:cs typeface="Times New Roman" panose="02020503050405090304" pitchFamily="18" charset="0"/>
              </a:rPr>
              <a:t>please→pls</a:t>
            </a:r>
            <a:r>
              <a:rPr lang="zh-CN" altLang="en-GB" sz="1800" b="0">
                <a:latin typeface="Times New Roman" panose="02020503050405090304" pitchFamily="18" charset="0"/>
                <a:cs typeface="Times New Roman" panose="02020503050405090304" pitchFamily="18" charset="0"/>
              </a:rPr>
              <a:t>、</a:t>
            </a:r>
            <a:r>
              <a:rPr lang="en-GB" altLang="zh-CN" sz="1800" b="0">
                <a:latin typeface="Times New Roman" panose="02020503050405090304" pitchFamily="18" charset="0"/>
                <a:cs typeface="Times New Roman" panose="02020503050405090304" pitchFamily="18" charset="0"/>
              </a:rPr>
              <a:t>cool→coooooooool)</a:t>
            </a:r>
            <a:r>
              <a:rPr lang="zh-CN" altLang="en-GB" sz="1800" b="0">
                <a:latin typeface="Times New Roman" panose="02020503050405090304" pitchFamily="18" charset="0"/>
                <a:cs typeface="Times New Roman" panose="02020503050405090304" pitchFamily="18" charset="0"/>
              </a:rPr>
              <a:t>、</a:t>
            </a:r>
            <a:r>
              <a:rPr lang="zh-CN" altLang="en-US" sz="1800" b="0">
                <a:latin typeface="Times New Roman" panose="02020503050405090304" pitchFamily="18" charset="0"/>
                <a:cs typeface="Times New Roman" panose="02020503050405090304" pitchFamily="18" charset="0"/>
              </a:rPr>
              <a:t>新造词</a:t>
            </a:r>
            <a:r>
              <a:rPr lang="en-US" altLang="zh-CN" sz="1800" b="0">
                <a:latin typeface="Times New Roman" panose="02020503050405090304" pitchFamily="18" charset="0"/>
                <a:cs typeface="Times New Roman" panose="02020503050405090304" pitchFamily="18" charset="0"/>
              </a:rPr>
              <a:t>(</a:t>
            </a:r>
            <a:r>
              <a:rPr lang="zh-CN" altLang="en-US" sz="1800" b="0">
                <a:latin typeface="Times New Roman" panose="02020503050405090304" pitchFamily="18" charset="0"/>
                <a:cs typeface="Times New Roman" panose="02020503050405090304" pitchFamily="18" charset="0"/>
              </a:rPr>
              <a:t>“喜大普奔”“不明觉厉”</a:t>
            </a:r>
            <a:r>
              <a:rPr lang="en-US" altLang="zh-CN" sz="1800" b="0">
                <a:latin typeface="Times New Roman" panose="02020503050405090304" pitchFamily="18" charset="0"/>
                <a:cs typeface="Times New Roman" panose="02020503050405090304" pitchFamily="18" charset="0"/>
              </a:rPr>
              <a:t>)</a:t>
            </a:r>
            <a:r>
              <a:rPr lang="zh-CN" altLang="en-US" sz="1800" b="0">
                <a:latin typeface="Times New Roman" panose="02020503050405090304" pitchFamily="18" charset="0"/>
                <a:cs typeface="Times New Roman" panose="02020503050405090304" pitchFamily="18" charset="0"/>
              </a:rPr>
              <a:t>和错别字等。</a:t>
            </a:r>
            <a:endParaRPr lang="zh-CN" altLang="en-US" sz="1800" b="0" dirty="0">
              <a:latin typeface="Times New Roman" panose="02020503050405090304" pitchFamily="18" charset="0"/>
              <a:cs typeface="Times New Roman" panose="02020503050405090304" pitchFamily="18" charset="0"/>
            </a:endParaRPr>
          </a:p>
        </p:txBody>
      </p:sp>
    </p:spTree>
  </p:cSld>
  <p:clrMapOvr>
    <a:masterClrMapping/>
  </p:clrMapOvr>
  <mc:AlternateContent xmlns:mc="http://schemas.openxmlformats.org/markup-compatibility/2006">
    <mc:Choice xmlns:p14="http://schemas.microsoft.com/office/powerpoint/2010/main" Requires="p14">
      <p:transition p14:dur="0"/>
    </mc:Choice>
    <mc:Fallback>
      <p:transition/>
    </mc:Fallback>
  </mc:AlternateContent>
</p:sld>
</file>

<file path=ppt/slides/slide4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文本框 5"/>
          <p:cNvSpPr txBox="1"/>
          <p:nvPr/>
        </p:nvSpPr>
        <p:spPr>
          <a:xfrm>
            <a:off x="534924" y="877886"/>
            <a:ext cx="8711790" cy="455253"/>
          </a:xfrm>
          <a:prstGeom prst="rect">
            <a:avLst/>
          </a:prstGeom>
          <a:noFill/>
        </p:spPr>
        <p:txBody>
          <a:bodyPr wrap="square">
            <a:spAutoFit/>
          </a:bodyPr>
          <a:lstStyle/>
          <a:p>
            <a:pPr>
              <a:lnSpc>
                <a:spcPct val="150000"/>
              </a:lnSpc>
            </a:pPr>
            <a:r>
              <a:rPr lang="zh-CN" altLang="en-US" b="1" dirty="0">
                <a:solidFill>
                  <a:srgbClr val="C00000"/>
                </a:solidFill>
                <a:latin typeface="Times New Roman" panose="02020503050405090304" pitchFamily="18" charset="0"/>
              </a:rPr>
              <a:t>（</a:t>
            </a:r>
            <a:r>
              <a:rPr lang="en-US" altLang="zh-CN" b="1" dirty="0">
                <a:solidFill>
                  <a:srgbClr val="C00000"/>
                </a:solidFill>
                <a:latin typeface="Times New Roman" panose="02020503050405090304" pitchFamily="18" charset="0"/>
              </a:rPr>
              <a:t>6</a:t>
            </a:r>
            <a:r>
              <a:rPr lang="zh-CN" altLang="en-US" b="1">
                <a:solidFill>
                  <a:srgbClr val="C00000"/>
                </a:solidFill>
                <a:latin typeface="Times New Roman" panose="02020503050405090304" pitchFamily="18" charset="0"/>
              </a:rPr>
              <a:t>）主观性</a:t>
            </a:r>
            <a:endParaRPr lang="en-US" altLang="zh-CN" b="1" dirty="0">
              <a:solidFill>
                <a:srgbClr val="C00000"/>
              </a:solidFill>
              <a:latin typeface="Times New Roman" panose="02020503050405090304" pitchFamily="18" charset="0"/>
            </a:endParaRPr>
          </a:p>
        </p:txBody>
      </p:sp>
      <p:sp>
        <p:nvSpPr>
          <p:cNvPr id="3" name="标题 2"/>
          <p:cNvSpPr>
            <a:spLocks noGrp="1"/>
          </p:cNvSpPr>
          <p:nvPr>
            <p:ph type="title"/>
          </p:nvPr>
        </p:nvSpPr>
        <p:spPr>
          <a:xfrm>
            <a:off x="1" y="1"/>
            <a:ext cx="9109075" cy="702469"/>
          </a:xfrm>
        </p:spPr>
        <p:txBody>
          <a:bodyPr/>
          <a:lstStyle/>
          <a:p>
            <a:r>
              <a:rPr lang="zh-CN" altLang="en-US" sz="2400">
                <a:solidFill>
                  <a:srgbClr val="004C41"/>
                </a:solidFill>
                <a:ea typeface="宋体" pitchFamily="2" charset="-122"/>
                <a:cs typeface="+mn-ea"/>
                <a:sym typeface="+mn-lt"/>
              </a:rPr>
              <a:t>自然语言处理的难点与特点</a:t>
            </a:r>
            <a:endParaRPr lang="zh-CN" altLang="en-US">
              <a:ea typeface="宋体" pitchFamily="2" charset="-122"/>
            </a:endParaRPr>
          </a:p>
        </p:txBody>
      </p:sp>
      <p:sp>
        <p:nvSpPr>
          <p:cNvPr id="2" name="日期占位符 1"/>
          <p:cNvSpPr>
            <a:spLocks noGrp="1"/>
          </p:cNvSpPr>
          <p:nvPr>
            <p:ph type="dt" sz="half" idx="10"/>
          </p:nvPr>
        </p:nvSpPr>
        <p:spPr/>
        <p:txBody>
          <a:bodyPr/>
          <a:lstStyle/>
          <a:p>
            <a:fld id="{2D93491D-D35D-443A-82EB-7ABA79354A5B}" type="datetime1">
              <a:rPr lang="zh-CN" altLang="en-US" smtClean="0"/>
            </a:fld>
            <a:endParaRPr lang="zh-CN" altLang="en-US"/>
          </a:p>
        </p:txBody>
      </p:sp>
      <p:sp>
        <p:nvSpPr>
          <p:cNvPr id="4" name="灯片编号占位符 3"/>
          <p:cNvSpPr>
            <a:spLocks noGrp="1"/>
          </p:cNvSpPr>
          <p:nvPr>
            <p:ph type="sldNum" sz="quarter" idx="12"/>
          </p:nvPr>
        </p:nvSpPr>
        <p:spPr/>
        <p:txBody>
          <a:bodyPr/>
          <a:lstStyle/>
          <a:p>
            <a:fld id="{82952373-7980-4DA7-9ADE-54D716DB38BB}" type="slidenum">
              <a:rPr lang="zh-CN" altLang="en-US" smtClean="0"/>
            </a:fld>
            <a:endParaRPr lang="zh-CN" altLang="en-US"/>
          </a:p>
        </p:txBody>
      </p:sp>
      <p:sp>
        <p:nvSpPr>
          <p:cNvPr id="7" name="文本框 6"/>
          <p:cNvSpPr txBox="1"/>
          <p:nvPr/>
        </p:nvSpPr>
        <p:spPr>
          <a:xfrm>
            <a:off x="775662" y="1404216"/>
            <a:ext cx="8108442" cy="2618602"/>
          </a:xfrm>
          <a:prstGeom prst="rect">
            <a:avLst/>
          </a:prstGeom>
          <a:noFill/>
        </p:spPr>
        <p:txBody>
          <a:bodyPr wrap="square">
            <a:spAutoFit/>
          </a:bodyPr>
          <a:lstStyle/>
          <a:p>
            <a:pPr marL="285750" indent="-285750" algn="just">
              <a:lnSpc>
                <a:spcPct val="130000"/>
              </a:lnSpc>
              <a:buFont typeface="Wingdings" panose="05000000000000000000" pitchFamily="2" charset="2"/>
              <a:buChar char="ü"/>
            </a:pPr>
            <a:r>
              <a:rPr lang="zh-CN" altLang="en-US" sz="1600" b="0">
                <a:latin typeface="Times New Roman" panose="02020503050405090304" pitchFamily="18" charset="0"/>
              </a:rPr>
              <a:t>属于认知智能的自然语言处理问题往往具有一定的</a:t>
            </a:r>
            <a:r>
              <a:rPr lang="zh-CN" altLang="en-US" sz="1600" b="0">
                <a:solidFill>
                  <a:srgbClr val="0000FF"/>
                </a:solidFill>
                <a:latin typeface="Times New Roman" panose="02020503050405090304" pitchFamily="18" charset="0"/>
              </a:rPr>
              <a:t>主观性</a:t>
            </a:r>
            <a:r>
              <a:rPr lang="zh-CN" altLang="en-US" sz="1600" b="0">
                <a:latin typeface="Times New Roman" panose="02020503050405090304" pitchFamily="18" charset="0"/>
              </a:rPr>
              <a:t>，这不但</a:t>
            </a:r>
            <a:r>
              <a:rPr lang="zh-CN" altLang="en-US" sz="1600" b="0">
                <a:solidFill>
                  <a:srgbClr val="0000FF"/>
                </a:solidFill>
                <a:latin typeface="Times New Roman" panose="02020503050405090304" pitchFamily="18" charset="0"/>
              </a:rPr>
              <a:t>提高了数据标注的难度</a:t>
            </a:r>
            <a:r>
              <a:rPr lang="zh-CN" altLang="en-US" sz="1600" b="0">
                <a:latin typeface="Times New Roman" panose="02020503050405090304" pitchFamily="18" charset="0"/>
              </a:rPr>
              <a:t>，还为</a:t>
            </a:r>
            <a:r>
              <a:rPr lang="zh-CN" altLang="en-US" sz="1600" b="0">
                <a:solidFill>
                  <a:srgbClr val="0000FF"/>
                </a:solidFill>
                <a:latin typeface="Times New Roman" panose="02020503050405090304" pitchFamily="18" charset="0"/>
              </a:rPr>
              <a:t>准确评价系统的表现带来了一定的困难</a:t>
            </a:r>
            <a:r>
              <a:rPr lang="zh-CN" altLang="en-US" sz="1600" b="0">
                <a:latin typeface="Times New Roman" panose="02020503050405090304" pitchFamily="18" charset="0"/>
              </a:rPr>
              <a:t>。如在分词这一最基本的中文自然语言处理任务中，</a:t>
            </a:r>
            <a:r>
              <a:rPr lang="zh-CN" altLang="en-US" sz="1600" b="0">
                <a:solidFill>
                  <a:srgbClr val="0000FF"/>
                </a:solidFill>
                <a:latin typeface="Times New Roman" panose="02020503050405090304" pitchFamily="18" charset="0"/>
              </a:rPr>
              <a:t>关于什么是“词”的定义都尚不明确</a:t>
            </a:r>
            <a:r>
              <a:rPr lang="zh-CN" altLang="en-US" sz="1600" b="0">
                <a:latin typeface="Times New Roman" panose="02020503050405090304" pitchFamily="18" charset="0"/>
              </a:rPr>
              <a:t>，比如“打篮球”是一个词还是两个词呢？所以，标注自然语言处理任务的数据时难度增大。</a:t>
            </a:r>
            <a:endParaRPr lang="en-US" altLang="zh-CN" sz="1600" b="0">
              <a:latin typeface="Times New Roman" panose="02020503050405090304" pitchFamily="18" charset="0"/>
            </a:endParaRPr>
          </a:p>
          <a:p>
            <a:pPr marL="285750" indent="-285750" algn="just">
              <a:lnSpc>
                <a:spcPct val="130000"/>
              </a:lnSpc>
              <a:buFont typeface="Wingdings" panose="05000000000000000000" pitchFamily="2" charset="2"/>
              <a:buChar char="ü"/>
            </a:pPr>
            <a:r>
              <a:rPr lang="zh-CN" altLang="en-US" sz="1600" b="0">
                <a:latin typeface="Times New Roman" panose="02020503050405090304" pitchFamily="18" charset="0"/>
              </a:rPr>
              <a:t>此外，由于不同的分词系统往往标准都不尽相同，所以</a:t>
            </a:r>
            <a:r>
              <a:rPr lang="zh-CN" altLang="en-US" sz="1600" b="0">
                <a:solidFill>
                  <a:srgbClr val="3333FF"/>
                </a:solidFill>
                <a:latin typeface="Times New Roman" panose="02020503050405090304" pitchFamily="18" charset="0"/>
              </a:rPr>
              <a:t>通过准确率等客观指标对比不同的分词系统本身是不客观的</a:t>
            </a:r>
            <a:r>
              <a:rPr lang="zh-CN" altLang="en-US" sz="1600" b="0">
                <a:latin typeface="Times New Roman" panose="02020503050405090304" pitchFamily="18" charset="0"/>
              </a:rPr>
              <a:t>。难以评价的问题在人机对话等任务中体现得更为明显，由于对话回复的主观性，很难有一个所谓的标准回复，所以如何自动评价人机对话系统仍然是一个开放的问题。</a:t>
            </a:r>
            <a:endParaRPr lang="zh-CN" altLang="en-US" sz="1600" b="0" dirty="0">
              <a:latin typeface="Times New Roman" panose="02020503050405090304" pitchFamily="18" charset="0"/>
            </a:endParaRPr>
          </a:p>
        </p:txBody>
      </p:sp>
    </p:spTree>
  </p:cSld>
  <p:clrMapOvr>
    <a:masterClrMapping/>
  </p:clrMapOvr>
  <mc:AlternateContent xmlns:mc="http://schemas.openxmlformats.org/markup-compatibility/2006">
    <mc:Choice xmlns:p14="http://schemas.microsoft.com/office/powerpoint/2010/main" Requires="p14">
      <p:transition p14:dur="0"/>
    </mc:Choice>
    <mc:Fallback>
      <p:transition/>
    </mc:Fallback>
  </mc:AlternateContent>
</p:sld>
</file>

<file path=ppt/slides/slide4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文本框 3"/>
          <p:cNvSpPr txBox="1"/>
          <p:nvPr/>
        </p:nvSpPr>
        <p:spPr>
          <a:xfrm>
            <a:off x="388619" y="1030503"/>
            <a:ext cx="8377575" cy="1983740"/>
          </a:xfrm>
          <a:prstGeom prst="rect">
            <a:avLst/>
          </a:prstGeom>
          <a:noFill/>
        </p:spPr>
        <p:txBody>
          <a:bodyPr wrap="square">
            <a:spAutoFit/>
          </a:bodyPr>
          <a:lstStyle/>
          <a:p>
            <a:pPr>
              <a:lnSpc>
                <a:spcPct val="150000"/>
              </a:lnSpc>
            </a:pPr>
            <a:r>
              <a:rPr lang="zh-CN" altLang="en-US" b="1" dirty="0">
                <a:solidFill>
                  <a:srgbClr val="C00000"/>
                </a:solidFill>
                <a:latin typeface="Times New Roman" panose="02020503050405090304" pitchFamily="18" charset="0"/>
              </a:rPr>
              <a:t>（</a:t>
            </a:r>
            <a:r>
              <a:rPr lang="en-US" altLang="zh-CN" b="1" dirty="0">
                <a:solidFill>
                  <a:srgbClr val="C00000"/>
                </a:solidFill>
                <a:latin typeface="Times New Roman" panose="02020503050405090304" pitchFamily="18" charset="0"/>
              </a:rPr>
              <a:t>7</a:t>
            </a:r>
            <a:r>
              <a:rPr lang="zh-CN" altLang="en-US" b="1" dirty="0">
                <a:solidFill>
                  <a:srgbClr val="C00000"/>
                </a:solidFill>
                <a:latin typeface="Times New Roman" panose="02020503050405090304" pitchFamily="18" charset="0"/>
              </a:rPr>
              <a:t>）知识性</a:t>
            </a:r>
            <a:endParaRPr lang="en-US" altLang="zh-CN" b="1" dirty="0">
              <a:solidFill>
                <a:srgbClr val="C00000"/>
              </a:solidFill>
              <a:latin typeface="Times New Roman" panose="02020503050405090304" pitchFamily="18" charset="0"/>
            </a:endParaRPr>
          </a:p>
          <a:p>
            <a:pPr indent="457200" algn="just">
              <a:lnSpc>
                <a:spcPct val="150000"/>
              </a:lnSpc>
            </a:pPr>
            <a:r>
              <a:rPr lang="zh-CN" altLang="en-US" sz="1600" dirty="0">
                <a:solidFill>
                  <a:srgbClr val="3333FF"/>
                </a:solidFill>
                <a:latin typeface="Times New Roman" panose="02020503050405090304" pitchFamily="18" charset="0"/>
              </a:rPr>
              <a:t>理解语言通常需要背景知识以及基于这些知识的推理能力</a:t>
            </a:r>
            <a:r>
              <a:rPr lang="zh-CN" altLang="en-US" sz="1600" b="0">
                <a:latin typeface="Times New Roman" panose="02020503050405090304" pitchFamily="18" charset="0"/>
              </a:rPr>
              <a:t>。例如，针对</a:t>
            </a:r>
            <a:r>
              <a:rPr lang="zh-CN" altLang="en-US" sz="1600" b="0" dirty="0">
                <a:latin typeface="Times New Roman" panose="02020503050405090304" pitchFamily="18" charset="0"/>
              </a:rPr>
              <a:t>句子“</a:t>
            </a:r>
            <a:r>
              <a:rPr lang="zh-CN" altLang="en-US" sz="1600" b="0" u="sng" dirty="0">
                <a:latin typeface="Times New Roman" panose="02020503050405090304" pitchFamily="18" charset="0"/>
              </a:rPr>
              <a:t>张三</a:t>
            </a:r>
            <a:r>
              <a:rPr lang="zh-CN" altLang="en-US" sz="1600" b="0" dirty="0">
                <a:latin typeface="Times New Roman" panose="02020503050405090304" pitchFamily="18" charset="0"/>
              </a:rPr>
              <a:t>打了</a:t>
            </a:r>
            <a:r>
              <a:rPr lang="zh-CN" altLang="en-US" sz="1600" b="0" u="sng" dirty="0">
                <a:latin typeface="Times New Roman" panose="02020503050405090304" pitchFamily="18" charset="0"/>
              </a:rPr>
              <a:t>李四</a:t>
            </a:r>
            <a:r>
              <a:rPr lang="zh-CN" altLang="en-US" sz="1600" b="0" dirty="0">
                <a:latin typeface="Times New Roman" panose="02020503050405090304" pitchFamily="18" charset="0"/>
              </a:rPr>
              <a:t>，然后</a:t>
            </a:r>
            <a:r>
              <a:rPr lang="zh-CN" altLang="en-US" sz="1600" b="0" u="sng" dirty="0">
                <a:latin typeface="Times New Roman" panose="02020503050405090304" pitchFamily="18" charset="0"/>
              </a:rPr>
              <a:t>他</a:t>
            </a:r>
            <a:r>
              <a:rPr lang="zh-CN" altLang="en-US" sz="1600" b="0" dirty="0">
                <a:latin typeface="Times New Roman" panose="02020503050405090304" pitchFamily="18" charset="0"/>
              </a:rPr>
              <a:t>倒</a:t>
            </a:r>
            <a:r>
              <a:rPr lang="zh-CN" altLang="en-US" sz="1600" b="0">
                <a:latin typeface="Times New Roman" panose="02020503050405090304" pitchFamily="18" charset="0"/>
              </a:rPr>
              <a:t>了”，问</a:t>
            </a:r>
            <a:r>
              <a:rPr lang="zh-CN" altLang="en-US" sz="1600" b="0" dirty="0">
                <a:latin typeface="Times New Roman" panose="02020503050405090304" pitchFamily="18" charset="0"/>
              </a:rPr>
              <a:t>其中的“他”指代的是“张三”还是“李四”只有具备了“被打的人更容易倒”这一知识，才能推出“他”很可能指代的是“李四”。而如果将“倒”替换</a:t>
            </a:r>
            <a:r>
              <a:rPr lang="zh-CN" altLang="en-US" sz="1600" b="0">
                <a:latin typeface="Times New Roman" panose="02020503050405090304" pitchFamily="18" charset="0"/>
              </a:rPr>
              <a:t>为“笑”，则</a:t>
            </a:r>
            <a:r>
              <a:rPr lang="zh-CN" altLang="en-US" sz="1600" b="0" dirty="0">
                <a:latin typeface="Times New Roman" panose="02020503050405090304" pitchFamily="18" charset="0"/>
              </a:rPr>
              <a:t>“他”很可能指代的</a:t>
            </a:r>
            <a:r>
              <a:rPr lang="zh-CN" altLang="en-US" sz="1600" b="0">
                <a:latin typeface="Times New Roman" panose="02020503050405090304" pitchFamily="18" charset="0"/>
              </a:rPr>
              <a:t>是“张三”，因为</a:t>
            </a:r>
            <a:r>
              <a:rPr lang="zh-CN" altLang="en-US" sz="1600" b="0" dirty="0">
                <a:latin typeface="Times New Roman" panose="02020503050405090304" pitchFamily="18" charset="0"/>
              </a:rPr>
              <a:t>“被打的人不太容易笑”</a:t>
            </a:r>
            <a:r>
              <a:rPr lang="zh-CN" altLang="en-US" sz="1600" b="0">
                <a:latin typeface="Times New Roman" panose="02020503050405090304" pitchFamily="18" charset="0"/>
              </a:rPr>
              <a:t>。</a:t>
            </a:r>
            <a:endParaRPr lang="zh-CN" altLang="en-US" sz="1600" b="0" dirty="0">
              <a:solidFill>
                <a:srgbClr val="3333FF"/>
              </a:solidFill>
              <a:latin typeface="Times New Roman" panose="02020503050405090304" pitchFamily="18" charset="0"/>
            </a:endParaRPr>
          </a:p>
        </p:txBody>
      </p:sp>
      <p:sp>
        <p:nvSpPr>
          <p:cNvPr id="3" name="标题 2"/>
          <p:cNvSpPr>
            <a:spLocks noGrp="1"/>
          </p:cNvSpPr>
          <p:nvPr>
            <p:ph type="title"/>
          </p:nvPr>
        </p:nvSpPr>
        <p:spPr>
          <a:xfrm>
            <a:off x="1" y="1"/>
            <a:ext cx="9109075" cy="702469"/>
          </a:xfrm>
        </p:spPr>
        <p:txBody>
          <a:bodyPr/>
          <a:lstStyle/>
          <a:p>
            <a:r>
              <a:rPr lang="zh-CN" altLang="en-US" sz="2400">
                <a:solidFill>
                  <a:srgbClr val="004C41"/>
                </a:solidFill>
                <a:ea typeface="宋体" pitchFamily="2" charset="-122"/>
                <a:cs typeface="+mn-ea"/>
                <a:sym typeface="+mn-lt"/>
              </a:rPr>
              <a:t>自然语言处理的难点与特点</a:t>
            </a:r>
            <a:endParaRPr lang="zh-CN" altLang="en-US">
              <a:ea typeface="宋体" pitchFamily="2" charset="-122"/>
            </a:endParaRPr>
          </a:p>
        </p:txBody>
      </p:sp>
      <p:sp>
        <p:nvSpPr>
          <p:cNvPr id="2" name="日期占位符 1"/>
          <p:cNvSpPr>
            <a:spLocks noGrp="1"/>
          </p:cNvSpPr>
          <p:nvPr>
            <p:ph type="dt" sz="half" idx="10"/>
          </p:nvPr>
        </p:nvSpPr>
        <p:spPr/>
        <p:txBody>
          <a:bodyPr/>
          <a:lstStyle/>
          <a:p>
            <a:fld id="{7992F7A1-F054-4483-9D46-0795C51485FD}" type="datetime1">
              <a:rPr lang="zh-CN" altLang="en-US" smtClean="0"/>
            </a:fld>
            <a:endParaRPr lang="zh-CN" altLang="en-US"/>
          </a:p>
        </p:txBody>
      </p:sp>
      <p:sp>
        <p:nvSpPr>
          <p:cNvPr id="5" name="灯片编号占位符 4"/>
          <p:cNvSpPr>
            <a:spLocks noGrp="1"/>
          </p:cNvSpPr>
          <p:nvPr>
            <p:ph type="sldNum" sz="quarter" idx="12"/>
          </p:nvPr>
        </p:nvSpPr>
        <p:spPr/>
        <p:txBody>
          <a:bodyPr/>
          <a:lstStyle/>
          <a:p>
            <a:fld id="{82952373-7980-4DA7-9ADE-54D716DB38BB}" type="slidenum">
              <a:rPr lang="zh-CN" altLang="en-US" smtClean="0"/>
            </a:fld>
            <a:endParaRPr lang="zh-CN" altLang="en-US"/>
          </a:p>
        </p:txBody>
      </p:sp>
    </p:spTree>
  </p:cSld>
  <p:clrMapOvr>
    <a:masterClrMapping/>
  </p:clrMapOvr>
  <mc:AlternateContent xmlns:mc="http://schemas.openxmlformats.org/markup-compatibility/2006">
    <mc:Choice xmlns:p14="http://schemas.microsoft.com/office/powerpoint/2010/main" Requires="p14">
      <p:transition p14:dur="0"/>
    </mc:Choice>
    <mc:Fallback>
      <p:transition/>
    </mc:Fallback>
  </mc:AlternateContent>
</p:sld>
</file>

<file path=ppt/slides/slide4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文本框 5"/>
          <p:cNvSpPr txBox="1"/>
          <p:nvPr/>
        </p:nvSpPr>
        <p:spPr>
          <a:xfrm>
            <a:off x="428128" y="950891"/>
            <a:ext cx="8622792" cy="455253"/>
          </a:xfrm>
          <a:prstGeom prst="rect">
            <a:avLst/>
          </a:prstGeom>
          <a:noFill/>
        </p:spPr>
        <p:txBody>
          <a:bodyPr wrap="square">
            <a:spAutoFit/>
          </a:bodyPr>
          <a:lstStyle/>
          <a:p>
            <a:pPr>
              <a:lnSpc>
                <a:spcPct val="150000"/>
              </a:lnSpc>
            </a:pPr>
            <a:r>
              <a:rPr lang="zh-CN" altLang="en-US" b="1" dirty="0">
                <a:solidFill>
                  <a:srgbClr val="C00000"/>
                </a:solidFill>
                <a:latin typeface="Times New Roman" panose="02020503050405090304" pitchFamily="18" charset="0"/>
              </a:rPr>
              <a:t>（</a:t>
            </a:r>
            <a:r>
              <a:rPr lang="en-US" altLang="zh-CN" b="1" dirty="0">
                <a:solidFill>
                  <a:srgbClr val="C00000"/>
                </a:solidFill>
                <a:latin typeface="Times New Roman" panose="02020503050405090304" pitchFamily="18" charset="0"/>
              </a:rPr>
              <a:t>8</a:t>
            </a:r>
            <a:r>
              <a:rPr lang="zh-CN" altLang="en-US" b="1" dirty="0">
                <a:solidFill>
                  <a:srgbClr val="C00000"/>
                </a:solidFill>
                <a:latin typeface="Times New Roman" panose="02020503050405090304" pitchFamily="18" charset="0"/>
              </a:rPr>
              <a:t>）难</a:t>
            </a:r>
            <a:r>
              <a:rPr lang="zh-CN" altLang="en-US" b="1">
                <a:solidFill>
                  <a:srgbClr val="C00000"/>
                </a:solidFill>
                <a:latin typeface="Times New Roman" panose="02020503050405090304" pitchFamily="18" charset="0"/>
              </a:rPr>
              <a:t>移植性</a:t>
            </a:r>
            <a:endParaRPr lang="en-US" altLang="zh-CN" b="1" dirty="0">
              <a:solidFill>
                <a:srgbClr val="C00000"/>
              </a:solidFill>
              <a:latin typeface="Times New Roman" panose="02020503050405090304" pitchFamily="18" charset="0"/>
            </a:endParaRPr>
          </a:p>
        </p:txBody>
      </p:sp>
      <p:sp>
        <p:nvSpPr>
          <p:cNvPr id="3" name="标题 2"/>
          <p:cNvSpPr>
            <a:spLocks noGrp="1"/>
          </p:cNvSpPr>
          <p:nvPr>
            <p:ph type="title"/>
          </p:nvPr>
        </p:nvSpPr>
        <p:spPr>
          <a:xfrm>
            <a:off x="-58155" y="0"/>
            <a:ext cx="9109075" cy="702469"/>
          </a:xfrm>
        </p:spPr>
        <p:txBody>
          <a:bodyPr/>
          <a:lstStyle/>
          <a:p>
            <a:r>
              <a:rPr lang="zh-CN" altLang="en-US" sz="2400">
                <a:solidFill>
                  <a:srgbClr val="004C41"/>
                </a:solidFill>
                <a:ea typeface="宋体" pitchFamily="2" charset="-122"/>
                <a:cs typeface="+mn-ea"/>
                <a:sym typeface="+mn-lt"/>
              </a:rPr>
              <a:t>自然语言处理的难点与特点</a:t>
            </a:r>
            <a:endParaRPr lang="zh-CN" altLang="en-US">
              <a:ea typeface="宋体" pitchFamily="2" charset="-122"/>
            </a:endParaRPr>
          </a:p>
        </p:txBody>
      </p:sp>
      <p:sp>
        <p:nvSpPr>
          <p:cNvPr id="2" name="日期占位符 1"/>
          <p:cNvSpPr>
            <a:spLocks noGrp="1"/>
          </p:cNvSpPr>
          <p:nvPr>
            <p:ph type="dt" sz="half" idx="10"/>
          </p:nvPr>
        </p:nvSpPr>
        <p:spPr/>
        <p:txBody>
          <a:bodyPr/>
          <a:lstStyle/>
          <a:p>
            <a:fld id="{4D277D6C-980D-46D1-AA3F-84356C2ADFEF}" type="datetime1">
              <a:rPr lang="zh-CN" altLang="en-US" smtClean="0"/>
            </a:fld>
            <a:endParaRPr lang="zh-CN" altLang="en-US"/>
          </a:p>
        </p:txBody>
      </p:sp>
      <p:sp>
        <p:nvSpPr>
          <p:cNvPr id="4" name="灯片编号占位符 3"/>
          <p:cNvSpPr>
            <a:spLocks noGrp="1"/>
          </p:cNvSpPr>
          <p:nvPr>
            <p:ph type="sldNum" sz="quarter" idx="12"/>
          </p:nvPr>
        </p:nvSpPr>
        <p:spPr/>
        <p:txBody>
          <a:bodyPr/>
          <a:lstStyle/>
          <a:p>
            <a:fld id="{82952373-7980-4DA7-9ADE-54D716DB38BB}" type="slidenum">
              <a:rPr lang="zh-CN" altLang="en-US" smtClean="0"/>
            </a:fld>
            <a:endParaRPr lang="zh-CN" altLang="en-US"/>
          </a:p>
        </p:txBody>
      </p:sp>
      <p:sp>
        <p:nvSpPr>
          <p:cNvPr id="7" name="文本框 6"/>
          <p:cNvSpPr txBox="1"/>
          <p:nvPr/>
        </p:nvSpPr>
        <p:spPr>
          <a:xfrm>
            <a:off x="668654" y="1471992"/>
            <a:ext cx="8382265" cy="2630913"/>
          </a:xfrm>
          <a:prstGeom prst="rect">
            <a:avLst/>
          </a:prstGeom>
          <a:noFill/>
        </p:spPr>
        <p:txBody>
          <a:bodyPr wrap="square">
            <a:spAutoFit/>
          </a:bodyPr>
          <a:lstStyle/>
          <a:p>
            <a:pPr marL="285750" indent="-285750" algn="just">
              <a:lnSpc>
                <a:spcPct val="150000"/>
              </a:lnSpc>
              <a:buFont typeface="Wingdings" panose="05000000000000000000" pitchFamily="2" charset="2"/>
              <a:buChar char="ü"/>
            </a:pPr>
            <a:r>
              <a:rPr lang="zh-CN" altLang="en-US" sz="1600" b="0">
                <a:latin typeface="Times New Roman" panose="02020503050405090304" pitchFamily="18" charset="0"/>
              </a:rPr>
              <a:t>由于自然语言处理涉及的任务和领域众多，并且它们之间的差异较大，造成了难移植性的问题。如自然语言处理任务根据层级可以分为分词、词性标注、句法分析和语义分析等基础任务，以及信息抽取、问答系统和对话系统等应用任务，由于这些任务的目标和数据各不相同，很难使用统一的技术或模型加以解决，因此不得不针对不同的任务设计不同的算法或训练不同的模型。</a:t>
            </a:r>
            <a:endParaRPr lang="en-US" altLang="zh-CN" sz="1600" b="0">
              <a:latin typeface="Times New Roman" panose="02020503050405090304" pitchFamily="18" charset="0"/>
            </a:endParaRPr>
          </a:p>
          <a:p>
            <a:pPr marL="285750" indent="-285750" algn="just">
              <a:lnSpc>
                <a:spcPct val="150000"/>
              </a:lnSpc>
              <a:buFont typeface="Wingdings" panose="05000000000000000000" pitchFamily="2" charset="2"/>
              <a:buChar char="ü"/>
            </a:pPr>
            <a:r>
              <a:rPr lang="zh-CN" altLang="en-US" sz="1600" b="0">
                <a:latin typeface="Times New Roman" panose="02020503050405090304" pitchFamily="18" charset="0"/>
              </a:rPr>
              <a:t>由于不同领域的用词以及表达方式不尽相同，因此在一个领域上学习的模型也很难应用于其他领域，这也给提高自然语言处理系统的可移植性带来了极大的困难。</a:t>
            </a:r>
            <a:endParaRPr lang="zh-CN" altLang="en-US" sz="1600" b="0" dirty="0">
              <a:latin typeface="Times New Roman" panose="02020503050405090304" pitchFamily="18" charset="0"/>
            </a:endParaRPr>
          </a:p>
        </p:txBody>
      </p:sp>
    </p:spTree>
  </p:cSld>
  <p:clrMapOvr>
    <a:masterClrMapping/>
  </p:clrMapOvr>
  <mc:AlternateContent xmlns:mc="http://schemas.openxmlformats.org/markup-compatibility/2006">
    <mc:Choice xmlns:p14="http://schemas.microsoft.com/office/powerpoint/2010/main" Requires="p14">
      <p:transition p14:dur="0"/>
    </mc:Choice>
    <mc:Fallback>
      <p:transition/>
    </mc:Fallback>
  </mc:AlternateContent>
</p:sld>
</file>

<file path=ppt/slides/slide4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15" name="2"/>
          <p:cNvGrpSpPr/>
          <p:nvPr/>
        </p:nvGrpSpPr>
        <p:grpSpPr>
          <a:xfrm>
            <a:off x="1002665" y="2046602"/>
            <a:ext cx="7488555" cy="1263015"/>
            <a:chOff x="31445" y="161947"/>
            <a:chExt cx="2500824" cy="318131"/>
          </a:xfrm>
          <a:solidFill>
            <a:srgbClr val="004C41"/>
          </a:solidFill>
        </p:grpSpPr>
        <p:sp>
          <p:nvSpPr>
            <p:cNvPr id="16" name="12"/>
            <p:cNvSpPr/>
            <p:nvPr/>
          </p:nvSpPr>
          <p:spPr>
            <a:xfrm>
              <a:off x="31445" y="176315"/>
              <a:ext cx="2268640" cy="293086"/>
            </a:xfrm>
            <a:prstGeom prst="rect">
              <a:avLst/>
            </a:prstGeom>
            <a:grpFill/>
            <a:ln w="25400" cap="flat" cmpd="sng" algn="ctr">
              <a:noFill/>
              <a:prstDash val="solid"/>
            </a:ln>
            <a:effectLst/>
          </p:spPr>
          <p:txBody>
            <a:bodyPr rtlCol="0" anchor="ctr"/>
            <a:lstStyle/>
            <a:p>
              <a:pPr algn="ctr">
                <a:defRPr/>
              </a:pPr>
              <a:endParaRPr lang="zh-CN" altLang="en-US" kern="0">
                <a:solidFill>
                  <a:prstClr val="white"/>
                </a:solidFill>
                <a:cs typeface="+mn-ea"/>
                <a:sym typeface="+mn-lt"/>
              </a:endParaRPr>
            </a:p>
          </p:txBody>
        </p:sp>
        <p:sp>
          <p:nvSpPr>
            <p:cNvPr id="17" name="等腰三角形 16"/>
            <p:cNvSpPr/>
            <p:nvPr/>
          </p:nvSpPr>
          <p:spPr>
            <a:xfrm rot="5400000">
              <a:off x="2257111" y="204921"/>
              <a:ext cx="318131" cy="232184"/>
            </a:xfrm>
            <a:prstGeom prst="triangle">
              <a:avLst/>
            </a:prstGeom>
            <a:grpFill/>
            <a:ln w="25400" cap="flat" cmpd="sng" algn="ctr">
              <a:noFill/>
              <a:prstDash val="solid"/>
            </a:ln>
            <a:effectLst/>
          </p:spPr>
          <p:txBody>
            <a:bodyPr rtlCol="0" anchor="ctr"/>
            <a:lstStyle/>
            <a:p>
              <a:pPr algn="ctr">
                <a:defRPr/>
              </a:pPr>
              <a:endParaRPr lang="zh-CN" altLang="en-US" kern="0">
                <a:solidFill>
                  <a:prstClr val="white"/>
                </a:solidFill>
                <a:cs typeface="+mn-ea"/>
                <a:sym typeface="+mn-lt"/>
              </a:endParaRPr>
            </a:p>
          </p:txBody>
        </p:sp>
        <p:sp>
          <p:nvSpPr>
            <p:cNvPr id="18" name="TextBox 8"/>
            <p:cNvSpPr txBox="1"/>
            <p:nvPr/>
          </p:nvSpPr>
          <p:spPr>
            <a:xfrm>
              <a:off x="998863" y="259092"/>
              <a:ext cx="1381981" cy="131790"/>
            </a:xfrm>
            <a:prstGeom prst="rect">
              <a:avLst/>
            </a:prstGeom>
            <a:grpFill/>
            <a:ln>
              <a:noFill/>
            </a:ln>
          </p:spPr>
          <p:txBody>
            <a:bodyPr wrap="square" rtlCol="0">
              <a:spAutoFit/>
            </a:bodyPr>
            <a:lstStyle/>
            <a:p>
              <a:pPr algn="just">
                <a:spcBef>
                  <a:spcPct val="0"/>
                </a:spcBef>
              </a:pPr>
              <a:r>
                <a:rPr lang="zh-CN" altLang="en-US" sz="2800" b="1" kern="0" spc="300" dirty="0">
                  <a:solidFill>
                    <a:prstClr val="white"/>
                  </a:solidFill>
                  <a:latin typeface="Times New Roman" panose="02020503050405090304" pitchFamily="18" charset="0"/>
                  <a:cs typeface="+mn-ea"/>
                  <a:sym typeface="+mn-lt"/>
                </a:rPr>
                <a:t>自然语言处理任务层级</a:t>
              </a:r>
              <a:endParaRPr lang="zh-CN" altLang="en-US" sz="2800" b="1" kern="0" spc="300" dirty="0">
                <a:solidFill>
                  <a:prstClr val="white"/>
                </a:solidFill>
                <a:latin typeface="Times New Roman" panose="02020503050405090304" pitchFamily="18" charset="0"/>
                <a:cs typeface="+mn-ea"/>
                <a:sym typeface="+mn-lt"/>
              </a:endParaRPr>
            </a:p>
          </p:txBody>
        </p:sp>
      </p:grpSp>
      <p:grpSp>
        <p:nvGrpSpPr>
          <p:cNvPr id="19" name="1"/>
          <p:cNvGrpSpPr/>
          <p:nvPr/>
        </p:nvGrpSpPr>
        <p:grpSpPr>
          <a:xfrm>
            <a:off x="1200674" y="1403796"/>
            <a:ext cx="2619916" cy="2619916"/>
            <a:chOff x="267453" y="94709"/>
            <a:chExt cx="454824" cy="454824"/>
          </a:xfrm>
        </p:grpSpPr>
        <p:sp>
          <p:nvSpPr>
            <p:cNvPr id="20" name="4"/>
            <p:cNvSpPr/>
            <p:nvPr/>
          </p:nvSpPr>
          <p:spPr>
            <a:xfrm>
              <a:off x="301756" y="114952"/>
              <a:ext cx="390525" cy="395287"/>
            </a:xfrm>
            <a:prstGeom prst="ellipse">
              <a:avLst/>
            </a:prstGeom>
            <a:solidFill>
              <a:sysClr val="window" lastClr="FFFFFF"/>
            </a:solidFill>
            <a:ln w="25400" cap="flat" cmpd="sng" algn="ctr">
              <a:solidFill>
                <a:sysClr val="window" lastClr="FFFFFF"/>
              </a:solidFill>
              <a:prstDash val="solid"/>
            </a:ln>
            <a:effectLst/>
          </p:spPr>
          <p:txBody>
            <a:bodyPr rtlCol="0" anchor="ctr"/>
            <a:lstStyle/>
            <a:p>
              <a:pPr algn="ctr">
                <a:defRPr/>
              </a:pPr>
              <a:endParaRPr lang="zh-CN" altLang="en-US" kern="0">
                <a:solidFill>
                  <a:prstClr val="white"/>
                </a:solidFill>
                <a:cs typeface="+mn-ea"/>
                <a:sym typeface="+mn-lt"/>
              </a:endParaRPr>
            </a:p>
          </p:txBody>
        </p:sp>
        <p:sp>
          <p:nvSpPr>
            <p:cNvPr id="23" name="3"/>
            <p:cNvSpPr/>
            <p:nvPr/>
          </p:nvSpPr>
          <p:spPr>
            <a:xfrm>
              <a:off x="343738" y="170570"/>
              <a:ext cx="302255" cy="302255"/>
            </a:xfrm>
            <a:prstGeom prst="ellipse">
              <a:avLst/>
            </a:prstGeom>
            <a:solidFill>
              <a:srgbClr val="004C41"/>
            </a:solidFill>
            <a:ln w="25400" cap="flat" cmpd="sng" algn="ctr">
              <a:noFill/>
              <a:prstDash val="solid"/>
            </a:ln>
            <a:effectLst/>
          </p:spPr>
          <p:txBody>
            <a:bodyPr rtlCol="0" anchor="ctr"/>
            <a:lstStyle/>
            <a:p>
              <a:pPr algn="ctr">
                <a:defRPr/>
              </a:pPr>
              <a:endParaRPr lang="zh-CN" altLang="en-US" kern="0">
                <a:solidFill>
                  <a:prstClr val="white"/>
                </a:solidFill>
                <a:cs typeface="+mn-ea"/>
                <a:sym typeface="+mn-lt"/>
              </a:endParaRPr>
            </a:p>
          </p:txBody>
        </p:sp>
        <p:sp>
          <p:nvSpPr>
            <p:cNvPr id="24" name="同心圆 23"/>
            <p:cNvSpPr/>
            <p:nvPr/>
          </p:nvSpPr>
          <p:spPr>
            <a:xfrm>
              <a:off x="267453" y="94709"/>
              <a:ext cx="454824" cy="454824"/>
            </a:xfrm>
            <a:prstGeom prst="donut">
              <a:avLst>
                <a:gd name="adj" fmla="val 8567"/>
              </a:avLst>
            </a:prstGeom>
            <a:solidFill>
              <a:sysClr val="window" lastClr="FFFFFF"/>
            </a:solidFill>
            <a:ln w="9525" cap="flat" cmpd="sng" algn="ctr">
              <a:noFill/>
              <a:prstDash val="solid"/>
            </a:ln>
            <a:effectLst>
              <a:outerShdw blurRad="63500" sx="102000" sy="102000" algn="ctr" rotWithShape="0">
                <a:prstClr val="black">
                  <a:alpha val="20000"/>
                </a:prstClr>
              </a:outerShdw>
            </a:effectLst>
          </p:spPr>
          <p:txBody>
            <a:bodyPr rtlCol="0" anchor="ctr"/>
            <a:lstStyle/>
            <a:p>
              <a:pPr algn="ctr">
                <a:defRPr/>
              </a:pPr>
              <a:endParaRPr lang="zh-CN" altLang="en-US" sz="1200" kern="0">
                <a:solidFill>
                  <a:prstClr val="black"/>
                </a:solidFill>
                <a:cs typeface="+mn-ea"/>
                <a:sym typeface="+mn-lt"/>
              </a:endParaRPr>
            </a:p>
          </p:txBody>
        </p:sp>
        <p:sp>
          <p:nvSpPr>
            <p:cNvPr id="25" name="TextBox 9"/>
            <p:cNvSpPr txBox="1"/>
            <p:nvPr/>
          </p:nvSpPr>
          <p:spPr>
            <a:xfrm>
              <a:off x="370583" y="176347"/>
              <a:ext cx="248564" cy="272497"/>
            </a:xfrm>
            <a:prstGeom prst="rect">
              <a:avLst/>
            </a:prstGeom>
            <a:noFill/>
          </p:spPr>
          <p:txBody>
            <a:bodyPr wrap="none" rtlCol="0">
              <a:spAutoFit/>
            </a:bodyPr>
            <a:lstStyle/>
            <a:p>
              <a:pPr>
                <a:defRPr/>
              </a:pPr>
              <a:r>
                <a:rPr lang="en-US" altLang="zh-CN" sz="9600" kern="0" dirty="0">
                  <a:solidFill>
                    <a:prstClr val="white"/>
                  </a:solidFill>
                  <a:latin typeface="Times New Roman" panose="02020503050405090304" pitchFamily="18" charset="0"/>
                  <a:cs typeface="+mn-ea"/>
                  <a:sym typeface="+mn-lt"/>
                </a:rPr>
                <a:t>04</a:t>
              </a:r>
              <a:endParaRPr lang="zh-CN" altLang="en-US" sz="9600" kern="0" dirty="0">
                <a:solidFill>
                  <a:prstClr val="white"/>
                </a:solidFill>
                <a:latin typeface="Times New Roman" panose="02020503050405090304" pitchFamily="18" charset="0"/>
                <a:cs typeface="+mn-ea"/>
                <a:sym typeface="+mn-lt"/>
              </a:endParaRPr>
            </a:p>
          </p:txBody>
        </p:sp>
      </p:grpSp>
      <p:sp>
        <p:nvSpPr>
          <p:cNvPr id="2" name="标题 1"/>
          <p:cNvSpPr>
            <a:spLocks noGrp="1"/>
          </p:cNvSpPr>
          <p:nvPr>
            <p:ph type="title"/>
          </p:nvPr>
        </p:nvSpPr>
        <p:spPr/>
        <p:txBody>
          <a:bodyPr/>
          <a:lstStyle/>
          <a:p>
            <a:endParaRPr lang="zh-CN" altLang="en-US"/>
          </a:p>
        </p:txBody>
      </p:sp>
      <p:sp>
        <p:nvSpPr>
          <p:cNvPr id="3" name="日期占位符 2"/>
          <p:cNvSpPr>
            <a:spLocks noGrp="1"/>
          </p:cNvSpPr>
          <p:nvPr>
            <p:ph type="dt" sz="half" idx="10"/>
          </p:nvPr>
        </p:nvSpPr>
        <p:spPr/>
        <p:txBody>
          <a:bodyPr/>
          <a:lstStyle/>
          <a:p>
            <a:fld id="{2AE78C62-20FB-4581-852E-6F099C9EACB5}" type="datetime1">
              <a:rPr lang="zh-CN" altLang="en-US" smtClean="0"/>
            </a:fld>
            <a:endParaRPr lang="zh-CN" altLang="en-US"/>
          </a:p>
        </p:txBody>
      </p:sp>
      <p:sp>
        <p:nvSpPr>
          <p:cNvPr id="4" name="灯片编号占位符 3"/>
          <p:cNvSpPr>
            <a:spLocks noGrp="1"/>
          </p:cNvSpPr>
          <p:nvPr>
            <p:ph type="sldNum" sz="quarter" idx="12"/>
          </p:nvPr>
        </p:nvSpPr>
        <p:spPr/>
        <p:txBody>
          <a:bodyPr/>
          <a:lstStyle/>
          <a:p>
            <a:fld id="{82952373-7980-4DA7-9ADE-54D716DB38BB}" type="slidenum">
              <a:rPr lang="zh-CN" altLang="en-US" smtClean="0"/>
            </a:fld>
            <a:endParaRPr lang="zh-CN" altLang="en-US"/>
          </a:p>
        </p:txBody>
      </p:sp>
    </p:spTree>
  </p:cSld>
  <p:clrMapOvr>
    <a:masterClrMapping/>
  </p:clrMapOvr>
  <mc:AlternateContent xmlns:mc="http://schemas.openxmlformats.org/markup-compatibility/2006">
    <mc:Choice xmlns:p14="http://schemas.microsoft.com/office/powerpoint/2010/main" Requires="p14">
      <p:transition p14:dur="0"/>
    </mc:Choice>
    <mc:Fallback>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nodeType="afterEffect">
                                  <p:stCondLst>
                                    <p:cond delay="0"/>
                                  </p:stCondLst>
                                  <p:childTnLst>
                                    <p:set>
                                      <p:cBhvr>
                                        <p:cTn id="6" dur="1" fill="hold">
                                          <p:stCondLst>
                                            <p:cond delay="0"/>
                                          </p:stCondLst>
                                        </p:cTn>
                                        <p:tgtEl>
                                          <p:spTgt spid="19"/>
                                        </p:tgtEl>
                                        <p:attrNameLst>
                                          <p:attrName>style.visibility</p:attrName>
                                        </p:attrNameLst>
                                      </p:cBhvr>
                                      <p:to>
                                        <p:strVal val="visible"/>
                                      </p:to>
                                    </p:set>
                                    <p:animEffect transition="in" filter="fade">
                                      <p:cBhvr>
                                        <p:cTn id="7" dur="500"/>
                                        <p:tgtEl>
                                          <p:spTgt spid="19"/>
                                        </p:tgtEl>
                                      </p:cBhvr>
                                    </p:animEffect>
                                  </p:childTnLst>
                                </p:cTn>
                              </p:par>
                            </p:childTnLst>
                          </p:cTn>
                        </p:par>
                        <p:par>
                          <p:cTn id="8" fill="hold">
                            <p:stCondLst>
                              <p:cond delay="500"/>
                            </p:stCondLst>
                            <p:childTnLst>
                              <p:par>
                                <p:cTn id="9" presetID="22" presetClass="entr" presetSubtype="8" fill="hold" nodeType="afterEffect">
                                  <p:stCondLst>
                                    <p:cond delay="0"/>
                                  </p:stCondLst>
                                  <p:childTnLst>
                                    <p:set>
                                      <p:cBhvr>
                                        <p:cTn id="10" dur="1" fill="hold">
                                          <p:stCondLst>
                                            <p:cond delay="0"/>
                                          </p:stCondLst>
                                        </p:cTn>
                                        <p:tgtEl>
                                          <p:spTgt spid="15"/>
                                        </p:tgtEl>
                                        <p:attrNameLst>
                                          <p:attrName>style.visibility</p:attrName>
                                        </p:attrNameLst>
                                      </p:cBhvr>
                                      <p:to>
                                        <p:strVal val="visible"/>
                                      </p:to>
                                    </p:set>
                                    <p:animEffect transition="in" filter="wipe(left)">
                                      <p:cBhvr>
                                        <p:cTn id="11" dur="1000"/>
                                        <p:tgtEl>
                                          <p:spTgt spid="15"/>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5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6" name="图片 5"/>
          <p:cNvPicPr>
            <a:picLocks noChangeAspect="1"/>
          </p:cNvPicPr>
          <p:nvPr/>
        </p:nvPicPr>
        <p:blipFill>
          <a:blip r:embed="rId1"/>
          <a:stretch>
            <a:fillRect/>
          </a:stretch>
        </p:blipFill>
        <p:spPr>
          <a:xfrm>
            <a:off x="2261419" y="949860"/>
            <a:ext cx="4621163" cy="3772001"/>
          </a:xfrm>
          <a:prstGeom prst="rect">
            <a:avLst/>
          </a:prstGeom>
        </p:spPr>
      </p:pic>
      <p:sp>
        <p:nvSpPr>
          <p:cNvPr id="3" name="标题 2"/>
          <p:cNvSpPr>
            <a:spLocks noGrp="1"/>
          </p:cNvSpPr>
          <p:nvPr>
            <p:ph type="title"/>
          </p:nvPr>
        </p:nvSpPr>
        <p:spPr>
          <a:xfrm>
            <a:off x="362425" y="29766"/>
            <a:ext cx="8781575" cy="702469"/>
          </a:xfrm>
        </p:spPr>
        <p:txBody>
          <a:bodyPr/>
          <a:lstStyle/>
          <a:p>
            <a:r>
              <a:rPr lang="zh-CN" altLang="en-US" sz="2400" b="1">
                <a:solidFill>
                  <a:srgbClr val="004C41"/>
                </a:solidFill>
                <a:ea typeface="宋体" pitchFamily="2" charset="-122"/>
                <a:cs typeface="+mn-ea"/>
              </a:rPr>
              <a:t>自然语言处理任务层级 </a:t>
            </a:r>
            <a:endParaRPr lang="zh-CN" altLang="en-US">
              <a:ea typeface="宋体" pitchFamily="2" charset="-122"/>
            </a:endParaRPr>
          </a:p>
        </p:txBody>
      </p:sp>
      <p:sp>
        <p:nvSpPr>
          <p:cNvPr id="2" name="日期占位符 1"/>
          <p:cNvSpPr>
            <a:spLocks noGrp="1"/>
          </p:cNvSpPr>
          <p:nvPr>
            <p:ph type="dt" sz="half" idx="10"/>
          </p:nvPr>
        </p:nvSpPr>
        <p:spPr/>
        <p:txBody>
          <a:bodyPr/>
          <a:lstStyle/>
          <a:p>
            <a:fld id="{04D3A5D5-ABAB-4D2F-8056-35C398D0AB68}" type="datetime1">
              <a:rPr lang="zh-CN" altLang="en-US" smtClean="0"/>
            </a:fld>
            <a:endParaRPr lang="zh-CN" altLang="en-US"/>
          </a:p>
        </p:txBody>
      </p:sp>
      <p:sp>
        <p:nvSpPr>
          <p:cNvPr id="4" name="灯片编号占位符 3"/>
          <p:cNvSpPr>
            <a:spLocks noGrp="1"/>
          </p:cNvSpPr>
          <p:nvPr>
            <p:ph type="sldNum" sz="quarter" idx="12"/>
          </p:nvPr>
        </p:nvSpPr>
        <p:spPr/>
        <p:txBody>
          <a:bodyPr/>
          <a:lstStyle/>
          <a:p>
            <a:fld id="{82952373-7980-4DA7-9ADE-54D716DB38BB}" type="slidenum">
              <a:rPr lang="zh-CN" altLang="en-US" smtClean="0"/>
            </a:fld>
            <a:endParaRPr lang="zh-CN" altLang="en-US"/>
          </a:p>
        </p:txBody>
      </p:sp>
    </p:spTree>
  </p:cSld>
  <p:clrMapOvr>
    <a:masterClrMapping/>
  </p:clrMapOvr>
  <mc:AlternateContent xmlns:mc="http://schemas.openxmlformats.org/markup-compatibility/2006">
    <mc:Choice xmlns:p14="http://schemas.microsoft.com/office/powerpoint/2010/main" Requires="p14">
      <p:transition p14:dur="0"/>
    </mc:Choice>
    <mc:Fallback>
      <p:transition/>
    </mc:Fallback>
  </mc:AlternateContent>
</p:sld>
</file>

<file path=ppt/slides/slide5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sz="2400" b="1">
                <a:solidFill>
                  <a:srgbClr val="004C41"/>
                </a:solidFill>
                <a:ea typeface="宋体" pitchFamily="2" charset="-122"/>
                <a:cs typeface="+mn-ea"/>
                <a:sym typeface="+mn-lt"/>
              </a:rPr>
              <a:t>语言模型</a:t>
            </a:r>
            <a:endParaRPr lang="zh-CN" altLang="en-US">
              <a:ea typeface="宋体" pitchFamily="2" charset="-122"/>
            </a:endParaRPr>
          </a:p>
        </p:txBody>
      </p:sp>
      <p:sp>
        <p:nvSpPr>
          <p:cNvPr id="4" name="文本框 3"/>
          <p:cNvSpPr txBox="1"/>
          <p:nvPr/>
        </p:nvSpPr>
        <p:spPr>
          <a:xfrm>
            <a:off x="876681" y="1246677"/>
            <a:ext cx="7531228" cy="2117246"/>
          </a:xfrm>
          <a:prstGeom prst="rect">
            <a:avLst/>
          </a:prstGeom>
          <a:noFill/>
        </p:spPr>
        <p:txBody>
          <a:bodyPr wrap="square">
            <a:spAutoFit/>
          </a:bodyPr>
          <a:lstStyle/>
          <a:p>
            <a:pPr marL="285750" indent="-285750" algn="just">
              <a:lnSpc>
                <a:spcPct val="150000"/>
              </a:lnSpc>
              <a:buClr>
                <a:srgbClr val="0070C0"/>
              </a:buClr>
              <a:buFont typeface="Wingdings" panose="05000000000000000000" pitchFamily="2" charset="2"/>
              <a:buChar char="n"/>
            </a:pPr>
            <a:r>
              <a:rPr lang="zh-CN" altLang="zh-CN" b="0" kern="100">
                <a:solidFill>
                  <a:srgbClr val="000000"/>
                </a:solidFill>
                <a:latin typeface="Times New Roman" panose="02020503050405090304" pitchFamily="18" charset="0"/>
                <a:cs typeface="Times New Roman" panose="02020503050405090304" pitchFamily="18" charset="0"/>
              </a:rPr>
              <a:t>语言模型（</a:t>
            </a:r>
            <a:r>
              <a:rPr lang="en-US" altLang="zh-CN" b="0" kern="100">
                <a:solidFill>
                  <a:srgbClr val="000000"/>
                </a:solidFill>
                <a:latin typeface="Times New Roman" panose="02020503050405090304" pitchFamily="18" charset="0"/>
                <a:cs typeface="Times New Roman" panose="02020503050405090304" pitchFamily="18" charset="0"/>
              </a:rPr>
              <a:t>Language Model</a:t>
            </a:r>
            <a:r>
              <a:rPr lang="zh-CN" altLang="zh-CN" b="0" kern="100">
                <a:solidFill>
                  <a:srgbClr val="000000"/>
                </a:solidFill>
                <a:latin typeface="Times New Roman" panose="02020503050405090304" pitchFamily="18" charset="0"/>
                <a:cs typeface="Times New Roman" panose="02020503050405090304" pitchFamily="18" charset="0"/>
              </a:rPr>
              <a:t>）</a:t>
            </a:r>
            <a:r>
              <a:rPr lang="zh-CN" altLang="en-US" b="0" kern="100">
                <a:solidFill>
                  <a:srgbClr val="000000"/>
                </a:solidFill>
                <a:latin typeface="Times New Roman" panose="02020503050405090304" pitchFamily="18" charset="0"/>
                <a:cs typeface="Times New Roman" panose="02020503050405090304" pitchFamily="18" charset="0"/>
              </a:rPr>
              <a:t>（也称为统计语言模型），是用来描述自然语言概率分布的模型。</a:t>
            </a:r>
            <a:endParaRPr lang="zh-CN" altLang="en-US" b="0" kern="100">
              <a:solidFill>
                <a:srgbClr val="000000"/>
              </a:solidFill>
              <a:latin typeface="Times New Roman" panose="02020503050405090304" pitchFamily="18" charset="0"/>
              <a:cs typeface="Times New Roman" panose="02020503050405090304" pitchFamily="18" charset="0"/>
            </a:endParaRPr>
          </a:p>
          <a:p>
            <a:pPr marL="285750" indent="-285750" algn="just">
              <a:lnSpc>
                <a:spcPct val="150000"/>
              </a:lnSpc>
              <a:buClr>
                <a:srgbClr val="0070C0"/>
              </a:buClr>
              <a:buFont typeface="Wingdings" panose="05000000000000000000" pitchFamily="2" charset="2"/>
              <a:buChar char="n"/>
            </a:pPr>
            <a:r>
              <a:rPr lang="zh-CN" altLang="en-US" b="0" kern="100">
                <a:solidFill>
                  <a:srgbClr val="000000"/>
                </a:solidFill>
                <a:latin typeface="Times New Roman" panose="02020503050405090304" pitchFamily="18" charset="0"/>
                <a:cs typeface="Times New Roman" panose="02020503050405090304" pitchFamily="18" charset="0"/>
              </a:rPr>
              <a:t>语言模型</a:t>
            </a:r>
            <a:r>
              <a:rPr lang="zh-CN" altLang="zh-CN" b="0" kern="100">
                <a:solidFill>
                  <a:srgbClr val="000000"/>
                </a:solidFill>
                <a:latin typeface="Times New Roman" panose="02020503050405090304" pitchFamily="18" charset="0"/>
                <a:cs typeface="Times New Roman" panose="02020503050405090304" pitchFamily="18" charset="0"/>
              </a:rPr>
              <a:t>来对文本进行建模，通过概率分布来计算文本质量，对大量文本进行训练得到的语言模型还可以应用于各类自然语言处理的下游任务中。</a:t>
            </a:r>
            <a:endParaRPr lang="en-US" altLang="zh-CN" b="0" kern="100">
              <a:solidFill>
                <a:srgbClr val="000000"/>
              </a:solidFill>
              <a:latin typeface="Times New Roman" panose="02020503050405090304" pitchFamily="18" charset="0"/>
              <a:cs typeface="Times New Roman" panose="02020503050405090304" pitchFamily="18" charset="0"/>
            </a:endParaRPr>
          </a:p>
        </p:txBody>
      </p:sp>
      <p:sp>
        <p:nvSpPr>
          <p:cNvPr id="3" name="日期占位符 2"/>
          <p:cNvSpPr>
            <a:spLocks noGrp="1"/>
          </p:cNvSpPr>
          <p:nvPr>
            <p:ph type="dt" sz="half" idx="10"/>
          </p:nvPr>
        </p:nvSpPr>
        <p:spPr/>
        <p:txBody>
          <a:bodyPr/>
          <a:lstStyle/>
          <a:p>
            <a:fld id="{02026BFD-9A4A-42DA-8F70-20AB501BB578}" type="datetime1">
              <a:rPr lang="zh-CN" altLang="en-US" smtClean="0"/>
            </a:fld>
            <a:endParaRPr lang="zh-CN" altLang="en-US"/>
          </a:p>
        </p:txBody>
      </p:sp>
      <p:sp>
        <p:nvSpPr>
          <p:cNvPr id="5" name="灯片编号占位符 4"/>
          <p:cNvSpPr>
            <a:spLocks noGrp="1"/>
          </p:cNvSpPr>
          <p:nvPr>
            <p:ph type="sldNum" sz="quarter" idx="12"/>
          </p:nvPr>
        </p:nvSpPr>
        <p:spPr/>
        <p:txBody>
          <a:bodyPr/>
          <a:lstStyle/>
          <a:p>
            <a:fld id="{82952373-7980-4DA7-9ADE-54D716DB38BB}" type="slidenum">
              <a:rPr lang="zh-CN" altLang="en-US" smtClean="0"/>
            </a:fld>
            <a:endParaRPr lang="zh-CN" altLang="en-US"/>
          </a:p>
        </p:txBody>
      </p:sp>
    </p:spTree>
  </p:cSld>
  <p:clrMapOvr>
    <a:masterClrMapping/>
  </p:clrMapOvr>
  <mc:AlternateContent xmlns:mc="http://schemas.openxmlformats.org/markup-compatibility/2006">
    <mc:Choice xmlns:p14="http://schemas.microsoft.com/office/powerpoint/2010/main" Requires="p14">
      <p:transition p14:dur="0"/>
    </mc:Choice>
    <mc:Fallback>
      <p:transition/>
    </mc:Fallback>
  </mc:AlternateContent>
</p:sld>
</file>

<file path=ppt/slides/slide5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sz="2400" b="1">
                <a:solidFill>
                  <a:srgbClr val="004C41"/>
                </a:solidFill>
                <a:ea typeface="宋体" pitchFamily="2" charset="-122"/>
                <a:cs typeface="+mn-ea"/>
                <a:sym typeface="+mn-lt"/>
              </a:rPr>
              <a:t>语言模型</a:t>
            </a:r>
            <a:endParaRPr lang="zh-CN" altLang="en-US">
              <a:ea typeface="宋体" pitchFamily="2" charset="-122"/>
            </a:endParaRPr>
          </a:p>
        </p:txBody>
      </p:sp>
      <mc:AlternateContent xmlns:mc="http://schemas.openxmlformats.org/markup-compatibility/2006">
        <mc:Choice xmlns:a14="http://schemas.microsoft.com/office/drawing/2010/main" Requires="a14">
          <p:sp>
            <p:nvSpPr>
              <p:cNvPr id="6" name="矩形 5"/>
              <p:cNvSpPr/>
              <p:nvPr/>
            </p:nvSpPr>
            <p:spPr>
              <a:xfrm>
                <a:off x="604564" y="1072134"/>
                <a:ext cx="8389268" cy="2532745"/>
              </a:xfrm>
              <a:prstGeom prst="rect">
                <a:avLst/>
              </a:prstGeom>
            </p:spPr>
            <p:txBody>
              <a:bodyPr wrap="square">
                <a:spAutoFit/>
              </a:bodyPr>
              <a:lstStyle/>
              <a:p>
                <a:pPr indent="457200">
                  <a:lnSpc>
                    <a:spcPct val="150000"/>
                  </a:lnSpc>
                </a:pPr>
                <a:r>
                  <a:rPr lang="zh-CN" altLang="zh-CN" b="0">
                    <a:latin typeface="Times New Roman" panose="02020503050405090304" pitchFamily="18" charset="0"/>
                    <a:cs typeface="Times New Roman" panose="02020503050405090304" pitchFamily="18" charset="0"/>
                  </a:rPr>
                  <a:t>对于</a:t>
                </a:r>
                <a:r>
                  <a:rPr lang="zh-CN" altLang="zh-CN" b="0" dirty="0">
                    <a:latin typeface="Times New Roman" panose="02020503050405090304" pitchFamily="18" charset="0"/>
                    <a:cs typeface="Times New Roman" panose="02020503050405090304" pitchFamily="18" charset="0"/>
                  </a:rPr>
                  <a:t>一个由多个单词组成的语言序列</a:t>
                </a:r>
                <a14:m>
                  <m:oMath xmlns:m="http://schemas.openxmlformats.org/officeDocument/2006/math">
                    <m:sSub>
                      <m:sSubPr>
                        <m:ctrlPr>
                          <a:rPr lang="zh-CN" altLang="zh-CN" b="0" i="1">
                            <a:latin typeface="Cambria Math" panose="02040503050406030204" pitchFamily="18" charset="0"/>
                          </a:rPr>
                        </m:ctrlPr>
                      </m:sSubPr>
                      <m:e>
                        <m:r>
                          <a:rPr lang="en-US" altLang="zh-CN" b="0" i="1">
                            <a:latin typeface="Cambria Math" panose="02040503050406030204" pitchFamily="18" charset="0"/>
                          </a:rPr>
                          <m:t>𝑤</m:t>
                        </m:r>
                      </m:e>
                      <m:sub>
                        <m:r>
                          <a:rPr lang="en-US" altLang="zh-CN" b="0" i="1">
                            <a:latin typeface="Cambria Math" panose="02040503050406030204" pitchFamily="18" charset="0"/>
                          </a:rPr>
                          <m:t>1</m:t>
                        </m:r>
                      </m:sub>
                    </m:sSub>
                    <m:r>
                      <a:rPr lang="en-US" altLang="zh-CN" b="0">
                        <a:latin typeface="Cambria Math" panose="02040503050406030204" pitchFamily="18" charset="0"/>
                      </a:rPr>
                      <m:t>,</m:t>
                    </m:r>
                    <m:sSub>
                      <m:sSubPr>
                        <m:ctrlPr>
                          <a:rPr lang="zh-CN" altLang="zh-CN" b="0" i="1">
                            <a:latin typeface="Cambria Math" panose="02040503050406030204" pitchFamily="18" charset="0"/>
                          </a:rPr>
                        </m:ctrlPr>
                      </m:sSubPr>
                      <m:e>
                        <m:r>
                          <a:rPr lang="en-US" altLang="zh-CN" b="0" i="1">
                            <a:latin typeface="Cambria Math" panose="02040503050406030204" pitchFamily="18" charset="0"/>
                          </a:rPr>
                          <m:t>𝑤</m:t>
                        </m:r>
                      </m:e>
                      <m:sub>
                        <m:r>
                          <a:rPr lang="en-US" altLang="zh-CN" b="0" i="1">
                            <a:latin typeface="Cambria Math" panose="02040503050406030204" pitchFamily="18" charset="0"/>
                          </a:rPr>
                          <m:t>2</m:t>
                        </m:r>
                      </m:sub>
                    </m:sSub>
                    <m:r>
                      <a:rPr lang="en-US" altLang="zh-CN" b="0">
                        <a:latin typeface="Cambria Math" panose="02040503050406030204" pitchFamily="18" charset="0"/>
                      </a:rPr>
                      <m:t>,…,</m:t>
                    </m:r>
                    <m:sSub>
                      <m:sSubPr>
                        <m:ctrlPr>
                          <a:rPr lang="zh-CN" altLang="zh-CN" b="0" i="1">
                            <a:latin typeface="Cambria Math" panose="02040503050406030204" pitchFamily="18" charset="0"/>
                          </a:rPr>
                        </m:ctrlPr>
                      </m:sSubPr>
                      <m:e>
                        <m:r>
                          <a:rPr lang="en-US" altLang="zh-CN" b="0" i="1">
                            <a:latin typeface="Cambria Math" panose="02040503050406030204" pitchFamily="18" charset="0"/>
                          </a:rPr>
                          <m:t>𝑤</m:t>
                        </m:r>
                      </m:e>
                      <m:sub>
                        <m:r>
                          <a:rPr lang="en-US" altLang="zh-CN" b="0" i="1">
                            <a:latin typeface="Cambria Math" panose="02040503050406030204" pitchFamily="18" charset="0"/>
                          </a:rPr>
                          <m:t>𝑛</m:t>
                        </m:r>
                      </m:sub>
                    </m:sSub>
                  </m:oMath>
                </a14:m>
                <a:r>
                  <a:rPr lang="zh-CN" altLang="zh-CN" b="0" dirty="0">
                    <a:latin typeface="Times New Roman" panose="02020503050405090304" pitchFamily="18" charset="0"/>
                    <a:cs typeface="Times New Roman" panose="02020503050405090304" pitchFamily="18" charset="0"/>
                  </a:rPr>
                  <a:t>，语言模型可以计算</a:t>
                </a:r>
                <a:r>
                  <a:rPr lang="zh-CN" altLang="zh-CN" b="0">
                    <a:latin typeface="Times New Roman" panose="02020503050405090304" pitchFamily="18" charset="0"/>
                    <a:cs typeface="Times New Roman" panose="02020503050405090304" pitchFamily="18" charset="0"/>
                  </a:rPr>
                  <a:t>该序列出现</a:t>
                </a:r>
                <a:r>
                  <a:rPr lang="zh-CN" altLang="zh-CN" b="0" dirty="0">
                    <a:latin typeface="Times New Roman" panose="02020503050405090304" pitchFamily="18" charset="0"/>
                    <a:cs typeface="Times New Roman" panose="02020503050405090304" pitchFamily="18" charset="0"/>
                  </a:rPr>
                  <a:t>的概率，即</a:t>
                </a:r>
                <a14:m>
                  <m:oMath xmlns:m="http://schemas.openxmlformats.org/officeDocument/2006/math">
                    <m:r>
                      <a:rPr lang="en-US" altLang="zh-CN" b="0" i="1" dirty="0">
                        <a:latin typeface="Cambria Math" panose="02040503050406030204" pitchFamily="18" charset="0"/>
                      </a:rPr>
                      <m:t>𝑝</m:t>
                    </m:r>
                    <m:d>
                      <m:dPr>
                        <m:ctrlPr>
                          <a:rPr lang="zh-CN" altLang="zh-CN" b="0" i="1">
                            <a:latin typeface="Cambria Math" panose="02040503050406030204" pitchFamily="18" charset="0"/>
                          </a:rPr>
                        </m:ctrlPr>
                      </m:dPr>
                      <m:e>
                        <m:sSub>
                          <m:sSubPr>
                            <m:ctrlPr>
                              <a:rPr lang="zh-CN" altLang="zh-CN" b="0" i="1">
                                <a:latin typeface="Cambria Math" panose="02040503050406030204" pitchFamily="18" charset="0"/>
                              </a:rPr>
                            </m:ctrlPr>
                          </m:sSubPr>
                          <m:e>
                            <m:r>
                              <a:rPr lang="en-US" altLang="zh-CN" b="0" i="1">
                                <a:latin typeface="Cambria Math" panose="02040503050406030204" pitchFamily="18" charset="0"/>
                              </a:rPr>
                              <m:t>𝑤</m:t>
                            </m:r>
                          </m:e>
                          <m:sub>
                            <m:r>
                              <a:rPr lang="en-US" altLang="zh-CN" b="0" i="1">
                                <a:latin typeface="Cambria Math" panose="02040503050406030204" pitchFamily="18" charset="0"/>
                              </a:rPr>
                              <m:t>1</m:t>
                            </m:r>
                          </m:sub>
                        </m:sSub>
                        <m:r>
                          <a:rPr lang="en-US" altLang="zh-CN" b="0">
                            <a:latin typeface="Cambria Math" panose="02040503050406030204" pitchFamily="18" charset="0"/>
                          </a:rPr>
                          <m:t>,</m:t>
                        </m:r>
                        <m:sSub>
                          <m:sSubPr>
                            <m:ctrlPr>
                              <a:rPr lang="zh-CN" altLang="zh-CN" b="0" i="1">
                                <a:latin typeface="Cambria Math" panose="02040503050406030204" pitchFamily="18" charset="0"/>
                              </a:rPr>
                            </m:ctrlPr>
                          </m:sSubPr>
                          <m:e>
                            <m:r>
                              <a:rPr lang="en-US" altLang="zh-CN" b="0" i="1">
                                <a:latin typeface="Cambria Math" panose="02040503050406030204" pitchFamily="18" charset="0"/>
                              </a:rPr>
                              <m:t>𝑤</m:t>
                            </m:r>
                          </m:e>
                          <m:sub>
                            <m:r>
                              <a:rPr lang="en-US" altLang="zh-CN" b="0" i="1">
                                <a:latin typeface="Cambria Math" panose="02040503050406030204" pitchFamily="18" charset="0"/>
                              </a:rPr>
                              <m:t>2</m:t>
                            </m:r>
                          </m:sub>
                        </m:sSub>
                        <m:r>
                          <a:rPr lang="en-US" altLang="zh-CN" b="0">
                            <a:latin typeface="Cambria Math" panose="02040503050406030204" pitchFamily="18" charset="0"/>
                          </a:rPr>
                          <m:t>,…,</m:t>
                        </m:r>
                        <m:sSub>
                          <m:sSubPr>
                            <m:ctrlPr>
                              <a:rPr lang="zh-CN" altLang="zh-CN" b="0" i="1">
                                <a:latin typeface="Cambria Math" panose="02040503050406030204" pitchFamily="18" charset="0"/>
                              </a:rPr>
                            </m:ctrlPr>
                          </m:sSubPr>
                          <m:e>
                            <m:r>
                              <a:rPr lang="en-US" altLang="zh-CN" b="0" i="1">
                                <a:latin typeface="Cambria Math" panose="02040503050406030204" pitchFamily="18" charset="0"/>
                              </a:rPr>
                              <m:t>𝑤</m:t>
                            </m:r>
                          </m:e>
                          <m:sub>
                            <m:r>
                              <a:rPr lang="en-US" altLang="zh-CN" b="0" i="1">
                                <a:latin typeface="Cambria Math" panose="02040503050406030204" pitchFamily="18" charset="0"/>
                              </a:rPr>
                              <m:t>𝑛</m:t>
                            </m:r>
                          </m:sub>
                        </m:sSub>
                      </m:e>
                    </m:d>
                  </m:oMath>
                </a14:m>
                <a:r>
                  <a:rPr lang="zh-CN" altLang="en-US" b="0" dirty="0">
                    <a:latin typeface="Times New Roman" panose="02020503050405090304" pitchFamily="18" charset="0"/>
                    <a:cs typeface="Times New Roman" panose="02020503050405090304" pitchFamily="18" charset="0"/>
                  </a:rPr>
                  <a:t>。</a:t>
                </a:r>
                <a:endParaRPr lang="en-US" altLang="zh-CN" b="0" dirty="0">
                  <a:latin typeface="Times New Roman" panose="02020503050405090304" pitchFamily="18" charset="0"/>
                  <a:cs typeface="Times New Roman" panose="02020503050405090304" pitchFamily="18" charset="0"/>
                </a:endParaRPr>
              </a:p>
              <a:p>
                <a:pPr marL="285750" indent="-285750">
                  <a:lnSpc>
                    <a:spcPct val="150000"/>
                  </a:lnSpc>
                  <a:buFont typeface="Wingdings" panose="05000000000000000000" pitchFamily="2" charset="2"/>
                  <a:buChar char="ü"/>
                </a:pPr>
                <a:r>
                  <a:rPr lang="zh-CN" altLang="zh-CN" b="0" dirty="0">
                    <a:solidFill>
                      <a:srgbClr val="3333FF"/>
                    </a:solidFill>
                    <a:latin typeface="Times New Roman" panose="02020503050405090304" pitchFamily="18" charset="0"/>
                    <a:cs typeface="Times New Roman" panose="02020503050405090304" pitchFamily="18" charset="0"/>
                  </a:rPr>
                  <a:t>从算法的角度来讲，</a:t>
                </a:r>
                <a:r>
                  <a:rPr lang="zh-CN" altLang="zh-CN" b="0" dirty="0">
                    <a:latin typeface="Times New Roman" panose="02020503050405090304" pitchFamily="18" charset="0"/>
                    <a:cs typeface="Times New Roman" panose="02020503050405090304" pitchFamily="18" charset="0"/>
                  </a:rPr>
                  <a:t>语言模型是对一个序列的概率分布进行建模，从而找出</a:t>
                </a:r>
                <a:r>
                  <a:rPr lang="zh-CN" altLang="zh-CN" b="0">
                    <a:solidFill>
                      <a:srgbClr val="0000FF"/>
                    </a:solidFill>
                    <a:latin typeface="Times New Roman" panose="02020503050405090304" pitchFamily="18" charset="0"/>
                    <a:cs typeface="Times New Roman" panose="02020503050405090304" pitchFamily="18" charset="0"/>
                  </a:rPr>
                  <a:t>概率较高</a:t>
                </a:r>
                <a:r>
                  <a:rPr lang="zh-CN" altLang="zh-CN" b="0">
                    <a:latin typeface="Times New Roman" panose="02020503050405090304" pitchFamily="18" charset="0"/>
                    <a:cs typeface="Times New Roman" panose="02020503050405090304" pitchFamily="18" charset="0"/>
                  </a:rPr>
                  <a:t>的序列。</a:t>
                </a:r>
                <a:endParaRPr lang="en-US" altLang="zh-CN" b="0">
                  <a:latin typeface="Times New Roman" panose="02020503050405090304" pitchFamily="18" charset="0"/>
                  <a:cs typeface="Times New Roman" panose="02020503050405090304" pitchFamily="18" charset="0"/>
                </a:endParaRPr>
              </a:p>
              <a:p>
                <a:pPr marL="285750" indent="-285750">
                  <a:lnSpc>
                    <a:spcPct val="150000"/>
                  </a:lnSpc>
                  <a:buFont typeface="Wingdings" panose="05000000000000000000" pitchFamily="2" charset="2"/>
                  <a:buChar char="ü"/>
                </a:pPr>
                <a:r>
                  <a:rPr lang="zh-CN" altLang="zh-CN" b="0">
                    <a:solidFill>
                      <a:srgbClr val="3333FF"/>
                    </a:solidFill>
                    <a:latin typeface="Times New Roman" panose="02020503050405090304" pitchFamily="18" charset="0"/>
                    <a:cs typeface="Times New Roman" panose="02020503050405090304" pitchFamily="18" charset="0"/>
                  </a:rPr>
                  <a:t>从</a:t>
                </a:r>
                <a:r>
                  <a:rPr lang="zh-CN" altLang="zh-CN" b="0" dirty="0">
                    <a:solidFill>
                      <a:srgbClr val="3333FF"/>
                    </a:solidFill>
                    <a:latin typeface="Times New Roman" panose="02020503050405090304" pitchFamily="18" charset="0"/>
                    <a:cs typeface="Times New Roman" panose="02020503050405090304" pitchFamily="18" charset="0"/>
                  </a:rPr>
                  <a:t>实际应用的角度来讲</a:t>
                </a:r>
                <a:r>
                  <a:rPr lang="zh-CN" altLang="zh-CN" b="0" dirty="0">
                    <a:latin typeface="Times New Roman" panose="02020503050405090304" pitchFamily="18" charset="0"/>
                    <a:cs typeface="Times New Roman" panose="02020503050405090304" pitchFamily="18" charset="0"/>
                  </a:rPr>
                  <a:t>，我们希望计算出由相同单词的不同顺序组成</a:t>
                </a:r>
                <a:r>
                  <a:rPr lang="zh-CN" altLang="zh-CN" b="0">
                    <a:latin typeface="Times New Roman" panose="02020503050405090304" pitchFamily="18" charset="0"/>
                    <a:cs typeface="Times New Roman" panose="02020503050405090304" pitchFamily="18" charset="0"/>
                  </a:rPr>
                  <a:t>的序列</a:t>
                </a:r>
                <a:r>
                  <a:rPr lang="zh-CN" altLang="en-US" b="0">
                    <a:latin typeface="Times New Roman" panose="02020503050405090304" pitchFamily="18" charset="0"/>
                    <a:cs typeface="Times New Roman" panose="02020503050405090304" pitchFamily="18" charset="0"/>
                  </a:rPr>
                  <a:t>中</a:t>
                </a:r>
                <a:r>
                  <a:rPr lang="zh-CN" altLang="zh-CN" b="0">
                    <a:latin typeface="Times New Roman" panose="02020503050405090304" pitchFamily="18" charset="0"/>
                    <a:cs typeface="Times New Roman" panose="02020503050405090304" pitchFamily="18" charset="0"/>
                  </a:rPr>
                  <a:t>，</a:t>
                </a:r>
                <a:r>
                  <a:rPr lang="zh-CN" altLang="zh-CN" b="0" dirty="0">
                    <a:latin typeface="Times New Roman" panose="02020503050405090304" pitchFamily="18" charset="0"/>
                    <a:cs typeface="Times New Roman" panose="02020503050405090304" pitchFamily="18" charset="0"/>
                  </a:rPr>
                  <a:t>最符合人类语言表达方式的序列作为输出，例如</a:t>
                </a:r>
                <a14:m>
                  <m:oMath xmlns:m="http://schemas.openxmlformats.org/officeDocument/2006/math">
                    <m:r>
                      <a:rPr lang="en-US" altLang="zh-CN" b="0" i="1">
                        <a:latin typeface="Cambria Math" panose="02040503050406030204" pitchFamily="18" charset="0"/>
                      </a:rPr>
                      <m:t>𝑃</m:t>
                    </m:r>
                    <m:d>
                      <m:dPr>
                        <m:ctrlPr>
                          <a:rPr lang="zh-CN" altLang="zh-CN" b="0" i="1">
                            <a:latin typeface="Cambria Math" panose="02040503050406030204" pitchFamily="18" charset="0"/>
                          </a:rPr>
                        </m:ctrlPr>
                      </m:dPr>
                      <m:e>
                        <m:r>
                          <a:rPr lang="zh-CN" altLang="zh-CN" b="0">
                            <a:latin typeface="Cambria Math" panose="02040503050406030204" pitchFamily="18" charset="0"/>
                          </a:rPr>
                          <m:t>我爱学习</m:t>
                        </m:r>
                      </m:e>
                    </m:d>
                    <m:r>
                      <a:rPr lang="en-US" altLang="zh-CN" b="0">
                        <a:latin typeface="Cambria Math" panose="02040503050406030204" pitchFamily="18" charset="0"/>
                      </a:rPr>
                      <m:t>&gt;</m:t>
                    </m:r>
                    <m:r>
                      <a:rPr lang="en-US" altLang="zh-CN" b="0" i="1">
                        <a:latin typeface="Cambria Math" panose="02040503050406030204" pitchFamily="18" charset="0"/>
                      </a:rPr>
                      <m:t>𝑃</m:t>
                    </m:r>
                    <m:d>
                      <m:dPr>
                        <m:ctrlPr>
                          <a:rPr lang="zh-CN" altLang="zh-CN" b="0" i="1">
                            <a:latin typeface="Cambria Math" panose="02040503050406030204" pitchFamily="18" charset="0"/>
                          </a:rPr>
                        </m:ctrlPr>
                      </m:dPr>
                      <m:e>
                        <m:r>
                          <a:rPr lang="zh-CN" altLang="zh-CN" b="0">
                            <a:latin typeface="Cambria Math" panose="02040503050406030204" pitchFamily="18" charset="0"/>
                          </a:rPr>
                          <m:t>我学习爱</m:t>
                        </m:r>
                      </m:e>
                    </m:d>
                  </m:oMath>
                </a14:m>
                <a:r>
                  <a:rPr lang="zh-CN" altLang="zh-CN" b="0" dirty="0">
                    <a:latin typeface="Times New Roman" panose="02020503050405090304" pitchFamily="18" charset="0"/>
                    <a:cs typeface="Times New Roman" panose="02020503050405090304" pitchFamily="18" charset="0"/>
                  </a:rPr>
                  <a:t>。</a:t>
                </a:r>
                <a:endParaRPr lang="zh-CN" altLang="zh-CN" b="0" dirty="0">
                  <a:latin typeface="Times New Roman" panose="02020503050405090304" pitchFamily="18" charset="0"/>
                  <a:cs typeface="Times New Roman" panose="02020503050405090304" pitchFamily="18" charset="0"/>
                </a:endParaRPr>
              </a:p>
            </p:txBody>
          </p:sp>
        </mc:Choice>
        <mc:Fallback>
          <p:sp>
            <p:nvSpPr>
              <p:cNvPr id="6" name="矩形 5"/>
              <p:cNvSpPr>
                <a:spLocks noRot="1" noChangeAspect="1" noMove="1" noResize="1" noEditPoints="1" noAdjustHandles="1" noChangeArrowheads="1" noChangeShapeType="1" noTextEdit="1"/>
              </p:cNvSpPr>
              <p:nvPr/>
            </p:nvSpPr>
            <p:spPr>
              <a:xfrm>
                <a:off x="604564" y="1072134"/>
                <a:ext cx="8389268" cy="2532745"/>
              </a:xfrm>
              <a:prstGeom prst="rect">
                <a:avLst/>
              </a:prstGeom>
              <a:blipFill rotWithShape="1">
                <a:blip r:embed="rId1"/>
                <a:stretch>
                  <a:fillRect l="-1" t="-10" r="4" b="-7622"/>
                </a:stretch>
              </a:blipFill>
            </p:spPr>
            <p:txBody>
              <a:bodyPr/>
              <a:lstStyle/>
              <a:p>
                <a:r>
                  <a:rPr lang="zh-CN" altLang="en-US">
                    <a:noFill/>
                  </a:rPr>
                  <a:t> </a:t>
                </a:r>
              </a:p>
            </p:txBody>
          </p:sp>
        </mc:Fallback>
      </mc:AlternateContent>
      <p:sp>
        <p:nvSpPr>
          <p:cNvPr id="3" name="日期占位符 2"/>
          <p:cNvSpPr>
            <a:spLocks noGrp="1"/>
          </p:cNvSpPr>
          <p:nvPr>
            <p:ph type="dt" sz="half" idx="10"/>
          </p:nvPr>
        </p:nvSpPr>
        <p:spPr/>
        <p:txBody>
          <a:bodyPr/>
          <a:lstStyle/>
          <a:p>
            <a:fld id="{02026BFD-9A4A-42DA-8F70-20AB501BB578}" type="datetime1">
              <a:rPr lang="zh-CN" altLang="en-US" smtClean="0"/>
            </a:fld>
            <a:endParaRPr lang="zh-CN" altLang="en-US"/>
          </a:p>
        </p:txBody>
      </p:sp>
      <p:sp>
        <p:nvSpPr>
          <p:cNvPr id="5" name="灯片编号占位符 4"/>
          <p:cNvSpPr>
            <a:spLocks noGrp="1"/>
          </p:cNvSpPr>
          <p:nvPr>
            <p:ph type="sldNum" sz="quarter" idx="12"/>
          </p:nvPr>
        </p:nvSpPr>
        <p:spPr/>
        <p:txBody>
          <a:bodyPr/>
          <a:lstStyle/>
          <a:p>
            <a:fld id="{82952373-7980-4DA7-9ADE-54D716DB38BB}" type="slidenum">
              <a:rPr lang="zh-CN" altLang="en-US" smtClean="0"/>
            </a:fld>
            <a:endParaRPr lang="zh-CN" altLang="en-US"/>
          </a:p>
        </p:txBody>
      </p:sp>
    </p:spTree>
  </p:cSld>
  <p:clrMapOvr>
    <a:masterClrMapping/>
  </p:clrMapOvr>
  <mc:AlternateContent xmlns:mc="http://schemas.openxmlformats.org/markup-compatibility/2006">
    <mc:Choice xmlns:p14="http://schemas.microsoft.com/office/powerpoint/2010/main" Requires="p14">
      <p:transition p14:dur="0"/>
    </mc:Choice>
    <mc:Fallback>
      <p:transition/>
    </mc:Fallback>
  </mc:AlternateContent>
</p:sld>
</file>

<file path=ppt/slides/slide5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文本框 3"/>
          <p:cNvSpPr txBox="1"/>
          <p:nvPr/>
        </p:nvSpPr>
        <p:spPr>
          <a:xfrm>
            <a:off x="642989" y="823341"/>
            <a:ext cx="8338646" cy="1704569"/>
          </a:xfrm>
          <a:prstGeom prst="rect">
            <a:avLst/>
          </a:prstGeom>
          <a:ln>
            <a:noFill/>
          </a:ln>
        </p:spPr>
        <p:style>
          <a:lnRef idx="2">
            <a:schemeClr val="dk1"/>
          </a:lnRef>
          <a:fillRef idx="1">
            <a:schemeClr val="lt1"/>
          </a:fillRef>
          <a:effectRef idx="0">
            <a:schemeClr val="dk1"/>
          </a:effectRef>
          <a:fontRef idx="minor">
            <a:schemeClr val="dk1"/>
          </a:fontRef>
        </p:style>
        <p:txBody>
          <a:bodyPr wrap="square" rtlCol="0" anchor="t">
            <a:spAutoFit/>
          </a:bodyPr>
          <a:lstStyle/>
          <a:p>
            <a:pPr marL="285750" indent="-285750">
              <a:lnSpc>
                <a:spcPct val="150000"/>
              </a:lnSpc>
              <a:buClr>
                <a:srgbClr val="0070C0"/>
              </a:buClr>
              <a:buFont typeface="Wingdings" panose="05000000000000000000" pitchFamily="2" charset="2"/>
              <a:buChar char="n"/>
            </a:pPr>
            <a:r>
              <a:rPr lang="zh-CN" altLang="en-US" b="0">
                <a:latin typeface="Times New Roman" panose="02020503050405090304" pitchFamily="18" charset="0"/>
                <a:ea typeface="宋体" pitchFamily="2" charset="-122"/>
                <a:cs typeface="Times New Roman" panose="02020503050405090304" pitchFamily="18" charset="0"/>
              </a:rPr>
              <a:t>语言模型：描述</a:t>
            </a:r>
            <a:r>
              <a:rPr lang="zh-CN" altLang="en-US" b="0" dirty="0">
                <a:solidFill>
                  <a:srgbClr val="C00000"/>
                </a:solidFill>
                <a:latin typeface="Times New Roman" panose="02020503050405090304" pitchFamily="18" charset="0"/>
                <a:ea typeface="宋体" pitchFamily="2" charset="-122"/>
                <a:cs typeface="Times New Roman" panose="02020503050405090304" pitchFamily="18" charset="0"/>
              </a:rPr>
              <a:t>一段自然语言</a:t>
            </a:r>
            <a:r>
              <a:rPr lang="zh-CN" altLang="en-US" b="0" dirty="0">
                <a:latin typeface="Times New Roman" panose="02020503050405090304" pitchFamily="18" charset="0"/>
                <a:ea typeface="宋体" pitchFamily="2" charset="-122"/>
                <a:cs typeface="Times New Roman" panose="02020503050405090304" pitchFamily="18" charset="0"/>
              </a:rPr>
              <a:t>的概率或给定上文时</a:t>
            </a:r>
            <a:r>
              <a:rPr lang="zh-CN" altLang="en-US" b="0" dirty="0">
                <a:solidFill>
                  <a:srgbClr val="C00000"/>
                </a:solidFill>
                <a:latin typeface="Times New Roman" panose="02020503050405090304" pitchFamily="18" charset="0"/>
                <a:ea typeface="宋体" pitchFamily="2" charset="-122"/>
                <a:cs typeface="Times New Roman" panose="02020503050405090304" pitchFamily="18" charset="0"/>
              </a:rPr>
              <a:t>下一个词</a:t>
            </a:r>
            <a:r>
              <a:rPr lang="zh-CN" altLang="en-US" b="0" dirty="0">
                <a:latin typeface="Times New Roman" panose="02020503050405090304" pitchFamily="18" charset="0"/>
                <a:ea typeface="宋体" pitchFamily="2" charset="-122"/>
                <a:cs typeface="Times New Roman" panose="02020503050405090304" pitchFamily="18" charset="0"/>
              </a:rPr>
              <a:t>出现的概率 </a:t>
            </a:r>
            <a:endParaRPr lang="en-US" altLang="zh-CN" b="0" dirty="0">
              <a:latin typeface="Times New Roman" panose="02020503050405090304" pitchFamily="18" charset="0"/>
              <a:ea typeface="宋体" pitchFamily="2" charset="-122"/>
              <a:cs typeface="Times New Roman" panose="02020503050405090304" pitchFamily="18" charset="0"/>
            </a:endParaRPr>
          </a:p>
          <a:p>
            <a:pPr marL="285750" indent="-285750">
              <a:lnSpc>
                <a:spcPct val="150000"/>
              </a:lnSpc>
              <a:buFont typeface="Wingdings" panose="05000000000000000000" pitchFamily="2" charset="2"/>
              <a:buChar char=" "/>
            </a:pPr>
            <a:r>
              <a:rPr lang="en-GB" altLang="zh-CN" b="0">
                <a:latin typeface="Times New Roman" panose="02020503050405090304" pitchFamily="18" charset="0"/>
                <a:ea typeface="宋体" pitchFamily="2" charset="-122"/>
                <a:cs typeface="Times New Roman" panose="02020503050405090304" pitchFamily="18" charset="0"/>
              </a:rPr>
              <a:t>𝑃 </a:t>
            </a:r>
            <a:r>
              <a:rPr lang="en-US" altLang="zh-CN" b="0">
                <a:latin typeface="Times New Roman" panose="02020503050405090304" pitchFamily="18" charset="0"/>
                <a:ea typeface="宋体" pitchFamily="2" charset="-122"/>
                <a:cs typeface="Times New Roman" panose="02020503050405090304" pitchFamily="18" charset="0"/>
              </a:rPr>
              <a:t>(</a:t>
            </a:r>
            <a:r>
              <a:rPr lang="en-GB" altLang="zh-CN" b="0">
                <a:latin typeface="Times New Roman" panose="02020503050405090304" pitchFamily="18" charset="0"/>
                <a:ea typeface="宋体" pitchFamily="2" charset="-122"/>
                <a:cs typeface="Times New Roman" panose="02020503050405090304" pitchFamily="18" charset="0"/>
              </a:rPr>
              <a:t>𝑤</a:t>
            </a:r>
            <a:r>
              <a:rPr lang="en-US" altLang="zh-CN" b="0" baseline="-25000" dirty="0">
                <a:latin typeface="Times New Roman" panose="02020503050405090304" pitchFamily="18" charset="0"/>
                <a:ea typeface="宋体" pitchFamily="2" charset="-122"/>
                <a:cs typeface="Times New Roman" panose="02020503050405090304" pitchFamily="18" charset="0"/>
              </a:rPr>
              <a:t>1</a:t>
            </a:r>
            <a:r>
              <a:rPr lang="en-GB" altLang="zh-CN" b="0" dirty="0">
                <a:latin typeface="Times New Roman" panose="02020503050405090304" pitchFamily="18" charset="0"/>
                <a:ea typeface="宋体" pitchFamily="2" charset="-122"/>
                <a:cs typeface="Times New Roman" panose="02020503050405090304" pitchFamily="18" charset="0"/>
              </a:rPr>
              <a:t>,</a:t>
            </a:r>
            <a:r>
              <a:rPr lang="en-GB" altLang="zh-CN" b="0">
                <a:latin typeface="Times New Roman" panose="02020503050405090304" pitchFamily="18" charset="0"/>
                <a:ea typeface="宋体" pitchFamily="2" charset="-122"/>
                <a:cs typeface="Times New Roman" panose="02020503050405090304" pitchFamily="18" charset="0"/>
              </a:rPr>
              <a:t>⋯𝑤</a:t>
            </a:r>
            <a:r>
              <a:rPr lang="en-US" altLang="zh-CN" b="0" baseline="-25000">
                <a:latin typeface="Times New Roman" panose="02020503050405090304" pitchFamily="18" charset="0"/>
                <a:ea typeface="宋体" pitchFamily="2" charset="-122"/>
                <a:cs typeface="Times New Roman" panose="02020503050405090304" pitchFamily="18" charset="0"/>
              </a:rPr>
              <a:t>n</a:t>
            </a:r>
            <a:r>
              <a:rPr lang="en-US" altLang="zh-CN" b="0">
                <a:latin typeface="Times New Roman" panose="02020503050405090304" pitchFamily="18" charset="0"/>
                <a:ea typeface="宋体" pitchFamily="2" charset="-122"/>
                <a:cs typeface="Times New Roman" panose="02020503050405090304" pitchFamily="18" charset="0"/>
              </a:rPr>
              <a:t>)</a:t>
            </a:r>
            <a:r>
              <a:rPr lang="zh-CN" altLang="en-US" b="0">
                <a:latin typeface="Times New Roman" panose="02020503050405090304" pitchFamily="18" charset="0"/>
                <a:ea typeface="宋体" pitchFamily="2" charset="-122"/>
                <a:cs typeface="Times New Roman" panose="02020503050405090304" pitchFamily="18" charset="0"/>
              </a:rPr>
              <a:t>或者</a:t>
            </a:r>
            <a:r>
              <a:rPr lang="en-GB" altLang="zh-CN" b="0">
                <a:latin typeface="Times New Roman" panose="02020503050405090304" pitchFamily="18" charset="0"/>
                <a:ea typeface="宋体" pitchFamily="2" charset="-122"/>
                <a:cs typeface="Times New Roman" panose="02020503050405090304" pitchFamily="18" charset="0"/>
              </a:rPr>
              <a:t>𝑃</a:t>
            </a:r>
            <a:r>
              <a:rPr lang="en-GB" altLang="zh-CN" b="0" dirty="0">
                <a:latin typeface="Times New Roman" panose="02020503050405090304" pitchFamily="18" charset="0"/>
                <a:ea typeface="宋体" pitchFamily="2" charset="-122"/>
                <a:cs typeface="Times New Roman" panose="02020503050405090304" pitchFamily="18" charset="0"/>
              </a:rPr>
              <a:t>(</a:t>
            </a:r>
            <a:r>
              <a:rPr lang="en-GB" altLang="zh-CN" b="0">
                <a:latin typeface="Times New Roman" panose="02020503050405090304" pitchFamily="18" charset="0"/>
                <a:ea typeface="宋体" pitchFamily="2" charset="-122"/>
                <a:cs typeface="Times New Roman" panose="02020503050405090304" pitchFamily="18" charset="0"/>
              </a:rPr>
              <a:t>𝑤</a:t>
            </a:r>
            <a:r>
              <a:rPr lang="en-GB" altLang="zh-CN" b="0" i="1" baseline="-25000">
                <a:latin typeface="Times New Roman" panose="02020503050405090304" pitchFamily="18" charset="0"/>
                <a:ea typeface="宋体" pitchFamily="2" charset="-122"/>
                <a:cs typeface="Times New Roman" panose="02020503050405090304" pitchFamily="18" charset="0"/>
              </a:rPr>
              <a:t> </a:t>
            </a:r>
            <a:r>
              <a:rPr lang="en-GB" altLang="zh-CN" b="0" baseline="-25000">
                <a:latin typeface="Times New Roman" panose="02020503050405090304" pitchFamily="18" charset="0"/>
                <a:ea typeface="宋体" pitchFamily="2" charset="-122"/>
                <a:cs typeface="Times New Roman" panose="02020503050405090304" pitchFamily="18" charset="0"/>
              </a:rPr>
              <a:t>n </a:t>
            </a:r>
            <a:r>
              <a:rPr lang="en-GB" altLang="zh-CN" b="0">
                <a:latin typeface="Times New Roman" panose="02020503050405090304" pitchFamily="18" charset="0"/>
                <a:ea typeface="宋体" pitchFamily="2" charset="-122"/>
                <a:cs typeface="Times New Roman" panose="02020503050405090304" pitchFamily="18" charset="0"/>
              </a:rPr>
              <a:t>|</a:t>
            </a:r>
            <a:r>
              <a:rPr lang="en-GB" altLang="zh-CN" b="0" dirty="0">
                <a:latin typeface="Times New Roman" panose="02020503050405090304" pitchFamily="18" charset="0"/>
                <a:ea typeface="宋体" pitchFamily="2" charset="-122"/>
                <a:cs typeface="Times New Roman" panose="02020503050405090304" pitchFamily="18" charset="0"/>
              </a:rPr>
              <a:t>𝑤</a:t>
            </a:r>
            <a:r>
              <a:rPr lang="en-US" altLang="zh-CN" b="0" baseline="-25000" dirty="0">
                <a:latin typeface="Times New Roman" panose="02020503050405090304" pitchFamily="18" charset="0"/>
                <a:ea typeface="宋体" pitchFamily="2" charset="-122"/>
                <a:cs typeface="Times New Roman" panose="02020503050405090304" pitchFamily="18" charset="0"/>
              </a:rPr>
              <a:t>1</a:t>
            </a:r>
            <a:r>
              <a:rPr lang="en-GB" altLang="zh-CN" b="0" dirty="0">
                <a:latin typeface="Times New Roman" panose="02020503050405090304" pitchFamily="18" charset="0"/>
                <a:ea typeface="宋体" pitchFamily="2" charset="-122"/>
                <a:cs typeface="Times New Roman" panose="02020503050405090304" pitchFamily="18" charset="0"/>
              </a:rPr>
              <a:t>,</a:t>
            </a:r>
            <a:r>
              <a:rPr lang="en-GB" altLang="zh-CN" b="0">
                <a:latin typeface="Times New Roman" panose="02020503050405090304" pitchFamily="18" charset="0"/>
                <a:ea typeface="宋体" pitchFamily="2" charset="-122"/>
                <a:cs typeface="Times New Roman" panose="02020503050405090304" pitchFamily="18" charset="0"/>
              </a:rPr>
              <a:t>⋯𝑤</a:t>
            </a:r>
            <a:r>
              <a:rPr lang="en-GB" altLang="zh-CN" b="0" baseline="-25000">
                <a:latin typeface="Times New Roman" panose="02020503050405090304" pitchFamily="18" charset="0"/>
                <a:ea typeface="宋体" pitchFamily="2" charset="-122"/>
                <a:cs typeface="Times New Roman" panose="02020503050405090304" pitchFamily="18" charset="0"/>
              </a:rPr>
              <a:t>n-1</a:t>
            </a:r>
            <a:r>
              <a:rPr lang="en-GB" altLang="zh-CN" b="0">
                <a:latin typeface="Times New Roman" panose="02020503050405090304" pitchFamily="18" charset="0"/>
                <a:ea typeface="宋体" pitchFamily="2" charset="-122"/>
                <a:cs typeface="Times New Roman" panose="02020503050405090304" pitchFamily="18" charset="0"/>
              </a:rPr>
              <a:t>) </a:t>
            </a:r>
            <a:endParaRPr lang="en-GB" altLang="zh-CN" b="0" dirty="0">
              <a:latin typeface="Times New Roman" panose="02020503050405090304" pitchFamily="18" charset="0"/>
              <a:ea typeface="宋体" pitchFamily="2" charset="-122"/>
              <a:cs typeface="Times New Roman" panose="02020503050405090304" pitchFamily="18" charset="0"/>
            </a:endParaRPr>
          </a:p>
          <a:p>
            <a:pPr>
              <a:lnSpc>
                <a:spcPct val="150000"/>
              </a:lnSpc>
              <a:buClr>
                <a:srgbClr val="0070C0"/>
              </a:buClr>
            </a:pPr>
            <a:r>
              <a:rPr lang="zh-CN" altLang="en-US" b="0" dirty="0">
                <a:latin typeface="Times New Roman" panose="02020503050405090304" pitchFamily="18" charset="0"/>
                <a:ea typeface="宋体" pitchFamily="2" charset="-122"/>
                <a:cs typeface="Times New Roman" panose="02020503050405090304" pitchFamily="18" charset="0"/>
              </a:rPr>
              <a:t>以上两种定义</a:t>
            </a:r>
            <a:r>
              <a:rPr lang="zh-CN" altLang="en-US" b="0" dirty="0">
                <a:solidFill>
                  <a:srgbClr val="C00000"/>
                </a:solidFill>
                <a:latin typeface="Times New Roman" panose="02020503050405090304" pitchFamily="18" charset="0"/>
                <a:ea typeface="宋体" pitchFamily="2" charset="-122"/>
                <a:cs typeface="Times New Roman" panose="02020503050405090304" pitchFamily="18" charset="0"/>
              </a:rPr>
              <a:t>等价</a:t>
            </a:r>
            <a:r>
              <a:rPr lang="zh-CN" altLang="en-US" b="0" dirty="0">
                <a:latin typeface="Times New Roman" panose="02020503050405090304" pitchFamily="18" charset="0"/>
                <a:ea typeface="宋体" pitchFamily="2" charset="-122"/>
                <a:cs typeface="Times New Roman" panose="02020503050405090304" pitchFamily="18" charset="0"/>
              </a:rPr>
              <a:t>（链式法则） </a:t>
            </a:r>
            <a:endParaRPr lang="en-US" altLang="zh-CN" b="0" dirty="0">
              <a:latin typeface="Times New Roman" panose="02020503050405090304" pitchFamily="18" charset="0"/>
              <a:ea typeface="宋体" pitchFamily="2" charset="-122"/>
              <a:cs typeface="Times New Roman" panose="02020503050405090304" pitchFamily="18" charset="0"/>
            </a:endParaRPr>
          </a:p>
          <a:p>
            <a:pPr>
              <a:lnSpc>
                <a:spcPct val="150000"/>
              </a:lnSpc>
            </a:pPr>
            <a:r>
              <a:rPr lang="zh-CN" altLang="en-US" b="0" dirty="0">
                <a:latin typeface="Times New Roman" panose="02020503050405090304" pitchFamily="18" charset="0"/>
                <a:ea typeface="宋体" pitchFamily="2" charset="-122"/>
                <a:cs typeface="Times New Roman" panose="02020503050405090304" pitchFamily="18" charset="0"/>
              </a:rPr>
              <a:t>      </a:t>
            </a:r>
            <a:r>
              <a:rPr lang="en-GB" altLang="zh-CN" b="0" dirty="0">
                <a:latin typeface="Times New Roman" panose="02020503050405090304" pitchFamily="18" charset="0"/>
                <a:ea typeface="宋体" pitchFamily="2" charset="-122"/>
                <a:cs typeface="Times New Roman" panose="02020503050405090304" pitchFamily="18" charset="0"/>
              </a:rPr>
              <a:t>P(w</a:t>
            </a:r>
            <a:r>
              <a:rPr lang="en-GB" altLang="zh-CN" b="0" baseline="-25000" dirty="0">
                <a:latin typeface="Times New Roman" panose="02020503050405090304" pitchFamily="18" charset="0"/>
                <a:ea typeface="宋体" pitchFamily="2" charset="-122"/>
                <a:cs typeface="Times New Roman" panose="02020503050405090304" pitchFamily="18" charset="0"/>
              </a:rPr>
              <a:t>1</a:t>
            </a:r>
            <a:r>
              <a:rPr lang="en-GB" altLang="zh-CN" b="0" dirty="0">
                <a:latin typeface="Times New Roman" panose="02020503050405090304" pitchFamily="18" charset="0"/>
                <a:ea typeface="宋体" pitchFamily="2" charset="-122"/>
                <a:cs typeface="Times New Roman" panose="02020503050405090304" pitchFamily="18" charset="0"/>
              </a:rPr>
              <a:t>w</a:t>
            </a:r>
            <a:r>
              <a:rPr lang="en-GB" altLang="zh-CN" b="0" baseline="-25000" dirty="0">
                <a:latin typeface="Times New Roman" panose="02020503050405090304" pitchFamily="18" charset="0"/>
                <a:ea typeface="宋体" pitchFamily="2" charset="-122"/>
                <a:cs typeface="Times New Roman" panose="02020503050405090304" pitchFamily="18" charset="0"/>
              </a:rPr>
              <a:t>2</a:t>
            </a:r>
            <a:r>
              <a:rPr lang="en-GB" altLang="zh-CN" b="0" dirty="0">
                <a:latin typeface="Times New Roman" panose="02020503050405090304" pitchFamily="18" charset="0"/>
                <a:ea typeface="宋体" pitchFamily="2" charset="-122"/>
                <a:cs typeface="Times New Roman" panose="02020503050405090304" pitchFamily="18" charset="0"/>
              </a:rPr>
              <a:t> · · </a:t>
            </a:r>
            <a:r>
              <a:rPr lang="en-GB" altLang="zh-CN" b="0">
                <a:latin typeface="Times New Roman" panose="02020503050405090304" pitchFamily="18" charset="0"/>
                <a:ea typeface="宋体" pitchFamily="2" charset="-122"/>
                <a:cs typeface="Times New Roman" panose="02020503050405090304" pitchFamily="18" charset="0"/>
              </a:rPr>
              <a:t>·w</a:t>
            </a:r>
            <a:r>
              <a:rPr lang="en-US" altLang="zh-CN" b="0" baseline="-25000">
                <a:latin typeface="Times New Roman" panose="02020503050405090304" pitchFamily="18" charset="0"/>
                <a:ea typeface="宋体" pitchFamily="2" charset="-122"/>
                <a:cs typeface="Times New Roman" panose="02020503050405090304" pitchFamily="18" charset="0"/>
              </a:rPr>
              <a:t>n</a:t>
            </a:r>
            <a:r>
              <a:rPr lang="en-GB" altLang="zh-CN" b="0">
                <a:latin typeface="Times New Roman" panose="02020503050405090304" pitchFamily="18" charset="0"/>
                <a:ea typeface="宋体" pitchFamily="2" charset="-122"/>
                <a:cs typeface="Times New Roman" panose="02020503050405090304" pitchFamily="18" charset="0"/>
              </a:rPr>
              <a:t>) </a:t>
            </a:r>
            <a:r>
              <a:rPr lang="en-GB" altLang="zh-CN" b="0" dirty="0">
                <a:latin typeface="Times New Roman" panose="02020503050405090304" pitchFamily="18" charset="0"/>
                <a:ea typeface="宋体" pitchFamily="2" charset="-122"/>
                <a:cs typeface="Times New Roman" panose="02020503050405090304" pitchFamily="18" charset="0"/>
              </a:rPr>
              <a:t>= P(w</a:t>
            </a:r>
            <a:r>
              <a:rPr lang="en-GB" altLang="zh-CN" b="0" baseline="-25000" dirty="0">
                <a:latin typeface="Times New Roman" panose="02020503050405090304" pitchFamily="18" charset="0"/>
                <a:ea typeface="宋体" pitchFamily="2" charset="-122"/>
                <a:cs typeface="Times New Roman" panose="02020503050405090304" pitchFamily="18" charset="0"/>
              </a:rPr>
              <a:t>1</a:t>
            </a:r>
            <a:r>
              <a:rPr lang="en-GB" altLang="zh-CN" b="0" dirty="0">
                <a:latin typeface="Times New Roman" panose="02020503050405090304" pitchFamily="18" charset="0"/>
                <a:ea typeface="宋体" pitchFamily="2" charset="-122"/>
                <a:cs typeface="Times New Roman" panose="02020503050405090304" pitchFamily="18" charset="0"/>
              </a:rPr>
              <a:t>)P(w</a:t>
            </a:r>
            <a:r>
              <a:rPr lang="en-GB" altLang="zh-CN" b="0" baseline="-25000" dirty="0">
                <a:latin typeface="Times New Roman" panose="02020503050405090304" pitchFamily="18" charset="0"/>
                <a:ea typeface="宋体" pitchFamily="2" charset="-122"/>
                <a:cs typeface="Times New Roman" panose="02020503050405090304" pitchFamily="18" charset="0"/>
              </a:rPr>
              <a:t>2</a:t>
            </a:r>
            <a:r>
              <a:rPr lang="en-GB" altLang="zh-CN" b="0" dirty="0">
                <a:latin typeface="Times New Roman" panose="02020503050405090304" pitchFamily="18" charset="0"/>
                <a:ea typeface="宋体" pitchFamily="2" charset="-122"/>
                <a:cs typeface="Times New Roman" panose="02020503050405090304" pitchFamily="18" charset="0"/>
              </a:rPr>
              <a:t>|w</a:t>
            </a:r>
            <a:r>
              <a:rPr lang="en-GB" altLang="zh-CN" b="0" baseline="-25000" dirty="0">
                <a:latin typeface="Times New Roman" panose="02020503050405090304" pitchFamily="18" charset="0"/>
                <a:ea typeface="宋体" pitchFamily="2" charset="-122"/>
                <a:cs typeface="Times New Roman" panose="02020503050405090304" pitchFamily="18" charset="0"/>
              </a:rPr>
              <a:t>1</a:t>
            </a:r>
            <a:r>
              <a:rPr lang="en-GB" altLang="zh-CN" b="0" dirty="0">
                <a:latin typeface="Times New Roman" panose="02020503050405090304" pitchFamily="18" charset="0"/>
                <a:ea typeface="宋体" pitchFamily="2" charset="-122"/>
                <a:cs typeface="Times New Roman" panose="02020503050405090304" pitchFamily="18" charset="0"/>
              </a:rPr>
              <a:t>)P(w</a:t>
            </a:r>
            <a:r>
              <a:rPr lang="en-GB" altLang="zh-CN" b="0" baseline="-25000" dirty="0">
                <a:latin typeface="Times New Roman" panose="02020503050405090304" pitchFamily="18" charset="0"/>
                <a:ea typeface="宋体" pitchFamily="2" charset="-122"/>
                <a:cs typeface="Times New Roman" panose="02020503050405090304" pitchFamily="18" charset="0"/>
              </a:rPr>
              <a:t>3</a:t>
            </a:r>
            <a:r>
              <a:rPr lang="en-GB" altLang="zh-CN" b="0" dirty="0">
                <a:latin typeface="Times New Roman" panose="02020503050405090304" pitchFamily="18" charset="0"/>
                <a:ea typeface="宋体" pitchFamily="2" charset="-122"/>
                <a:cs typeface="Times New Roman" panose="02020503050405090304" pitchFamily="18" charset="0"/>
              </a:rPr>
              <a:t>|w</a:t>
            </a:r>
            <a:r>
              <a:rPr lang="en-GB" altLang="zh-CN" b="0" baseline="-25000" dirty="0">
                <a:latin typeface="Times New Roman" panose="02020503050405090304" pitchFamily="18" charset="0"/>
                <a:ea typeface="宋体" pitchFamily="2" charset="-122"/>
                <a:cs typeface="Times New Roman" panose="02020503050405090304" pitchFamily="18" charset="0"/>
              </a:rPr>
              <a:t>1</a:t>
            </a:r>
            <a:r>
              <a:rPr lang="en-GB" altLang="zh-CN" b="0" dirty="0">
                <a:latin typeface="Times New Roman" panose="02020503050405090304" pitchFamily="18" charset="0"/>
                <a:ea typeface="宋体" pitchFamily="2" charset="-122"/>
                <a:cs typeface="Times New Roman" panose="02020503050405090304" pitchFamily="18" charset="0"/>
              </a:rPr>
              <a:t>w</a:t>
            </a:r>
            <a:r>
              <a:rPr lang="en-GB" altLang="zh-CN" b="0" baseline="-25000" dirty="0">
                <a:latin typeface="Times New Roman" panose="02020503050405090304" pitchFamily="18" charset="0"/>
                <a:ea typeface="宋体" pitchFamily="2" charset="-122"/>
                <a:cs typeface="Times New Roman" panose="02020503050405090304" pitchFamily="18" charset="0"/>
              </a:rPr>
              <a:t>2</a:t>
            </a:r>
            <a:r>
              <a:rPr lang="en-GB" altLang="zh-CN" b="0" dirty="0">
                <a:latin typeface="Times New Roman" panose="02020503050405090304" pitchFamily="18" charset="0"/>
                <a:ea typeface="宋体" pitchFamily="2" charset="-122"/>
                <a:cs typeface="Times New Roman" panose="02020503050405090304" pitchFamily="18" charset="0"/>
              </a:rPr>
              <a:t>) · · · P</a:t>
            </a:r>
            <a:r>
              <a:rPr lang="en-GB" altLang="zh-CN" b="0">
                <a:latin typeface="Times New Roman" panose="02020503050405090304" pitchFamily="18" charset="0"/>
                <a:ea typeface="宋体" pitchFamily="2" charset="-122"/>
                <a:cs typeface="Times New Roman" panose="02020503050405090304" pitchFamily="18" charset="0"/>
              </a:rPr>
              <a:t>(w</a:t>
            </a:r>
            <a:r>
              <a:rPr lang="en-GB" altLang="zh-CN" b="0" baseline="-25000">
                <a:latin typeface="Times New Roman" panose="02020503050405090304" pitchFamily="18" charset="0"/>
                <a:ea typeface="宋体" pitchFamily="2" charset="-122"/>
                <a:cs typeface="Times New Roman" panose="02020503050405090304" pitchFamily="18" charset="0"/>
              </a:rPr>
              <a:t>n</a:t>
            </a:r>
            <a:r>
              <a:rPr lang="zh-CN" altLang="en-US" b="0" baseline="-25000">
                <a:latin typeface="Times New Roman" panose="02020503050405090304" pitchFamily="18" charset="0"/>
                <a:ea typeface="宋体" pitchFamily="2" charset="-122"/>
                <a:cs typeface="Times New Roman" panose="02020503050405090304" pitchFamily="18" charset="0"/>
              </a:rPr>
              <a:t> </a:t>
            </a:r>
            <a:r>
              <a:rPr lang="en-GB" altLang="zh-CN" b="0" dirty="0">
                <a:latin typeface="Times New Roman" panose="02020503050405090304" pitchFamily="18" charset="0"/>
                <a:ea typeface="宋体" pitchFamily="2" charset="-122"/>
                <a:cs typeface="Times New Roman" panose="02020503050405090304" pitchFamily="18" charset="0"/>
              </a:rPr>
              <a:t>|w</a:t>
            </a:r>
            <a:r>
              <a:rPr lang="en-GB" altLang="zh-CN" b="0" baseline="-25000" dirty="0">
                <a:latin typeface="Times New Roman" panose="02020503050405090304" pitchFamily="18" charset="0"/>
                <a:ea typeface="宋体" pitchFamily="2" charset="-122"/>
                <a:cs typeface="Times New Roman" panose="02020503050405090304" pitchFamily="18" charset="0"/>
              </a:rPr>
              <a:t>1</a:t>
            </a:r>
            <a:r>
              <a:rPr lang="en-GB" altLang="zh-CN" b="0" dirty="0">
                <a:latin typeface="Times New Roman" panose="02020503050405090304" pitchFamily="18" charset="0"/>
                <a:ea typeface="宋体" pitchFamily="2" charset="-122"/>
                <a:cs typeface="Times New Roman" panose="02020503050405090304" pitchFamily="18" charset="0"/>
              </a:rPr>
              <a:t>w</a:t>
            </a:r>
            <a:r>
              <a:rPr lang="en-GB" altLang="zh-CN" b="0" baseline="-25000" dirty="0">
                <a:latin typeface="Times New Roman" panose="02020503050405090304" pitchFamily="18" charset="0"/>
                <a:ea typeface="宋体" pitchFamily="2" charset="-122"/>
                <a:cs typeface="Times New Roman" panose="02020503050405090304" pitchFamily="18" charset="0"/>
              </a:rPr>
              <a:t>2</a:t>
            </a:r>
            <a:r>
              <a:rPr lang="en-GB" altLang="zh-CN" b="0" dirty="0">
                <a:latin typeface="Times New Roman" panose="02020503050405090304" pitchFamily="18" charset="0"/>
                <a:ea typeface="宋体" pitchFamily="2" charset="-122"/>
                <a:cs typeface="Times New Roman" panose="02020503050405090304" pitchFamily="18" charset="0"/>
              </a:rPr>
              <a:t> · · </a:t>
            </a:r>
            <a:r>
              <a:rPr lang="en-GB" altLang="zh-CN" b="0">
                <a:latin typeface="Times New Roman" panose="02020503050405090304" pitchFamily="18" charset="0"/>
                <a:ea typeface="宋体" pitchFamily="2" charset="-122"/>
                <a:cs typeface="Times New Roman" panose="02020503050405090304" pitchFamily="18" charset="0"/>
              </a:rPr>
              <a:t>·w</a:t>
            </a:r>
            <a:r>
              <a:rPr lang="en-GB" altLang="zh-CN" b="0" baseline="-25000">
                <a:latin typeface="Times New Roman" panose="02020503050405090304" pitchFamily="18" charset="0"/>
                <a:ea typeface="宋体" pitchFamily="2" charset="-122"/>
                <a:cs typeface="Times New Roman" panose="02020503050405090304" pitchFamily="18" charset="0"/>
              </a:rPr>
              <a:t>n</a:t>
            </a:r>
            <a:r>
              <a:rPr lang="en-US" altLang="zh-CN" b="0" baseline="-25000">
                <a:latin typeface="Times New Roman" panose="02020503050405090304" pitchFamily="18" charset="0"/>
                <a:ea typeface="宋体" pitchFamily="2" charset="-122"/>
                <a:cs typeface="Times New Roman" panose="02020503050405090304" pitchFamily="18" charset="0"/>
              </a:rPr>
              <a:t>-</a:t>
            </a:r>
            <a:r>
              <a:rPr lang="en-GB" altLang="zh-CN" b="0" baseline="-25000" dirty="0">
                <a:latin typeface="Times New Roman" panose="02020503050405090304" pitchFamily="18" charset="0"/>
                <a:ea typeface="宋体" pitchFamily="2" charset="-122"/>
                <a:cs typeface="Times New Roman" panose="02020503050405090304" pitchFamily="18" charset="0"/>
              </a:rPr>
              <a:t>1</a:t>
            </a:r>
            <a:r>
              <a:rPr lang="en-GB" altLang="zh-CN" b="0">
                <a:latin typeface="Times New Roman" panose="02020503050405090304" pitchFamily="18" charset="0"/>
                <a:ea typeface="宋体" pitchFamily="2" charset="-122"/>
                <a:cs typeface="Times New Roman" panose="02020503050405090304" pitchFamily="18" charset="0"/>
              </a:rPr>
              <a:t>) </a:t>
            </a:r>
            <a:endParaRPr lang="en-GB" altLang="zh-CN" b="0" dirty="0">
              <a:latin typeface="Times New Roman" panose="02020503050405090304" pitchFamily="18" charset="0"/>
              <a:ea typeface="宋体" pitchFamily="2" charset="-122"/>
              <a:cs typeface="Times New Roman" panose="02020503050405090304" pitchFamily="18" charset="0"/>
            </a:endParaRPr>
          </a:p>
        </p:txBody>
      </p:sp>
      <p:sp>
        <p:nvSpPr>
          <p:cNvPr id="3" name="标题 2"/>
          <p:cNvSpPr>
            <a:spLocks noGrp="1"/>
          </p:cNvSpPr>
          <p:nvPr>
            <p:ph type="title"/>
          </p:nvPr>
        </p:nvSpPr>
        <p:spPr>
          <a:xfrm>
            <a:off x="342901" y="29766"/>
            <a:ext cx="9340598" cy="702469"/>
          </a:xfrm>
        </p:spPr>
        <p:txBody>
          <a:bodyPr/>
          <a:lstStyle/>
          <a:p>
            <a:r>
              <a:rPr lang="zh-CN" altLang="en-US" sz="2400" b="1">
                <a:solidFill>
                  <a:srgbClr val="004C41"/>
                </a:solidFill>
                <a:ea typeface="宋体" pitchFamily="2" charset="-122"/>
                <a:cs typeface="+mn-ea"/>
                <a:sym typeface="+mn-lt"/>
              </a:rPr>
              <a:t>语言模型</a:t>
            </a:r>
            <a:endParaRPr lang="zh-CN" altLang="en-US">
              <a:ea typeface="宋体" pitchFamily="2" charset="-122"/>
            </a:endParaRPr>
          </a:p>
        </p:txBody>
      </p:sp>
      <p:sp>
        <p:nvSpPr>
          <p:cNvPr id="2" name="日期占位符 1"/>
          <p:cNvSpPr>
            <a:spLocks noGrp="1"/>
          </p:cNvSpPr>
          <p:nvPr>
            <p:ph type="dt" sz="half" idx="10"/>
          </p:nvPr>
        </p:nvSpPr>
        <p:spPr/>
        <p:txBody>
          <a:bodyPr/>
          <a:lstStyle/>
          <a:p>
            <a:fld id="{27322711-F305-4EA7-A3ED-099427BCC4FD}" type="datetime1">
              <a:rPr lang="zh-CN" altLang="en-US" smtClean="0"/>
            </a:fld>
            <a:endParaRPr lang="zh-CN" altLang="en-US"/>
          </a:p>
        </p:txBody>
      </p:sp>
      <p:sp>
        <p:nvSpPr>
          <p:cNvPr id="5" name="灯片编号占位符 4"/>
          <p:cNvSpPr>
            <a:spLocks noGrp="1"/>
          </p:cNvSpPr>
          <p:nvPr>
            <p:ph type="sldNum" sz="quarter" idx="12"/>
          </p:nvPr>
        </p:nvSpPr>
        <p:spPr/>
        <p:txBody>
          <a:bodyPr/>
          <a:lstStyle/>
          <a:p>
            <a:fld id="{82952373-7980-4DA7-9ADE-54D716DB38BB}" type="slidenum">
              <a:rPr lang="zh-CN" altLang="en-US" smtClean="0"/>
            </a:fld>
            <a:endParaRPr lang="zh-CN" altLang="en-US"/>
          </a:p>
        </p:txBody>
      </p:sp>
      <p:pic>
        <p:nvPicPr>
          <p:cNvPr id="7" name="图片 6"/>
          <p:cNvPicPr>
            <a:picLocks noChangeAspect="1"/>
          </p:cNvPicPr>
          <p:nvPr/>
        </p:nvPicPr>
        <p:blipFill>
          <a:blip r:embed="rId1"/>
          <a:stretch>
            <a:fillRect/>
          </a:stretch>
        </p:blipFill>
        <p:spPr>
          <a:xfrm>
            <a:off x="2356339" y="2654292"/>
            <a:ext cx="4157004" cy="2235608"/>
          </a:xfrm>
          <a:prstGeom prst="rect">
            <a:avLst/>
          </a:prstGeom>
        </p:spPr>
      </p:pic>
    </p:spTree>
  </p:cSld>
  <p:clrMapOvr>
    <a:masterClrMapping/>
  </p:clrMapOvr>
  <mc:AlternateContent xmlns:mc="http://schemas.openxmlformats.org/markup-compatibility/2006">
    <mc:Choice xmlns:p14="http://schemas.microsoft.com/office/powerpoint/2010/main" Requires="p14">
      <p:transition p14:dur="0"/>
    </mc:Choice>
    <mc:Fallback>
      <p:transition/>
    </mc:Fallback>
  </mc:AlternateContent>
</p:sld>
</file>

<file path=ppt/slides/slide5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文本框 3"/>
          <p:cNvSpPr txBox="1"/>
          <p:nvPr/>
        </p:nvSpPr>
        <p:spPr>
          <a:xfrm>
            <a:off x="667042" y="906551"/>
            <a:ext cx="8338646" cy="1940916"/>
          </a:xfrm>
          <a:prstGeom prst="rect">
            <a:avLst/>
          </a:prstGeom>
          <a:ln>
            <a:noFill/>
          </a:ln>
        </p:spPr>
        <p:style>
          <a:lnRef idx="2">
            <a:schemeClr val="dk1"/>
          </a:lnRef>
          <a:fillRef idx="1">
            <a:schemeClr val="lt1"/>
          </a:fillRef>
          <a:effectRef idx="0">
            <a:schemeClr val="dk1"/>
          </a:effectRef>
          <a:fontRef idx="minor">
            <a:schemeClr val="dk1"/>
          </a:fontRef>
        </p:style>
        <p:txBody>
          <a:bodyPr wrap="square" rtlCol="0" anchor="t">
            <a:spAutoFit/>
          </a:bodyPr>
          <a:lstStyle/>
          <a:p>
            <a:pPr marL="285750" indent="-285750">
              <a:lnSpc>
                <a:spcPct val="150000"/>
              </a:lnSpc>
              <a:buClr>
                <a:srgbClr val="0070C0"/>
              </a:buClr>
              <a:buFont typeface="Wingdings" panose="05000000000000000000" pitchFamily="2" charset="2"/>
              <a:buChar char="n"/>
            </a:pPr>
            <a:r>
              <a:rPr lang="zh-CN" altLang="en-US" b="0">
                <a:latin typeface="Times New Roman" panose="02020503050405090304" pitchFamily="18" charset="0"/>
                <a:ea typeface="宋体" pitchFamily="2" charset="-122"/>
                <a:cs typeface="Times New Roman" panose="02020503050405090304" pitchFamily="18" charset="0"/>
              </a:rPr>
              <a:t>语言模型广泛</a:t>
            </a:r>
            <a:r>
              <a:rPr lang="zh-CN" altLang="en-US" b="0" dirty="0">
                <a:latin typeface="Times New Roman" panose="02020503050405090304" pitchFamily="18" charset="0"/>
                <a:ea typeface="宋体" pitchFamily="2" charset="-122"/>
                <a:cs typeface="Times New Roman" panose="02020503050405090304" pitchFamily="18" charset="0"/>
              </a:rPr>
              <a:t>应用于多种自然语言处理任务  </a:t>
            </a:r>
            <a:endParaRPr lang="en-US" altLang="zh-CN" b="0" dirty="0">
              <a:latin typeface="Times New Roman" panose="02020503050405090304" pitchFamily="18" charset="0"/>
              <a:ea typeface="宋体" pitchFamily="2" charset="-122"/>
              <a:cs typeface="Times New Roman" panose="02020503050405090304" pitchFamily="18" charset="0"/>
            </a:endParaRPr>
          </a:p>
          <a:p>
            <a:pPr marL="285750" indent="-285750">
              <a:lnSpc>
                <a:spcPct val="150000"/>
              </a:lnSpc>
              <a:buClr>
                <a:srgbClr val="0070C0"/>
              </a:buClr>
              <a:buFont typeface="Wingdings" panose="05000000000000000000" pitchFamily="2" charset="2"/>
              <a:buChar char="ü"/>
            </a:pPr>
            <a:r>
              <a:rPr lang="zh-CN" altLang="en-US" sz="1600" b="0" dirty="0">
                <a:latin typeface="Times New Roman" panose="02020503050405090304" pitchFamily="18" charset="0"/>
                <a:ea typeface="宋体" pitchFamily="2" charset="-122"/>
                <a:cs typeface="Times New Roman" panose="02020503050405090304" pitchFamily="18" charset="0"/>
              </a:rPr>
              <a:t>机器翻译（词排序） </a:t>
            </a:r>
            <a:endParaRPr lang="en-US" altLang="zh-CN" sz="1600" b="0" dirty="0">
              <a:latin typeface="Times New Roman" panose="02020503050405090304" pitchFamily="18" charset="0"/>
              <a:ea typeface="宋体" pitchFamily="2" charset="-122"/>
              <a:cs typeface="Times New Roman" panose="02020503050405090304" pitchFamily="18" charset="0"/>
            </a:endParaRPr>
          </a:p>
          <a:p>
            <a:pPr>
              <a:lnSpc>
                <a:spcPct val="150000"/>
              </a:lnSpc>
            </a:pPr>
            <a:r>
              <a:rPr lang="zh-CN" altLang="en-US" sz="1600" b="0" dirty="0">
                <a:solidFill>
                  <a:srgbClr val="6EAD45"/>
                </a:solidFill>
                <a:latin typeface="Times New Roman" panose="02020503050405090304" pitchFamily="18" charset="0"/>
                <a:ea typeface="宋体" pitchFamily="2" charset="-122"/>
                <a:cs typeface="Times New Roman" panose="02020503050405090304" pitchFamily="18" charset="0"/>
              </a:rPr>
              <a:t> </a:t>
            </a:r>
            <a:r>
              <a:rPr lang="en-GB" altLang="zh-CN" sz="1600" b="0" i="1" dirty="0">
                <a:latin typeface="Times New Roman" panose="02020503050405090304" pitchFamily="18" charset="0"/>
                <a:ea typeface="宋体" pitchFamily="2" charset="-122"/>
                <a:cs typeface="Times New Roman" panose="02020503050405090304" pitchFamily="18" charset="0"/>
              </a:rPr>
              <a:t>P</a:t>
            </a:r>
            <a:r>
              <a:rPr lang="en-GB" altLang="zh-CN" sz="1600" b="0" dirty="0">
                <a:latin typeface="Times New Roman" panose="02020503050405090304" pitchFamily="18" charset="0"/>
                <a:ea typeface="宋体" pitchFamily="2" charset="-122"/>
                <a:cs typeface="Times New Roman" panose="02020503050405090304" pitchFamily="18" charset="0"/>
              </a:rPr>
              <a:t>(the cat is small) &gt; </a:t>
            </a:r>
            <a:r>
              <a:rPr lang="en-GB" altLang="zh-CN" sz="1600" b="0" i="1" dirty="0">
                <a:latin typeface="Times New Roman" panose="02020503050405090304" pitchFamily="18" charset="0"/>
                <a:ea typeface="宋体" pitchFamily="2" charset="-122"/>
                <a:cs typeface="Times New Roman" panose="02020503050405090304" pitchFamily="18" charset="0"/>
              </a:rPr>
              <a:t>P</a:t>
            </a:r>
            <a:r>
              <a:rPr lang="en-GB" altLang="zh-CN" sz="1600" b="0" dirty="0">
                <a:latin typeface="Times New Roman" panose="02020503050405090304" pitchFamily="18" charset="0"/>
                <a:ea typeface="宋体" pitchFamily="2" charset="-122"/>
                <a:cs typeface="Times New Roman" panose="02020503050405090304" pitchFamily="18" charset="0"/>
              </a:rPr>
              <a:t>(small the is cat) </a:t>
            </a:r>
            <a:endParaRPr lang="en-GB" altLang="zh-CN" sz="1600" b="0" dirty="0">
              <a:latin typeface="Times New Roman" panose="02020503050405090304" pitchFamily="18" charset="0"/>
              <a:ea typeface="宋体" pitchFamily="2" charset="-122"/>
              <a:cs typeface="Times New Roman" panose="02020503050405090304" pitchFamily="18" charset="0"/>
            </a:endParaRPr>
          </a:p>
          <a:p>
            <a:pPr marL="285750" indent="-285750">
              <a:lnSpc>
                <a:spcPct val="150000"/>
              </a:lnSpc>
              <a:buClr>
                <a:srgbClr val="0070C0"/>
              </a:buClr>
              <a:buFont typeface="Wingdings" panose="05000000000000000000" pitchFamily="2" charset="2"/>
              <a:buChar char="ü"/>
            </a:pPr>
            <a:r>
              <a:rPr lang="zh-CN" altLang="en-US" sz="1600" b="0" dirty="0">
                <a:latin typeface="Times New Roman" panose="02020503050405090304" pitchFamily="18" charset="0"/>
                <a:ea typeface="宋体" pitchFamily="2" charset="-122"/>
                <a:cs typeface="Times New Roman" panose="02020503050405090304" pitchFamily="18" charset="0"/>
              </a:rPr>
              <a:t>语音识别（词选择） </a:t>
            </a:r>
            <a:endParaRPr lang="en-US" altLang="zh-CN" sz="1600" b="0" dirty="0">
              <a:latin typeface="Times New Roman" panose="02020503050405090304" pitchFamily="18" charset="0"/>
              <a:ea typeface="宋体" pitchFamily="2" charset="-122"/>
              <a:cs typeface="Times New Roman" panose="02020503050405090304" pitchFamily="18" charset="0"/>
            </a:endParaRPr>
          </a:p>
          <a:p>
            <a:pPr>
              <a:lnSpc>
                <a:spcPct val="150000"/>
              </a:lnSpc>
            </a:pPr>
            <a:r>
              <a:rPr lang="zh-CN" altLang="en-US" sz="1600" b="0" dirty="0">
                <a:solidFill>
                  <a:srgbClr val="6EAD45"/>
                </a:solidFill>
                <a:latin typeface="Times New Roman" panose="02020503050405090304" pitchFamily="18" charset="0"/>
                <a:ea typeface="宋体" pitchFamily="2" charset="-122"/>
                <a:cs typeface="Times New Roman" panose="02020503050405090304" pitchFamily="18" charset="0"/>
              </a:rPr>
              <a:t> </a:t>
            </a:r>
            <a:r>
              <a:rPr lang="en-GB" altLang="zh-CN" sz="1600" b="0" i="1" dirty="0">
                <a:latin typeface="Times New Roman" panose="02020503050405090304" pitchFamily="18" charset="0"/>
                <a:ea typeface="宋体" pitchFamily="2" charset="-122"/>
                <a:cs typeface="Times New Roman" panose="02020503050405090304" pitchFamily="18" charset="0"/>
              </a:rPr>
              <a:t>P</a:t>
            </a:r>
            <a:r>
              <a:rPr lang="en-GB" altLang="zh-CN" sz="1600" b="0" dirty="0">
                <a:latin typeface="Times New Roman" panose="02020503050405090304" pitchFamily="18" charset="0"/>
                <a:ea typeface="宋体" pitchFamily="2" charset="-122"/>
                <a:cs typeface="Times New Roman" panose="02020503050405090304" pitchFamily="18" charset="0"/>
              </a:rPr>
              <a:t>(there are </a:t>
            </a:r>
            <a:r>
              <a:rPr lang="en-GB" altLang="zh-CN" sz="1600" b="0" dirty="0">
                <a:solidFill>
                  <a:srgbClr val="C00000"/>
                </a:solidFill>
                <a:latin typeface="Times New Roman" panose="02020503050405090304" pitchFamily="18" charset="0"/>
                <a:ea typeface="宋体" pitchFamily="2" charset="-122"/>
                <a:cs typeface="Times New Roman" panose="02020503050405090304" pitchFamily="18" charset="0"/>
              </a:rPr>
              <a:t>four </a:t>
            </a:r>
            <a:r>
              <a:rPr lang="en-GB" altLang="zh-CN" sz="1600" b="0" dirty="0">
                <a:latin typeface="Times New Roman" panose="02020503050405090304" pitchFamily="18" charset="0"/>
                <a:ea typeface="宋体" pitchFamily="2" charset="-122"/>
                <a:cs typeface="Times New Roman" panose="02020503050405090304" pitchFamily="18" charset="0"/>
              </a:rPr>
              <a:t>cats) &gt; </a:t>
            </a:r>
            <a:r>
              <a:rPr lang="en-GB" altLang="zh-CN" sz="1600" b="0" i="1" dirty="0">
                <a:latin typeface="Times New Roman" panose="02020503050405090304" pitchFamily="18" charset="0"/>
                <a:ea typeface="宋体" pitchFamily="2" charset="-122"/>
                <a:cs typeface="Times New Roman" panose="02020503050405090304" pitchFamily="18" charset="0"/>
              </a:rPr>
              <a:t>P</a:t>
            </a:r>
            <a:r>
              <a:rPr lang="en-GB" altLang="zh-CN" sz="1600" b="0" dirty="0">
                <a:latin typeface="Times New Roman" panose="02020503050405090304" pitchFamily="18" charset="0"/>
                <a:ea typeface="宋体" pitchFamily="2" charset="-122"/>
                <a:cs typeface="Times New Roman" panose="02020503050405090304" pitchFamily="18" charset="0"/>
              </a:rPr>
              <a:t>(there are </a:t>
            </a:r>
            <a:r>
              <a:rPr lang="en-GB" altLang="zh-CN" sz="1600" b="0" dirty="0">
                <a:solidFill>
                  <a:srgbClr val="00B04E"/>
                </a:solidFill>
                <a:latin typeface="Times New Roman" panose="02020503050405090304" pitchFamily="18" charset="0"/>
                <a:ea typeface="宋体" pitchFamily="2" charset="-122"/>
                <a:cs typeface="Times New Roman" panose="02020503050405090304" pitchFamily="18" charset="0"/>
              </a:rPr>
              <a:t>for </a:t>
            </a:r>
            <a:r>
              <a:rPr lang="en-GB" altLang="zh-CN" sz="1600" b="0" dirty="0">
                <a:latin typeface="Times New Roman" panose="02020503050405090304" pitchFamily="18" charset="0"/>
                <a:ea typeface="宋体" pitchFamily="2" charset="-122"/>
                <a:cs typeface="Times New Roman" panose="02020503050405090304" pitchFamily="18" charset="0"/>
              </a:rPr>
              <a:t>cats) </a:t>
            </a:r>
            <a:endParaRPr lang="en-GB" altLang="zh-CN" sz="1600" b="0" dirty="0">
              <a:latin typeface="Times New Roman" panose="02020503050405090304" pitchFamily="18" charset="0"/>
              <a:ea typeface="宋体" pitchFamily="2" charset="-122"/>
              <a:cs typeface="Times New Roman" panose="02020503050405090304" pitchFamily="18" charset="0"/>
            </a:endParaRPr>
          </a:p>
        </p:txBody>
      </p:sp>
      <p:sp>
        <p:nvSpPr>
          <p:cNvPr id="3" name="标题 2"/>
          <p:cNvSpPr>
            <a:spLocks noGrp="1"/>
          </p:cNvSpPr>
          <p:nvPr>
            <p:ph type="title"/>
          </p:nvPr>
        </p:nvSpPr>
        <p:spPr>
          <a:xfrm>
            <a:off x="342901" y="29766"/>
            <a:ext cx="9340598" cy="702469"/>
          </a:xfrm>
        </p:spPr>
        <p:txBody>
          <a:bodyPr/>
          <a:lstStyle/>
          <a:p>
            <a:r>
              <a:rPr lang="zh-CN" altLang="en-US" sz="2400" b="1">
                <a:solidFill>
                  <a:srgbClr val="004C41"/>
                </a:solidFill>
                <a:ea typeface="宋体" pitchFamily="2" charset="-122"/>
                <a:cs typeface="+mn-ea"/>
                <a:sym typeface="+mn-lt"/>
              </a:rPr>
              <a:t>语言模型</a:t>
            </a:r>
            <a:endParaRPr lang="zh-CN" altLang="en-US">
              <a:ea typeface="宋体" pitchFamily="2" charset="-122"/>
            </a:endParaRPr>
          </a:p>
        </p:txBody>
      </p:sp>
      <p:sp>
        <p:nvSpPr>
          <p:cNvPr id="2" name="日期占位符 1"/>
          <p:cNvSpPr>
            <a:spLocks noGrp="1"/>
          </p:cNvSpPr>
          <p:nvPr>
            <p:ph type="dt" sz="half" idx="10"/>
          </p:nvPr>
        </p:nvSpPr>
        <p:spPr/>
        <p:txBody>
          <a:bodyPr/>
          <a:lstStyle/>
          <a:p>
            <a:fld id="{27322711-F305-4EA7-A3ED-099427BCC4FD}" type="datetime1">
              <a:rPr lang="zh-CN" altLang="en-US" smtClean="0"/>
            </a:fld>
            <a:endParaRPr lang="zh-CN" altLang="en-US"/>
          </a:p>
        </p:txBody>
      </p:sp>
      <p:sp>
        <p:nvSpPr>
          <p:cNvPr id="5" name="灯片编号占位符 4"/>
          <p:cNvSpPr>
            <a:spLocks noGrp="1"/>
          </p:cNvSpPr>
          <p:nvPr>
            <p:ph type="sldNum" sz="quarter" idx="12"/>
          </p:nvPr>
        </p:nvSpPr>
        <p:spPr/>
        <p:txBody>
          <a:bodyPr/>
          <a:lstStyle/>
          <a:p>
            <a:fld id="{82952373-7980-4DA7-9ADE-54D716DB38BB}" type="slidenum">
              <a:rPr lang="zh-CN" altLang="en-US" smtClean="0"/>
            </a:fld>
            <a:endParaRPr lang="zh-CN" altLang="en-US"/>
          </a:p>
        </p:txBody>
      </p:sp>
      <p:sp>
        <p:nvSpPr>
          <p:cNvPr id="7" name="文本框 6"/>
          <p:cNvSpPr txBox="1"/>
          <p:nvPr/>
        </p:nvSpPr>
        <p:spPr>
          <a:xfrm>
            <a:off x="667042" y="3008865"/>
            <a:ext cx="7820465" cy="455253"/>
          </a:xfrm>
          <a:prstGeom prst="rect">
            <a:avLst/>
          </a:prstGeom>
          <a:noFill/>
        </p:spPr>
        <p:txBody>
          <a:bodyPr wrap="square">
            <a:spAutoFit/>
          </a:bodyPr>
          <a:lstStyle/>
          <a:p>
            <a:pPr marL="285750" indent="-285750">
              <a:lnSpc>
                <a:spcPct val="150000"/>
              </a:lnSpc>
              <a:buClr>
                <a:srgbClr val="0070C0"/>
              </a:buClr>
              <a:buFont typeface="Wingdings" panose="05000000000000000000" pitchFamily="2" charset="2"/>
              <a:buChar char="n"/>
            </a:pPr>
            <a:r>
              <a:rPr lang="zh-CN" altLang="en-US" b="0">
                <a:latin typeface="Times New Roman" panose="02020503050405090304" pitchFamily="18" charset="0"/>
                <a:cs typeface="Times New Roman" panose="02020503050405090304" pitchFamily="18" charset="0"/>
              </a:rPr>
              <a:t>即使目前强大的模型</a:t>
            </a:r>
            <a:r>
              <a:rPr lang="en-US" altLang="zh-CN" b="0">
                <a:latin typeface="Times New Roman" panose="02020503050405090304" pitchFamily="18" charset="0"/>
                <a:cs typeface="Times New Roman" panose="02020503050405090304" pitchFamily="18" charset="0"/>
              </a:rPr>
              <a:t>GPT</a:t>
            </a:r>
            <a:r>
              <a:rPr lang="zh-CN" altLang="en-US" b="0">
                <a:latin typeface="Times New Roman" panose="02020503050405090304" pitchFamily="18" charset="0"/>
                <a:cs typeface="Times New Roman" panose="02020503050405090304" pitchFamily="18" charset="0"/>
              </a:rPr>
              <a:t>也依然采用最朴素的</a:t>
            </a:r>
            <a:r>
              <a:rPr lang="zh-CN" altLang="en-US" sz="1800" b="0">
                <a:latin typeface="Times New Roman" panose="02020503050405090304" pitchFamily="18" charset="0"/>
                <a:ea typeface="宋体" pitchFamily="2" charset="-122"/>
                <a:cs typeface="Times New Roman" panose="02020503050405090304" pitchFamily="18" charset="0"/>
              </a:rPr>
              <a:t>语言模型思想来建模  </a:t>
            </a:r>
            <a:endParaRPr lang="en-US" altLang="zh-CN" sz="1800" b="0" dirty="0">
              <a:latin typeface="Times New Roman" panose="02020503050405090304" pitchFamily="18" charset="0"/>
              <a:ea typeface="宋体" pitchFamily="2" charset="-122"/>
              <a:cs typeface="Times New Roman" panose="02020503050405090304" pitchFamily="18" charset="0"/>
            </a:endParaRPr>
          </a:p>
        </p:txBody>
      </p:sp>
    </p:spTree>
  </p:cSld>
  <p:clrMapOvr>
    <a:masterClrMapping/>
  </p:clrMapOvr>
  <mc:AlternateContent xmlns:mc="http://schemas.openxmlformats.org/markup-compatibility/2006">
    <mc:Choice xmlns:p14="http://schemas.microsoft.com/office/powerpoint/2010/main" Requires="p14">
      <p:transition p14:dur="0"/>
    </mc:Choice>
    <mc:Fallback>
      <p:transition/>
    </mc:Fallback>
  </mc:AlternateContent>
</p:sld>
</file>

<file path=ppt/slides/slide5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文本框 3"/>
          <p:cNvSpPr txBox="1"/>
          <p:nvPr/>
        </p:nvSpPr>
        <p:spPr>
          <a:xfrm>
            <a:off x="825305" y="964607"/>
            <a:ext cx="7866067" cy="3906198"/>
          </a:xfrm>
          <a:prstGeom prst="rect">
            <a:avLst/>
          </a:prstGeom>
          <a:ln>
            <a:noFill/>
          </a:ln>
        </p:spPr>
        <p:style>
          <a:lnRef idx="2">
            <a:schemeClr val="dk1"/>
          </a:lnRef>
          <a:fillRef idx="1">
            <a:schemeClr val="lt1"/>
          </a:fillRef>
          <a:effectRef idx="0">
            <a:schemeClr val="dk1"/>
          </a:effectRef>
          <a:fontRef idx="minor">
            <a:schemeClr val="dk1"/>
          </a:fontRef>
        </p:style>
        <p:txBody>
          <a:bodyPr wrap="square" rtlCol="0" anchor="t">
            <a:spAutoFit/>
          </a:bodyPr>
          <a:lstStyle/>
          <a:p>
            <a:pPr marL="285750" indent="-285750">
              <a:lnSpc>
                <a:spcPts val="2520"/>
              </a:lnSpc>
              <a:buClr>
                <a:srgbClr val="0070C0"/>
              </a:buClr>
              <a:buFont typeface="Wingdings" panose="05000000000000000000" pitchFamily="2" charset="2"/>
              <a:buChar char="n"/>
            </a:pPr>
            <a:r>
              <a:rPr lang="zh-CN" altLang="en-US" sz="1600" dirty="0">
                <a:latin typeface="Times New Roman" panose="02020503050405090304" pitchFamily="18" charset="0"/>
                <a:ea typeface="宋体" pitchFamily="2" charset="-122"/>
              </a:rPr>
              <a:t>词（</a:t>
            </a:r>
            <a:r>
              <a:rPr lang="en-GB" altLang="zh-CN" sz="1600" dirty="0">
                <a:latin typeface="Times New Roman" panose="02020503050405090304" pitchFamily="18" charset="0"/>
                <a:ea typeface="宋体" pitchFamily="2" charset="-122"/>
              </a:rPr>
              <a:t>Word</a:t>
            </a:r>
            <a:r>
              <a:rPr lang="zh-CN" altLang="en-GB" sz="1600" dirty="0">
                <a:latin typeface="Times New Roman" panose="02020503050405090304" pitchFamily="18" charset="0"/>
                <a:ea typeface="宋体" pitchFamily="2" charset="-122"/>
              </a:rPr>
              <a:t>） </a:t>
            </a:r>
            <a:endParaRPr lang="en-US" altLang="zh-CN" sz="1600" dirty="0">
              <a:latin typeface="Times New Roman" panose="02020503050405090304" pitchFamily="18" charset="0"/>
              <a:ea typeface="宋体" pitchFamily="2" charset="-122"/>
            </a:endParaRPr>
          </a:p>
          <a:p>
            <a:pPr marL="285750" indent="-285750">
              <a:lnSpc>
                <a:spcPts val="2520"/>
              </a:lnSpc>
              <a:buClr>
                <a:srgbClr val="0070C0"/>
              </a:buClr>
              <a:buFont typeface="Wingdings" panose="05000000000000000000" pitchFamily="2" charset="2"/>
              <a:buChar char="ü"/>
            </a:pPr>
            <a:r>
              <a:rPr lang="zh-CN" altLang="en-US" sz="1600" dirty="0">
                <a:latin typeface="Times New Roman" panose="02020503050405090304" pitchFamily="18" charset="0"/>
                <a:ea typeface="宋体" pitchFamily="2" charset="-122"/>
              </a:rPr>
              <a:t>最小的能</a:t>
            </a:r>
            <a:r>
              <a:rPr lang="zh-CN" altLang="en-US" sz="1600" dirty="0">
                <a:solidFill>
                  <a:srgbClr val="C00000"/>
                </a:solidFill>
                <a:latin typeface="Times New Roman" panose="02020503050405090304" pitchFamily="18" charset="0"/>
                <a:ea typeface="宋体" pitchFamily="2" charset="-122"/>
              </a:rPr>
              <a:t>独立使用</a:t>
            </a:r>
            <a:r>
              <a:rPr lang="zh-CN" altLang="en-US" sz="1600" dirty="0">
                <a:latin typeface="Times New Roman" panose="02020503050405090304" pitchFamily="18" charset="0"/>
                <a:ea typeface="宋体" pitchFamily="2" charset="-122"/>
              </a:rPr>
              <a:t>的音义结合体 </a:t>
            </a:r>
            <a:endParaRPr lang="en-US" altLang="zh-CN" sz="1600" dirty="0">
              <a:latin typeface="Times New Roman" panose="02020503050405090304" pitchFamily="18" charset="0"/>
              <a:ea typeface="宋体" pitchFamily="2" charset="-122"/>
            </a:endParaRPr>
          </a:p>
          <a:p>
            <a:pPr marL="285750" indent="-285750">
              <a:lnSpc>
                <a:spcPts val="2520"/>
              </a:lnSpc>
              <a:buClr>
                <a:srgbClr val="0070C0"/>
              </a:buClr>
              <a:buFont typeface="Wingdings" panose="05000000000000000000" pitchFamily="2" charset="2"/>
              <a:buChar char="ü"/>
            </a:pPr>
            <a:r>
              <a:rPr lang="zh-CN" altLang="en-US" sz="1600" dirty="0">
                <a:latin typeface="Times New Roman" panose="02020503050405090304" pitchFamily="18" charset="0"/>
                <a:ea typeface="宋体" pitchFamily="2" charset="-122"/>
              </a:rPr>
              <a:t>以汉语为代表的</a:t>
            </a:r>
            <a:r>
              <a:rPr lang="zh-CN" altLang="en-US" sz="1600" dirty="0">
                <a:solidFill>
                  <a:srgbClr val="C00000"/>
                </a:solidFill>
                <a:latin typeface="Times New Roman" panose="02020503050405090304" pitchFamily="18" charset="0"/>
                <a:ea typeface="宋体" pitchFamily="2" charset="-122"/>
              </a:rPr>
              <a:t>汉藏语系</a:t>
            </a:r>
            <a:r>
              <a:rPr lang="zh-CN" altLang="en-US" sz="1600" dirty="0">
                <a:latin typeface="Times New Roman" panose="02020503050405090304" pitchFamily="18" charset="0"/>
                <a:ea typeface="宋体" pitchFamily="2" charset="-122"/>
              </a:rPr>
              <a:t>，以阿拉伯语为代表的</a:t>
            </a:r>
            <a:r>
              <a:rPr lang="zh-CN" altLang="en-US" sz="1600" dirty="0">
                <a:solidFill>
                  <a:srgbClr val="C00000"/>
                </a:solidFill>
                <a:latin typeface="Times New Roman" panose="02020503050405090304" pitchFamily="18" charset="0"/>
                <a:ea typeface="宋体" pitchFamily="2" charset="-122"/>
              </a:rPr>
              <a:t>闪</a:t>
            </a:r>
            <a:r>
              <a:rPr lang="en-US" altLang="zh-CN" sz="1600" dirty="0">
                <a:solidFill>
                  <a:srgbClr val="C00000"/>
                </a:solidFill>
                <a:latin typeface="Times New Roman" panose="02020503050405090304" pitchFamily="18" charset="0"/>
                <a:ea typeface="宋体" pitchFamily="2" charset="-122"/>
              </a:rPr>
              <a:t>-</a:t>
            </a:r>
            <a:r>
              <a:rPr lang="zh-CN" altLang="en-US" sz="1600" dirty="0">
                <a:solidFill>
                  <a:srgbClr val="C00000"/>
                </a:solidFill>
                <a:latin typeface="Times New Roman" panose="02020503050405090304" pitchFamily="18" charset="0"/>
                <a:ea typeface="宋体" pitchFamily="2" charset="-122"/>
              </a:rPr>
              <a:t>含语系</a:t>
            </a:r>
            <a:r>
              <a:rPr lang="zh-CN" altLang="en-US" sz="1600" dirty="0">
                <a:latin typeface="Times New Roman" panose="02020503050405090304" pitchFamily="18" charset="0"/>
                <a:ea typeface="宋体" pitchFamily="2" charset="-122"/>
              </a:rPr>
              <a:t>中不包含明显的词之间的分隔符 </a:t>
            </a:r>
            <a:endParaRPr lang="en-US" altLang="zh-CN" sz="1600" dirty="0">
              <a:latin typeface="Times New Roman" panose="02020503050405090304" pitchFamily="18" charset="0"/>
              <a:ea typeface="宋体" pitchFamily="2" charset="-122"/>
            </a:endParaRPr>
          </a:p>
          <a:p>
            <a:pPr marL="285750" indent="-285750">
              <a:lnSpc>
                <a:spcPts val="2520"/>
              </a:lnSpc>
              <a:buClr>
                <a:srgbClr val="0070C0"/>
              </a:buClr>
              <a:buFont typeface="Wingdings" panose="05000000000000000000" pitchFamily="2" charset="2"/>
              <a:buChar char="n"/>
            </a:pPr>
            <a:r>
              <a:rPr lang="zh-CN" altLang="en-US" sz="1600">
                <a:latin typeface="Times New Roman" panose="02020503050405090304" pitchFamily="18" charset="0"/>
                <a:ea typeface="宋体" pitchFamily="2" charset="-122"/>
              </a:rPr>
              <a:t>中文</a:t>
            </a:r>
            <a:r>
              <a:rPr lang="zh-CN" altLang="en-US" sz="1600" dirty="0">
                <a:latin typeface="Times New Roman" panose="02020503050405090304" pitchFamily="18" charset="0"/>
                <a:ea typeface="宋体" pitchFamily="2" charset="-122"/>
              </a:rPr>
              <a:t>分词是将中文字序列切分成一个个单独的词 </a:t>
            </a:r>
            <a:endParaRPr lang="en-US" altLang="zh-CN" sz="1600" dirty="0">
              <a:latin typeface="Times New Roman" panose="02020503050405090304" pitchFamily="18" charset="0"/>
              <a:ea typeface="宋体" pitchFamily="2" charset="-122"/>
            </a:endParaRPr>
          </a:p>
          <a:p>
            <a:pPr marL="285750" indent="-285750">
              <a:lnSpc>
                <a:spcPts val="2520"/>
              </a:lnSpc>
              <a:buClr>
                <a:srgbClr val="0070C0"/>
              </a:buClr>
              <a:buFont typeface="Wingdings" panose="05000000000000000000" pitchFamily="2" charset="2"/>
              <a:buChar char="n"/>
            </a:pPr>
            <a:r>
              <a:rPr lang="zh-CN" altLang="en-US" sz="1600">
                <a:latin typeface="Times New Roman" panose="02020503050405090304" pitchFamily="18" charset="0"/>
                <a:ea typeface="宋体" pitchFamily="2" charset="-122"/>
              </a:rPr>
              <a:t>分词</a:t>
            </a:r>
            <a:r>
              <a:rPr lang="zh-CN" altLang="en-US" sz="1600" dirty="0">
                <a:latin typeface="Times New Roman" panose="02020503050405090304" pitchFamily="18" charset="0"/>
                <a:ea typeface="宋体" pitchFamily="2" charset="-122"/>
              </a:rPr>
              <a:t>的歧义 </a:t>
            </a:r>
            <a:endParaRPr lang="en-US" altLang="zh-CN" sz="1600" dirty="0">
              <a:latin typeface="Times New Roman" panose="02020503050405090304" pitchFamily="18" charset="0"/>
              <a:ea typeface="宋体" pitchFamily="2" charset="-122"/>
            </a:endParaRPr>
          </a:p>
          <a:p>
            <a:pPr>
              <a:lnSpc>
                <a:spcPts val="2520"/>
              </a:lnSpc>
              <a:buClr>
                <a:srgbClr val="0070C0"/>
              </a:buClr>
            </a:pPr>
            <a:r>
              <a:rPr lang="zh-CN" altLang="en-US" sz="1600" dirty="0">
                <a:latin typeface="Times New Roman" panose="02020503050405090304" pitchFamily="18" charset="0"/>
                <a:ea typeface="宋体" pitchFamily="2" charset="-122"/>
              </a:rPr>
              <a:t>如：</a:t>
            </a:r>
            <a:r>
              <a:rPr lang="zh-CN" altLang="en-US" sz="1600" dirty="0">
                <a:solidFill>
                  <a:srgbClr val="00B04E"/>
                </a:solidFill>
                <a:latin typeface="Times New Roman" panose="02020503050405090304" pitchFamily="18" charset="0"/>
                <a:ea typeface="宋体" pitchFamily="2" charset="-122"/>
              </a:rPr>
              <a:t>严守一把手机关了 </a:t>
            </a:r>
            <a:endParaRPr lang="en-US" altLang="zh-CN" sz="1600" dirty="0">
              <a:solidFill>
                <a:srgbClr val="00B04E"/>
              </a:solidFill>
              <a:latin typeface="Times New Roman" panose="02020503050405090304" pitchFamily="18" charset="0"/>
              <a:ea typeface="宋体" pitchFamily="2" charset="-122"/>
            </a:endParaRPr>
          </a:p>
          <a:p>
            <a:pPr>
              <a:lnSpc>
                <a:spcPts val="2520"/>
              </a:lnSpc>
            </a:pPr>
            <a:r>
              <a:rPr lang="zh-CN" altLang="en-US" sz="1600" dirty="0">
                <a:solidFill>
                  <a:srgbClr val="6EAD45"/>
                </a:solidFill>
                <a:latin typeface="Times New Roman" panose="02020503050405090304" pitchFamily="18" charset="0"/>
                <a:ea typeface="宋体" pitchFamily="2" charset="-122"/>
              </a:rPr>
              <a:t>  </a:t>
            </a:r>
            <a:r>
              <a:rPr lang="zh-CN" altLang="en-US" sz="1600" dirty="0">
                <a:solidFill>
                  <a:srgbClr val="FF0000"/>
                </a:solidFill>
                <a:latin typeface="Times New Roman" panose="02020503050405090304" pitchFamily="18" charset="0"/>
                <a:ea typeface="宋体" pitchFamily="2" charset="-122"/>
              </a:rPr>
              <a:t>严守一</a:t>
            </a:r>
            <a:r>
              <a:rPr lang="en-US" altLang="zh-CN" sz="1600" dirty="0">
                <a:solidFill>
                  <a:srgbClr val="FF0000"/>
                </a:solidFill>
                <a:latin typeface="Times New Roman" panose="02020503050405090304" pitchFamily="18" charset="0"/>
                <a:ea typeface="宋体" pitchFamily="2" charset="-122"/>
              </a:rPr>
              <a:t>/ </a:t>
            </a:r>
            <a:r>
              <a:rPr lang="zh-CN" altLang="en-US" sz="1600" dirty="0">
                <a:solidFill>
                  <a:srgbClr val="FF0000"/>
                </a:solidFill>
                <a:latin typeface="Times New Roman" panose="02020503050405090304" pitchFamily="18" charset="0"/>
                <a:ea typeface="宋体" pitchFamily="2" charset="-122"/>
              </a:rPr>
              <a:t>把</a:t>
            </a:r>
            <a:r>
              <a:rPr lang="en-US" altLang="zh-CN" sz="1600" dirty="0">
                <a:solidFill>
                  <a:srgbClr val="FF0000"/>
                </a:solidFill>
                <a:latin typeface="Times New Roman" panose="02020503050405090304" pitchFamily="18" charset="0"/>
                <a:ea typeface="宋体" pitchFamily="2" charset="-122"/>
              </a:rPr>
              <a:t>/ </a:t>
            </a:r>
            <a:r>
              <a:rPr lang="zh-CN" altLang="en-US" sz="1600" dirty="0">
                <a:solidFill>
                  <a:srgbClr val="FF0000"/>
                </a:solidFill>
                <a:latin typeface="Times New Roman" panose="02020503050405090304" pitchFamily="18" charset="0"/>
                <a:ea typeface="宋体" pitchFamily="2" charset="-122"/>
              </a:rPr>
              <a:t>手机</a:t>
            </a:r>
            <a:r>
              <a:rPr lang="en-US" altLang="zh-CN" sz="1600" dirty="0">
                <a:solidFill>
                  <a:srgbClr val="FF0000"/>
                </a:solidFill>
                <a:latin typeface="Times New Roman" panose="02020503050405090304" pitchFamily="18" charset="0"/>
                <a:ea typeface="宋体" pitchFamily="2" charset="-122"/>
              </a:rPr>
              <a:t>/ </a:t>
            </a:r>
            <a:r>
              <a:rPr lang="zh-CN" altLang="en-US" sz="1600" dirty="0">
                <a:solidFill>
                  <a:srgbClr val="FF0000"/>
                </a:solidFill>
                <a:latin typeface="Times New Roman" panose="02020503050405090304" pitchFamily="18" charset="0"/>
                <a:ea typeface="宋体" pitchFamily="2" charset="-122"/>
              </a:rPr>
              <a:t>关</a:t>
            </a:r>
            <a:r>
              <a:rPr lang="en-US" altLang="zh-CN" sz="1600" dirty="0">
                <a:solidFill>
                  <a:srgbClr val="FF0000"/>
                </a:solidFill>
                <a:latin typeface="Times New Roman" panose="02020503050405090304" pitchFamily="18" charset="0"/>
                <a:ea typeface="宋体" pitchFamily="2" charset="-122"/>
              </a:rPr>
              <a:t>/ </a:t>
            </a:r>
            <a:r>
              <a:rPr lang="zh-CN" altLang="en-US" sz="1600" dirty="0">
                <a:solidFill>
                  <a:srgbClr val="FF0000"/>
                </a:solidFill>
                <a:latin typeface="Times New Roman" panose="02020503050405090304" pitchFamily="18" charset="0"/>
                <a:ea typeface="宋体" pitchFamily="2" charset="-122"/>
              </a:rPr>
              <a:t>了 </a:t>
            </a:r>
            <a:endParaRPr lang="en-US" altLang="zh-CN" sz="1600" dirty="0">
              <a:solidFill>
                <a:srgbClr val="FF0000"/>
              </a:solidFill>
              <a:latin typeface="Times New Roman" panose="02020503050405090304" pitchFamily="18" charset="0"/>
              <a:ea typeface="宋体" pitchFamily="2" charset="-122"/>
            </a:endParaRPr>
          </a:p>
          <a:p>
            <a:pPr>
              <a:lnSpc>
                <a:spcPts val="2520"/>
              </a:lnSpc>
            </a:pPr>
            <a:r>
              <a:rPr lang="zh-CN" altLang="en-US" sz="1600" dirty="0">
                <a:solidFill>
                  <a:srgbClr val="6EAD45"/>
                </a:solidFill>
                <a:latin typeface="Times New Roman" panose="02020503050405090304" pitchFamily="18" charset="0"/>
                <a:ea typeface="宋体" pitchFamily="2" charset="-122"/>
              </a:rPr>
              <a:t>  </a:t>
            </a:r>
            <a:r>
              <a:rPr lang="zh-CN" altLang="en-US" sz="1600" dirty="0">
                <a:latin typeface="Times New Roman" panose="02020503050405090304" pitchFamily="18" charset="0"/>
                <a:ea typeface="宋体" pitchFamily="2" charset="-122"/>
              </a:rPr>
              <a:t>严守</a:t>
            </a:r>
            <a:r>
              <a:rPr lang="en-US" altLang="zh-CN" sz="1600" dirty="0">
                <a:latin typeface="Times New Roman" panose="02020503050405090304" pitchFamily="18" charset="0"/>
                <a:ea typeface="宋体" pitchFamily="2" charset="-122"/>
              </a:rPr>
              <a:t>/ </a:t>
            </a:r>
            <a:r>
              <a:rPr lang="zh-CN" altLang="en-US" sz="1600" dirty="0">
                <a:latin typeface="Times New Roman" panose="02020503050405090304" pitchFamily="18" charset="0"/>
                <a:ea typeface="宋体" pitchFamily="2" charset="-122"/>
              </a:rPr>
              <a:t>一把手</a:t>
            </a:r>
            <a:r>
              <a:rPr lang="en-US" altLang="zh-CN" sz="1600" dirty="0">
                <a:latin typeface="Times New Roman" panose="02020503050405090304" pitchFamily="18" charset="0"/>
                <a:ea typeface="宋体" pitchFamily="2" charset="-122"/>
              </a:rPr>
              <a:t>/ </a:t>
            </a:r>
            <a:r>
              <a:rPr lang="zh-CN" altLang="en-US" sz="1600" dirty="0">
                <a:latin typeface="Times New Roman" panose="02020503050405090304" pitchFamily="18" charset="0"/>
                <a:ea typeface="宋体" pitchFamily="2" charset="-122"/>
              </a:rPr>
              <a:t>机关</a:t>
            </a:r>
            <a:r>
              <a:rPr lang="en-US" altLang="zh-CN" sz="1600" dirty="0">
                <a:latin typeface="Times New Roman" panose="02020503050405090304" pitchFamily="18" charset="0"/>
                <a:ea typeface="宋体" pitchFamily="2" charset="-122"/>
              </a:rPr>
              <a:t>/ </a:t>
            </a:r>
            <a:r>
              <a:rPr lang="zh-CN" altLang="en-US" sz="1600" dirty="0">
                <a:latin typeface="Times New Roman" panose="02020503050405090304" pitchFamily="18" charset="0"/>
                <a:ea typeface="宋体" pitchFamily="2" charset="-122"/>
              </a:rPr>
              <a:t>了 </a:t>
            </a:r>
            <a:endParaRPr lang="en-US" altLang="zh-CN" sz="1600" dirty="0">
              <a:latin typeface="Times New Roman" panose="02020503050405090304" pitchFamily="18" charset="0"/>
              <a:ea typeface="宋体" pitchFamily="2" charset="-122"/>
            </a:endParaRPr>
          </a:p>
          <a:p>
            <a:pPr>
              <a:lnSpc>
                <a:spcPts val="2520"/>
              </a:lnSpc>
            </a:pPr>
            <a:r>
              <a:rPr lang="zh-CN" altLang="en-US" sz="1600" dirty="0">
                <a:solidFill>
                  <a:srgbClr val="6EAD45"/>
                </a:solidFill>
                <a:latin typeface="Times New Roman" panose="02020503050405090304" pitchFamily="18" charset="0"/>
                <a:ea typeface="宋体" pitchFamily="2" charset="-122"/>
              </a:rPr>
              <a:t>  </a:t>
            </a:r>
            <a:r>
              <a:rPr lang="zh-CN" altLang="en-US" sz="1600" dirty="0">
                <a:latin typeface="Times New Roman" panose="02020503050405090304" pitchFamily="18" charset="0"/>
                <a:ea typeface="宋体" pitchFamily="2" charset="-122"/>
              </a:rPr>
              <a:t>严守</a:t>
            </a:r>
            <a:r>
              <a:rPr lang="en-US" altLang="zh-CN" sz="1600" dirty="0">
                <a:latin typeface="Times New Roman" panose="02020503050405090304" pitchFamily="18" charset="0"/>
                <a:ea typeface="宋体" pitchFamily="2" charset="-122"/>
              </a:rPr>
              <a:t>/ </a:t>
            </a:r>
            <a:r>
              <a:rPr lang="zh-CN" altLang="en-US" sz="1600" dirty="0">
                <a:latin typeface="Times New Roman" panose="02020503050405090304" pitchFamily="18" charset="0"/>
                <a:ea typeface="宋体" pitchFamily="2" charset="-122"/>
              </a:rPr>
              <a:t>一把</a:t>
            </a:r>
            <a:r>
              <a:rPr lang="en-US" altLang="zh-CN" sz="1600" dirty="0">
                <a:latin typeface="Times New Roman" panose="02020503050405090304" pitchFamily="18" charset="0"/>
                <a:ea typeface="宋体" pitchFamily="2" charset="-122"/>
              </a:rPr>
              <a:t>/ </a:t>
            </a:r>
            <a:r>
              <a:rPr lang="zh-CN" altLang="en-US" sz="1600" dirty="0">
                <a:latin typeface="Times New Roman" panose="02020503050405090304" pitchFamily="18" charset="0"/>
                <a:ea typeface="宋体" pitchFamily="2" charset="-122"/>
              </a:rPr>
              <a:t>手机</a:t>
            </a:r>
            <a:r>
              <a:rPr lang="en-US" altLang="zh-CN" sz="1600" dirty="0">
                <a:latin typeface="Times New Roman" panose="02020503050405090304" pitchFamily="18" charset="0"/>
                <a:ea typeface="宋体" pitchFamily="2" charset="-122"/>
              </a:rPr>
              <a:t>/ </a:t>
            </a:r>
            <a:r>
              <a:rPr lang="zh-CN" altLang="en-US" sz="1600" dirty="0">
                <a:latin typeface="Times New Roman" panose="02020503050405090304" pitchFamily="18" charset="0"/>
                <a:ea typeface="宋体" pitchFamily="2" charset="-122"/>
              </a:rPr>
              <a:t>关</a:t>
            </a:r>
            <a:r>
              <a:rPr lang="en-US" altLang="zh-CN" sz="1600" dirty="0">
                <a:latin typeface="Times New Roman" panose="02020503050405090304" pitchFamily="18" charset="0"/>
                <a:ea typeface="宋体" pitchFamily="2" charset="-122"/>
              </a:rPr>
              <a:t>/ </a:t>
            </a:r>
            <a:r>
              <a:rPr lang="zh-CN" altLang="en-US" sz="1600" dirty="0">
                <a:latin typeface="Times New Roman" panose="02020503050405090304" pitchFamily="18" charset="0"/>
                <a:ea typeface="宋体" pitchFamily="2" charset="-122"/>
              </a:rPr>
              <a:t>了 </a:t>
            </a:r>
            <a:endParaRPr lang="en-US" altLang="zh-CN" sz="1600" dirty="0">
              <a:latin typeface="Times New Roman" panose="02020503050405090304" pitchFamily="18" charset="0"/>
              <a:ea typeface="宋体" pitchFamily="2" charset="-122"/>
            </a:endParaRPr>
          </a:p>
          <a:p>
            <a:pPr>
              <a:lnSpc>
                <a:spcPts val="2520"/>
              </a:lnSpc>
            </a:pPr>
            <a:r>
              <a:rPr lang="zh-CN" altLang="en-US" sz="1600" dirty="0">
                <a:solidFill>
                  <a:srgbClr val="6EAD45"/>
                </a:solidFill>
                <a:latin typeface="Times New Roman" panose="02020503050405090304" pitchFamily="18" charset="0"/>
                <a:ea typeface="宋体" pitchFamily="2" charset="-122"/>
              </a:rPr>
              <a:t>  </a:t>
            </a:r>
            <a:r>
              <a:rPr lang="zh-CN" altLang="en-US" sz="1600" dirty="0">
                <a:latin typeface="Times New Roman" panose="02020503050405090304" pitchFamily="18" charset="0"/>
                <a:ea typeface="宋体" pitchFamily="2" charset="-122"/>
              </a:rPr>
              <a:t>严守一</a:t>
            </a:r>
            <a:r>
              <a:rPr lang="en-US" altLang="zh-CN" sz="1600" dirty="0">
                <a:latin typeface="Times New Roman" panose="02020503050405090304" pitchFamily="18" charset="0"/>
                <a:ea typeface="宋体" pitchFamily="2" charset="-122"/>
              </a:rPr>
              <a:t>/ </a:t>
            </a:r>
            <a:r>
              <a:rPr lang="zh-CN" altLang="en-US" sz="1600" dirty="0">
                <a:latin typeface="Times New Roman" panose="02020503050405090304" pitchFamily="18" charset="0"/>
                <a:ea typeface="宋体" pitchFamily="2" charset="-122"/>
              </a:rPr>
              <a:t>把手</a:t>
            </a:r>
            <a:r>
              <a:rPr lang="en-US" altLang="zh-CN" sz="1600" dirty="0">
                <a:latin typeface="Times New Roman" panose="02020503050405090304" pitchFamily="18" charset="0"/>
                <a:ea typeface="宋体" pitchFamily="2" charset="-122"/>
              </a:rPr>
              <a:t>/ </a:t>
            </a:r>
            <a:r>
              <a:rPr lang="zh-CN" altLang="en-US" sz="1600" dirty="0">
                <a:latin typeface="Times New Roman" panose="02020503050405090304" pitchFamily="18" charset="0"/>
                <a:ea typeface="宋体" pitchFamily="2" charset="-122"/>
              </a:rPr>
              <a:t>机关</a:t>
            </a:r>
            <a:r>
              <a:rPr lang="en-US" altLang="zh-CN" sz="1600" dirty="0">
                <a:latin typeface="Times New Roman" panose="02020503050405090304" pitchFamily="18" charset="0"/>
                <a:ea typeface="宋体" pitchFamily="2" charset="-122"/>
              </a:rPr>
              <a:t>/ </a:t>
            </a:r>
            <a:r>
              <a:rPr lang="zh-CN" altLang="en-US" sz="1600" dirty="0">
                <a:latin typeface="Times New Roman" panose="02020503050405090304" pitchFamily="18" charset="0"/>
                <a:ea typeface="宋体" pitchFamily="2" charset="-122"/>
              </a:rPr>
              <a:t>了 </a:t>
            </a:r>
            <a:endParaRPr lang="en-US" altLang="zh-CN" sz="1600" dirty="0">
              <a:latin typeface="Times New Roman" panose="02020503050405090304" pitchFamily="18" charset="0"/>
              <a:ea typeface="宋体" pitchFamily="2" charset="-122"/>
            </a:endParaRPr>
          </a:p>
          <a:p>
            <a:pPr>
              <a:lnSpc>
                <a:spcPts val="2520"/>
              </a:lnSpc>
            </a:pPr>
            <a:r>
              <a:rPr lang="zh-CN" altLang="en-US" sz="1600" dirty="0">
                <a:solidFill>
                  <a:srgbClr val="6EAD45"/>
                </a:solidFill>
                <a:latin typeface="Times New Roman" panose="02020503050405090304" pitchFamily="18" charset="0"/>
                <a:ea typeface="宋体" pitchFamily="2" charset="-122"/>
              </a:rPr>
              <a:t>  </a:t>
            </a:r>
            <a:r>
              <a:rPr lang="en-GB" altLang="zh-CN" sz="1600" dirty="0">
                <a:latin typeface="Times New Roman" panose="02020503050405090304" pitchFamily="18" charset="0"/>
                <a:ea typeface="宋体" pitchFamily="2" charset="-122"/>
              </a:rPr>
              <a:t>…… </a:t>
            </a:r>
            <a:endParaRPr lang="en-GB" altLang="zh-CN" sz="1600" dirty="0">
              <a:latin typeface="Times New Roman" panose="02020503050405090304" pitchFamily="18" charset="0"/>
              <a:ea typeface="宋体" pitchFamily="2" charset="-122"/>
            </a:endParaRPr>
          </a:p>
        </p:txBody>
      </p:sp>
      <p:sp>
        <p:nvSpPr>
          <p:cNvPr id="3" name="标题 2"/>
          <p:cNvSpPr>
            <a:spLocks noGrp="1"/>
          </p:cNvSpPr>
          <p:nvPr>
            <p:ph type="title"/>
          </p:nvPr>
        </p:nvSpPr>
        <p:spPr>
          <a:xfrm>
            <a:off x="362425" y="0"/>
            <a:ext cx="8781575" cy="702469"/>
          </a:xfrm>
        </p:spPr>
        <p:txBody>
          <a:bodyPr/>
          <a:lstStyle/>
          <a:p>
            <a:r>
              <a:rPr lang="zh-CN" altLang="en-US" sz="2400" b="1">
                <a:solidFill>
                  <a:srgbClr val="004C41"/>
                </a:solidFill>
                <a:ea typeface="宋体" pitchFamily="2" charset="-122"/>
                <a:cs typeface="+mn-ea"/>
                <a:sym typeface="+mn-lt"/>
              </a:rPr>
              <a:t>中文分词</a:t>
            </a:r>
            <a:endParaRPr lang="zh-CN" altLang="en-US">
              <a:ea typeface="宋体" pitchFamily="2" charset="-122"/>
            </a:endParaRPr>
          </a:p>
        </p:txBody>
      </p:sp>
      <p:sp>
        <p:nvSpPr>
          <p:cNvPr id="2" name="日期占位符 1"/>
          <p:cNvSpPr>
            <a:spLocks noGrp="1"/>
          </p:cNvSpPr>
          <p:nvPr>
            <p:ph type="dt" sz="half" idx="10"/>
          </p:nvPr>
        </p:nvSpPr>
        <p:spPr/>
        <p:txBody>
          <a:bodyPr/>
          <a:lstStyle/>
          <a:p>
            <a:fld id="{D619F00D-AC89-48EF-8F7D-EB70AC8D943C}" type="datetime1">
              <a:rPr lang="zh-CN" altLang="en-US" smtClean="0"/>
            </a:fld>
            <a:endParaRPr lang="zh-CN" altLang="en-US"/>
          </a:p>
        </p:txBody>
      </p:sp>
      <p:sp>
        <p:nvSpPr>
          <p:cNvPr id="5" name="灯片编号占位符 4"/>
          <p:cNvSpPr>
            <a:spLocks noGrp="1"/>
          </p:cNvSpPr>
          <p:nvPr>
            <p:ph type="sldNum" sz="quarter" idx="12"/>
          </p:nvPr>
        </p:nvSpPr>
        <p:spPr/>
        <p:txBody>
          <a:bodyPr/>
          <a:lstStyle/>
          <a:p>
            <a:fld id="{82952373-7980-4DA7-9ADE-54D716DB38BB}" type="slidenum">
              <a:rPr lang="zh-CN" altLang="en-US" smtClean="0"/>
            </a:fld>
            <a:endParaRPr lang="zh-CN" altLang="en-US"/>
          </a:p>
        </p:txBody>
      </p:sp>
    </p:spTree>
  </p:cSld>
  <p:clrMapOvr>
    <a:masterClrMapping/>
  </p:clrMapOvr>
  <mc:AlternateContent xmlns:mc="http://schemas.openxmlformats.org/markup-compatibility/2006">
    <mc:Choice xmlns:p14="http://schemas.microsoft.com/office/powerpoint/2010/main" Requires="p14">
      <p:transition p14:dur="0"/>
    </mc:Choice>
    <mc:Fallback>
      <p:transition/>
    </mc:Fallback>
  </mc:AlternateContent>
</p:sld>
</file>

<file path=ppt/slides/slide5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文本框 3"/>
          <p:cNvSpPr txBox="1"/>
          <p:nvPr/>
        </p:nvSpPr>
        <p:spPr>
          <a:xfrm>
            <a:off x="568648" y="885386"/>
            <a:ext cx="8369127" cy="3784113"/>
          </a:xfrm>
          <a:prstGeom prst="rect">
            <a:avLst/>
          </a:prstGeom>
          <a:ln>
            <a:noFill/>
          </a:ln>
        </p:spPr>
        <p:style>
          <a:lnRef idx="2">
            <a:schemeClr val="dk1"/>
          </a:lnRef>
          <a:fillRef idx="1">
            <a:schemeClr val="lt1"/>
          </a:fillRef>
          <a:effectRef idx="0">
            <a:schemeClr val="dk1"/>
          </a:effectRef>
          <a:fontRef idx="minor">
            <a:schemeClr val="dk1"/>
          </a:fontRef>
        </p:style>
        <p:txBody>
          <a:bodyPr wrap="square" rtlCol="0" anchor="t">
            <a:spAutoFit/>
          </a:bodyPr>
          <a:lstStyle/>
          <a:p>
            <a:pPr marL="285750" indent="-285750">
              <a:lnSpc>
                <a:spcPct val="150000"/>
              </a:lnSpc>
              <a:buClr>
                <a:srgbClr val="0070C0"/>
              </a:buClr>
              <a:buFont typeface="Wingdings" panose="05000000000000000000" pitchFamily="2" charset="2"/>
              <a:buChar char="n"/>
            </a:pPr>
            <a:r>
              <a:rPr lang="zh-CN" altLang="en-US" sz="1600" b="0">
                <a:latin typeface="Times New Roman" panose="02020503050405090304" pitchFamily="18" charset="0"/>
                <a:ea typeface="宋体" pitchFamily="2" charset="-122"/>
                <a:cs typeface="Times New Roman" panose="02020503050405090304" pitchFamily="18" charset="0"/>
              </a:rPr>
              <a:t>以</a:t>
            </a:r>
            <a:r>
              <a:rPr lang="zh-CN" altLang="en-US" sz="1600" b="0" dirty="0">
                <a:solidFill>
                  <a:srgbClr val="C00000"/>
                </a:solidFill>
                <a:latin typeface="Times New Roman" panose="02020503050405090304" pitchFamily="18" charset="0"/>
                <a:ea typeface="宋体" pitchFamily="2" charset="-122"/>
                <a:cs typeface="Times New Roman" panose="02020503050405090304" pitchFamily="18" charset="0"/>
              </a:rPr>
              <a:t>英语</a:t>
            </a:r>
            <a:r>
              <a:rPr lang="zh-CN" altLang="en-US" sz="1600" b="0" dirty="0">
                <a:latin typeface="Times New Roman" panose="02020503050405090304" pitchFamily="18" charset="0"/>
                <a:ea typeface="宋体" pitchFamily="2" charset="-122"/>
                <a:cs typeface="Times New Roman" panose="02020503050405090304" pitchFamily="18" charset="0"/>
              </a:rPr>
              <a:t>为代表的印欧语系语言，是否需要进行分词？ </a:t>
            </a:r>
            <a:endParaRPr lang="en-US" altLang="zh-CN" sz="1600" b="0" dirty="0">
              <a:latin typeface="Times New Roman" panose="02020503050405090304" pitchFamily="18" charset="0"/>
              <a:ea typeface="宋体" pitchFamily="2" charset="-122"/>
              <a:cs typeface="Times New Roman" panose="02020503050405090304" pitchFamily="18" charset="0"/>
            </a:endParaRPr>
          </a:p>
          <a:p>
            <a:pPr marL="285750" indent="-285750">
              <a:lnSpc>
                <a:spcPct val="150000"/>
              </a:lnSpc>
              <a:buClr>
                <a:srgbClr val="0070C0"/>
              </a:buClr>
              <a:buFont typeface="Wingdings" panose="05000000000000000000" pitchFamily="2" charset="2"/>
              <a:buChar char="n"/>
            </a:pPr>
            <a:r>
              <a:rPr lang="zh-CN" altLang="en-US" sz="1600" b="0">
                <a:latin typeface="Times New Roman" panose="02020503050405090304" pitchFamily="18" charset="0"/>
                <a:ea typeface="宋体" pitchFamily="2" charset="-122"/>
                <a:cs typeface="Times New Roman" panose="02020503050405090304" pitchFamily="18" charset="0"/>
              </a:rPr>
              <a:t>这些</a:t>
            </a:r>
            <a:r>
              <a:rPr lang="zh-CN" altLang="en-US" sz="1600" b="0" dirty="0">
                <a:latin typeface="Times New Roman" panose="02020503050405090304" pitchFamily="18" charset="0"/>
                <a:ea typeface="宋体" pitchFamily="2" charset="-122"/>
                <a:cs typeface="Times New Roman" panose="02020503050405090304" pitchFamily="18" charset="0"/>
              </a:rPr>
              <a:t>语言</a:t>
            </a:r>
            <a:r>
              <a:rPr lang="zh-CN" altLang="en-US" sz="1600" b="0" dirty="0">
                <a:solidFill>
                  <a:srgbClr val="C00000"/>
                </a:solidFill>
                <a:latin typeface="Times New Roman" panose="02020503050405090304" pitchFamily="18" charset="0"/>
                <a:ea typeface="宋体" pitchFamily="2" charset="-122"/>
                <a:cs typeface="Times New Roman" panose="02020503050405090304" pitchFamily="18" charset="0"/>
              </a:rPr>
              <a:t>词形变化</a:t>
            </a:r>
            <a:r>
              <a:rPr lang="zh-CN" altLang="en-US" sz="1600" b="0" dirty="0">
                <a:latin typeface="Times New Roman" panose="02020503050405090304" pitchFamily="18" charset="0"/>
                <a:ea typeface="宋体" pitchFamily="2" charset="-122"/>
                <a:cs typeface="Times New Roman" panose="02020503050405090304" pitchFamily="18" charset="0"/>
              </a:rPr>
              <a:t>复杂 </a:t>
            </a:r>
            <a:endParaRPr lang="en-US" altLang="zh-CN" sz="1600" b="0" dirty="0">
              <a:latin typeface="Times New Roman" panose="02020503050405090304" pitchFamily="18" charset="0"/>
              <a:ea typeface="宋体" pitchFamily="2" charset="-122"/>
              <a:cs typeface="Times New Roman" panose="02020503050405090304" pitchFamily="18" charset="0"/>
            </a:endParaRPr>
          </a:p>
          <a:p>
            <a:pPr>
              <a:lnSpc>
                <a:spcPct val="150000"/>
              </a:lnSpc>
              <a:buClr>
                <a:srgbClr val="0070C0"/>
              </a:buClr>
            </a:pPr>
            <a:r>
              <a:rPr lang="zh-CN" altLang="en-US" sz="1600" b="0" dirty="0">
                <a:latin typeface="Times New Roman" panose="02020503050405090304" pitchFamily="18" charset="0"/>
                <a:ea typeface="宋体" pitchFamily="2" charset="-122"/>
                <a:cs typeface="Times New Roman" panose="02020503050405090304" pitchFamily="18" charset="0"/>
              </a:rPr>
              <a:t>如：</a:t>
            </a:r>
            <a:r>
              <a:rPr lang="en-GB" altLang="zh-CN" sz="1600" b="0" i="1" dirty="0">
                <a:latin typeface="Times New Roman" panose="02020503050405090304" pitchFamily="18" charset="0"/>
                <a:ea typeface="宋体" pitchFamily="2" charset="-122"/>
                <a:cs typeface="Times New Roman" panose="02020503050405090304" pitchFamily="18" charset="0"/>
              </a:rPr>
              <a:t>computer</a:t>
            </a:r>
            <a:r>
              <a:rPr lang="zh-CN" altLang="en-GB" sz="1600" b="0" dirty="0">
                <a:latin typeface="Times New Roman" panose="02020503050405090304" pitchFamily="18" charset="0"/>
                <a:ea typeface="宋体" pitchFamily="2" charset="-122"/>
                <a:cs typeface="Times New Roman" panose="02020503050405090304" pitchFamily="18" charset="0"/>
              </a:rPr>
              <a:t>、</a:t>
            </a:r>
            <a:r>
              <a:rPr lang="en-GB" altLang="zh-CN" sz="1600" b="0" i="1" dirty="0">
                <a:latin typeface="Times New Roman" panose="02020503050405090304" pitchFamily="18" charset="0"/>
                <a:ea typeface="宋体" pitchFamily="2" charset="-122"/>
                <a:cs typeface="Times New Roman" panose="02020503050405090304" pitchFamily="18" charset="0"/>
              </a:rPr>
              <a:t>computers</a:t>
            </a:r>
            <a:r>
              <a:rPr lang="zh-CN" altLang="en-GB" sz="1600" b="0" dirty="0">
                <a:latin typeface="Times New Roman" panose="02020503050405090304" pitchFamily="18" charset="0"/>
                <a:ea typeface="宋体" pitchFamily="2" charset="-122"/>
                <a:cs typeface="Times New Roman" panose="02020503050405090304" pitchFamily="18" charset="0"/>
              </a:rPr>
              <a:t>、</a:t>
            </a:r>
            <a:r>
              <a:rPr lang="en-GB" altLang="zh-CN" sz="1600" b="0" i="1" dirty="0">
                <a:latin typeface="Times New Roman" panose="02020503050405090304" pitchFamily="18" charset="0"/>
                <a:ea typeface="宋体" pitchFamily="2" charset="-122"/>
                <a:cs typeface="Times New Roman" panose="02020503050405090304" pitchFamily="18" charset="0"/>
              </a:rPr>
              <a:t>computing</a:t>
            </a:r>
            <a:r>
              <a:rPr lang="zh-CN" altLang="en-US" sz="1600" b="0" dirty="0">
                <a:latin typeface="Times New Roman" panose="02020503050405090304" pitchFamily="18" charset="0"/>
                <a:ea typeface="宋体" pitchFamily="2" charset="-122"/>
                <a:cs typeface="Times New Roman" panose="02020503050405090304" pitchFamily="18" charset="0"/>
              </a:rPr>
              <a:t>等 </a:t>
            </a:r>
            <a:endParaRPr lang="en-US" altLang="zh-CN" sz="1600" b="0" dirty="0">
              <a:latin typeface="Times New Roman" panose="02020503050405090304" pitchFamily="18" charset="0"/>
              <a:ea typeface="宋体" pitchFamily="2" charset="-122"/>
              <a:cs typeface="Times New Roman" panose="02020503050405090304" pitchFamily="18" charset="0"/>
            </a:endParaRPr>
          </a:p>
          <a:p>
            <a:pPr marL="285750" indent="-285750">
              <a:lnSpc>
                <a:spcPct val="150000"/>
              </a:lnSpc>
              <a:buClr>
                <a:srgbClr val="0070C0"/>
              </a:buClr>
              <a:buFont typeface="Wingdings" panose="05000000000000000000" pitchFamily="2" charset="2"/>
              <a:buChar char="n"/>
            </a:pPr>
            <a:r>
              <a:rPr lang="zh-CN" altLang="en-US" sz="1600" b="0">
                <a:latin typeface="Times New Roman" panose="02020503050405090304" pitchFamily="18" charset="0"/>
                <a:ea typeface="宋体" pitchFamily="2" charset="-122"/>
                <a:cs typeface="Times New Roman" panose="02020503050405090304" pitchFamily="18" charset="0"/>
              </a:rPr>
              <a:t>仅</a:t>
            </a:r>
            <a:r>
              <a:rPr lang="zh-CN" altLang="en-US" sz="1600" b="0" dirty="0">
                <a:latin typeface="Times New Roman" panose="02020503050405090304" pitchFamily="18" charset="0"/>
                <a:ea typeface="宋体" pitchFamily="2" charset="-122"/>
                <a:cs typeface="Times New Roman" panose="02020503050405090304" pitchFamily="18" charset="0"/>
              </a:rPr>
              <a:t>用</a:t>
            </a:r>
            <a:r>
              <a:rPr lang="zh-CN" altLang="en-US" sz="1600" b="0" dirty="0">
                <a:solidFill>
                  <a:srgbClr val="C00000"/>
                </a:solidFill>
                <a:latin typeface="Times New Roman" panose="02020503050405090304" pitchFamily="18" charset="0"/>
                <a:ea typeface="宋体" pitchFamily="2" charset="-122"/>
                <a:cs typeface="Times New Roman" panose="02020503050405090304" pitchFamily="18" charset="0"/>
              </a:rPr>
              <a:t>空格</a:t>
            </a:r>
            <a:r>
              <a:rPr lang="zh-CN" altLang="en-US" sz="1600" b="0" dirty="0">
                <a:latin typeface="Times New Roman" panose="02020503050405090304" pitchFamily="18" charset="0"/>
                <a:ea typeface="宋体" pitchFamily="2" charset="-122"/>
                <a:cs typeface="Times New Roman" panose="02020503050405090304" pitchFamily="18" charset="0"/>
              </a:rPr>
              <a:t>切分的问题 </a:t>
            </a:r>
            <a:endParaRPr lang="en-US" altLang="zh-CN" sz="1600" b="0" dirty="0">
              <a:latin typeface="Times New Roman" panose="02020503050405090304" pitchFamily="18" charset="0"/>
              <a:ea typeface="宋体" pitchFamily="2" charset="-122"/>
              <a:cs typeface="Times New Roman" panose="02020503050405090304" pitchFamily="18" charset="0"/>
            </a:endParaRPr>
          </a:p>
          <a:p>
            <a:pPr marL="285750" indent="-285750">
              <a:lnSpc>
                <a:spcPct val="150000"/>
              </a:lnSpc>
              <a:buClr>
                <a:srgbClr val="0070C0"/>
              </a:buClr>
              <a:buFont typeface="Wingdings" panose="05000000000000000000" pitchFamily="2" charset="2"/>
              <a:buChar char="ü"/>
            </a:pPr>
            <a:r>
              <a:rPr lang="zh-CN" altLang="en-US" sz="1600" b="0" dirty="0">
                <a:latin typeface="Times New Roman" panose="02020503050405090304" pitchFamily="18" charset="0"/>
                <a:ea typeface="宋体" pitchFamily="2" charset="-122"/>
                <a:cs typeface="Times New Roman" panose="02020503050405090304" pitchFamily="18" charset="0"/>
              </a:rPr>
              <a:t>数据稀疏 </a:t>
            </a:r>
            <a:endParaRPr lang="en-US" altLang="zh-CN" sz="1600" b="0" dirty="0">
              <a:latin typeface="Times New Roman" panose="02020503050405090304" pitchFamily="18" charset="0"/>
              <a:ea typeface="宋体" pitchFamily="2" charset="-122"/>
              <a:cs typeface="Times New Roman" panose="02020503050405090304" pitchFamily="18" charset="0"/>
            </a:endParaRPr>
          </a:p>
          <a:p>
            <a:pPr marL="285750" indent="-285750">
              <a:lnSpc>
                <a:spcPct val="150000"/>
              </a:lnSpc>
              <a:buClr>
                <a:srgbClr val="0070C0"/>
              </a:buClr>
              <a:buFont typeface="Wingdings" panose="05000000000000000000" pitchFamily="2" charset="2"/>
              <a:buChar char="ü"/>
            </a:pPr>
            <a:r>
              <a:rPr lang="zh-CN" altLang="en-US" sz="1600" b="0" dirty="0">
                <a:latin typeface="Times New Roman" panose="02020503050405090304" pitchFamily="18" charset="0"/>
                <a:ea typeface="宋体" pitchFamily="2" charset="-122"/>
                <a:cs typeface="Times New Roman" panose="02020503050405090304" pitchFamily="18" charset="0"/>
              </a:rPr>
              <a:t>词表过大，降低处理速度 </a:t>
            </a:r>
            <a:endParaRPr lang="en-US" altLang="zh-CN" sz="1600" b="0" dirty="0">
              <a:latin typeface="Times New Roman" panose="02020503050405090304" pitchFamily="18" charset="0"/>
              <a:ea typeface="宋体" pitchFamily="2" charset="-122"/>
              <a:cs typeface="Times New Roman" panose="02020503050405090304" pitchFamily="18" charset="0"/>
            </a:endParaRPr>
          </a:p>
          <a:p>
            <a:pPr marL="285750" indent="-285750">
              <a:lnSpc>
                <a:spcPct val="150000"/>
              </a:lnSpc>
              <a:buClr>
                <a:srgbClr val="0070C0"/>
              </a:buClr>
              <a:buFont typeface="Wingdings" panose="05000000000000000000" pitchFamily="2" charset="2"/>
              <a:buChar char="n"/>
            </a:pPr>
            <a:r>
              <a:rPr lang="zh-CN" altLang="en-US" sz="1600" b="0">
                <a:latin typeface="Times New Roman" panose="02020503050405090304" pitchFamily="18" charset="0"/>
                <a:ea typeface="宋体" pitchFamily="2" charset="-122"/>
                <a:cs typeface="Times New Roman" panose="02020503050405090304" pitchFamily="18" charset="0"/>
              </a:rPr>
              <a:t>子</a:t>
            </a:r>
            <a:r>
              <a:rPr lang="zh-CN" altLang="en-US" sz="1600" b="0" dirty="0">
                <a:latin typeface="Times New Roman" panose="02020503050405090304" pitchFamily="18" charset="0"/>
                <a:ea typeface="宋体" pitchFamily="2" charset="-122"/>
                <a:cs typeface="Times New Roman" panose="02020503050405090304" pitchFamily="18" charset="0"/>
              </a:rPr>
              <a:t>词切分 </a:t>
            </a:r>
            <a:endParaRPr lang="en-US" altLang="zh-CN" sz="1600" b="0" dirty="0">
              <a:latin typeface="Times New Roman" panose="02020503050405090304" pitchFamily="18" charset="0"/>
              <a:ea typeface="宋体" pitchFamily="2" charset="-122"/>
              <a:cs typeface="Times New Roman" panose="02020503050405090304" pitchFamily="18" charset="0"/>
            </a:endParaRPr>
          </a:p>
          <a:p>
            <a:pPr marL="285750" indent="-285750">
              <a:lnSpc>
                <a:spcPct val="150000"/>
              </a:lnSpc>
              <a:buClr>
                <a:srgbClr val="0070C0"/>
              </a:buClr>
              <a:buFont typeface="Wingdings" panose="05000000000000000000" pitchFamily="2" charset="2"/>
              <a:buChar char="ü"/>
            </a:pPr>
            <a:r>
              <a:rPr lang="zh-CN" altLang="en-US" sz="1600" b="0" dirty="0">
                <a:latin typeface="Times New Roman" panose="02020503050405090304" pitchFamily="18" charset="0"/>
                <a:ea typeface="宋体" pitchFamily="2" charset="-122"/>
                <a:cs typeface="Times New Roman" panose="02020503050405090304" pitchFamily="18" charset="0"/>
              </a:rPr>
              <a:t>将一个单词切分为若干连续的</a:t>
            </a:r>
            <a:r>
              <a:rPr lang="zh-CN" altLang="en-US" sz="1600" b="0" dirty="0">
                <a:solidFill>
                  <a:srgbClr val="C00000"/>
                </a:solidFill>
                <a:latin typeface="Times New Roman" panose="02020503050405090304" pitchFamily="18" charset="0"/>
                <a:ea typeface="宋体" pitchFamily="2" charset="-122"/>
                <a:cs typeface="Times New Roman" panose="02020503050405090304" pitchFamily="18" charset="0"/>
              </a:rPr>
              <a:t>片段</a:t>
            </a:r>
            <a:r>
              <a:rPr lang="zh-CN" altLang="en-US" sz="1600" b="0" dirty="0">
                <a:latin typeface="Times New Roman" panose="02020503050405090304" pitchFamily="18" charset="0"/>
                <a:ea typeface="宋体" pitchFamily="2" charset="-122"/>
                <a:cs typeface="Times New Roman" panose="02020503050405090304" pitchFamily="18" charset="0"/>
              </a:rPr>
              <a:t>（子词） </a:t>
            </a:r>
            <a:endParaRPr lang="en-US" altLang="zh-CN" sz="1600" b="0" dirty="0">
              <a:latin typeface="Times New Roman" panose="02020503050405090304" pitchFamily="18" charset="0"/>
              <a:ea typeface="宋体" pitchFamily="2" charset="-122"/>
              <a:cs typeface="Times New Roman" panose="02020503050405090304" pitchFamily="18" charset="0"/>
            </a:endParaRPr>
          </a:p>
          <a:p>
            <a:pPr marL="285750" indent="-285750">
              <a:lnSpc>
                <a:spcPct val="150000"/>
              </a:lnSpc>
              <a:buClr>
                <a:srgbClr val="0070C0"/>
              </a:buClr>
              <a:buFont typeface="Wingdings" panose="05000000000000000000" pitchFamily="2" charset="2"/>
              <a:buChar char="ü"/>
            </a:pPr>
            <a:r>
              <a:rPr lang="zh-CN" altLang="en-US" sz="1600" b="0" dirty="0">
                <a:latin typeface="Times New Roman" panose="02020503050405090304" pitchFamily="18" charset="0"/>
                <a:ea typeface="宋体" pitchFamily="2" charset="-122"/>
                <a:cs typeface="Times New Roman" panose="02020503050405090304" pitchFamily="18" charset="0"/>
              </a:rPr>
              <a:t>方法众多，</a:t>
            </a:r>
            <a:r>
              <a:rPr lang="zh-CN" altLang="en-US" sz="1600" b="0" dirty="0">
                <a:solidFill>
                  <a:srgbClr val="C00000"/>
                </a:solidFill>
                <a:latin typeface="Times New Roman" panose="02020503050405090304" pitchFamily="18" charset="0"/>
                <a:ea typeface="宋体" pitchFamily="2" charset="-122"/>
                <a:cs typeface="Times New Roman" panose="02020503050405090304" pitchFamily="18" charset="0"/>
              </a:rPr>
              <a:t>基本原理相似 </a:t>
            </a:r>
            <a:endParaRPr lang="en-US" altLang="zh-CN" sz="1600" b="0" dirty="0">
              <a:solidFill>
                <a:srgbClr val="C00000"/>
              </a:solidFill>
              <a:latin typeface="Times New Roman" panose="02020503050405090304" pitchFamily="18" charset="0"/>
              <a:ea typeface="宋体" pitchFamily="2" charset="-122"/>
              <a:cs typeface="Times New Roman" panose="02020503050405090304" pitchFamily="18" charset="0"/>
            </a:endParaRPr>
          </a:p>
          <a:p>
            <a:pPr>
              <a:lnSpc>
                <a:spcPct val="150000"/>
              </a:lnSpc>
            </a:pPr>
            <a:r>
              <a:rPr lang="zh-CN" altLang="en-US" sz="1600" b="0">
                <a:solidFill>
                  <a:srgbClr val="6EAD45"/>
                </a:solidFill>
                <a:latin typeface="Times New Roman" panose="02020503050405090304" pitchFamily="18" charset="0"/>
                <a:ea typeface="宋体" pitchFamily="2" charset="-122"/>
                <a:cs typeface="Times New Roman" panose="02020503050405090304" pitchFamily="18" charset="0"/>
              </a:rPr>
              <a:t>  </a:t>
            </a:r>
            <a:r>
              <a:rPr lang="zh-CN" altLang="en-US" sz="1600" b="0">
                <a:latin typeface="Times New Roman" panose="02020503050405090304" pitchFamily="18" charset="0"/>
                <a:ea typeface="宋体" pitchFamily="2" charset="-122"/>
                <a:cs typeface="Times New Roman" panose="02020503050405090304" pitchFamily="18" charset="0"/>
              </a:rPr>
              <a:t>使用</a:t>
            </a:r>
            <a:r>
              <a:rPr lang="zh-CN" altLang="en-US" sz="1600" b="0" dirty="0">
                <a:latin typeface="Times New Roman" panose="02020503050405090304" pitchFamily="18" charset="0"/>
                <a:ea typeface="宋体" pitchFamily="2" charset="-122"/>
                <a:cs typeface="Times New Roman" panose="02020503050405090304" pitchFamily="18" charset="0"/>
              </a:rPr>
              <a:t>尽量长且频次高的子词对单词进行切分 </a:t>
            </a:r>
            <a:endParaRPr lang="zh-CN" altLang="en-US" sz="1600" b="0" dirty="0">
              <a:latin typeface="Times New Roman" panose="02020503050405090304" pitchFamily="18" charset="0"/>
              <a:ea typeface="宋体" pitchFamily="2" charset="-122"/>
              <a:cs typeface="Times New Roman" panose="02020503050405090304" pitchFamily="18" charset="0"/>
            </a:endParaRPr>
          </a:p>
        </p:txBody>
      </p:sp>
      <p:sp>
        <p:nvSpPr>
          <p:cNvPr id="3" name="标题 2"/>
          <p:cNvSpPr>
            <a:spLocks noGrp="1"/>
          </p:cNvSpPr>
          <p:nvPr>
            <p:ph type="title"/>
          </p:nvPr>
        </p:nvSpPr>
        <p:spPr>
          <a:xfrm>
            <a:off x="362425" y="0"/>
            <a:ext cx="8781575" cy="702469"/>
          </a:xfrm>
        </p:spPr>
        <p:txBody>
          <a:bodyPr/>
          <a:lstStyle/>
          <a:p>
            <a:r>
              <a:rPr lang="zh-CN" altLang="en-US" sz="2400" b="1">
                <a:solidFill>
                  <a:srgbClr val="004C41"/>
                </a:solidFill>
                <a:ea typeface="宋体" pitchFamily="2" charset="-122"/>
                <a:cs typeface="+mn-ea"/>
                <a:sym typeface="+mn-lt"/>
              </a:rPr>
              <a:t>子词切分</a:t>
            </a:r>
            <a:endParaRPr lang="zh-CN" altLang="en-US">
              <a:ea typeface="宋体" pitchFamily="2" charset="-122"/>
            </a:endParaRPr>
          </a:p>
        </p:txBody>
      </p:sp>
      <p:sp>
        <p:nvSpPr>
          <p:cNvPr id="2" name="日期占位符 1"/>
          <p:cNvSpPr>
            <a:spLocks noGrp="1"/>
          </p:cNvSpPr>
          <p:nvPr>
            <p:ph type="dt" sz="half" idx="10"/>
          </p:nvPr>
        </p:nvSpPr>
        <p:spPr/>
        <p:txBody>
          <a:bodyPr/>
          <a:lstStyle/>
          <a:p>
            <a:fld id="{DAA16566-EBF0-41E9-B162-CB87D4D74D57}" type="datetime1">
              <a:rPr lang="zh-CN" altLang="en-US" smtClean="0"/>
            </a:fld>
            <a:endParaRPr lang="zh-CN" altLang="en-US"/>
          </a:p>
        </p:txBody>
      </p:sp>
      <p:sp>
        <p:nvSpPr>
          <p:cNvPr id="5" name="灯片编号占位符 4"/>
          <p:cNvSpPr>
            <a:spLocks noGrp="1"/>
          </p:cNvSpPr>
          <p:nvPr>
            <p:ph type="sldNum" sz="quarter" idx="12"/>
          </p:nvPr>
        </p:nvSpPr>
        <p:spPr/>
        <p:txBody>
          <a:bodyPr/>
          <a:lstStyle/>
          <a:p>
            <a:fld id="{82952373-7980-4DA7-9ADE-54D716DB38BB}" type="slidenum">
              <a:rPr lang="zh-CN" altLang="en-US" smtClean="0"/>
            </a:fld>
            <a:endParaRPr lang="zh-CN" altLang="en-US"/>
          </a:p>
        </p:txBody>
      </p:sp>
    </p:spTree>
  </p:cSld>
  <p:clrMapOvr>
    <a:masterClrMapping/>
  </p:clrMapOvr>
  <mc:AlternateContent xmlns:mc="http://schemas.openxmlformats.org/markup-compatibility/2006">
    <mc:Choice xmlns:p14="http://schemas.microsoft.com/office/powerpoint/2010/main" Requires="p14">
      <p:transition p14:dur="0"/>
    </mc:Choice>
    <mc:Fallback>
      <p:transition/>
    </mc:Fallback>
  </mc:AlternateContent>
</p:sld>
</file>

<file path=ppt/slides/slide5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图片 3"/>
          <p:cNvPicPr>
            <a:picLocks noChangeAspect="1"/>
          </p:cNvPicPr>
          <p:nvPr/>
        </p:nvPicPr>
        <p:blipFill>
          <a:blip r:embed="rId1"/>
          <a:stretch>
            <a:fillRect/>
          </a:stretch>
        </p:blipFill>
        <p:spPr>
          <a:xfrm>
            <a:off x="609945" y="2144514"/>
            <a:ext cx="3147003" cy="1634693"/>
          </a:xfrm>
          <a:prstGeom prst="rect">
            <a:avLst/>
          </a:prstGeom>
        </p:spPr>
      </p:pic>
      <p:pic>
        <p:nvPicPr>
          <p:cNvPr id="5" name="图片 4"/>
          <p:cNvPicPr>
            <a:picLocks noChangeAspect="1"/>
          </p:cNvPicPr>
          <p:nvPr/>
        </p:nvPicPr>
        <p:blipFill>
          <a:blip r:embed="rId2"/>
          <a:stretch>
            <a:fillRect/>
          </a:stretch>
        </p:blipFill>
        <p:spPr>
          <a:xfrm>
            <a:off x="3936656" y="1936750"/>
            <a:ext cx="4597400" cy="1270000"/>
          </a:xfrm>
          <a:prstGeom prst="rect">
            <a:avLst/>
          </a:prstGeom>
        </p:spPr>
      </p:pic>
      <p:pic>
        <p:nvPicPr>
          <p:cNvPr id="7" name="图片 6"/>
          <p:cNvPicPr>
            <a:picLocks noChangeAspect="1"/>
          </p:cNvPicPr>
          <p:nvPr/>
        </p:nvPicPr>
        <p:blipFill>
          <a:blip r:embed="rId3"/>
          <a:stretch>
            <a:fillRect/>
          </a:stretch>
        </p:blipFill>
        <p:spPr>
          <a:xfrm>
            <a:off x="4146207" y="3321567"/>
            <a:ext cx="4178300" cy="1270000"/>
          </a:xfrm>
          <a:prstGeom prst="rect">
            <a:avLst/>
          </a:prstGeom>
        </p:spPr>
      </p:pic>
      <p:sp>
        <p:nvSpPr>
          <p:cNvPr id="6" name="标题 5"/>
          <p:cNvSpPr>
            <a:spLocks noGrp="1"/>
          </p:cNvSpPr>
          <p:nvPr>
            <p:ph type="title"/>
          </p:nvPr>
        </p:nvSpPr>
        <p:spPr>
          <a:xfrm>
            <a:off x="362425" y="3293"/>
            <a:ext cx="8781575" cy="702469"/>
          </a:xfrm>
        </p:spPr>
        <p:txBody>
          <a:bodyPr/>
          <a:lstStyle/>
          <a:p>
            <a:r>
              <a:rPr lang="zh-CN" altLang="en-US" sz="2400" b="1">
                <a:solidFill>
                  <a:srgbClr val="004C41"/>
                </a:solidFill>
                <a:ea typeface="宋体" pitchFamily="2" charset="-122"/>
                <a:cs typeface="+mn-ea"/>
              </a:rPr>
              <a:t>句法分析</a:t>
            </a:r>
            <a:endParaRPr lang="zh-CN" altLang="en-US">
              <a:ea typeface="宋体" pitchFamily="2" charset="-122"/>
            </a:endParaRPr>
          </a:p>
        </p:txBody>
      </p:sp>
      <p:sp>
        <p:nvSpPr>
          <p:cNvPr id="11" name="文本框 10"/>
          <p:cNvSpPr txBox="1"/>
          <p:nvPr/>
        </p:nvSpPr>
        <p:spPr>
          <a:xfrm>
            <a:off x="524544" y="886489"/>
            <a:ext cx="6556248" cy="869533"/>
          </a:xfrm>
          <a:prstGeom prst="rect">
            <a:avLst/>
          </a:prstGeom>
          <a:noFill/>
        </p:spPr>
        <p:txBody>
          <a:bodyPr wrap="square">
            <a:spAutoFit/>
          </a:bodyPr>
          <a:lstStyle/>
          <a:p>
            <a:pPr marL="285750" indent="-285750">
              <a:lnSpc>
                <a:spcPct val="150000"/>
              </a:lnSpc>
              <a:buClr>
                <a:srgbClr val="0070C0"/>
              </a:buClr>
              <a:buFont typeface="Wingdings" panose="05000000000000000000" pitchFamily="2" charset="2"/>
              <a:buChar char="n"/>
            </a:pPr>
            <a:r>
              <a:rPr lang="zh-CN" altLang="en-US" sz="1800">
                <a:latin typeface="Times New Roman" panose="02020503050405090304" pitchFamily="18" charset="0"/>
              </a:rPr>
              <a:t>分析句子的</a:t>
            </a:r>
            <a:r>
              <a:rPr lang="zh-CN" altLang="en-US" sz="1800">
                <a:solidFill>
                  <a:srgbClr val="C00000"/>
                </a:solidFill>
                <a:latin typeface="Times New Roman" panose="02020503050405090304" pitchFamily="18" charset="0"/>
              </a:rPr>
              <a:t>句法成分</a:t>
            </a:r>
            <a:r>
              <a:rPr lang="zh-CN" altLang="en-US" sz="1800">
                <a:latin typeface="Times New Roman" panose="02020503050405090304" pitchFamily="18" charset="0"/>
              </a:rPr>
              <a:t>，如主谓宾定状补等 </a:t>
            </a:r>
            <a:endParaRPr lang="en-US" altLang="zh-CN" sz="1800">
              <a:latin typeface="Times New Roman" panose="02020503050405090304" pitchFamily="18" charset="0"/>
            </a:endParaRPr>
          </a:p>
          <a:p>
            <a:pPr marL="285750" indent="-285750">
              <a:lnSpc>
                <a:spcPct val="150000"/>
              </a:lnSpc>
              <a:buClr>
                <a:srgbClr val="0070C0"/>
              </a:buClr>
              <a:buFont typeface="Wingdings" panose="05000000000000000000" pitchFamily="2" charset="2"/>
              <a:buChar char="n"/>
            </a:pPr>
            <a:r>
              <a:rPr lang="zh-CN" altLang="en-US" sz="1800">
                <a:latin typeface="Times New Roman" panose="02020503050405090304" pitchFamily="18" charset="0"/>
              </a:rPr>
              <a:t>将词序列表示的句子转换成</a:t>
            </a:r>
            <a:r>
              <a:rPr lang="zh-CN" altLang="en-US" sz="1800">
                <a:solidFill>
                  <a:srgbClr val="C00000"/>
                </a:solidFill>
                <a:latin typeface="Times New Roman" panose="02020503050405090304" pitchFamily="18" charset="0"/>
              </a:rPr>
              <a:t>树状结构 </a:t>
            </a:r>
            <a:endParaRPr lang="zh-CN" altLang="en-US" sz="1800" dirty="0">
              <a:latin typeface="Times New Roman" panose="02020503050405090304" pitchFamily="18" charset="0"/>
            </a:endParaRPr>
          </a:p>
        </p:txBody>
      </p:sp>
      <p:sp>
        <p:nvSpPr>
          <p:cNvPr id="2" name="日期占位符 1"/>
          <p:cNvSpPr>
            <a:spLocks noGrp="1"/>
          </p:cNvSpPr>
          <p:nvPr>
            <p:ph type="dt" sz="half" idx="10"/>
          </p:nvPr>
        </p:nvSpPr>
        <p:spPr/>
        <p:txBody>
          <a:bodyPr/>
          <a:lstStyle/>
          <a:p>
            <a:fld id="{20D4346A-4066-4108-8885-CCFA3EE48341}" type="datetime1">
              <a:rPr lang="zh-CN" altLang="en-US" smtClean="0"/>
            </a:fld>
            <a:endParaRPr lang="zh-CN" altLang="en-US"/>
          </a:p>
        </p:txBody>
      </p:sp>
      <p:sp>
        <p:nvSpPr>
          <p:cNvPr id="3" name="灯片编号占位符 2"/>
          <p:cNvSpPr>
            <a:spLocks noGrp="1"/>
          </p:cNvSpPr>
          <p:nvPr>
            <p:ph type="sldNum" sz="quarter" idx="12"/>
          </p:nvPr>
        </p:nvSpPr>
        <p:spPr/>
        <p:txBody>
          <a:bodyPr/>
          <a:lstStyle/>
          <a:p>
            <a:fld id="{82952373-7980-4DA7-9ADE-54D716DB38BB}" type="slidenum">
              <a:rPr lang="zh-CN" altLang="en-US" smtClean="0"/>
            </a:fld>
            <a:endParaRPr lang="zh-CN" altLang="en-US"/>
          </a:p>
        </p:txBody>
      </p:sp>
    </p:spTree>
  </p:cSld>
  <p:clrMapOvr>
    <a:masterClrMapping/>
  </p:clrMapOvr>
  <mc:AlternateContent xmlns:mc="http://schemas.openxmlformats.org/markup-compatibility/2006">
    <mc:Choice xmlns:p14="http://schemas.microsoft.com/office/powerpoint/2010/main" Requires="p14">
      <p:transition p14:dur="0"/>
    </mc:Choice>
    <mc:Fallback>
      <p:transition/>
    </mc:Fallback>
  </mc:AlternateContent>
</p:sld>
</file>

<file path=ppt/slides/slide5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文本框 3"/>
          <p:cNvSpPr txBox="1"/>
          <p:nvPr/>
        </p:nvSpPr>
        <p:spPr>
          <a:xfrm>
            <a:off x="494239" y="852865"/>
            <a:ext cx="8268409" cy="1018164"/>
          </a:xfrm>
          <a:prstGeom prst="rect">
            <a:avLst/>
          </a:prstGeom>
          <a:ln>
            <a:noFill/>
          </a:ln>
        </p:spPr>
        <p:style>
          <a:lnRef idx="2">
            <a:schemeClr val="dk1"/>
          </a:lnRef>
          <a:fillRef idx="1">
            <a:schemeClr val="lt1"/>
          </a:fillRef>
          <a:effectRef idx="0">
            <a:schemeClr val="dk1"/>
          </a:effectRef>
          <a:fontRef idx="minor">
            <a:schemeClr val="dk1"/>
          </a:fontRef>
        </p:style>
        <p:txBody>
          <a:bodyPr wrap="square" rtlCol="0" anchor="t">
            <a:spAutoFit/>
          </a:bodyPr>
          <a:lstStyle/>
          <a:p>
            <a:pPr marL="285750" indent="-285750">
              <a:lnSpc>
                <a:spcPct val="130000"/>
              </a:lnSpc>
              <a:buClr>
                <a:srgbClr val="0070C0"/>
              </a:buClr>
              <a:buFont typeface="Wingdings" panose="05000000000000000000" pitchFamily="2" charset="2"/>
              <a:buChar char="n"/>
            </a:pPr>
            <a:r>
              <a:rPr lang="zh-CN" altLang="en-US" sz="1600" b="0" dirty="0">
                <a:latin typeface="Times New Roman" panose="02020503050405090304" pitchFamily="18" charset="0"/>
                <a:ea typeface="宋体" pitchFamily="2" charset="-122"/>
              </a:rPr>
              <a:t>词义消歧</a:t>
            </a:r>
            <a:r>
              <a:rPr lang="zh-CN" altLang="en-GB" sz="1600" b="0" dirty="0">
                <a:latin typeface="Times New Roman" panose="02020503050405090304" pitchFamily="18" charset="0"/>
                <a:ea typeface="宋体" pitchFamily="2" charset="-122"/>
              </a:rPr>
              <a:t>（</a:t>
            </a:r>
            <a:r>
              <a:rPr lang="en-GB" altLang="zh-CN" sz="1600" b="0" dirty="0">
                <a:latin typeface="Times New Roman" panose="02020503050405090304" pitchFamily="18" charset="0"/>
                <a:ea typeface="宋体" pitchFamily="2" charset="-122"/>
              </a:rPr>
              <a:t>Word Sense Disambiguation</a:t>
            </a:r>
            <a:r>
              <a:rPr lang="zh-CN" altLang="en-GB" sz="1600" b="0" dirty="0">
                <a:latin typeface="Times New Roman" panose="02020503050405090304" pitchFamily="18" charset="0"/>
                <a:ea typeface="宋体" pitchFamily="2" charset="-122"/>
              </a:rPr>
              <a:t>，</a:t>
            </a:r>
            <a:r>
              <a:rPr lang="en-GB" altLang="zh-CN" sz="1600" b="0" dirty="0">
                <a:latin typeface="Times New Roman" panose="02020503050405090304" pitchFamily="18" charset="0"/>
                <a:ea typeface="宋体" pitchFamily="2" charset="-122"/>
              </a:rPr>
              <a:t>WSD</a:t>
            </a:r>
            <a:r>
              <a:rPr lang="zh-CN" altLang="en-GB" sz="1600" b="0" dirty="0">
                <a:latin typeface="Times New Roman" panose="02020503050405090304" pitchFamily="18" charset="0"/>
                <a:ea typeface="宋体" pitchFamily="2" charset="-122"/>
              </a:rPr>
              <a:t>） </a:t>
            </a:r>
            <a:endParaRPr lang="en-US" altLang="zh-CN" sz="1600" b="0" dirty="0">
              <a:latin typeface="Times New Roman" panose="02020503050405090304" pitchFamily="18" charset="0"/>
              <a:ea typeface="宋体" pitchFamily="2" charset="-122"/>
            </a:endParaRPr>
          </a:p>
          <a:p>
            <a:pPr marL="285750" indent="-285750">
              <a:lnSpc>
                <a:spcPct val="130000"/>
              </a:lnSpc>
              <a:buClr>
                <a:srgbClr val="0070C0"/>
              </a:buClr>
              <a:buFont typeface="Wingdings" panose="05000000000000000000" pitchFamily="2" charset="2"/>
              <a:buChar char="n"/>
            </a:pPr>
            <a:r>
              <a:rPr lang="zh-CN" altLang="en-US" sz="1600" b="0" dirty="0">
                <a:latin typeface="Times New Roman" panose="02020503050405090304" pitchFamily="18" charset="0"/>
                <a:ea typeface="宋体" pitchFamily="2" charset="-122"/>
              </a:rPr>
              <a:t>语义</a:t>
            </a:r>
            <a:r>
              <a:rPr lang="zh-CN" altLang="en-US" sz="1600" b="0">
                <a:latin typeface="Times New Roman" panose="02020503050405090304" pitchFamily="18" charset="0"/>
                <a:ea typeface="宋体" pitchFamily="2" charset="-122"/>
              </a:rPr>
              <a:t>角色标注：也</a:t>
            </a:r>
            <a:r>
              <a:rPr lang="zh-CN" altLang="en-US" sz="1600" b="0" dirty="0">
                <a:latin typeface="Times New Roman" panose="02020503050405090304" pitchFamily="18" charset="0"/>
                <a:ea typeface="宋体" pitchFamily="2" charset="-122"/>
              </a:rPr>
              <a:t>称谓词论元结构</a:t>
            </a:r>
            <a:endParaRPr lang="en-US" altLang="zh-CN" sz="1600" b="0" dirty="0">
              <a:latin typeface="Times New Roman" panose="02020503050405090304" pitchFamily="18" charset="0"/>
              <a:ea typeface="宋体" pitchFamily="2" charset="-122"/>
            </a:endParaRPr>
          </a:p>
          <a:p>
            <a:pPr marL="285750" indent="-285750">
              <a:lnSpc>
                <a:spcPct val="130000"/>
              </a:lnSpc>
              <a:buClr>
                <a:srgbClr val="0070C0"/>
              </a:buClr>
              <a:buFont typeface="Wingdings" panose="05000000000000000000" pitchFamily="2" charset="2"/>
              <a:buChar char="n"/>
            </a:pPr>
            <a:r>
              <a:rPr lang="zh-CN" altLang="en-US" sz="1600" b="0" dirty="0">
                <a:latin typeface="Times New Roman" panose="02020503050405090304" pitchFamily="18" charset="0"/>
                <a:ea typeface="宋体" pitchFamily="2" charset="-122"/>
              </a:rPr>
              <a:t>仅用</a:t>
            </a:r>
            <a:r>
              <a:rPr lang="zh-CN" altLang="en-US" sz="1600" b="0" dirty="0">
                <a:solidFill>
                  <a:srgbClr val="C00000"/>
                </a:solidFill>
                <a:latin typeface="Times New Roman" panose="02020503050405090304" pitchFamily="18" charset="0"/>
                <a:ea typeface="宋体" pitchFamily="2" charset="-122"/>
              </a:rPr>
              <a:t>空格</a:t>
            </a:r>
            <a:r>
              <a:rPr lang="zh-CN" altLang="en-US" sz="1600" b="0" dirty="0">
                <a:latin typeface="Times New Roman" panose="02020503050405090304" pitchFamily="18" charset="0"/>
                <a:ea typeface="宋体" pitchFamily="2" charset="-122"/>
              </a:rPr>
              <a:t>切分的</a:t>
            </a:r>
            <a:r>
              <a:rPr lang="zh-CN" altLang="en-US" sz="1600" b="0">
                <a:latin typeface="Times New Roman" panose="02020503050405090304" pitchFamily="18" charset="0"/>
                <a:ea typeface="宋体" pitchFamily="2" charset="-122"/>
              </a:rPr>
              <a:t>问题 </a:t>
            </a:r>
            <a:endParaRPr lang="en-US" altLang="zh-CN" sz="1600" b="0" dirty="0">
              <a:latin typeface="Times New Roman" panose="02020503050405090304" pitchFamily="18" charset="0"/>
              <a:ea typeface="宋体" pitchFamily="2" charset="-122"/>
            </a:endParaRPr>
          </a:p>
        </p:txBody>
      </p:sp>
      <p:pic>
        <p:nvPicPr>
          <p:cNvPr id="3" name="图片 2"/>
          <p:cNvPicPr>
            <a:picLocks noChangeAspect="1"/>
          </p:cNvPicPr>
          <p:nvPr/>
        </p:nvPicPr>
        <p:blipFill>
          <a:blip r:embed="rId1"/>
          <a:stretch>
            <a:fillRect/>
          </a:stretch>
        </p:blipFill>
        <p:spPr>
          <a:xfrm>
            <a:off x="2675238" y="1834036"/>
            <a:ext cx="3793524" cy="1088883"/>
          </a:xfrm>
          <a:prstGeom prst="rect">
            <a:avLst/>
          </a:prstGeom>
        </p:spPr>
      </p:pic>
      <p:pic>
        <p:nvPicPr>
          <p:cNvPr id="5" name="图片 4"/>
          <p:cNvPicPr>
            <a:picLocks noChangeAspect="1"/>
          </p:cNvPicPr>
          <p:nvPr/>
        </p:nvPicPr>
        <p:blipFill>
          <a:blip r:embed="rId2"/>
          <a:stretch>
            <a:fillRect/>
          </a:stretch>
        </p:blipFill>
        <p:spPr>
          <a:xfrm>
            <a:off x="2557360" y="3134354"/>
            <a:ext cx="3671999" cy="1484100"/>
          </a:xfrm>
          <a:prstGeom prst="rect">
            <a:avLst/>
          </a:prstGeom>
        </p:spPr>
      </p:pic>
      <p:sp>
        <p:nvSpPr>
          <p:cNvPr id="6" name="标题 5"/>
          <p:cNvSpPr>
            <a:spLocks noGrp="1"/>
          </p:cNvSpPr>
          <p:nvPr>
            <p:ph type="title"/>
          </p:nvPr>
        </p:nvSpPr>
        <p:spPr>
          <a:xfrm>
            <a:off x="362425" y="-20176"/>
            <a:ext cx="8781575" cy="702469"/>
          </a:xfrm>
        </p:spPr>
        <p:txBody>
          <a:bodyPr/>
          <a:lstStyle/>
          <a:p>
            <a:r>
              <a:rPr lang="zh-CN" altLang="en-US">
                <a:ea typeface="宋体" pitchFamily="2" charset="-122"/>
              </a:rPr>
              <a:t>语义分析</a:t>
            </a:r>
            <a:endParaRPr lang="zh-CN" altLang="en-US">
              <a:ea typeface="宋体" pitchFamily="2" charset="-122"/>
            </a:endParaRPr>
          </a:p>
        </p:txBody>
      </p:sp>
      <p:sp>
        <p:nvSpPr>
          <p:cNvPr id="2" name="日期占位符 1"/>
          <p:cNvSpPr>
            <a:spLocks noGrp="1"/>
          </p:cNvSpPr>
          <p:nvPr>
            <p:ph type="dt" sz="half" idx="10"/>
          </p:nvPr>
        </p:nvSpPr>
        <p:spPr/>
        <p:txBody>
          <a:bodyPr/>
          <a:lstStyle/>
          <a:p>
            <a:fld id="{F27BC3D2-050D-44C7-8FB7-3708DC90569E}" type="datetime1">
              <a:rPr lang="zh-CN" altLang="en-US" smtClean="0"/>
            </a:fld>
            <a:endParaRPr lang="zh-CN" altLang="en-US"/>
          </a:p>
        </p:txBody>
      </p:sp>
      <p:sp>
        <p:nvSpPr>
          <p:cNvPr id="7" name="灯片编号占位符 6"/>
          <p:cNvSpPr>
            <a:spLocks noGrp="1"/>
          </p:cNvSpPr>
          <p:nvPr>
            <p:ph type="sldNum" sz="quarter" idx="12"/>
          </p:nvPr>
        </p:nvSpPr>
        <p:spPr/>
        <p:txBody>
          <a:bodyPr/>
          <a:lstStyle/>
          <a:p>
            <a:fld id="{82952373-7980-4DA7-9ADE-54D716DB38BB}" type="slidenum">
              <a:rPr lang="zh-CN" altLang="en-US" smtClean="0"/>
            </a:fld>
            <a:endParaRPr lang="zh-CN" altLang="en-US"/>
          </a:p>
        </p:txBody>
      </p:sp>
      <p:sp>
        <p:nvSpPr>
          <p:cNvPr id="9" name="文本框 8"/>
          <p:cNvSpPr txBox="1"/>
          <p:nvPr/>
        </p:nvSpPr>
        <p:spPr>
          <a:xfrm>
            <a:off x="530352" y="2765022"/>
            <a:ext cx="4572000" cy="369332"/>
          </a:xfrm>
          <a:prstGeom prst="rect">
            <a:avLst/>
          </a:prstGeom>
          <a:noFill/>
        </p:spPr>
        <p:txBody>
          <a:bodyPr wrap="square">
            <a:spAutoFit/>
          </a:bodyPr>
          <a:lstStyle/>
          <a:p>
            <a:pPr marL="285750" indent="-285750">
              <a:buClr>
                <a:srgbClr val="0070C0"/>
              </a:buClr>
              <a:buFont typeface="Wingdings" panose="05000000000000000000" pitchFamily="2" charset="2"/>
              <a:buChar char="n"/>
            </a:pPr>
            <a:r>
              <a:rPr lang="zh-CN" altLang="en-US" sz="1800">
                <a:latin typeface="Times New Roman" panose="02020503050405090304" pitchFamily="18" charset="0"/>
                <a:ea typeface="宋体" pitchFamily="2" charset="-122"/>
              </a:rPr>
              <a:t>语义依存树 </a:t>
            </a:r>
            <a:endParaRPr lang="en-US" altLang="zh-CN" dirty="0">
              <a:latin typeface="Times New Roman" panose="02020503050405090304" pitchFamily="18" charset="0"/>
              <a:ea typeface="宋体" pitchFamily="2" charset="-122"/>
            </a:endParaRPr>
          </a:p>
        </p:txBody>
      </p:sp>
    </p:spTree>
  </p:cSld>
  <p:clrMapOvr>
    <a:masterClrMapping/>
  </p:clrMapOvr>
  <mc:AlternateContent xmlns:mc="http://schemas.openxmlformats.org/markup-compatibility/2006">
    <mc:Choice xmlns:p14="http://schemas.microsoft.com/office/powerpoint/2010/main" Requires="p14">
      <p:transition p14:dur="0"/>
    </mc:Choice>
    <mc:Fallback>
      <p:transition/>
    </mc:Fallback>
  </mc:AlternateContent>
</p:sld>
</file>

<file path=ppt/slides/slide5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文本框 3"/>
          <p:cNvSpPr txBox="1"/>
          <p:nvPr/>
        </p:nvSpPr>
        <p:spPr>
          <a:xfrm>
            <a:off x="974453" y="1007690"/>
            <a:ext cx="7557516" cy="2117246"/>
          </a:xfrm>
          <a:prstGeom prst="rect">
            <a:avLst/>
          </a:prstGeom>
          <a:ln>
            <a:noFill/>
          </a:ln>
        </p:spPr>
        <p:style>
          <a:lnRef idx="2">
            <a:schemeClr val="dk1"/>
          </a:lnRef>
          <a:fillRef idx="1">
            <a:schemeClr val="lt1"/>
          </a:fillRef>
          <a:effectRef idx="0">
            <a:schemeClr val="dk1"/>
          </a:effectRef>
          <a:fontRef idx="minor">
            <a:schemeClr val="dk1"/>
          </a:fontRef>
        </p:style>
        <p:txBody>
          <a:bodyPr wrap="square" rtlCol="0" anchor="t">
            <a:spAutoFit/>
          </a:bodyPr>
          <a:lstStyle/>
          <a:p>
            <a:pPr marL="285750" indent="-285750">
              <a:lnSpc>
                <a:spcPct val="150000"/>
              </a:lnSpc>
              <a:buClr>
                <a:srgbClr val="0070C0"/>
              </a:buClr>
              <a:buFont typeface="Wingdings" panose="05000000000000000000" pitchFamily="2" charset="2"/>
              <a:buChar char="n"/>
            </a:pPr>
            <a:r>
              <a:rPr lang="zh-CN" altLang="en-US" b="0" dirty="0">
                <a:latin typeface="Times New Roman" panose="02020503050405090304" pitchFamily="18" charset="0"/>
                <a:ea typeface="宋体" pitchFamily="2" charset="-122"/>
              </a:rPr>
              <a:t>信息抽取</a:t>
            </a:r>
            <a:r>
              <a:rPr lang="zh-CN" altLang="en-GB" b="0" dirty="0">
                <a:latin typeface="Times New Roman" panose="02020503050405090304" pitchFamily="18" charset="0"/>
                <a:ea typeface="宋体" pitchFamily="2" charset="-122"/>
              </a:rPr>
              <a:t>（</a:t>
            </a:r>
            <a:r>
              <a:rPr lang="en-GB" altLang="zh-CN" b="0" dirty="0">
                <a:latin typeface="Times New Roman" panose="02020503050405090304" pitchFamily="18" charset="0"/>
                <a:ea typeface="宋体" pitchFamily="2" charset="-122"/>
              </a:rPr>
              <a:t>Information Extraction</a:t>
            </a:r>
            <a:r>
              <a:rPr lang="zh-CN" altLang="en-GB" b="0" dirty="0">
                <a:latin typeface="Times New Roman" panose="02020503050405090304" pitchFamily="18" charset="0"/>
                <a:ea typeface="宋体" pitchFamily="2" charset="-122"/>
              </a:rPr>
              <a:t>，</a:t>
            </a:r>
            <a:r>
              <a:rPr lang="en-GB" altLang="zh-CN" b="0" dirty="0">
                <a:latin typeface="Times New Roman" panose="02020503050405090304" pitchFamily="18" charset="0"/>
                <a:ea typeface="宋体" pitchFamily="2" charset="-122"/>
              </a:rPr>
              <a:t>IE</a:t>
            </a:r>
            <a:r>
              <a:rPr lang="zh-CN" altLang="en-GB" b="0" dirty="0">
                <a:latin typeface="Times New Roman" panose="02020503050405090304" pitchFamily="18" charset="0"/>
                <a:ea typeface="宋体" pitchFamily="2" charset="-122"/>
              </a:rPr>
              <a:t>） </a:t>
            </a:r>
            <a:endParaRPr lang="en-US" altLang="zh-CN" b="0" dirty="0">
              <a:latin typeface="Times New Roman" panose="02020503050405090304" pitchFamily="18" charset="0"/>
              <a:ea typeface="宋体" pitchFamily="2" charset="-122"/>
            </a:endParaRPr>
          </a:p>
          <a:p>
            <a:pPr>
              <a:lnSpc>
                <a:spcPct val="150000"/>
              </a:lnSpc>
              <a:buClr>
                <a:srgbClr val="0070C0"/>
              </a:buClr>
            </a:pPr>
            <a:r>
              <a:rPr lang="zh-CN" altLang="en-US" b="0" dirty="0">
                <a:latin typeface="Times New Roman" panose="02020503050405090304" pitchFamily="18" charset="0"/>
                <a:ea typeface="宋体" pitchFamily="2" charset="-122"/>
              </a:rPr>
              <a:t>从非结构化的文本中自动提取</a:t>
            </a:r>
            <a:r>
              <a:rPr lang="zh-CN" altLang="en-US" b="0" dirty="0">
                <a:solidFill>
                  <a:srgbClr val="C00000"/>
                </a:solidFill>
                <a:latin typeface="Times New Roman" panose="02020503050405090304" pitchFamily="18" charset="0"/>
                <a:ea typeface="宋体" pitchFamily="2" charset="-122"/>
              </a:rPr>
              <a:t>结构化信息 </a:t>
            </a:r>
            <a:endParaRPr lang="zh-CN" altLang="en-US" b="0" dirty="0">
              <a:latin typeface="Times New Roman" panose="02020503050405090304" pitchFamily="18" charset="0"/>
              <a:ea typeface="宋体" pitchFamily="2" charset="-122"/>
            </a:endParaRPr>
          </a:p>
          <a:p>
            <a:pPr marL="285750" indent="-285750">
              <a:lnSpc>
                <a:spcPct val="150000"/>
              </a:lnSpc>
              <a:buClr>
                <a:srgbClr val="0070C0"/>
              </a:buClr>
              <a:buFont typeface="Wingdings" panose="05000000000000000000" pitchFamily="2" charset="2"/>
              <a:buChar char="n"/>
            </a:pPr>
            <a:r>
              <a:rPr lang="zh-CN" altLang="en-US" b="0" dirty="0">
                <a:latin typeface="Times New Roman" panose="02020503050405090304" pitchFamily="18" charset="0"/>
                <a:ea typeface="宋体" pitchFamily="2" charset="-122"/>
              </a:rPr>
              <a:t>输入</a:t>
            </a:r>
            <a:endParaRPr lang="en-US" altLang="zh-CN" b="0" dirty="0">
              <a:latin typeface="Times New Roman" panose="02020503050405090304" pitchFamily="18" charset="0"/>
              <a:ea typeface="宋体" pitchFamily="2" charset="-122"/>
            </a:endParaRPr>
          </a:p>
          <a:p>
            <a:pPr>
              <a:lnSpc>
                <a:spcPct val="150000"/>
              </a:lnSpc>
              <a:buClr>
                <a:srgbClr val="0070C0"/>
              </a:buClr>
            </a:pPr>
            <a:r>
              <a:rPr lang="en-GB" altLang="zh-CN" b="0" dirty="0">
                <a:latin typeface="Times New Roman" panose="02020503050405090304" pitchFamily="18" charset="0"/>
                <a:ea typeface="宋体" pitchFamily="2" charset="-122"/>
              </a:rPr>
              <a:t>10</a:t>
            </a:r>
            <a:r>
              <a:rPr lang="zh-CN" altLang="en-US" b="0" dirty="0">
                <a:latin typeface="Times New Roman" panose="02020503050405090304" pitchFamily="18" charset="0"/>
                <a:ea typeface="宋体" pitchFamily="2" charset="-122"/>
              </a:rPr>
              <a:t>月</a:t>
            </a:r>
            <a:r>
              <a:rPr lang="en-US" altLang="zh-CN" b="0" dirty="0">
                <a:latin typeface="Times New Roman" panose="02020503050405090304" pitchFamily="18" charset="0"/>
                <a:ea typeface="宋体" pitchFamily="2" charset="-122"/>
              </a:rPr>
              <a:t>28</a:t>
            </a:r>
            <a:r>
              <a:rPr lang="zh-CN" altLang="en-US" b="0" dirty="0">
                <a:latin typeface="Times New Roman" panose="02020503050405090304" pitchFamily="18" charset="0"/>
                <a:ea typeface="宋体" pitchFamily="2" charset="-122"/>
              </a:rPr>
              <a:t>日，</a:t>
            </a:r>
            <a:r>
              <a:rPr lang="en-GB" altLang="zh-CN" b="0" dirty="0">
                <a:latin typeface="Times New Roman" panose="02020503050405090304" pitchFamily="18" charset="0"/>
                <a:ea typeface="宋体" pitchFamily="2" charset="-122"/>
              </a:rPr>
              <a:t>AMD</a:t>
            </a:r>
            <a:r>
              <a:rPr lang="zh-CN" altLang="en-US" b="0" dirty="0">
                <a:latin typeface="Times New Roman" panose="02020503050405090304" pitchFamily="18" charset="0"/>
                <a:ea typeface="宋体" pitchFamily="2" charset="-122"/>
              </a:rPr>
              <a:t>宣布斥资</a:t>
            </a:r>
            <a:r>
              <a:rPr lang="en-US" altLang="zh-CN" b="0" dirty="0">
                <a:latin typeface="Times New Roman" panose="02020503050405090304" pitchFamily="18" charset="0"/>
                <a:ea typeface="宋体" pitchFamily="2" charset="-122"/>
              </a:rPr>
              <a:t>350 </a:t>
            </a:r>
            <a:r>
              <a:rPr lang="zh-CN" altLang="en-US" b="0" dirty="0">
                <a:latin typeface="Times New Roman" panose="02020503050405090304" pitchFamily="18" charset="0"/>
                <a:ea typeface="宋体" pitchFamily="2" charset="-122"/>
              </a:rPr>
              <a:t>亿美元收购</a:t>
            </a:r>
            <a:r>
              <a:rPr lang="en-GB" altLang="zh-CN" b="0" dirty="0">
                <a:latin typeface="Times New Roman" panose="02020503050405090304" pitchFamily="18" charset="0"/>
                <a:ea typeface="宋体" pitchFamily="2" charset="-122"/>
              </a:rPr>
              <a:t>FPGA</a:t>
            </a:r>
            <a:r>
              <a:rPr lang="zh-CN" altLang="en-US" b="0" dirty="0">
                <a:latin typeface="Times New Roman" panose="02020503050405090304" pitchFamily="18" charset="0"/>
                <a:ea typeface="宋体" pitchFamily="2" charset="-122"/>
              </a:rPr>
              <a:t>芯片巨头赛灵思。这两家传了多年绯闻的芯片公司终于走到了一起。 </a:t>
            </a:r>
            <a:endParaRPr lang="zh-CN" altLang="en-US" b="0" dirty="0">
              <a:latin typeface="Times New Roman" panose="02020503050405090304" pitchFamily="18" charset="0"/>
              <a:ea typeface="宋体" pitchFamily="2" charset="-122"/>
            </a:endParaRPr>
          </a:p>
        </p:txBody>
      </p:sp>
      <p:sp>
        <p:nvSpPr>
          <p:cNvPr id="3" name="标题 2"/>
          <p:cNvSpPr>
            <a:spLocks noGrp="1"/>
          </p:cNvSpPr>
          <p:nvPr>
            <p:ph type="title"/>
          </p:nvPr>
        </p:nvSpPr>
        <p:spPr>
          <a:xfrm>
            <a:off x="362424" y="24686"/>
            <a:ext cx="8781575" cy="702469"/>
          </a:xfrm>
        </p:spPr>
        <p:txBody>
          <a:bodyPr/>
          <a:lstStyle/>
          <a:p>
            <a:r>
              <a:rPr lang="zh-CN" altLang="en-US" sz="2400" b="1">
                <a:solidFill>
                  <a:srgbClr val="004C41"/>
                </a:solidFill>
                <a:ea typeface="宋体" pitchFamily="2" charset="-122"/>
                <a:cs typeface="+mn-ea"/>
                <a:sym typeface="+mn-lt"/>
              </a:rPr>
              <a:t>信息抽取</a:t>
            </a:r>
            <a:endParaRPr lang="zh-CN" altLang="en-US">
              <a:ea typeface="宋体" pitchFamily="2" charset="-122"/>
            </a:endParaRPr>
          </a:p>
        </p:txBody>
      </p:sp>
      <p:sp>
        <p:nvSpPr>
          <p:cNvPr id="2" name="日期占位符 1"/>
          <p:cNvSpPr>
            <a:spLocks noGrp="1"/>
          </p:cNvSpPr>
          <p:nvPr>
            <p:ph type="dt" sz="half" idx="10"/>
          </p:nvPr>
        </p:nvSpPr>
        <p:spPr/>
        <p:txBody>
          <a:bodyPr/>
          <a:lstStyle/>
          <a:p>
            <a:fld id="{32D46F36-CF82-41AE-AFB1-B7E362648171}" type="datetime1">
              <a:rPr lang="zh-CN" altLang="en-US" smtClean="0"/>
            </a:fld>
            <a:endParaRPr lang="zh-CN" altLang="en-US"/>
          </a:p>
        </p:txBody>
      </p:sp>
      <p:sp>
        <p:nvSpPr>
          <p:cNvPr id="5" name="灯片编号占位符 4"/>
          <p:cNvSpPr>
            <a:spLocks noGrp="1"/>
          </p:cNvSpPr>
          <p:nvPr>
            <p:ph type="sldNum" sz="quarter" idx="12"/>
          </p:nvPr>
        </p:nvSpPr>
        <p:spPr/>
        <p:txBody>
          <a:bodyPr/>
          <a:lstStyle/>
          <a:p>
            <a:fld id="{82952373-7980-4DA7-9ADE-54D716DB38BB}" type="slidenum">
              <a:rPr lang="zh-CN" altLang="en-US" smtClean="0"/>
            </a:fld>
            <a:endParaRPr lang="zh-CN" altLang="en-US"/>
          </a:p>
        </p:txBody>
      </p:sp>
    </p:spTree>
  </p:cSld>
  <p:clrMapOvr>
    <a:masterClrMapping/>
  </p:clrMapOvr>
  <mc:AlternateContent xmlns:mc="http://schemas.openxmlformats.org/markup-compatibility/2006">
    <mc:Choice xmlns:p14="http://schemas.microsoft.com/office/powerpoint/2010/main" Requires="p14">
      <p:transition p14:dur="0"/>
    </mc:Choice>
    <mc:Fallback>
      <p:transition/>
    </mc:Fallback>
  </mc:AlternateContent>
</p:sld>
</file>

<file path=ppt/slides/slide6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sz="2400" b="1">
                <a:solidFill>
                  <a:srgbClr val="004C41"/>
                </a:solidFill>
                <a:ea typeface="宋体" pitchFamily="2" charset="-122"/>
                <a:cs typeface="+mn-ea"/>
                <a:sym typeface="+mn-lt"/>
              </a:rPr>
              <a:t>信息抽取</a:t>
            </a:r>
            <a:endParaRPr lang="zh-CN" altLang="en-US">
              <a:ea typeface="宋体" pitchFamily="2" charset="-122"/>
            </a:endParaRPr>
          </a:p>
        </p:txBody>
      </p:sp>
      <p:pic>
        <p:nvPicPr>
          <p:cNvPr id="3" name="图片 2"/>
          <p:cNvPicPr>
            <a:picLocks noChangeAspect="1"/>
          </p:cNvPicPr>
          <p:nvPr/>
        </p:nvPicPr>
        <p:blipFill>
          <a:blip r:embed="rId1"/>
          <a:stretch>
            <a:fillRect/>
          </a:stretch>
        </p:blipFill>
        <p:spPr>
          <a:xfrm>
            <a:off x="2694893" y="1316968"/>
            <a:ext cx="4493569" cy="2771163"/>
          </a:xfrm>
          <a:prstGeom prst="rect">
            <a:avLst/>
          </a:prstGeom>
        </p:spPr>
      </p:pic>
      <p:sp>
        <p:nvSpPr>
          <p:cNvPr id="4" name="日期占位符 3"/>
          <p:cNvSpPr>
            <a:spLocks noGrp="1"/>
          </p:cNvSpPr>
          <p:nvPr>
            <p:ph type="dt" sz="half" idx="10"/>
          </p:nvPr>
        </p:nvSpPr>
        <p:spPr/>
        <p:txBody>
          <a:bodyPr/>
          <a:lstStyle/>
          <a:p>
            <a:fld id="{2D519184-887E-4EC3-A007-51397DB836C6}" type="datetime1">
              <a:rPr lang="zh-CN" altLang="en-US" smtClean="0"/>
            </a:fld>
            <a:endParaRPr lang="zh-CN" altLang="en-US"/>
          </a:p>
        </p:txBody>
      </p:sp>
      <p:sp>
        <p:nvSpPr>
          <p:cNvPr id="5" name="灯片编号占位符 4"/>
          <p:cNvSpPr>
            <a:spLocks noGrp="1"/>
          </p:cNvSpPr>
          <p:nvPr>
            <p:ph type="sldNum" sz="quarter" idx="12"/>
          </p:nvPr>
        </p:nvSpPr>
        <p:spPr/>
        <p:txBody>
          <a:bodyPr/>
          <a:lstStyle/>
          <a:p>
            <a:fld id="{82952373-7980-4DA7-9ADE-54D716DB38BB}" type="slidenum">
              <a:rPr lang="zh-CN" altLang="en-US" smtClean="0"/>
            </a:fld>
            <a:endParaRPr lang="zh-CN" altLang="en-US"/>
          </a:p>
        </p:txBody>
      </p:sp>
    </p:spTree>
  </p:cSld>
  <p:clrMapOvr>
    <a:masterClrMapping/>
  </p:clrMapOvr>
  <mc:AlternateContent xmlns:mc="http://schemas.openxmlformats.org/markup-compatibility/2006">
    <mc:Choice xmlns:p14="http://schemas.microsoft.com/office/powerpoint/2010/main" Requires="p14">
      <p:transition p14:dur="0"/>
    </mc:Choice>
    <mc:Fallback>
      <p:transition/>
    </mc:Fallback>
  </mc:AlternateContent>
</p:sld>
</file>

<file path=ppt/slides/slide6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文本框 3"/>
          <p:cNvSpPr txBox="1"/>
          <p:nvPr/>
        </p:nvSpPr>
        <p:spPr>
          <a:xfrm>
            <a:off x="720363" y="944062"/>
            <a:ext cx="6581519" cy="1199752"/>
          </a:xfrm>
          <a:prstGeom prst="rect">
            <a:avLst/>
          </a:prstGeom>
          <a:ln>
            <a:noFill/>
          </a:ln>
        </p:spPr>
        <p:style>
          <a:lnRef idx="2">
            <a:schemeClr val="dk1"/>
          </a:lnRef>
          <a:fillRef idx="1">
            <a:schemeClr val="lt1"/>
          </a:fillRef>
          <a:effectRef idx="0">
            <a:schemeClr val="dk1"/>
          </a:effectRef>
          <a:fontRef idx="minor">
            <a:schemeClr val="dk1"/>
          </a:fontRef>
        </p:style>
        <p:txBody>
          <a:bodyPr wrap="square" rtlCol="0" anchor="t">
            <a:spAutoFit/>
          </a:bodyPr>
          <a:lstStyle/>
          <a:p>
            <a:pPr marL="285750" indent="-285750">
              <a:lnSpc>
                <a:spcPct val="150000"/>
              </a:lnSpc>
              <a:buClr>
                <a:srgbClr val="0070C0"/>
              </a:buClr>
              <a:buFont typeface="Wingdings" panose="05000000000000000000" pitchFamily="2" charset="2"/>
              <a:buChar char="n"/>
            </a:pPr>
            <a:r>
              <a:rPr lang="zh-CN" altLang="en-US" dirty="0">
                <a:latin typeface="Times New Roman" panose="02020503050405090304" pitchFamily="18" charset="0"/>
                <a:ea typeface="宋体" pitchFamily="2" charset="-122"/>
              </a:rPr>
              <a:t>情感分析</a:t>
            </a:r>
            <a:r>
              <a:rPr lang="zh-CN" altLang="en-GB" dirty="0">
                <a:latin typeface="Times New Roman" panose="02020503050405090304" pitchFamily="18" charset="0"/>
                <a:ea typeface="宋体" pitchFamily="2" charset="-122"/>
              </a:rPr>
              <a:t>（</a:t>
            </a:r>
            <a:r>
              <a:rPr lang="en-GB" altLang="zh-CN" dirty="0">
                <a:latin typeface="Times New Roman" panose="02020503050405090304" pitchFamily="18" charset="0"/>
                <a:ea typeface="宋体" pitchFamily="2" charset="-122"/>
              </a:rPr>
              <a:t>Sentiment Analysis</a:t>
            </a:r>
            <a:r>
              <a:rPr lang="zh-CN" altLang="en-GB" dirty="0">
                <a:latin typeface="Times New Roman" panose="02020503050405090304" pitchFamily="18" charset="0"/>
                <a:ea typeface="宋体" pitchFamily="2" charset="-122"/>
              </a:rPr>
              <a:t>） </a:t>
            </a:r>
            <a:endParaRPr lang="en-US" altLang="zh-CN" dirty="0">
              <a:latin typeface="Times New Roman" panose="02020503050405090304" pitchFamily="18" charset="0"/>
              <a:ea typeface="宋体" pitchFamily="2" charset="-122"/>
            </a:endParaRPr>
          </a:p>
          <a:p>
            <a:pPr marL="285750" indent="-285750">
              <a:lnSpc>
                <a:spcPct val="150000"/>
              </a:lnSpc>
              <a:buClr>
                <a:schemeClr val="tx1"/>
              </a:buClr>
              <a:buFont typeface="Wingdings" panose="05000000000000000000" pitchFamily="2" charset="2"/>
              <a:buChar char="ü"/>
            </a:pPr>
            <a:r>
              <a:rPr lang="zh-CN" altLang="en-US" sz="1600" dirty="0">
                <a:latin typeface="Times New Roman" panose="02020503050405090304" pitchFamily="18" charset="0"/>
                <a:ea typeface="宋体" pitchFamily="2" charset="-122"/>
              </a:rPr>
              <a:t>个体对外界事物的</a:t>
            </a:r>
            <a:r>
              <a:rPr lang="zh-CN" altLang="en-US" sz="1600" dirty="0">
                <a:solidFill>
                  <a:srgbClr val="C00000"/>
                </a:solidFill>
                <a:latin typeface="Times New Roman" panose="02020503050405090304" pitchFamily="18" charset="0"/>
                <a:ea typeface="宋体" pitchFamily="2" charset="-122"/>
              </a:rPr>
              <a:t>态度</a:t>
            </a:r>
            <a:r>
              <a:rPr lang="zh-CN" altLang="en-US" sz="1600" dirty="0">
                <a:latin typeface="Times New Roman" panose="02020503050405090304" pitchFamily="18" charset="0"/>
                <a:ea typeface="宋体" pitchFamily="2" charset="-122"/>
              </a:rPr>
              <a:t>、</a:t>
            </a:r>
            <a:r>
              <a:rPr lang="zh-CN" altLang="en-US" sz="1600" dirty="0">
                <a:solidFill>
                  <a:srgbClr val="C00000"/>
                </a:solidFill>
                <a:latin typeface="Times New Roman" panose="02020503050405090304" pitchFamily="18" charset="0"/>
                <a:ea typeface="宋体" pitchFamily="2" charset="-122"/>
              </a:rPr>
              <a:t>观点</a:t>
            </a:r>
            <a:r>
              <a:rPr lang="zh-CN" altLang="en-US" sz="1600" dirty="0">
                <a:latin typeface="Times New Roman" panose="02020503050405090304" pitchFamily="18" charset="0"/>
                <a:ea typeface="宋体" pitchFamily="2" charset="-122"/>
              </a:rPr>
              <a:t>或</a:t>
            </a:r>
            <a:r>
              <a:rPr lang="zh-CN" altLang="en-US" sz="1600" dirty="0">
                <a:solidFill>
                  <a:srgbClr val="C00000"/>
                </a:solidFill>
                <a:latin typeface="Times New Roman" panose="02020503050405090304" pitchFamily="18" charset="0"/>
                <a:ea typeface="宋体" pitchFamily="2" charset="-122"/>
              </a:rPr>
              <a:t>倾向性</a:t>
            </a:r>
            <a:r>
              <a:rPr lang="zh-CN" altLang="en-US" sz="1600" dirty="0">
                <a:latin typeface="Times New Roman" panose="02020503050405090304" pitchFamily="18" charset="0"/>
                <a:ea typeface="宋体" pitchFamily="2" charset="-122"/>
              </a:rPr>
              <a:t>，如正面、负面等 </a:t>
            </a:r>
            <a:endParaRPr lang="en-US" altLang="zh-CN" sz="1600" dirty="0">
              <a:latin typeface="Times New Roman" panose="02020503050405090304" pitchFamily="18" charset="0"/>
              <a:ea typeface="宋体" pitchFamily="2" charset="-122"/>
            </a:endParaRPr>
          </a:p>
          <a:p>
            <a:pPr marL="285750" indent="-285750">
              <a:lnSpc>
                <a:spcPct val="150000"/>
              </a:lnSpc>
              <a:buClr>
                <a:schemeClr val="tx1"/>
              </a:buClr>
              <a:buFont typeface="Wingdings" panose="05000000000000000000" pitchFamily="2" charset="2"/>
              <a:buChar char="ü"/>
            </a:pPr>
            <a:r>
              <a:rPr lang="zh-CN" altLang="en-US" sz="1600" dirty="0">
                <a:latin typeface="Times New Roman" panose="02020503050405090304" pitchFamily="18" charset="0"/>
                <a:ea typeface="宋体" pitchFamily="2" charset="-122"/>
              </a:rPr>
              <a:t>人自身的</a:t>
            </a:r>
            <a:r>
              <a:rPr lang="zh-CN" altLang="en-US" sz="1600" dirty="0">
                <a:solidFill>
                  <a:srgbClr val="C00000"/>
                </a:solidFill>
                <a:latin typeface="Times New Roman" panose="02020503050405090304" pitchFamily="18" charset="0"/>
                <a:ea typeface="宋体" pitchFamily="2" charset="-122"/>
              </a:rPr>
              <a:t>情绪</a:t>
            </a:r>
            <a:r>
              <a:rPr lang="zh-CN" altLang="en-US" sz="1600" dirty="0">
                <a:latin typeface="Times New Roman" panose="02020503050405090304" pitchFamily="18" charset="0"/>
                <a:ea typeface="宋体" pitchFamily="2" charset="-122"/>
              </a:rPr>
              <a:t>（</a:t>
            </a:r>
            <a:r>
              <a:rPr lang="en-GB" altLang="zh-CN" sz="1600" dirty="0">
                <a:latin typeface="Times New Roman" panose="02020503050405090304" pitchFamily="18" charset="0"/>
                <a:ea typeface="宋体" pitchFamily="2" charset="-122"/>
              </a:rPr>
              <a:t>Emotion</a:t>
            </a:r>
            <a:r>
              <a:rPr lang="zh-CN" altLang="en-GB" sz="1600" dirty="0">
                <a:latin typeface="Times New Roman" panose="02020503050405090304" pitchFamily="18" charset="0"/>
                <a:ea typeface="宋体" pitchFamily="2" charset="-122"/>
              </a:rPr>
              <a:t>），</a:t>
            </a:r>
            <a:r>
              <a:rPr lang="zh-CN" altLang="en-US" sz="1600" dirty="0">
                <a:latin typeface="Times New Roman" panose="02020503050405090304" pitchFamily="18" charset="0"/>
                <a:ea typeface="宋体" pitchFamily="2" charset="-122"/>
              </a:rPr>
              <a:t>如喜怒哀惧</a:t>
            </a:r>
            <a:r>
              <a:rPr lang="zh-CN" altLang="en-US" sz="1600">
                <a:latin typeface="Times New Roman" panose="02020503050405090304" pitchFamily="18" charset="0"/>
                <a:ea typeface="宋体" pitchFamily="2" charset="-122"/>
              </a:rPr>
              <a:t>等 </a:t>
            </a:r>
            <a:endParaRPr lang="zh-CN" altLang="en-US" sz="1600" dirty="0">
              <a:latin typeface="Times New Roman" panose="02020503050405090304" pitchFamily="18" charset="0"/>
              <a:ea typeface="宋体" pitchFamily="2" charset="-122"/>
            </a:endParaRPr>
          </a:p>
        </p:txBody>
      </p:sp>
      <p:pic>
        <p:nvPicPr>
          <p:cNvPr id="3" name="图片 2"/>
          <p:cNvPicPr>
            <a:picLocks noChangeAspect="1"/>
          </p:cNvPicPr>
          <p:nvPr/>
        </p:nvPicPr>
        <p:blipFill>
          <a:blip r:embed="rId1"/>
          <a:stretch>
            <a:fillRect/>
          </a:stretch>
        </p:blipFill>
        <p:spPr>
          <a:xfrm>
            <a:off x="1615838" y="2876736"/>
            <a:ext cx="5731764" cy="1695570"/>
          </a:xfrm>
          <a:prstGeom prst="rect">
            <a:avLst/>
          </a:prstGeom>
        </p:spPr>
      </p:pic>
      <p:sp>
        <p:nvSpPr>
          <p:cNvPr id="5" name="标题 4"/>
          <p:cNvSpPr>
            <a:spLocks noGrp="1"/>
          </p:cNvSpPr>
          <p:nvPr>
            <p:ph type="title"/>
          </p:nvPr>
        </p:nvSpPr>
        <p:spPr>
          <a:xfrm>
            <a:off x="365336" y="0"/>
            <a:ext cx="8781575" cy="702469"/>
          </a:xfrm>
        </p:spPr>
        <p:txBody>
          <a:bodyPr/>
          <a:lstStyle/>
          <a:p>
            <a:r>
              <a:rPr lang="zh-CN" altLang="en-US" sz="2400" b="1">
                <a:solidFill>
                  <a:srgbClr val="004C41"/>
                </a:solidFill>
                <a:latin typeface="Times New Roman" panose="02020503050405090304" pitchFamily="18" charset="0"/>
                <a:cs typeface="+mn-ea"/>
                <a:sym typeface="+mn-lt"/>
              </a:rPr>
              <a:t>情感分析</a:t>
            </a:r>
            <a:endParaRPr lang="zh-CN" altLang="en-US"/>
          </a:p>
        </p:txBody>
      </p:sp>
      <p:sp>
        <p:nvSpPr>
          <p:cNvPr id="2" name="日期占位符 1"/>
          <p:cNvSpPr>
            <a:spLocks noGrp="1"/>
          </p:cNvSpPr>
          <p:nvPr>
            <p:ph type="dt" sz="half" idx="10"/>
          </p:nvPr>
        </p:nvSpPr>
        <p:spPr/>
        <p:txBody>
          <a:bodyPr/>
          <a:lstStyle/>
          <a:p>
            <a:fld id="{4649702B-9335-4171-9AF4-B6233AD09420}" type="datetime1">
              <a:rPr lang="zh-CN" altLang="en-US" smtClean="0"/>
            </a:fld>
            <a:endParaRPr lang="zh-CN" altLang="en-US"/>
          </a:p>
        </p:txBody>
      </p:sp>
      <p:sp>
        <p:nvSpPr>
          <p:cNvPr id="6" name="灯片编号占位符 5"/>
          <p:cNvSpPr>
            <a:spLocks noGrp="1"/>
          </p:cNvSpPr>
          <p:nvPr>
            <p:ph type="sldNum" sz="quarter" idx="12"/>
          </p:nvPr>
        </p:nvSpPr>
        <p:spPr/>
        <p:txBody>
          <a:bodyPr/>
          <a:lstStyle/>
          <a:p>
            <a:fld id="{82952373-7980-4DA7-9ADE-54D716DB38BB}" type="slidenum">
              <a:rPr lang="zh-CN" altLang="en-US" smtClean="0"/>
            </a:fld>
            <a:endParaRPr lang="zh-CN" altLang="en-US"/>
          </a:p>
        </p:txBody>
      </p:sp>
      <p:sp>
        <p:nvSpPr>
          <p:cNvPr id="8" name="文本框 7"/>
          <p:cNvSpPr txBox="1"/>
          <p:nvPr/>
        </p:nvSpPr>
        <p:spPr>
          <a:xfrm>
            <a:off x="720363" y="2309857"/>
            <a:ext cx="6549117" cy="455253"/>
          </a:xfrm>
          <a:prstGeom prst="rect">
            <a:avLst/>
          </a:prstGeom>
          <a:noFill/>
        </p:spPr>
        <p:txBody>
          <a:bodyPr wrap="square">
            <a:spAutoFit/>
          </a:bodyPr>
          <a:lstStyle/>
          <a:p>
            <a:pPr>
              <a:lnSpc>
                <a:spcPct val="150000"/>
              </a:lnSpc>
              <a:buClr>
                <a:srgbClr val="0070C0"/>
              </a:buClr>
            </a:pPr>
            <a:r>
              <a:rPr lang="zh-CN" altLang="en-US" sz="1800">
                <a:latin typeface="Times New Roman" panose="02020503050405090304" pitchFamily="18" charset="0"/>
                <a:ea typeface="宋体" pitchFamily="2" charset="-122"/>
              </a:rPr>
              <a:t>例如，输入“这款手机的屏幕很不错，性能也还可以。”</a:t>
            </a:r>
            <a:endParaRPr lang="zh-CN" altLang="en-US" sz="1800" dirty="0">
              <a:latin typeface="Times New Roman" panose="02020503050405090304" pitchFamily="18" charset="0"/>
              <a:ea typeface="宋体" pitchFamily="2" charset="-122"/>
            </a:endParaRPr>
          </a:p>
        </p:txBody>
      </p:sp>
    </p:spTree>
  </p:cSld>
  <p:clrMapOvr>
    <a:masterClrMapping/>
  </p:clrMapOvr>
  <mc:AlternateContent xmlns:mc="http://schemas.openxmlformats.org/markup-compatibility/2006">
    <mc:Choice xmlns:p14="http://schemas.microsoft.com/office/powerpoint/2010/main" Requires="p14">
      <p:transition p14:dur="0"/>
    </mc:Choice>
    <mc:Fallback>
      <p:transition/>
    </mc:Fallback>
  </mc:AlternateContent>
</p:sld>
</file>

<file path=ppt/slides/slide6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文本框 3"/>
          <p:cNvSpPr txBox="1"/>
          <p:nvPr/>
        </p:nvSpPr>
        <p:spPr>
          <a:xfrm>
            <a:off x="717805" y="944224"/>
            <a:ext cx="8275320" cy="773802"/>
          </a:xfrm>
          <a:prstGeom prst="rect">
            <a:avLst/>
          </a:prstGeom>
          <a:ln>
            <a:noFill/>
          </a:ln>
        </p:spPr>
        <p:style>
          <a:lnRef idx="2">
            <a:schemeClr val="dk1"/>
          </a:lnRef>
          <a:fillRef idx="1">
            <a:schemeClr val="lt1"/>
          </a:fillRef>
          <a:effectRef idx="0">
            <a:schemeClr val="dk1"/>
          </a:effectRef>
          <a:fontRef idx="minor">
            <a:schemeClr val="dk1"/>
          </a:fontRef>
        </p:style>
        <p:txBody>
          <a:bodyPr wrap="square" rtlCol="0" anchor="t">
            <a:spAutoFit/>
          </a:bodyPr>
          <a:lstStyle/>
          <a:p>
            <a:pPr marL="285750" indent="-285750">
              <a:lnSpc>
                <a:spcPct val="130000"/>
              </a:lnSpc>
              <a:buClr>
                <a:srgbClr val="0070C0"/>
              </a:buClr>
              <a:buFont typeface="Wingdings" panose="05000000000000000000" pitchFamily="2" charset="2"/>
              <a:buChar char="n"/>
            </a:pPr>
            <a:r>
              <a:rPr lang="zh-CN" altLang="en-US" b="0" dirty="0">
                <a:latin typeface="Times New Roman" panose="02020503050405090304" pitchFamily="18" charset="0"/>
                <a:ea typeface="宋体" pitchFamily="2" charset="-122"/>
              </a:rPr>
              <a:t>问答系统</a:t>
            </a:r>
            <a:r>
              <a:rPr lang="zh-CN" altLang="en-GB" b="0" dirty="0">
                <a:latin typeface="Times New Roman" panose="02020503050405090304" pitchFamily="18" charset="0"/>
                <a:ea typeface="宋体" pitchFamily="2" charset="-122"/>
              </a:rPr>
              <a:t>（</a:t>
            </a:r>
            <a:r>
              <a:rPr lang="en-GB" altLang="zh-CN" b="0" dirty="0">
                <a:latin typeface="Times New Roman" panose="02020503050405090304" pitchFamily="18" charset="0"/>
                <a:ea typeface="宋体" pitchFamily="2" charset="-122"/>
              </a:rPr>
              <a:t>Question Answering</a:t>
            </a:r>
            <a:r>
              <a:rPr lang="zh-CN" altLang="en-GB" b="0" dirty="0">
                <a:latin typeface="Times New Roman" panose="02020503050405090304" pitchFamily="18" charset="0"/>
                <a:ea typeface="宋体" pitchFamily="2" charset="-122"/>
              </a:rPr>
              <a:t>，</a:t>
            </a:r>
            <a:r>
              <a:rPr lang="en-GB" altLang="zh-CN" b="0" dirty="0">
                <a:latin typeface="Times New Roman" panose="02020503050405090304" pitchFamily="18" charset="0"/>
                <a:ea typeface="宋体" pitchFamily="2" charset="-122"/>
              </a:rPr>
              <a:t>QA</a:t>
            </a:r>
            <a:r>
              <a:rPr lang="zh-CN" altLang="en-GB" b="0" dirty="0">
                <a:latin typeface="Times New Roman" panose="02020503050405090304" pitchFamily="18" charset="0"/>
                <a:ea typeface="宋体" pitchFamily="2" charset="-122"/>
              </a:rPr>
              <a:t>） </a:t>
            </a:r>
            <a:endParaRPr lang="en-US" altLang="zh-CN" b="0" dirty="0">
              <a:latin typeface="Times New Roman" panose="02020503050405090304" pitchFamily="18" charset="0"/>
              <a:ea typeface="宋体" pitchFamily="2" charset="-122"/>
            </a:endParaRPr>
          </a:p>
          <a:p>
            <a:pPr marL="285750" indent="-285750">
              <a:lnSpc>
                <a:spcPct val="130000"/>
              </a:lnSpc>
              <a:buClr>
                <a:srgbClr val="0070C0"/>
              </a:buClr>
              <a:buFont typeface="Wingdings" panose="05000000000000000000" pitchFamily="2" charset="2"/>
              <a:buChar char="ü"/>
            </a:pPr>
            <a:r>
              <a:rPr lang="zh-CN" altLang="en-US" b="0" dirty="0">
                <a:latin typeface="Times New Roman" panose="02020503050405090304" pitchFamily="18" charset="0"/>
                <a:ea typeface="宋体" pitchFamily="2" charset="-122"/>
              </a:rPr>
              <a:t>用户以</a:t>
            </a:r>
            <a:r>
              <a:rPr lang="zh-CN" altLang="en-US" b="0" dirty="0">
                <a:solidFill>
                  <a:srgbClr val="C00000"/>
                </a:solidFill>
                <a:latin typeface="Times New Roman" panose="02020503050405090304" pitchFamily="18" charset="0"/>
                <a:ea typeface="宋体" pitchFamily="2" charset="-122"/>
              </a:rPr>
              <a:t>自然语言形式描述问题</a:t>
            </a:r>
            <a:r>
              <a:rPr lang="zh-CN" altLang="en-US" b="0" dirty="0">
                <a:latin typeface="Times New Roman" panose="02020503050405090304" pitchFamily="18" charset="0"/>
                <a:ea typeface="宋体" pitchFamily="2" charset="-122"/>
              </a:rPr>
              <a:t>，从异构数据中</a:t>
            </a:r>
            <a:r>
              <a:rPr lang="zh-CN" altLang="en-US" b="0">
                <a:latin typeface="Times New Roman" panose="02020503050405090304" pitchFamily="18" charset="0"/>
                <a:ea typeface="宋体" pitchFamily="2" charset="-122"/>
              </a:rPr>
              <a:t>获得答案。</a:t>
            </a:r>
            <a:endParaRPr lang="zh-CN" altLang="en-US" b="0" dirty="0">
              <a:latin typeface="Times New Roman" panose="02020503050405090304" pitchFamily="18" charset="0"/>
              <a:ea typeface="宋体" pitchFamily="2" charset="-122"/>
            </a:endParaRPr>
          </a:p>
        </p:txBody>
      </p:sp>
      <p:sp>
        <p:nvSpPr>
          <p:cNvPr id="3" name="标题 2"/>
          <p:cNvSpPr>
            <a:spLocks noGrp="1"/>
          </p:cNvSpPr>
          <p:nvPr>
            <p:ph type="title"/>
          </p:nvPr>
        </p:nvSpPr>
        <p:spPr>
          <a:xfrm>
            <a:off x="362424" y="0"/>
            <a:ext cx="8781575" cy="702469"/>
          </a:xfrm>
        </p:spPr>
        <p:txBody>
          <a:bodyPr/>
          <a:lstStyle/>
          <a:p>
            <a:r>
              <a:rPr lang="zh-CN" altLang="en-US" sz="2400" b="1">
                <a:solidFill>
                  <a:srgbClr val="004C41"/>
                </a:solidFill>
                <a:ea typeface="宋体" pitchFamily="2" charset="-122"/>
                <a:cs typeface="+mn-ea"/>
                <a:sym typeface="+mn-lt"/>
              </a:rPr>
              <a:t>问答系统</a:t>
            </a:r>
            <a:endParaRPr lang="zh-CN" altLang="en-US">
              <a:ea typeface="宋体" pitchFamily="2" charset="-122"/>
            </a:endParaRPr>
          </a:p>
        </p:txBody>
      </p:sp>
      <p:sp>
        <p:nvSpPr>
          <p:cNvPr id="2" name="日期占位符 1"/>
          <p:cNvSpPr>
            <a:spLocks noGrp="1"/>
          </p:cNvSpPr>
          <p:nvPr>
            <p:ph type="dt" sz="half" idx="10"/>
          </p:nvPr>
        </p:nvSpPr>
        <p:spPr/>
        <p:txBody>
          <a:bodyPr/>
          <a:lstStyle/>
          <a:p>
            <a:fld id="{1E727C42-5885-41D4-A2C3-51AFCA50450A}" type="datetime1">
              <a:rPr lang="zh-CN" altLang="en-US" smtClean="0"/>
            </a:fld>
            <a:endParaRPr lang="zh-CN" altLang="en-US"/>
          </a:p>
        </p:txBody>
      </p:sp>
      <p:sp>
        <p:nvSpPr>
          <p:cNvPr id="5" name="灯片编号占位符 4"/>
          <p:cNvSpPr>
            <a:spLocks noGrp="1"/>
          </p:cNvSpPr>
          <p:nvPr>
            <p:ph type="sldNum" sz="quarter" idx="12"/>
          </p:nvPr>
        </p:nvSpPr>
        <p:spPr/>
        <p:txBody>
          <a:bodyPr/>
          <a:lstStyle/>
          <a:p>
            <a:fld id="{82952373-7980-4DA7-9ADE-54D716DB38BB}" type="slidenum">
              <a:rPr lang="zh-CN" altLang="en-US" smtClean="0"/>
            </a:fld>
            <a:endParaRPr lang="zh-CN" altLang="en-US"/>
          </a:p>
        </p:txBody>
      </p:sp>
      <p:sp>
        <p:nvSpPr>
          <p:cNvPr id="7" name="文本框 6"/>
          <p:cNvSpPr txBox="1"/>
          <p:nvPr/>
        </p:nvSpPr>
        <p:spPr>
          <a:xfrm>
            <a:off x="717805" y="1852052"/>
            <a:ext cx="7968996" cy="2436373"/>
          </a:xfrm>
          <a:prstGeom prst="rect">
            <a:avLst/>
          </a:prstGeom>
          <a:noFill/>
        </p:spPr>
        <p:txBody>
          <a:bodyPr wrap="square">
            <a:spAutoFit/>
          </a:bodyPr>
          <a:lstStyle/>
          <a:p>
            <a:pPr marL="285750" indent="-285750">
              <a:lnSpc>
                <a:spcPct val="130000"/>
              </a:lnSpc>
              <a:buClr>
                <a:srgbClr val="0070C0"/>
              </a:buClr>
              <a:buFont typeface="Wingdings" panose="05000000000000000000" pitchFamily="2" charset="2"/>
              <a:buChar char="n"/>
            </a:pPr>
            <a:r>
              <a:rPr lang="zh-CN" altLang="en-US" sz="1700" b="0">
                <a:latin typeface="Times New Roman" panose="02020503050405090304" pitchFamily="18" charset="0"/>
                <a:ea typeface="宋体" pitchFamily="2" charset="-122"/>
              </a:rPr>
              <a:t>根据数据来源的不同，问答系统可以分为</a:t>
            </a:r>
            <a:r>
              <a:rPr lang="en-US" altLang="zh-CN" sz="1700" b="0">
                <a:latin typeface="Times New Roman" panose="02020503050405090304" pitchFamily="18" charset="0"/>
                <a:ea typeface="宋体" pitchFamily="2" charset="-122"/>
              </a:rPr>
              <a:t>4</a:t>
            </a:r>
            <a:r>
              <a:rPr lang="zh-CN" altLang="en-US" sz="1700" b="0">
                <a:latin typeface="Times New Roman" panose="02020503050405090304" pitchFamily="18" charset="0"/>
                <a:ea typeface="宋体" pitchFamily="2" charset="-122"/>
              </a:rPr>
              <a:t>种主要的类型 </a:t>
            </a:r>
            <a:endParaRPr lang="en-US" altLang="zh-CN" sz="1700" b="0">
              <a:latin typeface="Times New Roman" panose="02020503050405090304" pitchFamily="18" charset="0"/>
              <a:ea typeface="宋体" pitchFamily="2" charset="-122"/>
            </a:endParaRPr>
          </a:p>
          <a:p>
            <a:pPr>
              <a:lnSpc>
                <a:spcPct val="130000"/>
              </a:lnSpc>
              <a:buClr>
                <a:srgbClr val="0070C0"/>
              </a:buClr>
            </a:pPr>
            <a:r>
              <a:rPr lang="zh-CN" altLang="en-US" sz="1700" b="0">
                <a:solidFill>
                  <a:srgbClr val="C00000"/>
                </a:solidFill>
                <a:latin typeface="Times New Roman" panose="02020503050405090304" pitchFamily="18" charset="0"/>
                <a:ea typeface="宋体" pitchFamily="2" charset="-122"/>
              </a:rPr>
              <a:t>（</a:t>
            </a:r>
            <a:r>
              <a:rPr lang="en-US" altLang="zh-CN" sz="1700" b="0">
                <a:solidFill>
                  <a:srgbClr val="C00000"/>
                </a:solidFill>
                <a:latin typeface="Times New Roman" panose="02020503050405090304" pitchFamily="18" charset="0"/>
                <a:ea typeface="宋体" pitchFamily="2" charset="-122"/>
              </a:rPr>
              <a:t>1</a:t>
            </a:r>
            <a:r>
              <a:rPr lang="zh-CN" altLang="en-US" sz="1700" b="0">
                <a:solidFill>
                  <a:srgbClr val="C00000"/>
                </a:solidFill>
                <a:latin typeface="Times New Roman" panose="02020503050405090304" pitchFamily="18" charset="0"/>
                <a:ea typeface="宋体" pitchFamily="2" charset="-122"/>
              </a:rPr>
              <a:t>）检索式</a:t>
            </a:r>
            <a:r>
              <a:rPr lang="zh-CN" altLang="en-US" sz="1700" b="0">
                <a:latin typeface="Times New Roman" panose="02020503050405090304" pitchFamily="18" charset="0"/>
                <a:ea typeface="宋体" pitchFamily="2" charset="-122"/>
              </a:rPr>
              <a:t>问答系统 </a:t>
            </a:r>
            <a:endParaRPr lang="en-US" altLang="zh-CN" sz="1700" b="0">
              <a:latin typeface="Times New Roman" panose="02020503050405090304" pitchFamily="18" charset="0"/>
              <a:ea typeface="宋体" pitchFamily="2" charset="-122"/>
            </a:endParaRPr>
          </a:p>
          <a:p>
            <a:pPr>
              <a:lnSpc>
                <a:spcPct val="130000"/>
              </a:lnSpc>
            </a:pPr>
            <a:r>
              <a:rPr lang="zh-CN" altLang="en-US" sz="1700" b="0">
                <a:solidFill>
                  <a:srgbClr val="6EAD45"/>
                </a:solidFill>
                <a:latin typeface="Times New Roman" panose="02020503050405090304" pitchFamily="18" charset="0"/>
                <a:ea typeface="宋体" pitchFamily="2" charset="-122"/>
              </a:rPr>
              <a:t>  </a:t>
            </a:r>
            <a:r>
              <a:rPr lang="zh-CN" altLang="en-US" sz="1700" b="0">
                <a:latin typeface="Times New Roman" panose="02020503050405090304" pitchFamily="18" charset="0"/>
                <a:ea typeface="宋体" pitchFamily="2" charset="-122"/>
              </a:rPr>
              <a:t>答案来源于固定的文本语料库或互联网，系统通过查找相关文档并抽取答案完成问答。</a:t>
            </a:r>
            <a:endParaRPr lang="en-US" altLang="zh-CN" sz="1700" b="0">
              <a:latin typeface="Times New Roman" panose="02020503050405090304" pitchFamily="18" charset="0"/>
              <a:ea typeface="宋体" pitchFamily="2" charset="-122"/>
            </a:endParaRPr>
          </a:p>
          <a:p>
            <a:pPr>
              <a:lnSpc>
                <a:spcPct val="130000"/>
              </a:lnSpc>
            </a:pPr>
            <a:r>
              <a:rPr lang="zh-CN" altLang="en-US" sz="1700" b="0">
                <a:solidFill>
                  <a:srgbClr val="C00000"/>
                </a:solidFill>
                <a:latin typeface="Times New Roman" panose="02020503050405090304" pitchFamily="18" charset="0"/>
                <a:ea typeface="宋体" pitchFamily="2" charset="-122"/>
              </a:rPr>
              <a:t>（</a:t>
            </a:r>
            <a:r>
              <a:rPr lang="en-US" altLang="zh-CN" sz="1700" b="0">
                <a:solidFill>
                  <a:srgbClr val="C00000"/>
                </a:solidFill>
                <a:latin typeface="Times New Roman" panose="02020503050405090304" pitchFamily="18" charset="0"/>
                <a:ea typeface="宋体" pitchFamily="2" charset="-122"/>
              </a:rPr>
              <a:t>2</a:t>
            </a:r>
            <a:r>
              <a:rPr lang="zh-CN" altLang="en-US" sz="1700" b="0">
                <a:solidFill>
                  <a:srgbClr val="C00000"/>
                </a:solidFill>
                <a:latin typeface="Times New Roman" panose="02020503050405090304" pitchFamily="18" charset="0"/>
                <a:ea typeface="宋体" pitchFamily="2" charset="-122"/>
              </a:rPr>
              <a:t>）知识库</a:t>
            </a:r>
            <a:r>
              <a:rPr lang="zh-CN" altLang="en-US" sz="1700" b="0">
                <a:latin typeface="Times New Roman" panose="02020503050405090304" pitchFamily="18" charset="0"/>
                <a:ea typeface="宋体" pitchFamily="2" charset="-122"/>
              </a:rPr>
              <a:t>问答系统 </a:t>
            </a:r>
            <a:endParaRPr lang="en-US" altLang="zh-CN" sz="1700" b="0">
              <a:latin typeface="Times New Roman" panose="02020503050405090304" pitchFamily="18" charset="0"/>
              <a:ea typeface="宋体" pitchFamily="2" charset="-122"/>
            </a:endParaRPr>
          </a:p>
          <a:p>
            <a:pPr>
              <a:lnSpc>
                <a:spcPct val="130000"/>
              </a:lnSpc>
            </a:pPr>
            <a:r>
              <a:rPr lang="zh-CN" altLang="en-US" sz="1700" b="0">
                <a:solidFill>
                  <a:srgbClr val="6EAD45"/>
                </a:solidFill>
                <a:latin typeface="Times New Roman" panose="02020503050405090304" pitchFamily="18" charset="0"/>
                <a:ea typeface="宋体" pitchFamily="2" charset="-122"/>
              </a:rPr>
              <a:t>  </a:t>
            </a:r>
            <a:r>
              <a:rPr lang="zh-CN" altLang="en-US" sz="1700" b="0">
                <a:latin typeface="Times New Roman" panose="02020503050405090304" pitchFamily="18" charset="0"/>
                <a:ea typeface="宋体" pitchFamily="2" charset="-122"/>
              </a:rPr>
              <a:t>回答问题所需的知识以数据库等结构化形式存储，问答系统首先将问题解析为结构化 的查询语句，通过查询相关知识点，并结合知识推理获取答案。</a:t>
            </a:r>
            <a:endParaRPr lang="en-US" altLang="zh-CN" sz="1700" b="0" dirty="0">
              <a:latin typeface="Times New Roman" panose="02020503050405090304" pitchFamily="18" charset="0"/>
              <a:ea typeface="宋体" pitchFamily="2" charset="-122"/>
            </a:endParaRPr>
          </a:p>
        </p:txBody>
      </p:sp>
    </p:spTree>
  </p:cSld>
  <p:clrMapOvr>
    <a:masterClrMapping/>
  </p:clrMapOvr>
  <mc:AlternateContent xmlns:mc="http://schemas.openxmlformats.org/markup-compatibility/2006">
    <mc:Choice xmlns:p14="http://schemas.microsoft.com/office/powerpoint/2010/main" Requires="p14">
      <p:transition p14:dur="0"/>
    </mc:Choice>
    <mc:Fallback>
      <p:transition/>
    </mc:Fallback>
  </mc:AlternateContent>
</p:sld>
</file>

<file path=ppt/slides/slide6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文本框 3"/>
          <p:cNvSpPr txBox="1"/>
          <p:nvPr/>
        </p:nvSpPr>
        <p:spPr>
          <a:xfrm>
            <a:off x="868679" y="1245416"/>
            <a:ext cx="8275320" cy="2004716"/>
          </a:xfrm>
          <a:prstGeom prst="rect">
            <a:avLst/>
          </a:prstGeom>
          <a:ln>
            <a:noFill/>
          </a:ln>
        </p:spPr>
        <p:style>
          <a:lnRef idx="2">
            <a:schemeClr val="dk1"/>
          </a:lnRef>
          <a:fillRef idx="1">
            <a:schemeClr val="lt1"/>
          </a:fillRef>
          <a:effectRef idx="0">
            <a:schemeClr val="dk1"/>
          </a:effectRef>
          <a:fontRef idx="minor">
            <a:schemeClr val="dk1"/>
          </a:fontRef>
        </p:style>
        <p:txBody>
          <a:bodyPr wrap="square" rtlCol="0" anchor="t">
            <a:spAutoFit/>
          </a:bodyPr>
          <a:lstStyle/>
          <a:p>
            <a:pPr marL="285750" indent="-285750">
              <a:lnSpc>
                <a:spcPct val="150000"/>
              </a:lnSpc>
              <a:buClr>
                <a:srgbClr val="0070C0"/>
              </a:buClr>
              <a:buFont typeface="Wingdings" panose="05000000000000000000" pitchFamily="2" charset="2"/>
              <a:buChar char="n"/>
            </a:pPr>
            <a:r>
              <a:rPr lang="zh-CN" altLang="en-US" sz="1700" b="0">
                <a:latin typeface="Times New Roman" panose="02020503050405090304" pitchFamily="18" charset="0"/>
                <a:ea typeface="宋体" pitchFamily="2" charset="-122"/>
              </a:rPr>
              <a:t>根据</a:t>
            </a:r>
            <a:r>
              <a:rPr lang="zh-CN" altLang="en-US" sz="1700" b="0" dirty="0">
                <a:latin typeface="Times New Roman" panose="02020503050405090304" pitchFamily="18" charset="0"/>
                <a:ea typeface="宋体" pitchFamily="2" charset="-122"/>
              </a:rPr>
              <a:t>数据来源的不同，问答系统可以分为</a:t>
            </a:r>
            <a:r>
              <a:rPr lang="en-US" altLang="zh-CN" sz="1700" b="0" dirty="0">
                <a:latin typeface="Times New Roman" panose="02020503050405090304" pitchFamily="18" charset="0"/>
                <a:ea typeface="宋体" pitchFamily="2" charset="-122"/>
              </a:rPr>
              <a:t>4</a:t>
            </a:r>
            <a:r>
              <a:rPr lang="zh-CN" altLang="en-US" sz="1700" b="0" dirty="0">
                <a:latin typeface="Times New Roman" panose="02020503050405090304" pitchFamily="18" charset="0"/>
                <a:ea typeface="宋体" pitchFamily="2" charset="-122"/>
              </a:rPr>
              <a:t>种主要的类型 </a:t>
            </a:r>
            <a:endParaRPr lang="en-US" altLang="zh-CN" sz="1700" b="0" dirty="0">
              <a:latin typeface="Times New Roman" panose="02020503050405090304" pitchFamily="18" charset="0"/>
              <a:ea typeface="宋体" pitchFamily="2" charset="-122"/>
            </a:endParaRPr>
          </a:p>
          <a:p>
            <a:pPr>
              <a:lnSpc>
                <a:spcPct val="150000"/>
              </a:lnSpc>
              <a:buClr>
                <a:srgbClr val="0070C0"/>
              </a:buClr>
            </a:pPr>
            <a:r>
              <a:rPr lang="zh-CN" altLang="en-US" sz="1700" b="0">
                <a:solidFill>
                  <a:srgbClr val="C00000"/>
                </a:solidFill>
                <a:latin typeface="Times New Roman" panose="02020503050405090304" pitchFamily="18" charset="0"/>
                <a:ea typeface="宋体" pitchFamily="2" charset="-122"/>
              </a:rPr>
              <a:t>（</a:t>
            </a:r>
            <a:r>
              <a:rPr lang="en-US" altLang="zh-CN" sz="1700" b="0">
                <a:solidFill>
                  <a:srgbClr val="C00000"/>
                </a:solidFill>
                <a:latin typeface="Times New Roman" panose="02020503050405090304" pitchFamily="18" charset="0"/>
                <a:ea typeface="宋体" pitchFamily="2" charset="-122"/>
              </a:rPr>
              <a:t>3</a:t>
            </a:r>
            <a:r>
              <a:rPr lang="zh-CN" altLang="en-US" sz="1700" b="0">
                <a:solidFill>
                  <a:srgbClr val="C00000"/>
                </a:solidFill>
                <a:latin typeface="Times New Roman" panose="02020503050405090304" pitchFamily="18" charset="0"/>
                <a:ea typeface="宋体" pitchFamily="2" charset="-122"/>
              </a:rPr>
              <a:t>）常问</a:t>
            </a:r>
            <a:r>
              <a:rPr lang="zh-CN" altLang="en-US" sz="1700" b="0" dirty="0">
                <a:solidFill>
                  <a:srgbClr val="C00000"/>
                </a:solidFill>
                <a:latin typeface="Times New Roman" panose="02020503050405090304" pitchFamily="18" charset="0"/>
                <a:ea typeface="宋体" pitchFamily="2" charset="-122"/>
              </a:rPr>
              <a:t>问题集</a:t>
            </a:r>
            <a:r>
              <a:rPr lang="zh-CN" altLang="en-US" sz="1700" b="0" dirty="0">
                <a:latin typeface="Times New Roman" panose="02020503050405090304" pitchFamily="18" charset="0"/>
                <a:ea typeface="宋体" pitchFamily="2" charset="-122"/>
              </a:rPr>
              <a:t>问答系统 </a:t>
            </a:r>
            <a:endParaRPr lang="en-US" altLang="zh-CN" sz="1700" b="0" dirty="0">
              <a:latin typeface="Times New Roman" panose="02020503050405090304" pitchFamily="18" charset="0"/>
              <a:ea typeface="宋体" pitchFamily="2" charset="-122"/>
            </a:endParaRPr>
          </a:p>
          <a:p>
            <a:pPr>
              <a:lnSpc>
                <a:spcPct val="150000"/>
              </a:lnSpc>
            </a:pPr>
            <a:r>
              <a:rPr lang="zh-CN" altLang="en-US" sz="1700" b="0">
                <a:solidFill>
                  <a:srgbClr val="6EAD45"/>
                </a:solidFill>
                <a:latin typeface="Times New Roman" panose="02020503050405090304" pitchFamily="18" charset="0"/>
                <a:ea typeface="宋体" pitchFamily="2" charset="-122"/>
              </a:rPr>
              <a:t>  </a:t>
            </a:r>
            <a:r>
              <a:rPr lang="zh-CN" altLang="en-US" sz="1700" b="0">
                <a:latin typeface="Times New Roman" panose="02020503050405090304" pitchFamily="18" charset="0"/>
                <a:ea typeface="宋体" pitchFamily="2" charset="-122"/>
              </a:rPr>
              <a:t>通过</a:t>
            </a:r>
            <a:r>
              <a:rPr lang="zh-CN" altLang="en-US" sz="1700" b="0" dirty="0">
                <a:latin typeface="Times New Roman" panose="02020503050405090304" pitchFamily="18" charset="0"/>
                <a:ea typeface="宋体" pitchFamily="2" charset="-122"/>
              </a:rPr>
              <a:t>对历史积累的常问问题集合进行检索，回答用户提出的</a:t>
            </a:r>
            <a:r>
              <a:rPr lang="zh-CN" altLang="en-US" sz="1700" b="0">
                <a:latin typeface="Times New Roman" panose="02020503050405090304" pitchFamily="18" charset="0"/>
                <a:ea typeface="宋体" pitchFamily="2" charset="-122"/>
              </a:rPr>
              <a:t>类似问题。</a:t>
            </a:r>
            <a:endParaRPr lang="en-US" altLang="zh-CN" sz="1700" b="0" dirty="0">
              <a:latin typeface="Times New Roman" panose="02020503050405090304" pitchFamily="18" charset="0"/>
              <a:ea typeface="宋体" pitchFamily="2" charset="-122"/>
            </a:endParaRPr>
          </a:p>
          <a:p>
            <a:pPr>
              <a:lnSpc>
                <a:spcPct val="150000"/>
              </a:lnSpc>
              <a:buClr>
                <a:srgbClr val="0070C0"/>
              </a:buClr>
            </a:pPr>
            <a:r>
              <a:rPr lang="zh-CN" altLang="en-US" sz="1700" b="0">
                <a:solidFill>
                  <a:srgbClr val="C00000"/>
                </a:solidFill>
                <a:latin typeface="Times New Roman" panose="02020503050405090304" pitchFamily="18" charset="0"/>
                <a:ea typeface="宋体" pitchFamily="2" charset="-122"/>
              </a:rPr>
              <a:t>（</a:t>
            </a:r>
            <a:r>
              <a:rPr lang="en-US" altLang="zh-CN" sz="1700" b="0">
                <a:solidFill>
                  <a:srgbClr val="C00000"/>
                </a:solidFill>
                <a:latin typeface="Times New Roman" panose="02020503050405090304" pitchFamily="18" charset="0"/>
                <a:ea typeface="宋体" pitchFamily="2" charset="-122"/>
              </a:rPr>
              <a:t>4</a:t>
            </a:r>
            <a:r>
              <a:rPr lang="zh-CN" altLang="en-US" sz="1700" b="0">
                <a:solidFill>
                  <a:srgbClr val="C00000"/>
                </a:solidFill>
                <a:latin typeface="Times New Roman" panose="02020503050405090304" pitchFamily="18" charset="0"/>
                <a:ea typeface="宋体" pitchFamily="2" charset="-122"/>
              </a:rPr>
              <a:t>）阅读</a:t>
            </a:r>
            <a:r>
              <a:rPr lang="zh-CN" altLang="en-US" sz="1700" b="0" dirty="0">
                <a:solidFill>
                  <a:srgbClr val="C00000"/>
                </a:solidFill>
                <a:latin typeface="Times New Roman" panose="02020503050405090304" pitchFamily="18" charset="0"/>
                <a:ea typeface="宋体" pitchFamily="2" charset="-122"/>
              </a:rPr>
              <a:t>理解式</a:t>
            </a:r>
            <a:r>
              <a:rPr lang="zh-CN" altLang="en-US" sz="1700" b="0" dirty="0">
                <a:latin typeface="Times New Roman" panose="02020503050405090304" pitchFamily="18" charset="0"/>
                <a:ea typeface="宋体" pitchFamily="2" charset="-122"/>
              </a:rPr>
              <a:t>问答系统 </a:t>
            </a:r>
            <a:endParaRPr lang="en-US" altLang="zh-CN" sz="1700" b="0" dirty="0">
              <a:latin typeface="Times New Roman" panose="02020503050405090304" pitchFamily="18" charset="0"/>
              <a:ea typeface="宋体" pitchFamily="2" charset="-122"/>
            </a:endParaRPr>
          </a:p>
          <a:p>
            <a:pPr>
              <a:lnSpc>
                <a:spcPct val="150000"/>
              </a:lnSpc>
            </a:pPr>
            <a:r>
              <a:rPr lang="zh-CN" altLang="en-US" sz="1700" b="0">
                <a:solidFill>
                  <a:srgbClr val="6EAD45"/>
                </a:solidFill>
                <a:latin typeface="Times New Roman" panose="02020503050405090304" pitchFamily="18" charset="0"/>
                <a:ea typeface="宋体" pitchFamily="2" charset="-122"/>
              </a:rPr>
              <a:t>  </a:t>
            </a:r>
            <a:r>
              <a:rPr lang="zh-CN" altLang="en-US" sz="1700" b="0">
                <a:latin typeface="Times New Roman" panose="02020503050405090304" pitchFamily="18" charset="0"/>
                <a:ea typeface="宋体" pitchFamily="2" charset="-122"/>
              </a:rPr>
              <a:t>通过</a:t>
            </a:r>
            <a:r>
              <a:rPr lang="zh-CN" altLang="en-US" sz="1700" b="0" dirty="0">
                <a:latin typeface="Times New Roman" panose="02020503050405090304" pitchFamily="18" charset="0"/>
                <a:ea typeface="宋体" pitchFamily="2" charset="-122"/>
              </a:rPr>
              <a:t>抽取给定文档中的文本片段或生成一段答案来回答用户提出</a:t>
            </a:r>
            <a:r>
              <a:rPr lang="zh-CN" altLang="en-US" sz="1700" b="0">
                <a:latin typeface="Times New Roman" panose="02020503050405090304" pitchFamily="18" charset="0"/>
                <a:ea typeface="宋体" pitchFamily="2" charset="-122"/>
              </a:rPr>
              <a:t>的问题。</a:t>
            </a:r>
            <a:endParaRPr lang="zh-CN" altLang="en-US" sz="1700" b="0" dirty="0">
              <a:latin typeface="Times New Roman" panose="02020503050405090304" pitchFamily="18" charset="0"/>
              <a:ea typeface="宋体" pitchFamily="2" charset="-122"/>
            </a:endParaRPr>
          </a:p>
        </p:txBody>
      </p:sp>
      <p:sp>
        <p:nvSpPr>
          <p:cNvPr id="3" name="标题 2"/>
          <p:cNvSpPr>
            <a:spLocks noGrp="1"/>
          </p:cNvSpPr>
          <p:nvPr>
            <p:ph type="title"/>
          </p:nvPr>
        </p:nvSpPr>
        <p:spPr>
          <a:xfrm>
            <a:off x="362424" y="0"/>
            <a:ext cx="8781575" cy="702469"/>
          </a:xfrm>
        </p:spPr>
        <p:txBody>
          <a:bodyPr/>
          <a:lstStyle/>
          <a:p>
            <a:r>
              <a:rPr lang="zh-CN" altLang="en-US" sz="2400" b="1">
                <a:solidFill>
                  <a:srgbClr val="004C41"/>
                </a:solidFill>
                <a:ea typeface="宋体" pitchFamily="2" charset="-122"/>
                <a:cs typeface="+mn-ea"/>
                <a:sym typeface="+mn-lt"/>
              </a:rPr>
              <a:t>问答系统</a:t>
            </a:r>
            <a:endParaRPr lang="zh-CN" altLang="en-US">
              <a:ea typeface="宋体" pitchFamily="2" charset="-122"/>
            </a:endParaRPr>
          </a:p>
        </p:txBody>
      </p:sp>
      <p:sp>
        <p:nvSpPr>
          <p:cNvPr id="2" name="日期占位符 1"/>
          <p:cNvSpPr>
            <a:spLocks noGrp="1"/>
          </p:cNvSpPr>
          <p:nvPr>
            <p:ph type="dt" sz="half" idx="10"/>
          </p:nvPr>
        </p:nvSpPr>
        <p:spPr/>
        <p:txBody>
          <a:bodyPr/>
          <a:lstStyle/>
          <a:p>
            <a:fld id="{1E727C42-5885-41D4-A2C3-51AFCA50450A}" type="datetime1">
              <a:rPr lang="zh-CN" altLang="en-US" smtClean="0"/>
            </a:fld>
            <a:endParaRPr lang="zh-CN" altLang="en-US"/>
          </a:p>
        </p:txBody>
      </p:sp>
      <p:sp>
        <p:nvSpPr>
          <p:cNvPr id="5" name="灯片编号占位符 4"/>
          <p:cNvSpPr>
            <a:spLocks noGrp="1"/>
          </p:cNvSpPr>
          <p:nvPr>
            <p:ph type="sldNum" sz="quarter" idx="12"/>
          </p:nvPr>
        </p:nvSpPr>
        <p:spPr/>
        <p:txBody>
          <a:bodyPr/>
          <a:lstStyle/>
          <a:p>
            <a:fld id="{82952373-7980-4DA7-9ADE-54D716DB38BB}" type="slidenum">
              <a:rPr lang="zh-CN" altLang="en-US" smtClean="0"/>
            </a:fld>
            <a:endParaRPr lang="zh-CN" altLang="en-US"/>
          </a:p>
        </p:txBody>
      </p:sp>
    </p:spTree>
  </p:cSld>
  <p:clrMapOvr>
    <a:masterClrMapping/>
  </p:clrMapOvr>
  <mc:AlternateContent xmlns:mc="http://schemas.openxmlformats.org/markup-compatibility/2006">
    <mc:Choice xmlns:p14="http://schemas.microsoft.com/office/powerpoint/2010/main" Requires="p14">
      <p:transition p14:dur="0"/>
    </mc:Choice>
    <mc:Fallback>
      <p:transition/>
    </mc:Fallback>
  </mc:AlternateContent>
</p:sld>
</file>

<file path=ppt/slides/slide6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文本框 3"/>
          <p:cNvSpPr txBox="1"/>
          <p:nvPr/>
        </p:nvSpPr>
        <p:spPr>
          <a:xfrm>
            <a:off x="641562" y="884951"/>
            <a:ext cx="6581519" cy="783163"/>
          </a:xfrm>
          <a:prstGeom prst="rect">
            <a:avLst/>
          </a:prstGeom>
          <a:ln>
            <a:noFill/>
          </a:ln>
        </p:spPr>
        <p:style>
          <a:lnRef idx="2">
            <a:schemeClr val="dk1"/>
          </a:lnRef>
          <a:fillRef idx="1">
            <a:schemeClr val="lt1"/>
          </a:fillRef>
          <a:effectRef idx="0">
            <a:schemeClr val="dk1"/>
          </a:effectRef>
          <a:fontRef idx="minor">
            <a:schemeClr val="dk1"/>
          </a:fontRef>
        </p:style>
        <p:txBody>
          <a:bodyPr wrap="square" rtlCol="0" anchor="t">
            <a:spAutoFit/>
          </a:bodyPr>
          <a:lstStyle/>
          <a:p>
            <a:pPr marL="285750" indent="-285750">
              <a:lnSpc>
                <a:spcPct val="150000"/>
              </a:lnSpc>
              <a:buClr>
                <a:srgbClr val="0070C0"/>
              </a:buClr>
              <a:buFont typeface="Wingdings" panose="05000000000000000000" pitchFamily="2" charset="2"/>
              <a:buChar char="n"/>
            </a:pPr>
            <a:r>
              <a:rPr lang="zh-CN" altLang="en-US" sz="1600" dirty="0">
                <a:latin typeface="Times New Roman" panose="02020503050405090304" pitchFamily="18" charset="0"/>
                <a:ea typeface="宋体" pitchFamily="2" charset="-122"/>
              </a:rPr>
              <a:t>机器翻译</a:t>
            </a:r>
            <a:r>
              <a:rPr lang="zh-CN" altLang="en-GB" sz="1600" dirty="0">
                <a:latin typeface="Times New Roman" panose="02020503050405090304" pitchFamily="18" charset="0"/>
                <a:ea typeface="宋体" pitchFamily="2" charset="-122"/>
              </a:rPr>
              <a:t>（</a:t>
            </a:r>
            <a:r>
              <a:rPr lang="en-GB" altLang="zh-CN" sz="1600" dirty="0">
                <a:latin typeface="Times New Roman" panose="02020503050405090304" pitchFamily="18" charset="0"/>
                <a:ea typeface="宋体" pitchFamily="2" charset="-122"/>
              </a:rPr>
              <a:t>Machine Translation</a:t>
            </a:r>
            <a:r>
              <a:rPr lang="zh-CN" altLang="en-GB" sz="1600" dirty="0">
                <a:latin typeface="Times New Roman" panose="02020503050405090304" pitchFamily="18" charset="0"/>
                <a:ea typeface="宋体" pitchFamily="2" charset="-122"/>
              </a:rPr>
              <a:t>，</a:t>
            </a:r>
            <a:r>
              <a:rPr lang="en-GB" altLang="zh-CN" sz="1600" dirty="0">
                <a:latin typeface="Times New Roman" panose="02020503050405090304" pitchFamily="18" charset="0"/>
                <a:ea typeface="宋体" pitchFamily="2" charset="-122"/>
              </a:rPr>
              <a:t>MT</a:t>
            </a:r>
            <a:r>
              <a:rPr lang="zh-CN" altLang="en-GB" sz="1600" dirty="0">
                <a:latin typeface="Times New Roman" panose="02020503050405090304" pitchFamily="18" charset="0"/>
                <a:ea typeface="宋体" pitchFamily="2" charset="-122"/>
              </a:rPr>
              <a:t>） </a:t>
            </a:r>
            <a:endParaRPr lang="en-US" altLang="zh-CN" sz="1600" dirty="0">
              <a:latin typeface="Times New Roman" panose="02020503050405090304" pitchFamily="18" charset="0"/>
              <a:ea typeface="宋体" pitchFamily="2" charset="-122"/>
            </a:endParaRPr>
          </a:p>
          <a:p>
            <a:pPr marL="285750" indent="-285750">
              <a:lnSpc>
                <a:spcPct val="150000"/>
              </a:lnSpc>
              <a:buClr>
                <a:srgbClr val="0070C0"/>
              </a:buClr>
              <a:buFont typeface="Wingdings" panose="05000000000000000000" pitchFamily="2" charset="2"/>
              <a:buChar char="n"/>
            </a:pPr>
            <a:r>
              <a:rPr lang="zh-CN" altLang="en-US" sz="1600" dirty="0">
                <a:latin typeface="Times New Roman" panose="02020503050405090304" pitchFamily="18" charset="0"/>
                <a:ea typeface="宋体" pitchFamily="2" charset="-122"/>
              </a:rPr>
              <a:t>对话系统（</a:t>
            </a:r>
            <a:r>
              <a:rPr lang="en-GB" altLang="zh-CN" sz="1600" dirty="0">
                <a:latin typeface="Times New Roman" panose="02020503050405090304" pitchFamily="18" charset="0"/>
                <a:ea typeface="宋体" pitchFamily="2" charset="-122"/>
              </a:rPr>
              <a:t>Dialogue System</a:t>
            </a:r>
            <a:r>
              <a:rPr lang="zh-CN" altLang="en-GB" sz="1600" dirty="0">
                <a:latin typeface="Times New Roman" panose="02020503050405090304" pitchFamily="18" charset="0"/>
                <a:ea typeface="宋体" pitchFamily="2" charset="-122"/>
              </a:rPr>
              <a:t>） </a:t>
            </a:r>
            <a:endParaRPr lang="en-GB" altLang="zh-CN" sz="1600" dirty="0">
              <a:latin typeface="Times New Roman" panose="02020503050405090304" pitchFamily="18" charset="0"/>
              <a:ea typeface="宋体" pitchFamily="2" charset="-122"/>
            </a:endParaRPr>
          </a:p>
        </p:txBody>
      </p:sp>
      <p:pic>
        <p:nvPicPr>
          <p:cNvPr id="5" name="图片 4"/>
          <p:cNvPicPr>
            <a:picLocks noChangeAspect="1"/>
          </p:cNvPicPr>
          <p:nvPr/>
        </p:nvPicPr>
        <p:blipFill>
          <a:blip r:embed="rId1"/>
          <a:stretch>
            <a:fillRect/>
          </a:stretch>
        </p:blipFill>
        <p:spPr>
          <a:xfrm>
            <a:off x="885106" y="1803198"/>
            <a:ext cx="7492660" cy="2955760"/>
          </a:xfrm>
          <a:prstGeom prst="rect">
            <a:avLst/>
          </a:prstGeom>
        </p:spPr>
      </p:pic>
      <p:sp>
        <p:nvSpPr>
          <p:cNvPr id="3" name="标题 2"/>
          <p:cNvSpPr>
            <a:spLocks noGrp="1"/>
          </p:cNvSpPr>
          <p:nvPr>
            <p:ph type="title"/>
          </p:nvPr>
        </p:nvSpPr>
        <p:spPr>
          <a:xfrm>
            <a:off x="362425" y="8348"/>
            <a:ext cx="8781575" cy="702469"/>
          </a:xfrm>
        </p:spPr>
        <p:txBody>
          <a:bodyPr/>
          <a:lstStyle/>
          <a:p>
            <a:r>
              <a:rPr lang="zh-CN" altLang="en-US">
                <a:ea typeface="宋体" pitchFamily="2" charset="-122"/>
              </a:rPr>
              <a:t>更多任务</a:t>
            </a:r>
            <a:endParaRPr lang="zh-CN" altLang="en-US">
              <a:ea typeface="宋体" pitchFamily="2" charset="-122"/>
            </a:endParaRPr>
          </a:p>
        </p:txBody>
      </p:sp>
      <p:sp>
        <p:nvSpPr>
          <p:cNvPr id="2" name="日期占位符 1"/>
          <p:cNvSpPr>
            <a:spLocks noGrp="1"/>
          </p:cNvSpPr>
          <p:nvPr>
            <p:ph type="dt" sz="half" idx="10"/>
          </p:nvPr>
        </p:nvSpPr>
        <p:spPr/>
        <p:txBody>
          <a:bodyPr/>
          <a:lstStyle/>
          <a:p>
            <a:fld id="{36EF0CC5-1A94-44C8-9A7E-5873C9FED6B4}" type="datetime1">
              <a:rPr lang="zh-CN" altLang="en-US" smtClean="0"/>
            </a:fld>
            <a:endParaRPr lang="zh-CN" altLang="en-US"/>
          </a:p>
        </p:txBody>
      </p:sp>
      <p:sp>
        <p:nvSpPr>
          <p:cNvPr id="6" name="灯片编号占位符 5"/>
          <p:cNvSpPr>
            <a:spLocks noGrp="1"/>
          </p:cNvSpPr>
          <p:nvPr>
            <p:ph type="sldNum" sz="quarter" idx="12"/>
          </p:nvPr>
        </p:nvSpPr>
        <p:spPr/>
        <p:txBody>
          <a:bodyPr/>
          <a:lstStyle/>
          <a:p>
            <a:fld id="{82952373-7980-4DA7-9ADE-54D716DB38BB}" type="slidenum">
              <a:rPr lang="zh-CN" altLang="en-US" smtClean="0"/>
            </a:fld>
            <a:endParaRPr lang="zh-CN" altLang="en-US"/>
          </a:p>
        </p:txBody>
      </p:sp>
    </p:spTree>
  </p:cSld>
  <p:clrMapOvr>
    <a:masterClrMapping/>
  </p:clrMapOvr>
  <mc:AlternateContent xmlns:mc="http://schemas.openxmlformats.org/markup-compatibility/2006">
    <mc:Choice xmlns:p14="http://schemas.microsoft.com/office/powerpoint/2010/main" Requires="p14">
      <p:transition p14:dur="0"/>
    </mc:Choice>
    <mc:Fallback>
      <p:transition/>
    </mc:Fallback>
  </mc:AlternateContent>
</p:sld>
</file>

<file path=ppt/slides/slide6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 name="图片 2"/>
          <p:cNvPicPr>
            <a:picLocks noChangeAspect="1"/>
          </p:cNvPicPr>
          <p:nvPr/>
        </p:nvPicPr>
        <p:blipFill>
          <a:blip r:embed="rId1"/>
          <a:stretch>
            <a:fillRect/>
          </a:stretch>
        </p:blipFill>
        <p:spPr>
          <a:xfrm>
            <a:off x="2413635" y="862681"/>
            <a:ext cx="3900668" cy="3881389"/>
          </a:xfrm>
          <a:prstGeom prst="rect">
            <a:avLst/>
          </a:prstGeom>
        </p:spPr>
      </p:pic>
      <p:sp>
        <p:nvSpPr>
          <p:cNvPr id="4" name="标题 3"/>
          <p:cNvSpPr>
            <a:spLocks noGrp="1"/>
          </p:cNvSpPr>
          <p:nvPr>
            <p:ph type="title"/>
          </p:nvPr>
        </p:nvSpPr>
        <p:spPr>
          <a:xfrm>
            <a:off x="362425" y="0"/>
            <a:ext cx="8781575" cy="702469"/>
          </a:xfrm>
        </p:spPr>
        <p:txBody>
          <a:bodyPr/>
          <a:lstStyle/>
          <a:p>
            <a:r>
              <a:rPr lang="zh-CN" altLang="en-US" sz="2400" b="1">
                <a:solidFill>
                  <a:srgbClr val="004C41"/>
                </a:solidFill>
                <a:ea typeface="宋体" pitchFamily="2" charset="-122"/>
                <a:cs typeface="+mn-ea"/>
                <a:sym typeface="+mn-lt"/>
              </a:rPr>
              <a:t>归结为四个问题</a:t>
            </a:r>
            <a:endParaRPr lang="zh-CN" altLang="en-US">
              <a:ea typeface="宋体" pitchFamily="2" charset="-122"/>
            </a:endParaRPr>
          </a:p>
        </p:txBody>
      </p:sp>
      <p:sp>
        <p:nvSpPr>
          <p:cNvPr id="2" name="日期占位符 1"/>
          <p:cNvSpPr>
            <a:spLocks noGrp="1"/>
          </p:cNvSpPr>
          <p:nvPr>
            <p:ph type="dt" sz="half" idx="10"/>
          </p:nvPr>
        </p:nvSpPr>
        <p:spPr/>
        <p:txBody>
          <a:bodyPr/>
          <a:lstStyle/>
          <a:p>
            <a:fld id="{77880E89-762C-4F75-968B-9A72707857EA}" type="datetime1">
              <a:rPr lang="zh-CN" altLang="en-US" smtClean="0"/>
            </a:fld>
            <a:endParaRPr lang="zh-CN" altLang="en-US"/>
          </a:p>
        </p:txBody>
      </p:sp>
      <p:sp>
        <p:nvSpPr>
          <p:cNvPr id="5" name="灯片编号占位符 4"/>
          <p:cNvSpPr>
            <a:spLocks noGrp="1"/>
          </p:cNvSpPr>
          <p:nvPr>
            <p:ph type="sldNum" sz="quarter" idx="12"/>
          </p:nvPr>
        </p:nvSpPr>
        <p:spPr/>
        <p:txBody>
          <a:bodyPr/>
          <a:lstStyle/>
          <a:p>
            <a:fld id="{82952373-7980-4DA7-9ADE-54D716DB38BB}" type="slidenum">
              <a:rPr lang="zh-CN" altLang="en-US" smtClean="0"/>
            </a:fld>
            <a:endParaRPr lang="zh-CN" altLang="en-US"/>
          </a:p>
        </p:txBody>
      </p:sp>
    </p:spTree>
  </p:cSld>
  <p:clrMapOvr>
    <a:masterClrMapping/>
  </p:clrMapOvr>
  <mc:AlternateContent xmlns:mc="http://schemas.openxmlformats.org/markup-compatibility/2006">
    <mc:Choice xmlns:p14="http://schemas.microsoft.com/office/powerpoint/2010/main" Requires="p14">
      <p:transition p14:dur="0"/>
    </mc:Choice>
    <mc:Fallback>
      <p:transition/>
    </mc:Fallback>
  </mc:AlternateContent>
</p:sld>
</file>

<file path=ppt/slides/slide66.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sz="2400" b="1">
                <a:solidFill>
                  <a:srgbClr val="004C41"/>
                </a:solidFill>
                <a:ea typeface="宋体" pitchFamily="2" charset="-122"/>
                <a:cs typeface="+mn-ea"/>
                <a:sym typeface="+mn-lt"/>
              </a:rPr>
              <a:t>归结为四个问题</a:t>
            </a:r>
            <a:endParaRPr lang="zh-CN" altLang="en-US"/>
          </a:p>
        </p:txBody>
      </p:sp>
      <p:sp>
        <p:nvSpPr>
          <p:cNvPr id="4" name="文本框 3"/>
          <p:cNvSpPr txBox="1"/>
          <p:nvPr/>
        </p:nvSpPr>
        <p:spPr>
          <a:xfrm>
            <a:off x="659607" y="978212"/>
            <a:ext cx="7643146" cy="3000245"/>
          </a:xfrm>
          <a:prstGeom prst="rect">
            <a:avLst/>
          </a:prstGeom>
          <a:noFill/>
        </p:spPr>
        <p:txBody>
          <a:bodyPr wrap="square">
            <a:spAutoFit/>
          </a:bodyPr>
          <a:lstStyle/>
          <a:p>
            <a:pPr marL="285750" indent="-285750" algn="l">
              <a:lnSpc>
                <a:spcPct val="150000"/>
              </a:lnSpc>
              <a:buClr>
                <a:srgbClr val="0070C0"/>
              </a:buClr>
              <a:buFont typeface="Wingdings" panose="05000000000000000000" pitchFamily="2" charset="2"/>
              <a:buChar char="n"/>
            </a:pPr>
            <a:r>
              <a:rPr lang="zh-CN" altLang="en-US" sz="1600" b="0" i="0">
                <a:solidFill>
                  <a:srgbClr val="3333FF"/>
                </a:solidFill>
                <a:effectLst/>
                <a:latin typeface="Times New Roman" panose="02020503050405090304" pitchFamily="18" charset="0"/>
              </a:rPr>
              <a:t>回归问题</a:t>
            </a:r>
            <a:r>
              <a:rPr lang="zh-CN" altLang="en-US" sz="1600" b="0" i="0">
                <a:effectLst/>
                <a:latin typeface="Times New Roman" panose="02020503050405090304" pitchFamily="18" charset="0"/>
              </a:rPr>
              <a:t>：即将输入文本映射为一个连续的数值，如对作文的打分，对案件刑期或罚款金额的预测等。</a:t>
            </a:r>
            <a:endParaRPr lang="zh-CN" altLang="en-US" sz="1600" b="0" i="0">
              <a:effectLst/>
              <a:latin typeface="Times New Roman" panose="02020503050405090304" pitchFamily="18" charset="0"/>
            </a:endParaRPr>
          </a:p>
          <a:p>
            <a:pPr marL="285750" indent="-285750" algn="l">
              <a:lnSpc>
                <a:spcPct val="150000"/>
              </a:lnSpc>
              <a:buClr>
                <a:srgbClr val="0070C0"/>
              </a:buClr>
              <a:buFont typeface="Wingdings" panose="05000000000000000000" pitchFamily="2" charset="2"/>
              <a:buChar char="n"/>
            </a:pPr>
            <a:r>
              <a:rPr lang="zh-CN" altLang="en-US" sz="1600" b="0" i="0">
                <a:solidFill>
                  <a:srgbClr val="3333FF"/>
                </a:solidFill>
                <a:effectLst/>
                <a:latin typeface="Times New Roman" panose="02020503050405090304" pitchFamily="18" charset="0"/>
              </a:rPr>
              <a:t>分类问题</a:t>
            </a:r>
            <a:r>
              <a:rPr lang="zh-CN" altLang="en-US" sz="1600" b="0" i="0">
                <a:effectLst/>
                <a:latin typeface="Times New Roman" panose="02020503050405090304" pitchFamily="18" charset="0"/>
              </a:rPr>
              <a:t>：又称为文本分类，即判断一个输入的文本所属的类别，如：在垃圾邮件识别任务中，可以将一封邮件分为正常和垃圾两类；在情感分析中，可以将用户的情感分为褒义、贬义或中性三类。</a:t>
            </a:r>
            <a:endParaRPr lang="zh-CN" altLang="en-US" sz="1600" b="0" i="0">
              <a:effectLst/>
              <a:latin typeface="Times New Roman" panose="02020503050405090304" pitchFamily="18" charset="0"/>
            </a:endParaRPr>
          </a:p>
          <a:p>
            <a:pPr marL="285750" indent="-285750" algn="l">
              <a:lnSpc>
                <a:spcPct val="150000"/>
              </a:lnSpc>
              <a:buClr>
                <a:srgbClr val="0070C0"/>
              </a:buClr>
              <a:buFont typeface="Wingdings" panose="05000000000000000000" pitchFamily="2" charset="2"/>
              <a:buChar char="n"/>
            </a:pPr>
            <a:r>
              <a:rPr lang="zh-CN" altLang="en-US" sz="1600" b="0" i="0">
                <a:solidFill>
                  <a:srgbClr val="3333FF"/>
                </a:solidFill>
                <a:effectLst/>
                <a:latin typeface="Times New Roman" panose="02020503050405090304" pitchFamily="18" charset="0"/>
              </a:rPr>
              <a:t>匹配问题</a:t>
            </a:r>
            <a:r>
              <a:rPr lang="zh-CN" altLang="en-US" sz="1600" b="0" i="0">
                <a:effectLst/>
                <a:latin typeface="Times New Roman" panose="02020503050405090304" pitchFamily="18" charset="0"/>
              </a:rPr>
              <a:t>：判断两个输入文本之间的关系，如：它们之间是复述或非复述两类关系；或者蕴含、矛盾和无关三类关系。另外，识别两个输入文本之间的相似性（</a:t>
            </a:r>
            <a:r>
              <a:rPr lang="en-US" altLang="zh-CN" sz="1600" b="0" i="0">
                <a:effectLst/>
                <a:latin typeface="Times New Roman" panose="02020503050405090304" pitchFamily="18" charset="0"/>
              </a:rPr>
              <a:t>0</a:t>
            </a:r>
            <a:r>
              <a:rPr lang="zh-CN" altLang="en-US" sz="1600" b="0" i="0">
                <a:effectLst/>
                <a:latin typeface="Times New Roman" panose="02020503050405090304" pitchFamily="18" charset="0"/>
              </a:rPr>
              <a:t>到</a:t>
            </a:r>
            <a:r>
              <a:rPr lang="en-US" altLang="zh-CN" sz="1600" b="0" i="0">
                <a:effectLst/>
                <a:latin typeface="Times New Roman" panose="02020503050405090304" pitchFamily="18" charset="0"/>
              </a:rPr>
              <a:t>1</a:t>
            </a:r>
            <a:r>
              <a:rPr lang="zh-CN" altLang="en-US" sz="1600" b="0" i="0">
                <a:effectLst/>
                <a:latin typeface="Times New Roman" panose="02020503050405090304" pitchFamily="18" charset="0"/>
              </a:rPr>
              <a:t>的数值）也属于匹配问题。</a:t>
            </a:r>
            <a:endParaRPr lang="zh-CN" altLang="en-US" sz="1600" b="0" i="0">
              <a:effectLst/>
              <a:latin typeface="Times New Roman" panose="02020503050405090304" pitchFamily="18" charset="0"/>
            </a:endParaRPr>
          </a:p>
        </p:txBody>
      </p:sp>
      <p:sp>
        <p:nvSpPr>
          <p:cNvPr id="3" name="日期占位符 2"/>
          <p:cNvSpPr>
            <a:spLocks noGrp="1"/>
          </p:cNvSpPr>
          <p:nvPr>
            <p:ph type="dt" sz="half" idx="10"/>
          </p:nvPr>
        </p:nvSpPr>
        <p:spPr/>
        <p:txBody>
          <a:bodyPr/>
          <a:lstStyle/>
          <a:p>
            <a:fld id="{2090821F-10E8-4A6F-B285-7E4D9318210B}" type="datetime1">
              <a:rPr lang="zh-CN" altLang="en-US" smtClean="0"/>
            </a:fld>
            <a:endParaRPr lang="zh-CN" altLang="en-US"/>
          </a:p>
        </p:txBody>
      </p:sp>
      <p:sp>
        <p:nvSpPr>
          <p:cNvPr id="5" name="灯片编号占位符 4"/>
          <p:cNvSpPr>
            <a:spLocks noGrp="1"/>
          </p:cNvSpPr>
          <p:nvPr>
            <p:ph type="sldNum" sz="quarter" idx="12"/>
          </p:nvPr>
        </p:nvSpPr>
        <p:spPr/>
        <p:txBody>
          <a:bodyPr/>
          <a:lstStyle/>
          <a:p>
            <a:fld id="{82952373-7980-4DA7-9ADE-54D716DB38BB}" type="slidenum">
              <a:rPr lang="zh-CN" altLang="en-US" smtClean="0"/>
            </a:fld>
            <a:endParaRPr lang="zh-CN" altLang="en-US"/>
          </a:p>
        </p:txBody>
      </p:sp>
    </p:spTree>
  </p:cSld>
  <p:clrMapOvr>
    <a:masterClrMapping/>
  </p:clrMapOvr>
  <mc:AlternateContent xmlns:mc="http://schemas.openxmlformats.org/markup-compatibility/2006">
    <mc:Choice xmlns:p14="http://schemas.microsoft.com/office/powerpoint/2010/main" Requires="p14">
      <p:transition p14:dur="0"/>
    </mc:Choice>
    <mc:Fallback>
      <p:transition/>
    </mc:Fallback>
  </mc:AlternateContent>
</p:sld>
</file>

<file path=ppt/slides/slide67.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sz="2400" b="1">
                <a:solidFill>
                  <a:srgbClr val="004C41"/>
                </a:solidFill>
                <a:ea typeface="宋体" pitchFamily="2" charset="-122"/>
                <a:cs typeface="+mn-ea"/>
                <a:sym typeface="+mn-lt"/>
              </a:rPr>
              <a:t>归结为四个问题</a:t>
            </a:r>
            <a:endParaRPr lang="zh-CN" altLang="en-US"/>
          </a:p>
        </p:txBody>
      </p:sp>
      <p:sp>
        <p:nvSpPr>
          <p:cNvPr id="4" name="文本框 3"/>
          <p:cNvSpPr txBox="1"/>
          <p:nvPr/>
        </p:nvSpPr>
        <p:spPr>
          <a:xfrm>
            <a:off x="833519" y="964496"/>
            <a:ext cx="7853282" cy="2532745"/>
          </a:xfrm>
          <a:prstGeom prst="rect">
            <a:avLst/>
          </a:prstGeom>
          <a:noFill/>
        </p:spPr>
        <p:txBody>
          <a:bodyPr wrap="square">
            <a:spAutoFit/>
          </a:bodyPr>
          <a:lstStyle/>
          <a:p>
            <a:pPr marL="285750" indent="-285750" algn="l">
              <a:lnSpc>
                <a:spcPct val="150000"/>
              </a:lnSpc>
              <a:buClr>
                <a:srgbClr val="0070C0"/>
              </a:buClr>
              <a:buFont typeface="Wingdings" panose="05000000000000000000" pitchFamily="2" charset="2"/>
              <a:buChar char="n"/>
            </a:pPr>
            <a:r>
              <a:rPr lang="zh-CN" altLang="en-US" b="0" i="0">
                <a:solidFill>
                  <a:srgbClr val="3333FF"/>
                </a:solidFill>
                <a:effectLst/>
                <a:latin typeface="Times New Roman" panose="02020503050405090304" pitchFamily="18" charset="0"/>
              </a:rPr>
              <a:t>解析问题</a:t>
            </a:r>
            <a:r>
              <a:rPr lang="zh-CN" altLang="en-US" b="0" i="0">
                <a:effectLst/>
                <a:latin typeface="Times New Roman" panose="02020503050405090304" pitchFamily="18" charset="0"/>
              </a:rPr>
              <a:t>：特指对文本中的词语进行标注或识别词语之间的关系，典型的解析问题包括词性标注、句法分析等，另外分词、命名实体识别等也可以转化为解析问题。</a:t>
            </a:r>
            <a:endParaRPr lang="zh-CN" altLang="en-US" b="0" i="0">
              <a:effectLst/>
              <a:latin typeface="Times New Roman" panose="02020503050405090304" pitchFamily="18" charset="0"/>
            </a:endParaRPr>
          </a:p>
          <a:p>
            <a:pPr marL="285750" indent="-285750" algn="l">
              <a:lnSpc>
                <a:spcPct val="150000"/>
              </a:lnSpc>
              <a:buClr>
                <a:srgbClr val="0070C0"/>
              </a:buClr>
              <a:buFont typeface="Wingdings" panose="05000000000000000000" pitchFamily="2" charset="2"/>
              <a:buChar char="n"/>
            </a:pPr>
            <a:r>
              <a:rPr lang="zh-CN" altLang="en-US" b="0" i="0">
                <a:solidFill>
                  <a:srgbClr val="3333FF"/>
                </a:solidFill>
                <a:effectLst/>
                <a:latin typeface="Times New Roman" panose="02020503050405090304" pitchFamily="18" charset="0"/>
              </a:rPr>
              <a:t>生成问题</a:t>
            </a:r>
            <a:r>
              <a:rPr lang="zh-CN" altLang="en-US" b="0" i="0">
                <a:effectLst/>
                <a:latin typeface="Times New Roman" panose="02020503050405090304" pitchFamily="18" charset="0"/>
              </a:rPr>
              <a:t>：特指根据输入（可以是文本，也可以是图片、表格等其他类型数据）生成一段自然语言，如机器翻译、文本摘要、图像描述生成等都是典型的文本生成类任务。</a:t>
            </a:r>
            <a:endParaRPr lang="zh-CN" altLang="en-US" b="0" i="0">
              <a:effectLst/>
              <a:latin typeface="Times New Roman" panose="02020503050405090304" pitchFamily="18" charset="0"/>
            </a:endParaRPr>
          </a:p>
        </p:txBody>
      </p:sp>
      <p:sp>
        <p:nvSpPr>
          <p:cNvPr id="3" name="日期占位符 2"/>
          <p:cNvSpPr>
            <a:spLocks noGrp="1"/>
          </p:cNvSpPr>
          <p:nvPr>
            <p:ph type="dt" sz="half" idx="10"/>
          </p:nvPr>
        </p:nvSpPr>
        <p:spPr/>
        <p:txBody>
          <a:bodyPr/>
          <a:lstStyle/>
          <a:p>
            <a:fld id="{2090821F-10E8-4A6F-B285-7E4D9318210B}" type="datetime1">
              <a:rPr lang="zh-CN" altLang="en-US" smtClean="0"/>
            </a:fld>
            <a:endParaRPr lang="zh-CN" altLang="en-US"/>
          </a:p>
        </p:txBody>
      </p:sp>
      <p:sp>
        <p:nvSpPr>
          <p:cNvPr id="5" name="灯片编号占位符 4"/>
          <p:cNvSpPr>
            <a:spLocks noGrp="1"/>
          </p:cNvSpPr>
          <p:nvPr>
            <p:ph type="sldNum" sz="quarter" idx="12"/>
          </p:nvPr>
        </p:nvSpPr>
        <p:spPr/>
        <p:txBody>
          <a:bodyPr/>
          <a:lstStyle/>
          <a:p>
            <a:fld id="{82952373-7980-4DA7-9ADE-54D716DB38BB}" type="slidenum">
              <a:rPr lang="zh-CN" altLang="en-US" smtClean="0"/>
            </a:fld>
            <a:endParaRPr lang="zh-CN" altLang="en-US"/>
          </a:p>
        </p:txBody>
      </p:sp>
    </p:spTree>
  </p:cSld>
  <p:clrMapOvr>
    <a:masterClrMapping/>
  </p:clrMapOvr>
  <mc:AlternateContent xmlns:mc="http://schemas.openxmlformats.org/markup-compatibility/2006">
    <mc:Choice xmlns:p14="http://schemas.microsoft.com/office/powerpoint/2010/main" Requires="p14">
      <p:transition p14:dur="0"/>
    </mc:Choice>
    <mc:Fallback>
      <p:transition/>
    </mc:Fallback>
  </mc:AlternateContent>
</p:sld>
</file>

<file path=ppt/slides/slide6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文本框 3"/>
          <p:cNvSpPr txBox="1"/>
          <p:nvPr/>
        </p:nvSpPr>
        <p:spPr>
          <a:xfrm>
            <a:off x="584351" y="1039336"/>
            <a:ext cx="4975201" cy="2532745"/>
          </a:xfrm>
          <a:prstGeom prst="rect">
            <a:avLst/>
          </a:prstGeom>
          <a:ln>
            <a:noFill/>
          </a:ln>
        </p:spPr>
        <p:style>
          <a:lnRef idx="2">
            <a:schemeClr val="dk1"/>
          </a:lnRef>
          <a:fillRef idx="1">
            <a:schemeClr val="lt1"/>
          </a:fillRef>
          <a:effectRef idx="0">
            <a:schemeClr val="dk1"/>
          </a:effectRef>
          <a:fontRef idx="minor">
            <a:schemeClr val="dk1"/>
          </a:fontRef>
        </p:style>
        <p:txBody>
          <a:bodyPr wrap="square" rtlCol="0" anchor="t">
            <a:spAutoFit/>
          </a:bodyPr>
          <a:lstStyle/>
          <a:p>
            <a:pPr marL="285750" indent="-285750">
              <a:lnSpc>
                <a:spcPct val="150000"/>
              </a:lnSpc>
              <a:buClr>
                <a:srgbClr val="0070C0"/>
              </a:buClr>
              <a:buFont typeface="Wingdings" panose="05000000000000000000" pitchFamily="2" charset="2"/>
              <a:buChar char="n"/>
            </a:pPr>
            <a:r>
              <a:rPr lang="zh-CN" altLang="en-US" b="0" dirty="0">
                <a:latin typeface="Times New Roman" panose="02020503050405090304" pitchFamily="18" charset="0"/>
                <a:ea typeface="宋体" pitchFamily="2" charset="-122"/>
              </a:rPr>
              <a:t>问答将输入文本映射为所属类别（预定义的</a:t>
            </a:r>
            <a:r>
              <a:rPr lang="zh-CN" altLang="en-US" b="0">
                <a:solidFill>
                  <a:srgbClr val="C00000"/>
                </a:solidFill>
                <a:latin typeface="Times New Roman" panose="02020503050405090304" pitchFamily="18" charset="0"/>
                <a:ea typeface="宋体" pitchFamily="2" charset="-122"/>
              </a:rPr>
              <a:t>封闭集合，类别事先固定</a:t>
            </a:r>
            <a:r>
              <a:rPr lang="zh-CN" altLang="en-US" b="0">
                <a:latin typeface="Times New Roman" panose="02020503050405090304" pitchFamily="18" charset="0"/>
                <a:ea typeface="宋体" pitchFamily="2" charset="-122"/>
              </a:rPr>
              <a:t>） </a:t>
            </a:r>
            <a:endParaRPr lang="en-US" altLang="zh-CN" b="0" dirty="0">
              <a:latin typeface="Times New Roman" panose="02020503050405090304" pitchFamily="18" charset="0"/>
              <a:ea typeface="宋体" pitchFamily="2" charset="-122"/>
            </a:endParaRPr>
          </a:p>
          <a:p>
            <a:pPr marL="285750" indent="-285750">
              <a:lnSpc>
                <a:spcPct val="150000"/>
              </a:lnSpc>
              <a:buClr>
                <a:srgbClr val="0070C0"/>
              </a:buClr>
              <a:buFont typeface="Wingdings" panose="05000000000000000000" pitchFamily="2" charset="2"/>
              <a:buChar char="n"/>
            </a:pPr>
            <a:r>
              <a:rPr lang="zh-CN" altLang="en-US" b="0">
                <a:latin typeface="Times New Roman" panose="02020503050405090304" pitchFamily="18" charset="0"/>
                <a:ea typeface="宋体" pitchFamily="2" charset="-122"/>
              </a:rPr>
              <a:t>是最简单、</a:t>
            </a:r>
            <a:r>
              <a:rPr lang="zh-CN" altLang="en-US" b="0">
                <a:solidFill>
                  <a:srgbClr val="C00000"/>
                </a:solidFill>
                <a:latin typeface="Times New Roman" panose="02020503050405090304" pitchFamily="18" charset="0"/>
                <a:ea typeface="宋体" pitchFamily="2" charset="-122"/>
              </a:rPr>
              <a:t>最</a:t>
            </a:r>
            <a:r>
              <a:rPr lang="zh-CN" altLang="en-US" b="0" dirty="0">
                <a:solidFill>
                  <a:srgbClr val="C00000"/>
                </a:solidFill>
                <a:latin typeface="Times New Roman" panose="02020503050405090304" pitchFamily="18" charset="0"/>
                <a:ea typeface="宋体" pitchFamily="2" charset="-122"/>
              </a:rPr>
              <a:t>基本</a:t>
            </a:r>
            <a:r>
              <a:rPr lang="zh-CN" altLang="en-US" b="0" dirty="0">
                <a:latin typeface="Times New Roman" panose="02020503050405090304" pitchFamily="18" charset="0"/>
                <a:ea typeface="宋体" pitchFamily="2" charset="-122"/>
              </a:rPr>
              <a:t>的自然语言处理问题 </a:t>
            </a:r>
            <a:endParaRPr lang="en-US" altLang="zh-CN" b="0" dirty="0">
              <a:latin typeface="Times New Roman" panose="02020503050405090304" pitchFamily="18" charset="0"/>
              <a:ea typeface="宋体" pitchFamily="2" charset="-122"/>
            </a:endParaRPr>
          </a:p>
          <a:p>
            <a:pPr marL="285750" indent="-285750">
              <a:lnSpc>
                <a:spcPct val="150000"/>
              </a:lnSpc>
              <a:buClr>
                <a:srgbClr val="0070C0"/>
              </a:buClr>
              <a:buFont typeface="Wingdings" panose="05000000000000000000" pitchFamily="2" charset="2"/>
              <a:buChar char="n"/>
            </a:pPr>
            <a:r>
              <a:rPr lang="zh-CN" altLang="en-US" b="0" dirty="0">
                <a:latin typeface="Times New Roman" panose="02020503050405090304" pitchFamily="18" charset="0"/>
                <a:ea typeface="宋体" pitchFamily="2" charset="-122"/>
              </a:rPr>
              <a:t>应用场景 </a:t>
            </a:r>
            <a:endParaRPr lang="en-US" altLang="zh-CN" b="0" dirty="0">
              <a:latin typeface="Times New Roman" panose="02020503050405090304" pitchFamily="18" charset="0"/>
              <a:ea typeface="宋体" pitchFamily="2" charset="-122"/>
            </a:endParaRPr>
          </a:p>
          <a:p>
            <a:pPr marL="285750" indent="-285750">
              <a:lnSpc>
                <a:spcPct val="150000"/>
              </a:lnSpc>
              <a:buClr>
                <a:srgbClr val="0070C0"/>
              </a:buClr>
              <a:buFont typeface="Wingdings" panose="05000000000000000000" pitchFamily="2" charset="2"/>
              <a:buChar char="ü"/>
            </a:pPr>
            <a:r>
              <a:rPr lang="zh-CN" altLang="en-US" b="0" dirty="0">
                <a:latin typeface="Times New Roman" panose="02020503050405090304" pitchFamily="18" charset="0"/>
                <a:ea typeface="宋体" pitchFamily="2" charset="-122"/>
              </a:rPr>
              <a:t>垃圾邮件过滤、情感分类等 </a:t>
            </a:r>
            <a:endParaRPr lang="en-US" altLang="zh-CN" b="0" dirty="0">
              <a:latin typeface="Times New Roman" panose="02020503050405090304" pitchFamily="18" charset="0"/>
              <a:ea typeface="宋体" pitchFamily="2" charset="-122"/>
            </a:endParaRPr>
          </a:p>
          <a:p>
            <a:pPr marL="285750" indent="-285750">
              <a:lnSpc>
                <a:spcPct val="150000"/>
              </a:lnSpc>
              <a:buClr>
                <a:srgbClr val="0070C0"/>
              </a:buClr>
              <a:buFont typeface="Wingdings" panose="05000000000000000000" pitchFamily="2" charset="2"/>
              <a:buChar char="n"/>
            </a:pPr>
            <a:r>
              <a:rPr lang="zh-CN" altLang="en-US" b="0" dirty="0">
                <a:latin typeface="Times New Roman" panose="02020503050405090304" pitchFamily="18" charset="0"/>
                <a:ea typeface="宋体" pitchFamily="2" charset="-122"/>
              </a:rPr>
              <a:t>很多问题可以</a:t>
            </a:r>
            <a:r>
              <a:rPr lang="zh-CN" altLang="en-US" b="0" dirty="0">
                <a:solidFill>
                  <a:srgbClr val="C00000"/>
                </a:solidFill>
                <a:latin typeface="Times New Roman" panose="02020503050405090304" pitchFamily="18" charset="0"/>
                <a:ea typeface="宋体" pitchFamily="2" charset="-122"/>
              </a:rPr>
              <a:t>转化</a:t>
            </a:r>
            <a:r>
              <a:rPr lang="zh-CN" altLang="en-US" b="0" dirty="0">
                <a:latin typeface="Times New Roman" panose="02020503050405090304" pitchFamily="18" charset="0"/>
                <a:ea typeface="宋体" pitchFamily="2" charset="-122"/>
              </a:rPr>
              <a:t>为文本分类问题 </a:t>
            </a:r>
            <a:endParaRPr lang="zh-CN" altLang="en-US" b="0" dirty="0">
              <a:latin typeface="Times New Roman" panose="02020503050405090304" pitchFamily="18" charset="0"/>
              <a:ea typeface="宋体" pitchFamily="2" charset="-122"/>
            </a:endParaRPr>
          </a:p>
        </p:txBody>
      </p:sp>
      <p:pic>
        <p:nvPicPr>
          <p:cNvPr id="5" name="图片 4"/>
          <p:cNvPicPr>
            <a:picLocks noChangeAspect="1"/>
          </p:cNvPicPr>
          <p:nvPr/>
        </p:nvPicPr>
        <p:blipFill>
          <a:blip r:embed="rId1"/>
          <a:stretch>
            <a:fillRect/>
          </a:stretch>
        </p:blipFill>
        <p:spPr>
          <a:xfrm>
            <a:off x="5700625" y="1104900"/>
            <a:ext cx="2895600" cy="2933700"/>
          </a:xfrm>
          <a:prstGeom prst="rect">
            <a:avLst/>
          </a:prstGeom>
        </p:spPr>
      </p:pic>
      <p:sp>
        <p:nvSpPr>
          <p:cNvPr id="3" name="标题 2"/>
          <p:cNvSpPr>
            <a:spLocks noGrp="1"/>
          </p:cNvSpPr>
          <p:nvPr>
            <p:ph type="title"/>
          </p:nvPr>
        </p:nvSpPr>
        <p:spPr>
          <a:xfrm>
            <a:off x="362425" y="0"/>
            <a:ext cx="8781575" cy="702469"/>
          </a:xfrm>
        </p:spPr>
        <p:txBody>
          <a:bodyPr/>
          <a:lstStyle/>
          <a:p>
            <a:r>
              <a:rPr lang="zh-CN" altLang="en-US" sz="2400" b="1">
                <a:solidFill>
                  <a:srgbClr val="004C41"/>
                </a:solidFill>
                <a:ea typeface="宋体" pitchFamily="2" charset="-122"/>
                <a:cs typeface="+mn-ea"/>
                <a:sym typeface="+mn-lt"/>
              </a:rPr>
              <a:t>文本分类问题</a:t>
            </a:r>
            <a:endParaRPr lang="zh-CN" altLang="en-US">
              <a:ea typeface="宋体" pitchFamily="2" charset="-122"/>
            </a:endParaRPr>
          </a:p>
        </p:txBody>
      </p:sp>
      <p:sp>
        <p:nvSpPr>
          <p:cNvPr id="2" name="日期占位符 1"/>
          <p:cNvSpPr>
            <a:spLocks noGrp="1"/>
          </p:cNvSpPr>
          <p:nvPr>
            <p:ph type="dt" sz="half" idx="10"/>
          </p:nvPr>
        </p:nvSpPr>
        <p:spPr/>
        <p:txBody>
          <a:bodyPr/>
          <a:lstStyle/>
          <a:p>
            <a:fld id="{202CA97B-B4B2-4291-8CC6-B9D0DBD5B4C9}" type="datetime1">
              <a:rPr lang="zh-CN" altLang="en-US" smtClean="0"/>
            </a:fld>
            <a:endParaRPr lang="zh-CN" altLang="en-US"/>
          </a:p>
        </p:txBody>
      </p:sp>
      <p:sp>
        <p:nvSpPr>
          <p:cNvPr id="6" name="灯片编号占位符 5"/>
          <p:cNvSpPr>
            <a:spLocks noGrp="1"/>
          </p:cNvSpPr>
          <p:nvPr>
            <p:ph type="sldNum" sz="quarter" idx="12"/>
          </p:nvPr>
        </p:nvSpPr>
        <p:spPr/>
        <p:txBody>
          <a:bodyPr/>
          <a:lstStyle/>
          <a:p>
            <a:fld id="{82952373-7980-4DA7-9ADE-54D716DB38BB}" type="slidenum">
              <a:rPr lang="zh-CN" altLang="en-US" smtClean="0"/>
            </a:fld>
            <a:endParaRPr lang="zh-CN" altLang="en-US"/>
          </a:p>
        </p:txBody>
      </p:sp>
    </p:spTree>
  </p:cSld>
  <p:clrMapOvr>
    <a:masterClrMapping/>
  </p:clrMapOvr>
  <mc:AlternateContent xmlns:mc="http://schemas.openxmlformats.org/markup-compatibility/2006">
    <mc:Choice xmlns:p14="http://schemas.microsoft.com/office/powerpoint/2010/main" Requires="p14">
      <p:transition p14:dur="0"/>
    </mc:Choice>
    <mc:Fallback>
      <p:transition/>
    </mc:Fallback>
  </mc:AlternateContent>
</p:sld>
</file>

<file path=ppt/slides/slide6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文本框 3"/>
          <p:cNvSpPr txBox="1"/>
          <p:nvPr/>
        </p:nvSpPr>
        <p:spPr>
          <a:xfrm>
            <a:off x="467580" y="949971"/>
            <a:ext cx="4003836" cy="3368486"/>
          </a:xfrm>
          <a:prstGeom prst="rect">
            <a:avLst/>
          </a:prstGeom>
          <a:ln>
            <a:noFill/>
          </a:ln>
        </p:spPr>
        <p:style>
          <a:lnRef idx="2">
            <a:schemeClr val="dk1"/>
          </a:lnRef>
          <a:fillRef idx="1">
            <a:schemeClr val="lt1"/>
          </a:fillRef>
          <a:effectRef idx="0">
            <a:schemeClr val="dk1"/>
          </a:effectRef>
          <a:fontRef idx="minor">
            <a:schemeClr val="dk1"/>
          </a:fontRef>
        </p:style>
        <p:txBody>
          <a:bodyPr wrap="square" rtlCol="0" anchor="t">
            <a:spAutoFit/>
          </a:bodyPr>
          <a:lstStyle/>
          <a:p>
            <a:pPr marL="285750" indent="-285750">
              <a:lnSpc>
                <a:spcPct val="150000"/>
              </a:lnSpc>
              <a:buClr>
                <a:srgbClr val="0070C0"/>
              </a:buClr>
              <a:buFont typeface="Wingdings" panose="05000000000000000000" pitchFamily="2" charset="2"/>
              <a:buChar char="n"/>
            </a:pPr>
            <a:r>
              <a:rPr lang="zh-CN" altLang="en-US" sz="1600" b="0" dirty="0">
                <a:latin typeface="Times New Roman" panose="02020503050405090304" pitchFamily="18" charset="0"/>
                <a:ea typeface="宋体" pitchFamily="2" charset="-122"/>
                <a:cs typeface="Times New Roman" panose="02020503050405090304" pitchFamily="18" charset="0"/>
              </a:rPr>
              <a:t>判断</a:t>
            </a:r>
            <a:r>
              <a:rPr lang="zh-CN" altLang="en-US" sz="1600" b="0" dirty="0">
                <a:solidFill>
                  <a:srgbClr val="C00000"/>
                </a:solidFill>
                <a:latin typeface="Times New Roman" panose="02020503050405090304" pitchFamily="18" charset="0"/>
                <a:ea typeface="宋体" pitchFamily="2" charset="-122"/>
                <a:cs typeface="Times New Roman" panose="02020503050405090304" pitchFamily="18" charset="0"/>
              </a:rPr>
              <a:t>两段文本</a:t>
            </a:r>
            <a:r>
              <a:rPr lang="zh-CN" altLang="en-US" sz="1600" b="0" dirty="0">
                <a:latin typeface="Times New Roman" panose="02020503050405090304" pitchFamily="18" charset="0"/>
                <a:ea typeface="宋体" pitchFamily="2" charset="-122"/>
                <a:cs typeface="Times New Roman" panose="02020503050405090304" pitchFamily="18" charset="0"/>
              </a:rPr>
              <a:t>之间的匹配关系 </a:t>
            </a:r>
            <a:endParaRPr lang="en-US" altLang="zh-CN" sz="1600" b="0" dirty="0">
              <a:latin typeface="Times New Roman" panose="02020503050405090304" pitchFamily="18" charset="0"/>
              <a:ea typeface="宋体" pitchFamily="2" charset="-122"/>
              <a:cs typeface="Times New Roman" panose="02020503050405090304" pitchFamily="18" charset="0"/>
            </a:endParaRPr>
          </a:p>
          <a:p>
            <a:pPr>
              <a:lnSpc>
                <a:spcPct val="150000"/>
              </a:lnSpc>
              <a:buClr>
                <a:srgbClr val="0070C0"/>
              </a:buClr>
            </a:pPr>
            <a:r>
              <a:rPr lang="zh-CN" altLang="en-US" sz="1600" b="0" dirty="0">
                <a:latin typeface="Times New Roman" panose="02020503050405090304" pitchFamily="18" charset="0"/>
                <a:ea typeface="宋体" pitchFamily="2" charset="-122"/>
                <a:cs typeface="Times New Roman" panose="02020503050405090304" pitchFamily="18" charset="0"/>
              </a:rPr>
              <a:t>如复述关系、蕴含关系等 </a:t>
            </a:r>
            <a:endParaRPr lang="en-US" altLang="zh-CN" sz="1600" b="0" dirty="0">
              <a:latin typeface="Times New Roman" panose="02020503050405090304" pitchFamily="18" charset="0"/>
              <a:ea typeface="宋体" pitchFamily="2" charset="-122"/>
              <a:cs typeface="Times New Roman" panose="02020503050405090304" pitchFamily="18" charset="0"/>
            </a:endParaRPr>
          </a:p>
          <a:p>
            <a:pPr marL="285750" indent="-285750">
              <a:lnSpc>
                <a:spcPct val="150000"/>
              </a:lnSpc>
              <a:buClr>
                <a:srgbClr val="0070C0"/>
              </a:buClr>
              <a:buFont typeface="Wingdings" panose="05000000000000000000" pitchFamily="2" charset="2"/>
              <a:buChar char="n"/>
            </a:pPr>
            <a:r>
              <a:rPr lang="zh-CN" altLang="en-US" sz="1600" b="0" dirty="0">
                <a:latin typeface="Times New Roman" panose="02020503050405090304" pitchFamily="18" charset="0"/>
                <a:ea typeface="宋体" pitchFamily="2" charset="-122"/>
                <a:cs typeface="Times New Roman" panose="02020503050405090304" pitchFamily="18" charset="0"/>
              </a:rPr>
              <a:t>解决方案 </a:t>
            </a:r>
            <a:endParaRPr lang="en-US" altLang="zh-CN" sz="1600" b="0" dirty="0">
              <a:latin typeface="Times New Roman" panose="02020503050405090304" pitchFamily="18" charset="0"/>
              <a:ea typeface="宋体" pitchFamily="2" charset="-122"/>
              <a:cs typeface="Times New Roman" panose="02020503050405090304" pitchFamily="18" charset="0"/>
            </a:endParaRPr>
          </a:p>
          <a:p>
            <a:pPr>
              <a:lnSpc>
                <a:spcPct val="150000"/>
              </a:lnSpc>
              <a:buClr>
                <a:srgbClr val="0070C0"/>
              </a:buClr>
            </a:pPr>
            <a:r>
              <a:rPr lang="zh-CN" altLang="en-US" sz="1600" b="0">
                <a:solidFill>
                  <a:srgbClr val="C00000"/>
                </a:solidFill>
                <a:latin typeface="Times New Roman" panose="02020503050405090304" pitchFamily="18" charset="0"/>
                <a:ea typeface="宋体" pitchFamily="2" charset="-122"/>
                <a:cs typeface="Times New Roman" panose="02020503050405090304" pitchFamily="18" charset="0"/>
              </a:rPr>
              <a:t>（</a:t>
            </a:r>
            <a:r>
              <a:rPr lang="en-US" altLang="zh-CN" sz="1600" b="0">
                <a:solidFill>
                  <a:srgbClr val="C00000"/>
                </a:solidFill>
                <a:latin typeface="Times New Roman" panose="02020503050405090304" pitchFamily="18" charset="0"/>
                <a:ea typeface="宋体" pitchFamily="2" charset="-122"/>
                <a:cs typeface="Times New Roman" panose="02020503050405090304" pitchFamily="18" charset="0"/>
              </a:rPr>
              <a:t>1</a:t>
            </a:r>
            <a:r>
              <a:rPr lang="zh-CN" altLang="en-US" sz="1600" b="0">
                <a:solidFill>
                  <a:srgbClr val="C00000"/>
                </a:solidFill>
                <a:latin typeface="Times New Roman" panose="02020503050405090304" pitchFamily="18" charset="0"/>
                <a:ea typeface="宋体" pitchFamily="2" charset="-122"/>
                <a:cs typeface="Times New Roman" panose="02020503050405090304" pitchFamily="18" charset="0"/>
              </a:rPr>
              <a:t>）双</a:t>
            </a:r>
            <a:r>
              <a:rPr lang="zh-CN" altLang="en-US" sz="1600" b="0" dirty="0">
                <a:solidFill>
                  <a:srgbClr val="C00000"/>
                </a:solidFill>
                <a:latin typeface="Times New Roman" panose="02020503050405090304" pitchFamily="18" charset="0"/>
                <a:ea typeface="宋体" pitchFamily="2" charset="-122"/>
                <a:cs typeface="Times New Roman" panose="02020503050405090304" pitchFamily="18" charset="0"/>
              </a:rPr>
              <a:t>塔</a:t>
            </a:r>
            <a:r>
              <a:rPr lang="zh-CN" altLang="en-US" sz="1600" b="0" dirty="0">
                <a:latin typeface="Times New Roman" panose="02020503050405090304" pitchFamily="18" charset="0"/>
                <a:ea typeface="宋体" pitchFamily="2" charset="-122"/>
                <a:cs typeface="Times New Roman" panose="02020503050405090304" pitchFamily="18" charset="0"/>
              </a:rPr>
              <a:t>结构</a:t>
            </a:r>
            <a:endParaRPr lang="en-US" altLang="zh-CN" sz="1600" b="0" dirty="0">
              <a:latin typeface="Times New Roman" panose="02020503050405090304" pitchFamily="18" charset="0"/>
              <a:ea typeface="宋体" pitchFamily="2" charset="-122"/>
              <a:cs typeface="Times New Roman" panose="02020503050405090304" pitchFamily="18" charset="0"/>
            </a:endParaRPr>
          </a:p>
          <a:p>
            <a:pPr>
              <a:lnSpc>
                <a:spcPct val="150000"/>
              </a:lnSpc>
            </a:pPr>
            <a:r>
              <a:rPr lang="zh-CN" altLang="en-US" sz="1600" b="0">
                <a:latin typeface="Times New Roman" panose="02020503050405090304" pitchFamily="18" charset="0"/>
                <a:ea typeface="宋体" pitchFamily="2" charset="-122"/>
                <a:cs typeface="Times New Roman" panose="02020503050405090304" pitchFamily="18" charset="0"/>
              </a:rPr>
              <a:t>      两</a:t>
            </a:r>
            <a:r>
              <a:rPr lang="zh-CN" altLang="en-US" sz="1600" b="0" dirty="0">
                <a:latin typeface="Times New Roman" panose="02020503050405090304" pitchFamily="18" charset="0"/>
                <a:ea typeface="宋体" pitchFamily="2" charset="-122"/>
                <a:cs typeface="Times New Roman" panose="02020503050405090304" pitchFamily="18" charset="0"/>
              </a:rPr>
              <a:t>段文本分别通过两个模型映射为向量，然后判断两个向量之间的匹 配关系 </a:t>
            </a:r>
            <a:endParaRPr lang="en-US" altLang="zh-CN" sz="1600" b="0" dirty="0">
              <a:latin typeface="Times New Roman" panose="02020503050405090304" pitchFamily="18" charset="0"/>
              <a:ea typeface="宋体" pitchFamily="2" charset="-122"/>
              <a:cs typeface="Times New Roman" panose="02020503050405090304" pitchFamily="18" charset="0"/>
            </a:endParaRPr>
          </a:p>
          <a:p>
            <a:pPr>
              <a:lnSpc>
                <a:spcPct val="150000"/>
              </a:lnSpc>
              <a:buClr>
                <a:srgbClr val="0070C0"/>
              </a:buClr>
            </a:pPr>
            <a:r>
              <a:rPr lang="zh-CN" altLang="en-US" sz="1600" b="0">
                <a:solidFill>
                  <a:srgbClr val="C00000"/>
                </a:solidFill>
                <a:latin typeface="Times New Roman" panose="02020503050405090304" pitchFamily="18" charset="0"/>
                <a:ea typeface="宋体" pitchFamily="2" charset="-122"/>
                <a:cs typeface="Times New Roman" panose="02020503050405090304" pitchFamily="18" charset="0"/>
              </a:rPr>
              <a:t>（</a:t>
            </a:r>
            <a:r>
              <a:rPr lang="en-US" altLang="zh-CN" sz="1600" b="0">
                <a:solidFill>
                  <a:srgbClr val="C00000"/>
                </a:solidFill>
                <a:latin typeface="Times New Roman" panose="02020503050405090304" pitchFamily="18" charset="0"/>
                <a:ea typeface="宋体" pitchFamily="2" charset="-122"/>
                <a:cs typeface="Times New Roman" panose="02020503050405090304" pitchFamily="18" charset="0"/>
              </a:rPr>
              <a:t>2</a:t>
            </a:r>
            <a:r>
              <a:rPr lang="zh-CN" altLang="en-US" sz="1600" b="0">
                <a:solidFill>
                  <a:srgbClr val="C00000"/>
                </a:solidFill>
                <a:latin typeface="Times New Roman" panose="02020503050405090304" pitchFamily="18" charset="0"/>
                <a:ea typeface="宋体" pitchFamily="2" charset="-122"/>
                <a:cs typeface="Times New Roman" panose="02020503050405090304" pitchFamily="18" charset="0"/>
              </a:rPr>
              <a:t>）单</a:t>
            </a:r>
            <a:r>
              <a:rPr lang="zh-CN" altLang="en-US" sz="1600" b="0" dirty="0">
                <a:solidFill>
                  <a:srgbClr val="C00000"/>
                </a:solidFill>
                <a:latin typeface="Times New Roman" panose="02020503050405090304" pitchFamily="18" charset="0"/>
                <a:ea typeface="宋体" pitchFamily="2" charset="-122"/>
                <a:cs typeface="Times New Roman" panose="02020503050405090304" pitchFamily="18" charset="0"/>
              </a:rPr>
              <a:t>塔</a:t>
            </a:r>
            <a:r>
              <a:rPr lang="zh-CN" altLang="en-US" sz="1600" b="0" dirty="0">
                <a:latin typeface="Times New Roman" panose="02020503050405090304" pitchFamily="18" charset="0"/>
                <a:ea typeface="宋体" pitchFamily="2" charset="-122"/>
                <a:cs typeface="Times New Roman" panose="02020503050405090304" pitchFamily="18" charset="0"/>
              </a:rPr>
              <a:t>结构 </a:t>
            </a:r>
            <a:endParaRPr lang="en-US" altLang="zh-CN" sz="1600" b="0" dirty="0">
              <a:latin typeface="Times New Roman" panose="02020503050405090304" pitchFamily="18" charset="0"/>
              <a:ea typeface="宋体" pitchFamily="2" charset="-122"/>
              <a:cs typeface="Times New Roman" panose="02020503050405090304" pitchFamily="18" charset="0"/>
            </a:endParaRPr>
          </a:p>
          <a:p>
            <a:pPr>
              <a:lnSpc>
                <a:spcPct val="150000"/>
              </a:lnSpc>
            </a:pPr>
            <a:r>
              <a:rPr lang="zh-CN" altLang="en-US" sz="1600" b="0">
                <a:solidFill>
                  <a:srgbClr val="6EAD45"/>
                </a:solidFill>
                <a:latin typeface="Times New Roman" panose="02020503050405090304" pitchFamily="18" charset="0"/>
                <a:ea typeface="宋体" pitchFamily="2" charset="-122"/>
                <a:cs typeface="Times New Roman" panose="02020503050405090304" pitchFamily="18" charset="0"/>
              </a:rPr>
              <a:t>  </a:t>
            </a:r>
            <a:r>
              <a:rPr lang="zh-CN" altLang="en-US" sz="1600" b="0">
                <a:latin typeface="Times New Roman" panose="02020503050405090304" pitchFamily="18" charset="0"/>
                <a:ea typeface="宋体" pitchFamily="2" charset="-122"/>
                <a:cs typeface="Times New Roman" panose="02020503050405090304" pitchFamily="18" charset="0"/>
              </a:rPr>
              <a:t>将</a:t>
            </a:r>
            <a:r>
              <a:rPr lang="zh-CN" altLang="en-US" sz="1600" b="0" dirty="0">
                <a:latin typeface="Times New Roman" panose="02020503050405090304" pitchFamily="18" charset="0"/>
                <a:ea typeface="宋体" pitchFamily="2" charset="-122"/>
                <a:cs typeface="Times New Roman" panose="02020503050405090304" pitchFamily="18" charset="0"/>
              </a:rPr>
              <a:t>两段文本直接拼接，然后进行匹配关系分类 </a:t>
            </a:r>
            <a:endParaRPr lang="zh-CN" altLang="en-US" sz="1600" b="0" dirty="0">
              <a:latin typeface="Times New Roman" panose="02020503050405090304" pitchFamily="18" charset="0"/>
              <a:ea typeface="宋体" pitchFamily="2" charset="-122"/>
              <a:cs typeface="Times New Roman" panose="02020503050405090304" pitchFamily="18" charset="0"/>
            </a:endParaRPr>
          </a:p>
        </p:txBody>
      </p:sp>
      <p:pic>
        <p:nvPicPr>
          <p:cNvPr id="3" name="图片 2"/>
          <p:cNvPicPr>
            <a:picLocks noChangeAspect="1"/>
          </p:cNvPicPr>
          <p:nvPr/>
        </p:nvPicPr>
        <p:blipFill>
          <a:blip r:embed="rId1"/>
          <a:stretch>
            <a:fillRect/>
          </a:stretch>
        </p:blipFill>
        <p:spPr>
          <a:xfrm>
            <a:off x="4572000" y="1071340"/>
            <a:ext cx="3708400" cy="3365500"/>
          </a:xfrm>
          <a:prstGeom prst="rect">
            <a:avLst/>
          </a:prstGeom>
        </p:spPr>
      </p:pic>
      <p:sp>
        <p:nvSpPr>
          <p:cNvPr id="5" name="标题 4"/>
          <p:cNvSpPr>
            <a:spLocks noGrp="1"/>
          </p:cNvSpPr>
          <p:nvPr>
            <p:ph type="title"/>
          </p:nvPr>
        </p:nvSpPr>
        <p:spPr>
          <a:xfrm>
            <a:off x="362425" y="-496"/>
            <a:ext cx="8781575" cy="702469"/>
          </a:xfrm>
        </p:spPr>
        <p:txBody>
          <a:bodyPr/>
          <a:lstStyle/>
          <a:p>
            <a:r>
              <a:rPr lang="zh-CN" altLang="en-US" sz="2400" b="1">
                <a:solidFill>
                  <a:srgbClr val="004C41"/>
                </a:solidFill>
                <a:ea typeface="宋体" pitchFamily="2" charset="-122"/>
                <a:cs typeface="+mn-ea"/>
                <a:sym typeface="+mn-lt"/>
              </a:rPr>
              <a:t>文本匹配问题</a:t>
            </a:r>
            <a:endParaRPr lang="zh-CN" altLang="en-US">
              <a:ea typeface="宋体" pitchFamily="2" charset="-122"/>
            </a:endParaRPr>
          </a:p>
        </p:txBody>
      </p:sp>
      <p:sp>
        <p:nvSpPr>
          <p:cNvPr id="2" name="日期占位符 1"/>
          <p:cNvSpPr>
            <a:spLocks noGrp="1"/>
          </p:cNvSpPr>
          <p:nvPr>
            <p:ph type="dt" sz="half" idx="10"/>
          </p:nvPr>
        </p:nvSpPr>
        <p:spPr/>
        <p:txBody>
          <a:bodyPr/>
          <a:lstStyle/>
          <a:p>
            <a:fld id="{BEA1681C-8C41-404A-92B3-6C1BE73431EF}" type="datetime1">
              <a:rPr lang="zh-CN" altLang="en-US" smtClean="0"/>
            </a:fld>
            <a:endParaRPr lang="zh-CN" altLang="en-US"/>
          </a:p>
        </p:txBody>
      </p:sp>
      <p:sp>
        <p:nvSpPr>
          <p:cNvPr id="6" name="灯片编号占位符 5"/>
          <p:cNvSpPr>
            <a:spLocks noGrp="1"/>
          </p:cNvSpPr>
          <p:nvPr>
            <p:ph type="sldNum" sz="quarter" idx="12"/>
          </p:nvPr>
        </p:nvSpPr>
        <p:spPr/>
        <p:txBody>
          <a:bodyPr/>
          <a:lstStyle/>
          <a:p>
            <a:fld id="{82952373-7980-4DA7-9ADE-54D716DB38BB}" type="slidenum">
              <a:rPr lang="zh-CN" altLang="en-US" smtClean="0"/>
            </a:fld>
            <a:endParaRPr lang="zh-CN" altLang="en-US"/>
          </a:p>
        </p:txBody>
      </p:sp>
    </p:spTree>
  </p:cSld>
  <p:clrMapOvr>
    <a:masterClrMapping/>
  </p:clrMapOvr>
  <mc:AlternateContent xmlns:mc="http://schemas.openxmlformats.org/markup-compatibility/2006">
    <mc:Choice xmlns:p14="http://schemas.microsoft.com/office/powerpoint/2010/main" Requires="p14">
      <p:transition p14:dur="0"/>
    </mc:Choice>
    <mc:Fallback>
      <p:transition/>
    </mc:Fallback>
  </mc:AlternateContent>
</p:sld>
</file>

<file path=ppt/slides/slide7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文本框 3"/>
          <p:cNvSpPr txBox="1"/>
          <p:nvPr/>
        </p:nvSpPr>
        <p:spPr>
          <a:xfrm>
            <a:off x="457200" y="928526"/>
            <a:ext cx="4338855" cy="3497881"/>
          </a:xfrm>
          <a:prstGeom prst="rect">
            <a:avLst/>
          </a:prstGeom>
          <a:ln>
            <a:noFill/>
          </a:ln>
        </p:spPr>
        <p:style>
          <a:lnRef idx="2">
            <a:schemeClr val="dk1"/>
          </a:lnRef>
          <a:fillRef idx="1">
            <a:schemeClr val="lt1"/>
          </a:fillRef>
          <a:effectRef idx="0">
            <a:schemeClr val="dk1"/>
          </a:effectRef>
          <a:fontRef idx="minor">
            <a:schemeClr val="dk1"/>
          </a:fontRef>
        </p:style>
        <p:txBody>
          <a:bodyPr wrap="square" rtlCol="0" anchor="t">
            <a:spAutoFit/>
          </a:bodyPr>
          <a:lstStyle/>
          <a:p>
            <a:pPr marL="285750" indent="-285750">
              <a:lnSpc>
                <a:spcPct val="130000"/>
              </a:lnSpc>
              <a:buClr>
                <a:srgbClr val="0070C0"/>
              </a:buClr>
              <a:buFont typeface="Wingdings" panose="05000000000000000000" pitchFamily="2" charset="2"/>
              <a:buChar char="n"/>
            </a:pPr>
            <a:r>
              <a:rPr lang="zh-CN" altLang="en-US" sz="1600" b="0" dirty="0">
                <a:latin typeface="Times New Roman" panose="02020503050405090304" pitchFamily="18" charset="0"/>
                <a:ea typeface="宋体" pitchFamily="2" charset="-122"/>
              </a:rPr>
              <a:t>输出类别之间具有较强的</a:t>
            </a:r>
            <a:r>
              <a:rPr lang="zh-CN" altLang="en-US" sz="1600" b="0" dirty="0">
                <a:solidFill>
                  <a:srgbClr val="C00000"/>
                </a:solidFill>
                <a:latin typeface="Times New Roman" panose="02020503050405090304" pitchFamily="18" charset="0"/>
                <a:ea typeface="宋体" pitchFamily="2" charset="-122"/>
              </a:rPr>
              <a:t>相互关联</a:t>
            </a:r>
            <a:r>
              <a:rPr lang="zh-CN" altLang="en-US" sz="1600" b="0" dirty="0">
                <a:latin typeface="Times New Roman" panose="02020503050405090304" pitchFamily="18" charset="0"/>
                <a:ea typeface="宋体" pitchFamily="2" charset="-122"/>
              </a:rPr>
              <a:t>性 </a:t>
            </a:r>
            <a:endParaRPr lang="en-US" altLang="zh-CN" sz="1600" b="0" dirty="0">
              <a:latin typeface="Times New Roman" panose="02020503050405090304" pitchFamily="18" charset="0"/>
              <a:ea typeface="宋体" pitchFamily="2" charset="-122"/>
            </a:endParaRPr>
          </a:p>
          <a:p>
            <a:pPr marL="285750" indent="-285750">
              <a:lnSpc>
                <a:spcPct val="130000"/>
              </a:lnSpc>
              <a:buClr>
                <a:srgbClr val="0070C0"/>
              </a:buClr>
              <a:buFont typeface="Wingdings" panose="05000000000000000000" pitchFamily="2" charset="2"/>
              <a:buChar char="n"/>
            </a:pPr>
            <a:r>
              <a:rPr lang="zh-CN" altLang="en-US" sz="1600" b="0" dirty="0">
                <a:latin typeface="Times New Roman" panose="02020503050405090304" pitchFamily="18" charset="0"/>
                <a:ea typeface="宋体" pitchFamily="2" charset="-122"/>
              </a:rPr>
              <a:t>自然语言处理的</a:t>
            </a:r>
            <a:r>
              <a:rPr lang="zh-CN" altLang="en-US" sz="1600" b="0" dirty="0">
                <a:solidFill>
                  <a:srgbClr val="C00000"/>
                </a:solidFill>
                <a:latin typeface="Times New Roman" panose="02020503050405090304" pitchFamily="18" charset="0"/>
                <a:ea typeface="宋体" pitchFamily="2" charset="-122"/>
              </a:rPr>
              <a:t>本质</a:t>
            </a:r>
            <a:r>
              <a:rPr lang="zh-CN" altLang="en-US" sz="1600" b="0" dirty="0">
                <a:latin typeface="Times New Roman" panose="02020503050405090304" pitchFamily="18" charset="0"/>
                <a:ea typeface="宋体" pitchFamily="2" charset="-122"/>
              </a:rPr>
              <a:t>问题 </a:t>
            </a:r>
            <a:endParaRPr lang="en-US" altLang="zh-CN" sz="1600" b="0" dirty="0">
              <a:latin typeface="Times New Roman" panose="02020503050405090304" pitchFamily="18" charset="0"/>
              <a:ea typeface="宋体" pitchFamily="2" charset="-122"/>
            </a:endParaRPr>
          </a:p>
          <a:p>
            <a:pPr marL="285750" indent="-285750">
              <a:lnSpc>
                <a:spcPct val="130000"/>
              </a:lnSpc>
              <a:buClr>
                <a:srgbClr val="0070C0"/>
              </a:buClr>
              <a:buFont typeface="Wingdings" panose="05000000000000000000" pitchFamily="2" charset="2"/>
              <a:buChar char="n"/>
            </a:pPr>
            <a:r>
              <a:rPr lang="zh-CN" altLang="en-US" sz="1600" b="0" dirty="0">
                <a:latin typeface="Times New Roman" panose="02020503050405090304" pitchFamily="18" charset="0"/>
                <a:ea typeface="宋体" pitchFamily="2" charset="-122"/>
              </a:rPr>
              <a:t>三种典型的结构预测问题 </a:t>
            </a:r>
            <a:endParaRPr lang="en-US" altLang="zh-CN" sz="1600" b="0" dirty="0">
              <a:latin typeface="Times New Roman" panose="02020503050405090304" pitchFamily="18" charset="0"/>
              <a:ea typeface="宋体" pitchFamily="2" charset="-122"/>
            </a:endParaRPr>
          </a:p>
          <a:p>
            <a:pPr>
              <a:lnSpc>
                <a:spcPct val="130000"/>
              </a:lnSpc>
              <a:buClr>
                <a:srgbClr val="0070C0"/>
              </a:buClr>
            </a:pPr>
            <a:r>
              <a:rPr lang="zh-CN" altLang="en-US" sz="1600" b="0">
                <a:latin typeface="Times New Roman" panose="02020503050405090304" pitchFamily="18" charset="0"/>
                <a:ea typeface="宋体" pitchFamily="2" charset="-122"/>
              </a:rPr>
              <a:t>（</a:t>
            </a:r>
            <a:r>
              <a:rPr lang="en-US" altLang="zh-CN" sz="1600" b="0">
                <a:latin typeface="Times New Roman" panose="02020503050405090304" pitchFamily="18" charset="0"/>
                <a:ea typeface="宋体" pitchFamily="2" charset="-122"/>
              </a:rPr>
              <a:t>1</a:t>
            </a:r>
            <a:r>
              <a:rPr lang="zh-CN" altLang="en-US" sz="1600" b="0">
                <a:latin typeface="Times New Roman" panose="02020503050405090304" pitchFamily="18" charset="0"/>
                <a:ea typeface="宋体" pitchFamily="2" charset="-122"/>
              </a:rPr>
              <a:t>）序列</a:t>
            </a:r>
            <a:r>
              <a:rPr lang="zh-CN" altLang="en-US" sz="1600" b="0" dirty="0">
                <a:latin typeface="Times New Roman" panose="02020503050405090304" pitchFamily="18" charset="0"/>
                <a:ea typeface="宋体" pitchFamily="2" charset="-122"/>
              </a:rPr>
              <a:t>标注 </a:t>
            </a:r>
            <a:endParaRPr lang="en-US" altLang="zh-CN" sz="1600" b="0" dirty="0">
              <a:latin typeface="Times New Roman" panose="02020503050405090304" pitchFamily="18" charset="0"/>
              <a:ea typeface="宋体" pitchFamily="2" charset="-122"/>
            </a:endParaRPr>
          </a:p>
          <a:p>
            <a:pPr marL="285750" indent="-285750">
              <a:lnSpc>
                <a:spcPct val="130000"/>
              </a:lnSpc>
              <a:buFont typeface="Wingdings" panose="05000000000000000000" pitchFamily="2" charset="2"/>
              <a:buChar char="ü"/>
            </a:pPr>
            <a:r>
              <a:rPr lang="zh-CN" altLang="en-US" sz="1400" b="0">
                <a:latin typeface="Times New Roman" panose="02020503050405090304" pitchFamily="18" charset="0"/>
                <a:ea typeface="宋体" pitchFamily="2" charset="-122"/>
              </a:rPr>
              <a:t>为</a:t>
            </a:r>
            <a:r>
              <a:rPr lang="zh-CN" altLang="en-US" sz="1400" b="0" dirty="0">
                <a:latin typeface="Times New Roman" panose="02020503050405090304" pitchFamily="18" charset="0"/>
                <a:ea typeface="宋体" pitchFamily="2" charset="-122"/>
              </a:rPr>
              <a:t>输入文本序列中的每个词标注相应的标签 </a:t>
            </a:r>
            <a:endParaRPr lang="en-US" altLang="zh-CN" sz="1400" b="0" dirty="0">
              <a:latin typeface="Times New Roman" panose="02020503050405090304" pitchFamily="18" charset="0"/>
              <a:ea typeface="宋体" pitchFamily="2" charset="-122"/>
            </a:endParaRPr>
          </a:p>
          <a:p>
            <a:pPr marL="285750" indent="-285750">
              <a:lnSpc>
                <a:spcPct val="130000"/>
              </a:lnSpc>
              <a:buFont typeface="Wingdings" panose="05000000000000000000" pitchFamily="2" charset="2"/>
              <a:buChar char="ü"/>
            </a:pPr>
            <a:r>
              <a:rPr lang="zh-CN" altLang="en-US" sz="1400" b="0">
                <a:latin typeface="Times New Roman" panose="02020503050405090304" pitchFamily="18" charset="0"/>
                <a:ea typeface="宋体" pitchFamily="2" charset="-122"/>
              </a:rPr>
              <a:t>如</a:t>
            </a:r>
            <a:r>
              <a:rPr lang="zh-CN" altLang="en-US" sz="1400" b="0" dirty="0">
                <a:latin typeface="Times New Roman" panose="02020503050405090304" pitchFamily="18" charset="0"/>
                <a:ea typeface="宋体" pitchFamily="2" charset="-122"/>
              </a:rPr>
              <a:t>词性标注：他</a:t>
            </a:r>
            <a:r>
              <a:rPr lang="en-US" altLang="zh-CN" sz="1400" b="0" dirty="0">
                <a:latin typeface="Times New Roman" panose="02020503050405090304" pitchFamily="18" charset="0"/>
                <a:ea typeface="宋体" pitchFamily="2" charset="-122"/>
              </a:rPr>
              <a:t>/</a:t>
            </a:r>
            <a:r>
              <a:rPr lang="en-GB" altLang="zh-CN" sz="1400" b="0" dirty="0">
                <a:latin typeface="Times New Roman" panose="02020503050405090304" pitchFamily="18" charset="0"/>
                <a:ea typeface="宋体" pitchFamily="2" charset="-122"/>
              </a:rPr>
              <a:t>PN </a:t>
            </a:r>
            <a:r>
              <a:rPr lang="zh-CN" altLang="en-US" sz="1400" b="0" dirty="0">
                <a:latin typeface="Times New Roman" panose="02020503050405090304" pitchFamily="18" charset="0"/>
                <a:ea typeface="宋体" pitchFamily="2" charset="-122"/>
              </a:rPr>
              <a:t>喜欢</a:t>
            </a:r>
            <a:r>
              <a:rPr lang="en-US" altLang="zh-CN" sz="1400" b="0" dirty="0">
                <a:latin typeface="Times New Roman" panose="02020503050405090304" pitchFamily="18" charset="0"/>
                <a:ea typeface="宋体" pitchFamily="2" charset="-122"/>
              </a:rPr>
              <a:t>/</a:t>
            </a:r>
            <a:r>
              <a:rPr lang="en-GB" altLang="zh-CN" sz="1400" b="0" dirty="0">
                <a:latin typeface="Times New Roman" panose="02020503050405090304" pitchFamily="18" charset="0"/>
                <a:ea typeface="宋体" pitchFamily="2" charset="-122"/>
              </a:rPr>
              <a:t>VV </a:t>
            </a:r>
            <a:r>
              <a:rPr lang="zh-CN" altLang="en-US" sz="1400" b="0" dirty="0">
                <a:latin typeface="Times New Roman" panose="02020503050405090304" pitchFamily="18" charset="0"/>
                <a:ea typeface="宋体" pitchFamily="2" charset="-122"/>
              </a:rPr>
              <a:t>下</a:t>
            </a:r>
            <a:r>
              <a:rPr lang="en-US" altLang="zh-CN" sz="1400" b="0" dirty="0">
                <a:latin typeface="Times New Roman" panose="02020503050405090304" pitchFamily="18" charset="0"/>
                <a:ea typeface="宋体" pitchFamily="2" charset="-122"/>
              </a:rPr>
              <a:t>/</a:t>
            </a:r>
            <a:r>
              <a:rPr lang="en-GB" altLang="zh-CN" sz="1400" b="0" dirty="0">
                <a:latin typeface="Times New Roman" panose="02020503050405090304" pitchFamily="18" charset="0"/>
                <a:ea typeface="宋体" pitchFamily="2" charset="-122"/>
              </a:rPr>
              <a:t>VV </a:t>
            </a:r>
            <a:r>
              <a:rPr lang="zh-CN" altLang="en-US" sz="1400" b="0" dirty="0">
                <a:latin typeface="Times New Roman" panose="02020503050405090304" pitchFamily="18" charset="0"/>
                <a:ea typeface="宋体" pitchFamily="2" charset="-122"/>
              </a:rPr>
              <a:t>象棋</a:t>
            </a:r>
            <a:r>
              <a:rPr lang="en-US" altLang="zh-CN" sz="1400" b="0" dirty="0">
                <a:latin typeface="Times New Roman" panose="02020503050405090304" pitchFamily="18" charset="0"/>
                <a:ea typeface="宋体" pitchFamily="2" charset="-122"/>
              </a:rPr>
              <a:t>/</a:t>
            </a:r>
            <a:r>
              <a:rPr lang="en-GB" altLang="zh-CN" sz="1400" b="0" dirty="0">
                <a:latin typeface="Times New Roman" panose="02020503050405090304" pitchFamily="18" charset="0"/>
                <a:ea typeface="宋体" pitchFamily="2" charset="-122"/>
              </a:rPr>
              <a:t>NN </a:t>
            </a:r>
            <a:endParaRPr lang="en-GB" altLang="zh-CN" sz="1400" b="0" dirty="0">
              <a:latin typeface="Times New Roman" panose="02020503050405090304" pitchFamily="18" charset="0"/>
              <a:ea typeface="宋体" pitchFamily="2" charset="-122"/>
            </a:endParaRPr>
          </a:p>
          <a:p>
            <a:pPr>
              <a:lnSpc>
                <a:spcPct val="130000"/>
              </a:lnSpc>
              <a:buClr>
                <a:srgbClr val="0070C0"/>
              </a:buClr>
            </a:pPr>
            <a:r>
              <a:rPr lang="zh-CN" altLang="en-US" sz="1600" b="0">
                <a:latin typeface="Times New Roman" panose="02020503050405090304" pitchFamily="18" charset="0"/>
                <a:ea typeface="宋体" pitchFamily="2" charset="-122"/>
              </a:rPr>
              <a:t>（</a:t>
            </a:r>
            <a:r>
              <a:rPr lang="en-US" altLang="zh-CN" sz="1600" b="0">
                <a:latin typeface="Times New Roman" panose="02020503050405090304" pitchFamily="18" charset="0"/>
                <a:ea typeface="宋体" pitchFamily="2" charset="-122"/>
              </a:rPr>
              <a:t>2</a:t>
            </a:r>
            <a:r>
              <a:rPr lang="zh-CN" altLang="en-US" sz="1600" b="0">
                <a:latin typeface="Times New Roman" panose="02020503050405090304" pitchFamily="18" charset="0"/>
                <a:ea typeface="宋体" pitchFamily="2" charset="-122"/>
              </a:rPr>
              <a:t>）序列</a:t>
            </a:r>
            <a:r>
              <a:rPr lang="zh-CN" altLang="en-US" sz="1600" b="0" dirty="0">
                <a:latin typeface="Times New Roman" panose="02020503050405090304" pitchFamily="18" charset="0"/>
                <a:ea typeface="宋体" pitchFamily="2" charset="-122"/>
              </a:rPr>
              <a:t>分割 </a:t>
            </a:r>
            <a:endParaRPr lang="en-US" altLang="zh-CN" sz="1600" b="0" dirty="0">
              <a:latin typeface="Times New Roman" panose="02020503050405090304" pitchFamily="18" charset="0"/>
              <a:ea typeface="宋体" pitchFamily="2" charset="-122"/>
            </a:endParaRPr>
          </a:p>
          <a:p>
            <a:pPr marL="285750" indent="-285750">
              <a:lnSpc>
                <a:spcPct val="130000"/>
              </a:lnSpc>
              <a:buFont typeface="Wingdings" panose="05000000000000000000" pitchFamily="2" charset="2"/>
              <a:buChar char="ü"/>
            </a:pPr>
            <a:r>
              <a:rPr lang="zh-CN" altLang="en-US" sz="1400" b="0">
                <a:latin typeface="Times New Roman" panose="02020503050405090304" pitchFamily="18" charset="0"/>
                <a:ea typeface="宋体" pitchFamily="2" charset="-122"/>
              </a:rPr>
              <a:t>在</a:t>
            </a:r>
            <a:r>
              <a:rPr lang="zh-CN" altLang="en-US" sz="1400" b="0" dirty="0">
                <a:latin typeface="Times New Roman" panose="02020503050405090304" pitchFamily="18" charset="0"/>
                <a:ea typeface="宋体" pitchFamily="2" charset="-122"/>
              </a:rPr>
              <a:t>文本序列中切分出子序列 </a:t>
            </a:r>
            <a:endParaRPr lang="en-US" altLang="zh-CN" sz="1400" b="0" dirty="0">
              <a:latin typeface="Times New Roman" panose="02020503050405090304" pitchFamily="18" charset="0"/>
              <a:ea typeface="宋体" pitchFamily="2" charset="-122"/>
            </a:endParaRPr>
          </a:p>
          <a:p>
            <a:pPr marL="285750" indent="-285750">
              <a:lnSpc>
                <a:spcPct val="130000"/>
              </a:lnSpc>
              <a:buFont typeface="Wingdings" panose="05000000000000000000" pitchFamily="2" charset="2"/>
              <a:buChar char="ü"/>
            </a:pPr>
            <a:r>
              <a:rPr lang="zh-CN" altLang="en-US" sz="1400" b="0">
                <a:latin typeface="Times New Roman" panose="02020503050405090304" pitchFamily="18" charset="0"/>
                <a:ea typeface="宋体" pitchFamily="2" charset="-122"/>
              </a:rPr>
              <a:t>可以</a:t>
            </a:r>
            <a:r>
              <a:rPr lang="zh-CN" altLang="en-US" sz="1400" b="0" dirty="0">
                <a:latin typeface="Times New Roman" panose="02020503050405090304" pitchFamily="18" charset="0"/>
                <a:ea typeface="宋体" pitchFamily="2" charset="-122"/>
              </a:rPr>
              <a:t>转化为序列标注问题 </a:t>
            </a:r>
            <a:endParaRPr lang="en-US" altLang="zh-CN" sz="1400" b="0" dirty="0">
              <a:latin typeface="Times New Roman" panose="02020503050405090304" pitchFamily="18" charset="0"/>
              <a:ea typeface="宋体" pitchFamily="2" charset="-122"/>
            </a:endParaRPr>
          </a:p>
          <a:p>
            <a:pPr>
              <a:lnSpc>
                <a:spcPct val="130000"/>
              </a:lnSpc>
              <a:buClr>
                <a:srgbClr val="0070C0"/>
              </a:buClr>
            </a:pPr>
            <a:r>
              <a:rPr lang="zh-CN" altLang="en-US" sz="1600" b="0">
                <a:latin typeface="Times New Roman" panose="02020503050405090304" pitchFamily="18" charset="0"/>
                <a:ea typeface="宋体" pitchFamily="2" charset="-122"/>
              </a:rPr>
              <a:t>（</a:t>
            </a:r>
            <a:r>
              <a:rPr lang="en-US" altLang="zh-CN" sz="1600" b="0">
                <a:latin typeface="Times New Roman" panose="02020503050405090304" pitchFamily="18" charset="0"/>
                <a:ea typeface="宋体" pitchFamily="2" charset="-122"/>
              </a:rPr>
              <a:t>3</a:t>
            </a:r>
            <a:r>
              <a:rPr lang="zh-CN" altLang="en-US" sz="1600" b="0">
                <a:latin typeface="Times New Roman" panose="02020503050405090304" pitchFamily="18" charset="0"/>
                <a:ea typeface="宋体" pitchFamily="2" charset="-122"/>
              </a:rPr>
              <a:t>）图</a:t>
            </a:r>
            <a:r>
              <a:rPr lang="zh-CN" altLang="en-US" sz="1600" b="0" dirty="0">
                <a:latin typeface="Times New Roman" panose="02020503050405090304" pitchFamily="18" charset="0"/>
                <a:ea typeface="宋体" pitchFamily="2" charset="-122"/>
              </a:rPr>
              <a:t>结构生成 </a:t>
            </a:r>
            <a:endParaRPr lang="en-US" altLang="zh-CN" sz="1600" b="0" dirty="0">
              <a:latin typeface="Times New Roman" panose="02020503050405090304" pitchFamily="18" charset="0"/>
              <a:ea typeface="宋体" pitchFamily="2" charset="-122"/>
            </a:endParaRPr>
          </a:p>
          <a:p>
            <a:pPr>
              <a:lnSpc>
                <a:spcPct val="130000"/>
              </a:lnSpc>
            </a:pPr>
            <a:r>
              <a:rPr lang="zh-CN" altLang="en-US" sz="1600" b="0">
                <a:solidFill>
                  <a:srgbClr val="6EAD45"/>
                </a:solidFill>
                <a:latin typeface="Times New Roman" panose="02020503050405090304" pitchFamily="18" charset="0"/>
                <a:ea typeface="宋体" pitchFamily="2" charset="-122"/>
              </a:rPr>
              <a:t> </a:t>
            </a:r>
            <a:r>
              <a:rPr lang="zh-CN" altLang="en-US" sz="1400" b="0">
                <a:latin typeface="Times New Roman" panose="02020503050405090304" pitchFamily="18" charset="0"/>
                <a:ea typeface="宋体" pitchFamily="2" charset="-122"/>
              </a:rPr>
              <a:t>输入</a:t>
            </a:r>
            <a:r>
              <a:rPr lang="zh-CN" altLang="en-US" sz="1400" b="0" dirty="0">
                <a:latin typeface="Times New Roman" panose="02020503050405090304" pitchFamily="18" charset="0"/>
                <a:ea typeface="宋体" pitchFamily="2" charset="-122"/>
              </a:rPr>
              <a:t>自然语言，输出以图表示的结构 </a:t>
            </a:r>
            <a:endParaRPr lang="zh-CN" altLang="en-US" sz="1400" b="0" dirty="0">
              <a:latin typeface="Times New Roman" panose="02020503050405090304" pitchFamily="18" charset="0"/>
              <a:ea typeface="宋体" pitchFamily="2" charset="-122"/>
            </a:endParaRPr>
          </a:p>
        </p:txBody>
      </p:sp>
      <p:pic>
        <p:nvPicPr>
          <p:cNvPr id="5" name="图片 4"/>
          <p:cNvPicPr>
            <a:picLocks noChangeAspect="1"/>
          </p:cNvPicPr>
          <p:nvPr/>
        </p:nvPicPr>
        <p:blipFill>
          <a:blip r:embed="rId1"/>
          <a:stretch>
            <a:fillRect/>
          </a:stretch>
        </p:blipFill>
        <p:spPr>
          <a:xfrm>
            <a:off x="4250725" y="3654568"/>
            <a:ext cx="4174868" cy="715481"/>
          </a:xfrm>
          <a:prstGeom prst="rect">
            <a:avLst/>
          </a:prstGeom>
        </p:spPr>
      </p:pic>
      <p:pic>
        <p:nvPicPr>
          <p:cNvPr id="6" name="图片 5"/>
          <p:cNvPicPr>
            <a:picLocks noChangeAspect="1"/>
          </p:cNvPicPr>
          <p:nvPr/>
        </p:nvPicPr>
        <p:blipFill>
          <a:blip r:embed="rId2"/>
          <a:stretch>
            <a:fillRect/>
          </a:stretch>
        </p:blipFill>
        <p:spPr>
          <a:xfrm>
            <a:off x="4837785" y="928526"/>
            <a:ext cx="4072441" cy="1985315"/>
          </a:xfrm>
          <a:prstGeom prst="rect">
            <a:avLst/>
          </a:prstGeom>
        </p:spPr>
      </p:pic>
      <p:sp>
        <p:nvSpPr>
          <p:cNvPr id="7" name="文本框 6"/>
          <p:cNvSpPr txBox="1"/>
          <p:nvPr/>
        </p:nvSpPr>
        <p:spPr>
          <a:xfrm>
            <a:off x="4467896" y="3125583"/>
            <a:ext cx="3740525" cy="400110"/>
          </a:xfrm>
          <a:prstGeom prst="rect">
            <a:avLst/>
          </a:prstGeom>
          <a:ln>
            <a:noFill/>
          </a:ln>
        </p:spPr>
        <p:style>
          <a:lnRef idx="2">
            <a:schemeClr val="dk1"/>
          </a:lnRef>
          <a:fillRef idx="1">
            <a:schemeClr val="lt1"/>
          </a:fillRef>
          <a:effectRef idx="0">
            <a:schemeClr val="dk1"/>
          </a:effectRef>
          <a:fontRef idx="minor">
            <a:schemeClr val="dk1"/>
          </a:fontRef>
        </p:style>
        <p:txBody>
          <a:bodyPr wrap="square" rtlCol="0" anchor="t">
            <a:spAutoFit/>
          </a:bodyPr>
          <a:lstStyle/>
          <a:p>
            <a:r>
              <a:rPr lang="en-GB" altLang="zh-CN" sz="1000" dirty="0">
                <a:latin typeface="Times New Roman" panose="02020503050405090304" pitchFamily="18" charset="0"/>
                <a:ea typeface="宋体" pitchFamily="2" charset="-122"/>
              </a:rPr>
              <a:t>Julia Hirschberg and Christopher D. Manning. Advances in Natural Language Processing. </a:t>
            </a:r>
            <a:r>
              <a:rPr lang="en-GB" altLang="zh-CN" sz="1000" b="1" dirty="0">
                <a:latin typeface="Times New Roman" panose="02020503050405090304" pitchFamily="18" charset="0"/>
                <a:ea typeface="宋体" pitchFamily="2" charset="-122"/>
              </a:rPr>
              <a:t>Science </a:t>
            </a:r>
            <a:r>
              <a:rPr lang="en-GB" altLang="zh-CN" sz="1000" dirty="0">
                <a:latin typeface="Times New Roman" panose="02020503050405090304" pitchFamily="18" charset="0"/>
                <a:ea typeface="宋体" pitchFamily="2" charset="-122"/>
              </a:rPr>
              <a:t>2015 </a:t>
            </a:r>
            <a:endParaRPr lang="en-GB" altLang="zh-CN" sz="1000" dirty="0">
              <a:latin typeface="Times New Roman" panose="02020503050405090304" pitchFamily="18" charset="0"/>
              <a:ea typeface="宋体" pitchFamily="2" charset="-122"/>
            </a:endParaRPr>
          </a:p>
        </p:txBody>
      </p:sp>
      <p:sp>
        <p:nvSpPr>
          <p:cNvPr id="3" name="标题 2"/>
          <p:cNvSpPr>
            <a:spLocks noGrp="1"/>
          </p:cNvSpPr>
          <p:nvPr>
            <p:ph type="title"/>
          </p:nvPr>
        </p:nvSpPr>
        <p:spPr>
          <a:xfrm>
            <a:off x="362424" y="14316"/>
            <a:ext cx="8781575" cy="702469"/>
          </a:xfrm>
        </p:spPr>
        <p:txBody>
          <a:bodyPr/>
          <a:lstStyle/>
          <a:p>
            <a:r>
              <a:rPr lang="zh-CN" altLang="en-US" sz="2400" b="1">
                <a:solidFill>
                  <a:srgbClr val="004C41"/>
                </a:solidFill>
                <a:ea typeface="宋体" pitchFamily="2" charset="-122"/>
                <a:cs typeface="+mn-ea"/>
                <a:sym typeface="+mn-lt"/>
              </a:rPr>
              <a:t>结构预测问题</a:t>
            </a:r>
            <a:endParaRPr lang="zh-CN" altLang="en-US">
              <a:ea typeface="宋体" pitchFamily="2" charset="-122"/>
            </a:endParaRPr>
          </a:p>
        </p:txBody>
      </p:sp>
      <p:sp>
        <p:nvSpPr>
          <p:cNvPr id="2" name="日期占位符 1"/>
          <p:cNvSpPr>
            <a:spLocks noGrp="1"/>
          </p:cNvSpPr>
          <p:nvPr>
            <p:ph type="dt" sz="half" idx="10"/>
          </p:nvPr>
        </p:nvSpPr>
        <p:spPr/>
        <p:txBody>
          <a:bodyPr/>
          <a:lstStyle/>
          <a:p>
            <a:fld id="{7DF00361-E3CC-4E76-84EC-0A45B8C08362}" type="datetime1">
              <a:rPr lang="zh-CN" altLang="en-US" smtClean="0"/>
            </a:fld>
            <a:endParaRPr lang="zh-CN" altLang="en-US"/>
          </a:p>
        </p:txBody>
      </p:sp>
      <p:sp>
        <p:nvSpPr>
          <p:cNvPr id="8" name="灯片编号占位符 7"/>
          <p:cNvSpPr>
            <a:spLocks noGrp="1"/>
          </p:cNvSpPr>
          <p:nvPr>
            <p:ph type="sldNum" sz="quarter" idx="12"/>
          </p:nvPr>
        </p:nvSpPr>
        <p:spPr/>
        <p:txBody>
          <a:bodyPr/>
          <a:lstStyle/>
          <a:p>
            <a:fld id="{82952373-7980-4DA7-9ADE-54D716DB38BB}" type="slidenum">
              <a:rPr lang="zh-CN" altLang="en-US" smtClean="0"/>
            </a:fld>
            <a:endParaRPr lang="zh-CN" altLang="en-US"/>
          </a:p>
        </p:txBody>
      </p:sp>
    </p:spTree>
  </p:cSld>
  <p:clrMapOvr>
    <a:masterClrMapping/>
  </p:clrMapOvr>
  <mc:AlternateContent xmlns:mc="http://schemas.openxmlformats.org/markup-compatibility/2006">
    <mc:Choice xmlns:p14="http://schemas.microsoft.com/office/powerpoint/2010/main" Requires="p14">
      <p:transition p14:dur="0"/>
    </mc:Choice>
    <mc:Fallback>
      <p:transition/>
    </mc:Fallback>
  </mc:AlternateContent>
</p:sld>
</file>

<file path=ppt/slides/slide7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文本框 3"/>
          <p:cNvSpPr txBox="1"/>
          <p:nvPr/>
        </p:nvSpPr>
        <p:spPr>
          <a:xfrm>
            <a:off x="521207" y="894493"/>
            <a:ext cx="6464105" cy="1521955"/>
          </a:xfrm>
          <a:prstGeom prst="rect">
            <a:avLst/>
          </a:prstGeom>
          <a:ln>
            <a:noFill/>
          </a:ln>
        </p:spPr>
        <p:style>
          <a:lnRef idx="2">
            <a:schemeClr val="dk1"/>
          </a:lnRef>
          <a:fillRef idx="1">
            <a:schemeClr val="lt1"/>
          </a:fillRef>
          <a:effectRef idx="0">
            <a:schemeClr val="dk1"/>
          </a:effectRef>
          <a:fontRef idx="minor">
            <a:schemeClr val="dk1"/>
          </a:fontRef>
        </p:style>
        <p:txBody>
          <a:bodyPr wrap="square" rtlCol="0" anchor="t">
            <a:spAutoFit/>
          </a:bodyPr>
          <a:lstStyle/>
          <a:p>
            <a:pPr marL="285750" indent="-285750">
              <a:lnSpc>
                <a:spcPct val="150000"/>
              </a:lnSpc>
              <a:buClr>
                <a:srgbClr val="0070C0"/>
              </a:buClr>
              <a:buFont typeface="Wingdings" panose="05000000000000000000" pitchFamily="2" charset="2"/>
              <a:buChar char="n"/>
            </a:pPr>
            <a:r>
              <a:rPr lang="zh-CN" altLang="en-US" sz="1600" b="0" dirty="0">
                <a:latin typeface="Times New Roman" panose="02020503050405090304" pitchFamily="18" charset="0"/>
                <a:ea typeface="宋体" pitchFamily="2" charset="-122"/>
              </a:rPr>
              <a:t>输出将输入序列转换为输出序列 </a:t>
            </a:r>
            <a:endParaRPr lang="en-GB" altLang="zh-CN" sz="1600" b="0" dirty="0">
              <a:solidFill>
                <a:srgbClr val="4270C4"/>
              </a:solidFill>
              <a:latin typeface="Times New Roman" panose="02020503050405090304" pitchFamily="18" charset="0"/>
              <a:ea typeface="宋体" pitchFamily="2" charset="-122"/>
            </a:endParaRPr>
          </a:p>
          <a:p>
            <a:pPr marL="285750" indent="-285750">
              <a:lnSpc>
                <a:spcPct val="150000"/>
              </a:lnSpc>
              <a:buClr>
                <a:srgbClr val="0070C0"/>
              </a:buClr>
              <a:buFont typeface="Wingdings" panose="05000000000000000000" pitchFamily="2" charset="2"/>
              <a:buChar char="ü"/>
            </a:pPr>
            <a:r>
              <a:rPr lang="zh-CN" altLang="en-US" sz="1600" b="0" dirty="0">
                <a:latin typeface="Times New Roman" panose="02020503050405090304" pitchFamily="18" charset="0"/>
                <a:ea typeface="宋体" pitchFamily="2" charset="-122"/>
              </a:rPr>
              <a:t>输入和输出的序列</a:t>
            </a:r>
            <a:r>
              <a:rPr lang="zh-CN" altLang="en-US" sz="1600" b="0" dirty="0">
                <a:solidFill>
                  <a:srgbClr val="C00000"/>
                </a:solidFill>
                <a:latin typeface="Times New Roman" panose="02020503050405090304" pitchFamily="18" charset="0"/>
                <a:ea typeface="宋体" pitchFamily="2" charset="-122"/>
              </a:rPr>
              <a:t>不要求等长</a:t>
            </a:r>
            <a:r>
              <a:rPr lang="zh-CN" altLang="en-US" sz="1600" b="0" dirty="0">
                <a:latin typeface="Times New Roman" panose="02020503050405090304" pitchFamily="18" charset="0"/>
                <a:ea typeface="宋体" pitchFamily="2" charset="-122"/>
              </a:rPr>
              <a:t>，也</a:t>
            </a:r>
            <a:r>
              <a:rPr lang="zh-CN" altLang="en-US" sz="1600" b="0" dirty="0">
                <a:solidFill>
                  <a:srgbClr val="C00000"/>
                </a:solidFill>
                <a:latin typeface="Times New Roman" panose="02020503050405090304" pitchFamily="18" charset="0"/>
                <a:ea typeface="宋体" pitchFamily="2" charset="-122"/>
              </a:rPr>
              <a:t>不要求词表一致 </a:t>
            </a:r>
            <a:endParaRPr lang="en-US" altLang="zh-CN" sz="1600" b="0" dirty="0">
              <a:solidFill>
                <a:srgbClr val="C00000"/>
              </a:solidFill>
              <a:latin typeface="Times New Roman" panose="02020503050405090304" pitchFamily="18" charset="0"/>
              <a:ea typeface="宋体" pitchFamily="2" charset="-122"/>
            </a:endParaRPr>
          </a:p>
          <a:p>
            <a:pPr marL="285750" indent="-285750">
              <a:lnSpc>
                <a:spcPct val="150000"/>
              </a:lnSpc>
              <a:buClr>
                <a:srgbClr val="0070C0"/>
              </a:buClr>
              <a:buFont typeface="Wingdings" panose="05000000000000000000" pitchFamily="2" charset="2"/>
              <a:buChar char="ü"/>
            </a:pPr>
            <a:r>
              <a:rPr lang="zh-CN" altLang="en-US" sz="1600" b="0" dirty="0">
                <a:latin typeface="Times New Roman" panose="02020503050405090304" pitchFamily="18" charset="0"/>
                <a:ea typeface="宋体" pitchFamily="2" charset="-122"/>
              </a:rPr>
              <a:t>泛化为“编码器</a:t>
            </a:r>
            <a:r>
              <a:rPr lang="en-US" altLang="zh-CN" sz="1600" b="0" dirty="0">
                <a:latin typeface="Times New Roman" panose="02020503050405090304" pitchFamily="18" charset="0"/>
                <a:ea typeface="宋体" pitchFamily="2" charset="-122"/>
              </a:rPr>
              <a:t>—</a:t>
            </a:r>
            <a:r>
              <a:rPr lang="zh-CN" altLang="en-US" sz="1600" b="0" dirty="0">
                <a:latin typeface="Times New Roman" panose="02020503050405090304" pitchFamily="18" charset="0"/>
                <a:ea typeface="宋体" pitchFamily="2" charset="-122"/>
              </a:rPr>
              <a:t>解码器”模型（</a:t>
            </a:r>
            <a:r>
              <a:rPr lang="en-GB" altLang="zh-CN" sz="1600" b="0" dirty="0">
                <a:latin typeface="Times New Roman" panose="02020503050405090304" pitchFamily="18" charset="0"/>
                <a:ea typeface="宋体" pitchFamily="2" charset="-122"/>
              </a:rPr>
              <a:t>Encoder-Decoder</a:t>
            </a:r>
            <a:r>
              <a:rPr lang="zh-CN" altLang="en-GB" sz="1600" b="0" dirty="0">
                <a:latin typeface="Times New Roman" panose="02020503050405090304" pitchFamily="18" charset="0"/>
                <a:ea typeface="宋体" pitchFamily="2" charset="-122"/>
              </a:rPr>
              <a:t>） </a:t>
            </a:r>
            <a:endParaRPr lang="en-US" altLang="zh-CN" sz="1600" b="0" dirty="0">
              <a:latin typeface="Times New Roman" panose="02020503050405090304" pitchFamily="18" charset="0"/>
              <a:ea typeface="宋体" pitchFamily="2" charset="-122"/>
            </a:endParaRPr>
          </a:p>
          <a:p>
            <a:pPr>
              <a:lnSpc>
                <a:spcPct val="150000"/>
              </a:lnSpc>
              <a:buClr>
                <a:srgbClr val="0070C0"/>
              </a:buClr>
            </a:pPr>
            <a:r>
              <a:rPr lang="zh-CN" altLang="en-US" sz="1600" b="0">
                <a:solidFill>
                  <a:srgbClr val="6EAD45"/>
                </a:solidFill>
                <a:latin typeface="Times New Roman" panose="02020503050405090304" pitchFamily="18" charset="0"/>
                <a:ea typeface="宋体" pitchFamily="2" charset="-122"/>
              </a:rPr>
              <a:t>      </a:t>
            </a:r>
            <a:r>
              <a:rPr lang="zh-CN" altLang="en-US" sz="1600" b="0">
                <a:latin typeface="Times New Roman" panose="02020503050405090304" pitchFamily="18" charset="0"/>
                <a:ea typeface="宋体" pitchFamily="2" charset="-122"/>
              </a:rPr>
              <a:t>本质</a:t>
            </a:r>
            <a:r>
              <a:rPr lang="zh-CN" altLang="en-US" sz="1600" b="0" dirty="0">
                <a:latin typeface="Times New Roman" panose="02020503050405090304" pitchFamily="18" charset="0"/>
                <a:ea typeface="宋体" pitchFamily="2" charset="-122"/>
              </a:rPr>
              <a:t>上也是</a:t>
            </a:r>
            <a:r>
              <a:rPr lang="zh-CN" altLang="en-US" sz="1600" b="0" dirty="0">
                <a:solidFill>
                  <a:srgbClr val="C00000"/>
                </a:solidFill>
                <a:latin typeface="Times New Roman" panose="02020503050405090304" pitchFamily="18" charset="0"/>
                <a:ea typeface="宋体" pitchFamily="2" charset="-122"/>
              </a:rPr>
              <a:t>分类</a:t>
            </a:r>
            <a:r>
              <a:rPr lang="zh-CN" altLang="en-US" sz="1600" b="0">
                <a:solidFill>
                  <a:srgbClr val="C00000"/>
                </a:solidFill>
                <a:latin typeface="Times New Roman" panose="02020503050405090304" pitchFamily="18" charset="0"/>
                <a:ea typeface="宋体" pitchFamily="2" charset="-122"/>
              </a:rPr>
              <a:t>问题 </a:t>
            </a:r>
            <a:endParaRPr lang="en-US" altLang="zh-CN" sz="1600" b="0" dirty="0">
              <a:solidFill>
                <a:srgbClr val="C00000"/>
              </a:solidFill>
              <a:latin typeface="Times New Roman" panose="02020503050405090304" pitchFamily="18" charset="0"/>
              <a:ea typeface="宋体" pitchFamily="2" charset="-122"/>
            </a:endParaRPr>
          </a:p>
        </p:txBody>
      </p:sp>
      <p:pic>
        <p:nvPicPr>
          <p:cNvPr id="3" name="图片 2"/>
          <p:cNvPicPr>
            <a:picLocks noChangeAspect="1"/>
          </p:cNvPicPr>
          <p:nvPr/>
        </p:nvPicPr>
        <p:blipFill>
          <a:blip r:embed="rId1"/>
          <a:stretch>
            <a:fillRect/>
          </a:stretch>
        </p:blipFill>
        <p:spPr>
          <a:xfrm>
            <a:off x="604335" y="2631333"/>
            <a:ext cx="2597425" cy="1828799"/>
          </a:xfrm>
          <a:prstGeom prst="rect">
            <a:avLst/>
          </a:prstGeom>
        </p:spPr>
      </p:pic>
      <p:pic>
        <p:nvPicPr>
          <p:cNvPr id="8" name="图片 7"/>
          <p:cNvPicPr>
            <a:picLocks noChangeAspect="1"/>
          </p:cNvPicPr>
          <p:nvPr/>
        </p:nvPicPr>
        <p:blipFill>
          <a:blip r:embed="rId2"/>
          <a:stretch>
            <a:fillRect/>
          </a:stretch>
        </p:blipFill>
        <p:spPr>
          <a:xfrm>
            <a:off x="3910188" y="2631332"/>
            <a:ext cx="3683000" cy="1828800"/>
          </a:xfrm>
          <a:prstGeom prst="rect">
            <a:avLst/>
          </a:prstGeom>
        </p:spPr>
      </p:pic>
      <p:sp>
        <p:nvSpPr>
          <p:cNvPr id="5" name="标题 4"/>
          <p:cNvSpPr>
            <a:spLocks noGrp="1"/>
          </p:cNvSpPr>
          <p:nvPr>
            <p:ph type="title"/>
          </p:nvPr>
        </p:nvSpPr>
        <p:spPr>
          <a:xfrm>
            <a:off x="362425" y="0"/>
            <a:ext cx="8781575" cy="702469"/>
          </a:xfrm>
        </p:spPr>
        <p:txBody>
          <a:bodyPr/>
          <a:lstStyle/>
          <a:p>
            <a:r>
              <a:rPr lang="zh-CN" altLang="en-US" sz="2400" b="1">
                <a:solidFill>
                  <a:srgbClr val="004C41"/>
                </a:solidFill>
                <a:ea typeface="宋体" pitchFamily="2" charset="-122"/>
                <a:cs typeface="+mn-ea"/>
                <a:sym typeface="+mn-lt"/>
              </a:rPr>
              <a:t>序列到序列问题</a:t>
            </a:r>
            <a:endParaRPr lang="zh-CN" altLang="en-US">
              <a:ea typeface="宋体" pitchFamily="2" charset="-122"/>
            </a:endParaRPr>
          </a:p>
        </p:txBody>
      </p:sp>
      <p:sp>
        <p:nvSpPr>
          <p:cNvPr id="2" name="日期占位符 1"/>
          <p:cNvSpPr>
            <a:spLocks noGrp="1"/>
          </p:cNvSpPr>
          <p:nvPr>
            <p:ph type="dt" sz="half" idx="10"/>
          </p:nvPr>
        </p:nvSpPr>
        <p:spPr/>
        <p:txBody>
          <a:bodyPr/>
          <a:lstStyle/>
          <a:p>
            <a:fld id="{7A12AF81-EB1F-442D-91A6-CC8BD0898A03}" type="datetime1">
              <a:rPr lang="zh-CN" altLang="en-US" smtClean="0"/>
            </a:fld>
            <a:endParaRPr lang="zh-CN" altLang="en-US"/>
          </a:p>
        </p:txBody>
      </p:sp>
      <p:sp>
        <p:nvSpPr>
          <p:cNvPr id="6" name="灯片编号占位符 5"/>
          <p:cNvSpPr>
            <a:spLocks noGrp="1"/>
          </p:cNvSpPr>
          <p:nvPr>
            <p:ph type="sldNum" sz="quarter" idx="12"/>
          </p:nvPr>
        </p:nvSpPr>
        <p:spPr/>
        <p:txBody>
          <a:bodyPr/>
          <a:lstStyle/>
          <a:p>
            <a:fld id="{82952373-7980-4DA7-9ADE-54D716DB38BB}" type="slidenum">
              <a:rPr lang="zh-CN" altLang="en-US" smtClean="0"/>
            </a:fld>
            <a:endParaRPr lang="zh-CN" altLang="en-US"/>
          </a:p>
        </p:txBody>
      </p:sp>
    </p:spTree>
  </p:cSld>
  <p:clrMapOvr>
    <a:masterClrMapping/>
  </p:clrMapOvr>
  <mc:AlternateContent xmlns:mc="http://schemas.openxmlformats.org/markup-compatibility/2006">
    <mc:Choice xmlns:p14="http://schemas.microsoft.com/office/powerpoint/2010/main" Requires="p14">
      <p:transition p14:dur="0"/>
    </mc:Choice>
    <mc:Fallback>
      <p:transition/>
    </mc:Fallback>
  </mc:AlternateContent>
</p:sld>
</file>

<file path=ppt/slides/slide7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 name="图片 4"/>
          <p:cNvPicPr>
            <a:picLocks noChangeAspect="1"/>
          </p:cNvPicPr>
          <p:nvPr/>
        </p:nvPicPr>
        <p:blipFill>
          <a:blip r:embed="rId1"/>
          <a:stretch>
            <a:fillRect/>
          </a:stretch>
        </p:blipFill>
        <p:spPr>
          <a:xfrm>
            <a:off x="1830398" y="1264412"/>
            <a:ext cx="5483203" cy="2906241"/>
          </a:xfrm>
          <a:prstGeom prst="rect">
            <a:avLst/>
          </a:prstGeom>
        </p:spPr>
      </p:pic>
      <p:sp>
        <p:nvSpPr>
          <p:cNvPr id="3" name="标题 2"/>
          <p:cNvSpPr>
            <a:spLocks noGrp="1"/>
          </p:cNvSpPr>
          <p:nvPr>
            <p:ph type="title"/>
          </p:nvPr>
        </p:nvSpPr>
        <p:spPr>
          <a:xfrm>
            <a:off x="362424" y="0"/>
            <a:ext cx="8781575" cy="702469"/>
          </a:xfrm>
        </p:spPr>
        <p:txBody>
          <a:bodyPr/>
          <a:lstStyle/>
          <a:p>
            <a:r>
              <a:rPr lang="zh-CN" altLang="en-US" sz="2400" b="1">
                <a:solidFill>
                  <a:srgbClr val="004C41"/>
                </a:solidFill>
                <a:ea typeface="宋体" pitchFamily="2" charset="-122"/>
                <a:cs typeface="+mn-ea"/>
                <a:sym typeface="+mn-lt"/>
              </a:rPr>
              <a:t>自然语言处理研究对象与层次</a:t>
            </a:r>
            <a:endParaRPr lang="zh-CN" altLang="en-US">
              <a:ea typeface="宋体" pitchFamily="2" charset="-122"/>
            </a:endParaRPr>
          </a:p>
        </p:txBody>
      </p:sp>
      <p:sp>
        <p:nvSpPr>
          <p:cNvPr id="2" name="日期占位符 1"/>
          <p:cNvSpPr>
            <a:spLocks noGrp="1"/>
          </p:cNvSpPr>
          <p:nvPr>
            <p:ph type="dt" sz="half" idx="10"/>
          </p:nvPr>
        </p:nvSpPr>
        <p:spPr/>
        <p:txBody>
          <a:bodyPr/>
          <a:lstStyle/>
          <a:p>
            <a:fld id="{11C83298-A3DC-492B-BECE-5559E07F494D}" type="datetime1">
              <a:rPr lang="zh-CN" altLang="en-US" smtClean="0"/>
            </a:fld>
            <a:endParaRPr lang="zh-CN" altLang="en-US"/>
          </a:p>
        </p:txBody>
      </p:sp>
      <p:sp>
        <p:nvSpPr>
          <p:cNvPr id="4" name="灯片编号占位符 3"/>
          <p:cNvSpPr>
            <a:spLocks noGrp="1"/>
          </p:cNvSpPr>
          <p:nvPr>
            <p:ph type="sldNum" sz="quarter" idx="12"/>
          </p:nvPr>
        </p:nvSpPr>
        <p:spPr/>
        <p:txBody>
          <a:bodyPr/>
          <a:lstStyle/>
          <a:p>
            <a:fld id="{82952373-7980-4DA7-9ADE-54D716DB38BB}" type="slidenum">
              <a:rPr lang="zh-CN" altLang="en-US" smtClean="0"/>
            </a:fld>
            <a:endParaRPr lang="zh-CN" altLang="en-US"/>
          </a:p>
        </p:txBody>
      </p:sp>
    </p:spTree>
  </p:cSld>
  <p:clrMapOvr>
    <a:masterClrMapping/>
  </p:clrMapOvr>
  <mc:AlternateContent xmlns:mc="http://schemas.openxmlformats.org/markup-compatibility/2006">
    <mc:Choice xmlns:p14="http://schemas.microsoft.com/office/powerpoint/2010/main" Requires="p14">
      <p:transition p14:dur="0"/>
    </mc:Choice>
    <mc:Fallback>
      <p:transition/>
    </mc:Fallback>
  </mc:AlternateContent>
</p:sld>
</file>

<file path=ppt/slides/slide7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sz="2400" b="1">
                <a:solidFill>
                  <a:srgbClr val="004C41"/>
                </a:solidFill>
                <a:ea typeface="宋体" pitchFamily="2" charset="-122"/>
                <a:cs typeface="+mn-ea"/>
                <a:sym typeface="+mn-lt"/>
              </a:rPr>
              <a:t>自然语言处理研究对象与层次</a:t>
            </a:r>
            <a:endParaRPr lang="zh-CN" altLang="en-US">
              <a:ea typeface="宋体" pitchFamily="2" charset="-122"/>
            </a:endParaRPr>
          </a:p>
        </p:txBody>
      </p:sp>
      <p:sp>
        <p:nvSpPr>
          <p:cNvPr id="4" name="文本框 3"/>
          <p:cNvSpPr txBox="1"/>
          <p:nvPr/>
        </p:nvSpPr>
        <p:spPr>
          <a:xfrm>
            <a:off x="456056" y="912311"/>
            <a:ext cx="8619363" cy="3362524"/>
          </a:xfrm>
          <a:prstGeom prst="rect">
            <a:avLst/>
          </a:prstGeom>
          <a:noFill/>
        </p:spPr>
        <p:txBody>
          <a:bodyPr wrap="square">
            <a:spAutoFit/>
          </a:bodyPr>
          <a:lstStyle/>
          <a:p>
            <a:pPr marL="285750" indent="-285750">
              <a:lnSpc>
                <a:spcPct val="150000"/>
              </a:lnSpc>
              <a:buClr>
                <a:srgbClr val="0070C0"/>
              </a:buClr>
              <a:buFont typeface="Wingdings" panose="05000000000000000000" pitchFamily="2" charset="2"/>
              <a:buChar char="n"/>
            </a:pPr>
            <a:r>
              <a:rPr lang="zh-CN" altLang="en-US" i="0">
                <a:solidFill>
                  <a:srgbClr val="0000FF"/>
                </a:solidFill>
                <a:effectLst/>
                <a:latin typeface="Times New Roman" panose="02020503050405090304" pitchFamily="18" charset="0"/>
              </a:rPr>
              <a:t>形式方面</a:t>
            </a:r>
            <a:r>
              <a:rPr lang="zh-CN" altLang="en-US" b="0" i="0">
                <a:effectLst/>
                <a:latin typeface="Times New Roman" panose="02020503050405090304" pitchFamily="18" charset="0"/>
              </a:rPr>
              <a:t>主要研究语言符号层面的处理，研究的是“名”与“名”之间的关系，如通过编辑距离等计算文本之间的相似度。</a:t>
            </a:r>
            <a:endParaRPr lang="en-US" altLang="zh-CN" b="0" i="0">
              <a:effectLst/>
              <a:latin typeface="Times New Roman" panose="02020503050405090304" pitchFamily="18" charset="0"/>
            </a:endParaRPr>
          </a:p>
          <a:p>
            <a:pPr marL="285750" indent="-285750">
              <a:lnSpc>
                <a:spcPct val="150000"/>
              </a:lnSpc>
              <a:buClr>
                <a:srgbClr val="0070C0"/>
              </a:buClr>
              <a:buFont typeface="Wingdings" panose="05000000000000000000" pitchFamily="2" charset="2"/>
              <a:buChar char="n"/>
            </a:pPr>
            <a:r>
              <a:rPr lang="zh-CN" altLang="en-US" i="0">
                <a:solidFill>
                  <a:srgbClr val="0000FF"/>
                </a:solidFill>
                <a:effectLst/>
                <a:latin typeface="Times New Roman" panose="02020503050405090304" pitchFamily="18" charset="0"/>
              </a:rPr>
              <a:t>语义方面</a:t>
            </a:r>
            <a:r>
              <a:rPr lang="zh-CN" altLang="en-US" b="0" i="0">
                <a:effectLst/>
                <a:latin typeface="Times New Roman" panose="02020503050405090304" pitchFamily="18" charset="0"/>
              </a:rPr>
              <a:t>主要研究语言符号和其背后所要表达的含义之间的关系，即“名”和“实”之间的关系，如“手机余额不足”和“电话快欠费了”两个句子的表达方式完全不同，但是背后阐述的事实是相同的。</a:t>
            </a:r>
            <a:r>
              <a:rPr lang="zh-CN" altLang="en-US" b="0" i="0">
                <a:solidFill>
                  <a:srgbClr val="3333FF"/>
                </a:solidFill>
                <a:effectLst/>
                <a:latin typeface="Times New Roman" panose="02020503050405090304" pitchFamily="18" charset="0"/>
              </a:rPr>
              <a:t>语义问题也是自然语言处理领域目前主要关注的问题</a:t>
            </a:r>
            <a:r>
              <a:rPr lang="zh-CN" altLang="en-US" b="0" i="0">
                <a:solidFill>
                  <a:srgbClr val="4D4D4D"/>
                </a:solidFill>
                <a:effectLst/>
                <a:latin typeface="Times New Roman" panose="02020503050405090304" pitchFamily="18" charset="0"/>
              </a:rPr>
              <a:t>。</a:t>
            </a:r>
            <a:endParaRPr lang="en-US" altLang="zh-CN" b="0" i="0">
              <a:solidFill>
                <a:srgbClr val="4D4D4D"/>
              </a:solidFill>
              <a:effectLst/>
              <a:latin typeface="Times New Roman" panose="02020503050405090304" pitchFamily="18" charset="0"/>
            </a:endParaRPr>
          </a:p>
          <a:p>
            <a:pPr marL="285750" indent="-285750">
              <a:lnSpc>
                <a:spcPct val="150000"/>
              </a:lnSpc>
              <a:buClr>
                <a:srgbClr val="0070C0"/>
              </a:buClr>
              <a:buFont typeface="Wingdings" panose="05000000000000000000" pitchFamily="2" charset="2"/>
              <a:buChar char="n"/>
            </a:pPr>
            <a:r>
              <a:rPr lang="zh-CN" altLang="en-US" i="0">
                <a:solidFill>
                  <a:srgbClr val="0000FF"/>
                </a:solidFill>
                <a:effectLst/>
                <a:latin typeface="Times New Roman" panose="02020503050405090304" pitchFamily="18" charset="0"/>
              </a:rPr>
              <a:t>推理</a:t>
            </a:r>
            <a:r>
              <a:rPr lang="zh-CN" altLang="en-US" b="0" i="0">
                <a:effectLst/>
                <a:latin typeface="Times New Roman" panose="02020503050405090304" pitchFamily="18" charset="0"/>
              </a:rPr>
              <a:t>是在语义研究的基础之上，进一步引入知识的运用，因此涉及“名”“实”和“知”之间关系，这一点体现了自然语言的知识性。</a:t>
            </a:r>
            <a:endParaRPr lang="zh-CN" altLang="en-US">
              <a:latin typeface="Times New Roman" panose="02020503050405090304" pitchFamily="18" charset="0"/>
            </a:endParaRPr>
          </a:p>
        </p:txBody>
      </p:sp>
      <p:sp>
        <p:nvSpPr>
          <p:cNvPr id="3" name="日期占位符 2"/>
          <p:cNvSpPr>
            <a:spLocks noGrp="1"/>
          </p:cNvSpPr>
          <p:nvPr>
            <p:ph type="dt" sz="half" idx="10"/>
          </p:nvPr>
        </p:nvSpPr>
        <p:spPr/>
        <p:txBody>
          <a:bodyPr/>
          <a:lstStyle/>
          <a:p>
            <a:fld id="{608C8C4C-C7D1-4C2E-A94A-049F0C28A6D2}" type="datetime1">
              <a:rPr lang="zh-CN" altLang="en-US" smtClean="0"/>
            </a:fld>
            <a:endParaRPr lang="zh-CN" altLang="en-US"/>
          </a:p>
        </p:txBody>
      </p:sp>
      <p:sp>
        <p:nvSpPr>
          <p:cNvPr id="5" name="灯片编号占位符 4"/>
          <p:cNvSpPr>
            <a:spLocks noGrp="1"/>
          </p:cNvSpPr>
          <p:nvPr>
            <p:ph type="sldNum" sz="quarter" idx="12"/>
          </p:nvPr>
        </p:nvSpPr>
        <p:spPr/>
        <p:txBody>
          <a:bodyPr/>
          <a:lstStyle/>
          <a:p>
            <a:fld id="{82952373-7980-4DA7-9ADE-54D716DB38BB}" type="slidenum">
              <a:rPr lang="zh-CN" altLang="en-US" smtClean="0"/>
            </a:fld>
            <a:endParaRPr lang="zh-CN" altLang="en-US"/>
          </a:p>
        </p:txBody>
      </p:sp>
    </p:spTree>
  </p:cSld>
  <p:clrMapOvr>
    <a:masterClrMapping/>
  </p:clrMapOvr>
  <mc:AlternateContent xmlns:mc="http://schemas.openxmlformats.org/markup-compatibility/2006">
    <mc:Choice xmlns:p14="http://schemas.microsoft.com/office/powerpoint/2010/main" Requires="p14">
      <p:transition p14:dur="0"/>
    </mc:Choice>
    <mc:Fallback>
      <p:transition/>
    </mc:Fallback>
  </mc:AlternateContent>
</p:sld>
</file>

<file path=ppt/slides/slide7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sz="2400" b="1">
                <a:solidFill>
                  <a:srgbClr val="004C41"/>
                </a:solidFill>
                <a:ea typeface="宋体" pitchFamily="2" charset="-122"/>
                <a:cs typeface="+mn-ea"/>
                <a:sym typeface="+mn-lt"/>
              </a:rPr>
              <a:t>自然语言处理研究对象与层次</a:t>
            </a:r>
            <a:endParaRPr lang="zh-CN" altLang="en-US">
              <a:ea typeface="宋体" pitchFamily="2" charset="-122"/>
            </a:endParaRPr>
          </a:p>
        </p:txBody>
      </p:sp>
      <p:sp>
        <p:nvSpPr>
          <p:cNvPr id="4" name="文本框 3"/>
          <p:cNvSpPr txBox="1"/>
          <p:nvPr/>
        </p:nvSpPr>
        <p:spPr>
          <a:xfrm>
            <a:off x="529208" y="939743"/>
            <a:ext cx="8230745" cy="2116028"/>
          </a:xfrm>
          <a:prstGeom prst="rect">
            <a:avLst/>
          </a:prstGeom>
          <a:noFill/>
        </p:spPr>
        <p:txBody>
          <a:bodyPr wrap="square">
            <a:spAutoFit/>
          </a:bodyPr>
          <a:lstStyle/>
          <a:p>
            <a:pPr marL="285750" indent="-285750">
              <a:lnSpc>
                <a:spcPct val="150000"/>
              </a:lnSpc>
              <a:buClr>
                <a:srgbClr val="0070C0"/>
              </a:buClr>
              <a:buFont typeface="Wingdings" panose="05000000000000000000" pitchFamily="2" charset="2"/>
              <a:buChar char="n"/>
            </a:pPr>
            <a:r>
              <a:rPr lang="zh-CN" altLang="en-US" b="0" i="0">
                <a:solidFill>
                  <a:srgbClr val="3333FF"/>
                </a:solidFill>
                <a:effectLst/>
                <a:latin typeface="Times New Roman" panose="02020503050405090304" pitchFamily="18" charset="0"/>
              </a:rPr>
              <a:t>语用</a:t>
            </a:r>
            <a:r>
              <a:rPr lang="zh-CN" altLang="en-US" b="0" i="0">
                <a:effectLst/>
                <a:latin typeface="Times New Roman" panose="02020503050405090304" pitchFamily="18" charset="0"/>
              </a:rPr>
              <a:t>则最为复杂，由于引入了语言所处的环境因素，通常表达的是“言外之意”和“弦外之音”，同时涉及了“名”“实”“知”“境”四个方面。</a:t>
            </a:r>
            <a:endParaRPr lang="en-US" altLang="zh-CN" b="0" i="0">
              <a:effectLst/>
              <a:latin typeface="Times New Roman" panose="02020503050405090304" pitchFamily="18" charset="0"/>
            </a:endParaRPr>
          </a:p>
          <a:p>
            <a:pPr indent="457200">
              <a:lnSpc>
                <a:spcPct val="150000"/>
              </a:lnSpc>
              <a:buClr>
                <a:srgbClr val="0070C0"/>
              </a:buClr>
            </a:pPr>
            <a:r>
              <a:rPr lang="zh-CN" altLang="en-US" b="0" i="0">
                <a:effectLst/>
                <a:latin typeface="Times New Roman" panose="02020503050405090304" pitchFamily="18" charset="0"/>
              </a:rPr>
              <a:t>例如，同样的一句话“你真讨厌”，从字面意义上明显是贬义，而如果是情侣之间的对话，则含义可能就不一样了。另外，</a:t>
            </a:r>
            <a:r>
              <a:rPr lang="zh-CN" altLang="en-US" b="0" i="0">
                <a:solidFill>
                  <a:srgbClr val="3333FF"/>
                </a:solidFill>
                <a:effectLst/>
                <a:latin typeface="Times New Roman" panose="02020503050405090304" pitchFamily="18" charset="0"/>
              </a:rPr>
              <a:t>语气、语调以及说话人的表情和动作也会影响其要表达的含义。</a:t>
            </a:r>
            <a:endParaRPr lang="zh-CN" altLang="en-US">
              <a:solidFill>
                <a:srgbClr val="3333FF"/>
              </a:solidFill>
              <a:latin typeface="Times New Roman" panose="02020503050405090304" pitchFamily="18" charset="0"/>
            </a:endParaRPr>
          </a:p>
        </p:txBody>
      </p:sp>
      <p:sp>
        <p:nvSpPr>
          <p:cNvPr id="3" name="日期占位符 2"/>
          <p:cNvSpPr>
            <a:spLocks noGrp="1"/>
          </p:cNvSpPr>
          <p:nvPr>
            <p:ph type="dt" sz="half" idx="10"/>
          </p:nvPr>
        </p:nvSpPr>
        <p:spPr/>
        <p:txBody>
          <a:bodyPr/>
          <a:lstStyle/>
          <a:p>
            <a:fld id="{3FBAF9A1-9197-45CB-A755-B93D509C8702}" type="datetime1">
              <a:rPr lang="zh-CN" altLang="en-US" smtClean="0"/>
            </a:fld>
            <a:endParaRPr lang="zh-CN" altLang="en-US"/>
          </a:p>
        </p:txBody>
      </p:sp>
      <p:sp>
        <p:nvSpPr>
          <p:cNvPr id="5" name="灯片编号占位符 4"/>
          <p:cNvSpPr>
            <a:spLocks noGrp="1"/>
          </p:cNvSpPr>
          <p:nvPr>
            <p:ph type="sldNum" sz="quarter" idx="12"/>
          </p:nvPr>
        </p:nvSpPr>
        <p:spPr/>
        <p:txBody>
          <a:bodyPr/>
          <a:lstStyle/>
          <a:p>
            <a:fld id="{82952373-7980-4DA7-9ADE-54D716DB38BB}" type="slidenum">
              <a:rPr lang="zh-CN" altLang="en-US" smtClean="0"/>
            </a:fld>
            <a:endParaRPr lang="zh-CN" altLang="en-US"/>
          </a:p>
        </p:txBody>
      </p:sp>
    </p:spTree>
  </p:cSld>
  <p:clrMapOvr>
    <a:masterClrMapping/>
  </p:clrMapOvr>
  <mc:AlternateContent xmlns:mc="http://schemas.openxmlformats.org/markup-compatibility/2006">
    <mc:Choice xmlns:p14="http://schemas.microsoft.com/office/powerpoint/2010/main" Requires="p14">
      <p:transition p14:dur="0"/>
    </mc:Choice>
    <mc:Fallback>
      <p:transition/>
    </mc:Fallback>
  </mc:AlternateContent>
</p:sld>
</file>

<file path=ppt/slides/slide7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 name="图片 4"/>
          <p:cNvPicPr>
            <a:picLocks noChangeAspect="1"/>
          </p:cNvPicPr>
          <p:nvPr/>
        </p:nvPicPr>
        <p:blipFill>
          <a:blip r:embed="rId1"/>
          <a:stretch>
            <a:fillRect/>
          </a:stretch>
        </p:blipFill>
        <p:spPr>
          <a:xfrm>
            <a:off x="1711833" y="1049816"/>
            <a:ext cx="5894073" cy="2915851"/>
          </a:xfrm>
          <a:prstGeom prst="rect">
            <a:avLst/>
          </a:prstGeom>
        </p:spPr>
      </p:pic>
      <p:sp>
        <p:nvSpPr>
          <p:cNvPr id="3" name="标题 2"/>
          <p:cNvSpPr>
            <a:spLocks noGrp="1"/>
          </p:cNvSpPr>
          <p:nvPr>
            <p:ph type="title"/>
          </p:nvPr>
        </p:nvSpPr>
        <p:spPr>
          <a:xfrm>
            <a:off x="362425" y="29766"/>
            <a:ext cx="8781575" cy="702469"/>
          </a:xfrm>
        </p:spPr>
        <p:txBody>
          <a:bodyPr/>
          <a:lstStyle/>
          <a:p>
            <a:r>
              <a:rPr lang="zh-CN" altLang="en-US" sz="2400" b="1">
                <a:solidFill>
                  <a:srgbClr val="004C41"/>
                </a:solidFill>
                <a:ea typeface="宋体" pitchFamily="2" charset="-122"/>
                <a:cs typeface="+mn-ea"/>
                <a:sym typeface="+mn-lt"/>
              </a:rPr>
              <a:t>“</a:t>
            </a:r>
            <a:r>
              <a:rPr lang="zh-CN" altLang="en-US" sz="2400" b="1">
                <a:solidFill>
                  <a:srgbClr val="004C41"/>
                </a:solidFill>
                <a:ea typeface="宋体" pitchFamily="2" charset="-122"/>
                <a:cs typeface="+mn-ea"/>
              </a:rPr>
              <a:t>层次</a:t>
            </a:r>
            <a:r>
              <a:rPr lang="en-US" altLang="zh-CN" sz="2400" b="1">
                <a:solidFill>
                  <a:srgbClr val="004C41"/>
                </a:solidFill>
                <a:ea typeface="宋体" pitchFamily="2" charset="-122"/>
                <a:cs typeface="+mn-ea"/>
              </a:rPr>
              <a:t>×</a:t>
            </a:r>
            <a:r>
              <a:rPr lang="zh-CN" altLang="en-US" sz="2400" b="1">
                <a:solidFill>
                  <a:srgbClr val="004C41"/>
                </a:solidFill>
                <a:ea typeface="宋体" pitchFamily="2" charset="-122"/>
                <a:cs typeface="+mn-ea"/>
              </a:rPr>
              <a:t>任务”二维表 </a:t>
            </a:r>
            <a:endParaRPr lang="zh-CN" altLang="en-US">
              <a:ea typeface="宋体" pitchFamily="2" charset="-122"/>
            </a:endParaRPr>
          </a:p>
        </p:txBody>
      </p:sp>
      <p:sp>
        <p:nvSpPr>
          <p:cNvPr id="2" name="日期占位符 1"/>
          <p:cNvSpPr>
            <a:spLocks noGrp="1"/>
          </p:cNvSpPr>
          <p:nvPr>
            <p:ph type="dt" sz="half" idx="10"/>
          </p:nvPr>
        </p:nvSpPr>
        <p:spPr/>
        <p:txBody>
          <a:bodyPr/>
          <a:lstStyle/>
          <a:p>
            <a:fld id="{E36A883A-AC38-4FB0-8FA1-3A426CFA0284}" type="datetime1">
              <a:rPr lang="zh-CN" altLang="en-US" smtClean="0"/>
            </a:fld>
            <a:endParaRPr lang="zh-CN" altLang="en-US"/>
          </a:p>
        </p:txBody>
      </p:sp>
      <p:sp>
        <p:nvSpPr>
          <p:cNvPr id="4" name="灯片编号占位符 3"/>
          <p:cNvSpPr>
            <a:spLocks noGrp="1"/>
          </p:cNvSpPr>
          <p:nvPr>
            <p:ph type="sldNum" sz="quarter" idx="12"/>
          </p:nvPr>
        </p:nvSpPr>
        <p:spPr/>
        <p:txBody>
          <a:bodyPr/>
          <a:lstStyle/>
          <a:p>
            <a:fld id="{82952373-7980-4DA7-9ADE-54D716DB38BB}" type="slidenum">
              <a:rPr lang="zh-CN" altLang="en-US" smtClean="0"/>
            </a:fld>
            <a:endParaRPr lang="zh-CN" altLang="en-US"/>
          </a:p>
        </p:txBody>
      </p:sp>
    </p:spTree>
  </p:cSld>
  <p:clrMapOvr>
    <a:masterClrMapping/>
  </p:clrMapOvr>
  <mc:AlternateContent xmlns:mc="http://schemas.openxmlformats.org/markup-compatibility/2006">
    <mc:Choice xmlns:p14="http://schemas.microsoft.com/office/powerpoint/2010/main" Requires="p14">
      <p:transition p14:dur="0"/>
    </mc:Choice>
    <mc:Fallback>
      <p:transition/>
    </mc:Fallback>
  </mc:AlternateContent>
</p:sld>
</file>

<file path=ppt/slides/slide7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15" name="2"/>
          <p:cNvGrpSpPr/>
          <p:nvPr/>
        </p:nvGrpSpPr>
        <p:grpSpPr>
          <a:xfrm>
            <a:off x="1002665" y="2046603"/>
            <a:ext cx="7536815" cy="1263015"/>
            <a:chOff x="31445" y="161947"/>
            <a:chExt cx="2500824" cy="318131"/>
          </a:xfrm>
          <a:solidFill>
            <a:srgbClr val="004C41"/>
          </a:solidFill>
        </p:grpSpPr>
        <p:sp>
          <p:nvSpPr>
            <p:cNvPr id="16" name="12"/>
            <p:cNvSpPr/>
            <p:nvPr/>
          </p:nvSpPr>
          <p:spPr>
            <a:xfrm>
              <a:off x="31445" y="176315"/>
              <a:ext cx="2268640" cy="293086"/>
            </a:xfrm>
            <a:prstGeom prst="rect">
              <a:avLst/>
            </a:prstGeom>
            <a:grpFill/>
            <a:ln w="25400" cap="flat" cmpd="sng" algn="ctr">
              <a:noFill/>
              <a:prstDash val="solid"/>
            </a:ln>
            <a:effectLst/>
          </p:spPr>
          <p:txBody>
            <a:bodyPr rtlCol="0" anchor="ctr"/>
            <a:lstStyle/>
            <a:p>
              <a:pPr algn="ctr">
                <a:defRPr/>
              </a:pPr>
              <a:endParaRPr lang="zh-CN" altLang="en-US" kern="0">
                <a:solidFill>
                  <a:prstClr val="white"/>
                </a:solidFill>
                <a:cs typeface="+mn-ea"/>
                <a:sym typeface="+mn-lt"/>
              </a:endParaRPr>
            </a:p>
          </p:txBody>
        </p:sp>
        <p:sp>
          <p:nvSpPr>
            <p:cNvPr id="17" name="等腰三角形 16"/>
            <p:cNvSpPr/>
            <p:nvPr/>
          </p:nvSpPr>
          <p:spPr>
            <a:xfrm rot="5400000">
              <a:off x="2257111" y="204921"/>
              <a:ext cx="318131" cy="232184"/>
            </a:xfrm>
            <a:prstGeom prst="triangle">
              <a:avLst/>
            </a:prstGeom>
            <a:grpFill/>
            <a:ln w="25400" cap="flat" cmpd="sng" algn="ctr">
              <a:noFill/>
              <a:prstDash val="solid"/>
            </a:ln>
            <a:effectLst/>
          </p:spPr>
          <p:txBody>
            <a:bodyPr rtlCol="0" anchor="ctr"/>
            <a:lstStyle/>
            <a:p>
              <a:pPr algn="ctr">
                <a:defRPr/>
              </a:pPr>
              <a:endParaRPr lang="zh-CN" altLang="en-US" kern="0">
                <a:solidFill>
                  <a:prstClr val="white"/>
                </a:solidFill>
                <a:cs typeface="+mn-ea"/>
                <a:sym typeface="+mn-lt"/>
              </a:endParaRPr>
            </a:p>
          </p:txBody>
        </p:sp>
        <p:sp>
          <p:nvSpPr>
            <p:cNvPr id="18" name="TextBox 8"/>
            <p:cNvSpPr txBox="1"/>
            <p:nvPr/>
          </p:nvSpPr>
          <p:spPr>
            <a:xfrm>
              <a:off x="949344" y="258027"/>
              <a:ext cx="1485775" cy="116285"/>
            </a:xfrm>
            <a:prstGeom prst="rect">
              <a:avLst/>
            </a:prstGeom>
            <a:grpFill/>
            <a:ln>
              <a:noFill/>
            </a:ln>
          </p:spPr>
          <p:txBody>
            <a:bodyPr wrap="square" rtlCol="0">
              <a:spAutoFit/>
            </a:bodyPr>
            <a:lstStyle/>
            <a:p>
              <a:pPr algn="just">
                <a:spcBef>
                  <a:spcPct val="0"/>
                </a:spcBef>
              </a:pPr>
              <a:r>
                <a:rPr lang="zh-CN" altLang="en-US" sz="2400" b="1" kern="0" spc="300" dirty="0">
                  <a:solidFill>
                    <a:prstClr val="white"/>
                  </a:solidFill>
                  <a:latin typeface="Times New Roman" panose="02020503050405090304" pitchFamily="18" charset="0"/>
                  <a:cs typeface="+mn-ea"/>
                  <a:sym typeface="+mn-lt"/>
                </a:rPr>
                <a:t>自然语言处理</a:t>
              </a:r>
              <a:r>
                <a:rPr lang="zh-CN" altLang="en-US" sz="2400" b="1" kern="0" spc="300">
                  <a:solidFill>
                    <a:prstClr val="white"/>
                  </a:solidFill>
                  <a:latin typeface="Times New Roman" panose="02020503050405090304" pitchFamily="18" charset="0"/>
                  <a:cs typeface="+mn-ea"/>
                  <a:sym typeface="+mn-lt"/>
                </a:rPr>
                <a:t>的发展历程</a:t>
              </a:r>
              <a:endParaRPr lang="zh-CN" altLang="en-US" sz="2400" b="1" kern="0" spc="300" dirty="0">
                <a:solidFill>
                  <a:prstClr val="white"/>
                </a:solidFill>
                <a:latin typeface="Times New Roman" panose="02020503050405090304" pitchFamily="18" charset="0"/>
                <a:cs typeface="+mn-ea"/>
                <a:sym typeface="+mn-lt"/>
              </a:endParaRPr>
            </a:p>
          </p:txBody>
        </p:sp>
      </p:grpSp>
      <p:grpSp>
        <p:nvGrpSpPr>
          <p:cNvPr id="19" name="1"/>
          <p:cNvGrpSpPr/>
          <p:nvPr/>
        </p:nvGrpSpPr>
        <p:grpSpPr>
          <a:xfrm>
            <a:off x="1200674" y="1403796"/>
            <a:ext cx="2619915" cy="2619916"/>
            <a:chOff x="267453" y="94709"/>
            <a:chExt cx="454824" cy="454824"/>
          </a:xfrm>
        </p:grpSpPr>
        <p:sp>
          <p:nvSpPr>
            <p:cNvPr id="20" name="4"/>
            <p:cNvSpPr/>
            <p:nvPr/>
          </p:nvSpPr>
          <p:spPr>
            <a:xfrm>
              <a:off x="301756" y="114952"/>
              <a:ext cx="390525" cy="395287"/>
            </a:xfrm>
            <a:prstGeom prst="ellipse">
              <a:avLst/>
            </a:prstGeom>
            <a:solidFill>
              <a:sysClr val="window" lastClr="FFFFFF"/>
            </a:solidFill>
            <a:ln w="25400" cap="flat" cmpd="sng" algn="ctr">
              <a:solidFill>
                <a:sysClr val="window" lastClr="FFFFFF"/>
              </a:solidFill>
              <a:prstDash val="solid"/>
            </a:ln>
            <a:effectLst/>
          </p:spPr>
          <p:txBody>
            <a:bodyPr rtlCol="0" anchor="ctr"/>
            <a:lstStyle/>
            <a:p>
              <a:pPr algn="ctr">
                <a:defRPr/>
              </a:pPr>
              <a:endParaRPr lang="zh-CN" altLang="en-US" kern="0">
                <a:solidFill>
                  <a:prstClr val="white"/>
                </a:solidFill>
                <a:cs typeface="+mn-ea"/>
                <a:sym typeface="+mn-lt"/>
              </a:endParaRPr>
            </a:p>
          </p:txBody>
        </p:sp>
        <p:sp>
          <p:nvSpPr>
            <p:cNvPr id="23" name="3"/>
            <p:cNvSpPr/>
            <p:nvPr/>
          </p:nvSpPr>
          <p:spPr>
            <a:xfrm>
              <a:off x="343738" y="170570"/>
              <a:ext cx="302255" cy="302255"/>
            </a:xfrm>
            <a:prstGeom prst="ellipse">
              <a:avLst/>
            </a:prstGeom>
            <a:solidFill>
              <a:srgbClr val="004C41"/>
            </a:solidFill>
            <a:ln w="25400" cap="flat" cmpd="sng" algn="ctr">
              <a:noFill/>
              <a:prstDash val="solid"/>
            </a:ln>
            <a:effectLst/>
          </p:spPr>
          <p:txBody>
            <a:bodyPr rtlCol="0" anchor="ctr"/>
            <a:lstStyle/>
            <a:p>
              <a:pPr algn="ctr">
                <a:defRPr/>
              </a:pPr>
              <a:endParaRPr lang="zh-CN" altLang="en-US" kern="0">
                <a:solidFill>
                  <a:prstClr val="white"/>
                </a:solidFill>
                <a:cs typeface="+mn-ea"/>
                <a:sym typeface="+mn-lt"/>
              </a:endParaRPr>
            </a:p>
          </p:txBody>
        </p:sp>
        <p:sp>
          <p:nvSpPr>
            <p:cNvPr id="24" name="同心圆 23"/>
            <p:cNvSpPr/>
            <p:nvPr/>
          </p:nvSpPr>
          <p:spPr>
            <a:xfrm>
              <a:off x="267453" y="94709"/>
              <a:ext cx="454824" cy="454824"/>
            </a:xfrm>
            <a:prstGeom prst="donut">
              <a:avLst>
                <a:gd name="adj" fmla="val 8567"/>
              </a:avLst>
            </a:prstGeom>
            <a:solidFill>
              <a:sysClr val="window" lastClr="FFFFFF"/>
            </a:solidFill>
            <a:ln w="9525" cap="flat" cmpd="sng" algn="ctr">
              <a:noFill/>
              <a:prstDash val="solid"/>
            </a:ln>
            <a:effectLst>
              <a:outerShdw blurRad="63500" sx="102000" sy="102000" algn="ctr" rotWithShape="0">
                <a:prstClr val="black">
                  <a:alpha val="20000"/>
                </a:prstClr>
              </a:outerShdw>
            </a:effectLst>
          </p:spPr>
          <p:txBody>
            <a:bodyPr rtlCol="0" anchor="ctr"/>
            <a:lstStyle/>
            <a:p>
              <a:pPr algn="ctr">
                <a:defRPr/>
              </a:pPr>
              <a:endParaRPr lang="zh-CN" altLang="en-US" sz="1200" kern="0">
                <a:solidFill>
                  <a:prstClr val="black"/>
                </a:solidFill>
                <a:cs typeface="+mn-ea"/>
                <a:sym typeface="+mn-lt"/>
              </a:endParaRPr>
            </a:p>
          </p:txBody>
        </p:sp>
        <p:sp>
          <p:nvSpPr>
            <p:cNvPr id="25" name="TextBox 9"/>
            <p:cNvSpPr txBox="1"/>
            <p:nvPr/>
          </p:nvSpPr>
          <p:spPr>
            <a:xfrm>
              <a:off x="370583" y="176347"/>
              <a:ext cx="248564" cy="272497"/>
            </a:xfrm>
            <a:prstGeom prst="rect">
              <a:avLst/>
            </a:prstGeom>
            <a:noFill/>
          </p:spPr>
          <p:txBody>
            <a:bodyPr wrap="none" rtlCol="0">
              <a:spAutoFit/>
            </a:bodyPr>
            <a:lstStyle/>
            <a:p>
              <a:pPr>
                <a:defRPr/>
              </a:pPr>
              <a:r>
                <a:rPr lang="en-US" altLang="zh-CN" sz="9600" kern="0" dirty="0">
                  <a:solidFill>
                    <a:prstClr val="white"/>
                  </a:solidFill>
                  <a:latin typeface="Times New Roman" panose="02020503050405090304" pitchFamily="18" charset="0"/>
                  <a:cs typeface="+mn-ea"/>
                  <a:sym typeface="+mn-lt"/>
                </a:rPr>
                <a:t>05</a:t>
              </a:r>
              <a:endParaRPr lang="zh-CN" altLang="en-US" sz="9600" kern="0" dirty="0">
                <a:solidFill>
                  <a:prstClr val="white"/>
                </a:solidFill>
                <a:latin typeface="Times New Roman" panose="02020503050405090304" pitchFamily="18" charset="0"/>
                <a:cs typeface="+mn-ea"/>
                <a:sym typeface="+mn-lt"/>
              </a:endParaRPr>
            </a:p>
          </p:txBody>
        </p:sp>
      </p:grpSp>
      <p:sp>
        <p:nvSpPr>
          <p:cNvPr id="2" name="标题 1"/>
          <p:cNvSpPr>
            <a:spLocks noGrp="1"/>
          </p:cNvSpPr>
          <p:nvPr>
            <p:ph type="title"/>
          </p:nvPr>
        </p:nvSpPr>
        <p:spPr/>
        <p:txBody>
          <a:bodyPr/>
          <a:lstStyle/>
          <a:p>
            <a:endParaRPr lang="zh-CN" altLang="en-US"/>
          </a:p>
        </p:txBody>
      </p:sp>
      <p:sp>
        <p:nvSpPr>
          <p:cNvPr id="3" name="日期占位符 2"/>
          <p:cNvSpPr>
            <a:spLocks noGrp="1"/>
          </p:cNvSpPr>
          <p:nvPr>
            <p:ph type="dt" sz="half" idx="10"/>
          </p:nvPr>
        </p:nvSpPr>
        <p:spPr/>
        <p:txBody>
          <a:bodyPr/>
          <a:lstStyle/>
          <a:p>
            <a:fld id="{87BDEE4F-E932-4958-8FB7-90F067F1E53A}" type="datetime1">
              <a:rPr lang="zh-CN" altLang="en-US" smtClean="0"/>
            </a:fld>
            <a:endParaRPr lang="zh-CN" altLang="en-US"/>
          </a:p>
        </p:txBody>
      </p:sp>
      <p:sp>
        <p:nvSpPr>
          <p:cNvPr id="4" name="灯片编号占位符 3"/>
          <p:cNvSpPr>
            <a:spLocks noGrp="1"/>
          </p:cNvSpPr>
          <p:nvPr>
            <p:ph type="sldNum" sz="quarter" idx="12"/>
          </p:nvPr>
        </p:nvSpPr>
        <p:spPr/>
        <p:txBody>
          <a:bodyPr/>
          <a:lstStyle/>
          <a:p>
            <a:fld id="{82952373-7980-4DA7-9ADE-54D716DB38BB}" type="slidenum">
              <a:rPr lang="zh-CN" altLang="en-US" smtClean="0"/>
            </a:fld>
            <a:endParaRPr lang="zh-CN" altLang="en-US"/>
          </a:p>
        </p:txBody>
      </p:sp>
    </p:spTree>
  </p:cSld>
  <p:clrMapOvr>
    <a:masterClrMapping/>
  </p:clrMapOvr>
  <mc:AlternateContent xmlns:mc="http://schemas.openxmlformats.org/markup-compatibility/2006">
    <mc:Choice xmlns:p14="http://schemas.microsoft.com/office/powerpoint/2010/main" Requires="p14">
      <p:transition p14:dur="0"/>
    </mc:Choice>
    <mc:Fallback>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nodeType="afterEffect">
                                  <p:stCondLst>
                                    <p:cond delay="0"/>
                                  </p:stCondLst>
                                  <p:childTnLst>
                                    <p:set>
                                      <p:cBhvr>
                                        <p:cTn id="6" dur="1" fill="hold">
                                          <p:stCondLst>
                                            <p:cond delay="0"/>
                                          </p:stCondLst>
                                        </p:cTn>
                                        <p:tgtEl>
                                          <p:spTgt spid="19"/>
                                        </p:tgtEl>
                                        <p:attrNameLst>
                                          <p:attrName>style.visibility</p:attrName>
                                        </p:attrNameLst>
                                      </p:cBhvr>
                                      <p:to>
                                        <p:strVal val="visible"/>
                                      </p:to>
                                    </p:set>
                                    <p:animEffect transition="in" filter="fade">
                                      <p:cBhvr>
                                        <p:cTn id="7" dur="500"/>
                                        <p:tgtEl>
                                          <p:spTgt spid="19"/>
                                        </p:tgtEl>
                                      </p:cBhvr>
                                    </p:animEffect>
                                  </p:childTnLst>
                                </p:cTn>
                              </p:par>
                            </p:childTnLst>
                          </p:cTn>
                        </p:par>
                        <p:par>
                          <p:cTn id="8" fill="hold">
                            <p:stCondLst>
                              <p:cond delay="500"/>
                            </p:stCondLst>
                            <p:childTnLst>
                              <p:par>
                                <p:cTn id="9" presetID="22" presetClass="entr" presetSubtype="8" fill="hold" nodeType="afterEffect">
                                  <p:stCondLst>
                                    <p:cond delay="0"/>
                                  </p:stCondLst>
                                  <p:childTnLst>
                                    <p:set>
                                      <p:cBhvr>
                                        <p:cTn id="10" dur="1" fill="hold">
                                          <p:stCondLst>
                                            <p:cond delay="0"/>
                                          </p:stCondLst>
                                        </p:cTn>
                                        <p:tgtEl>
                                          <p:spTgt spid="15"/>
                                        </p:tgtEl>
                                        <p:attrNameLst>
                                          <p:attrName>style.visibility</p:attrName>
                                        </p:attrNameLst>
                                      </p:cBhvr>
                                      <p:to>
                                        <p:strVal val="visible"/>
                                      </p:to>
                                    </p:set>
                                    <p:animEffect transition="in" filter="wipe(left)">
                                      <p:cBhvr>
                                        <p:cTn id="11" dur="1000"/>
                                        <p:tgtEl>
                                          <p:spTgt spid="15"/>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7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 name="ECB019B1-382A-4266-B25C-5B523AA43C14-1" descr="C:/Users/fjz/AppData/Local/Temp/wpp.mZbVXxwpp"/>
          <p:cNvPicPr>
            <a:picLocks noChangeAspect="1"/>
          </p:cNvPicPr>
          <p:nvPr/>
        </p:nvPicPr>
        <p:blipFill rotWithShape="1">
          <a:blip r:embed="rId1"/>
          <a:srcRect t="4455" b="3510"/>
          <a:stretch>
            <a:fillRect/>
          </a:stretch>
        </p:blipFill>
        <p:spPr>
          <a:xfrm>
            <a:off x="1524000" y="890925"/>
            <a:ext cx="6930990" cy="3989208"/>
          </a:xfrm>
          <a:prstGeom prst="rect">
            <a:avLst/>
          </a:prstGeom>
        </p:spPr>
      </p:pic>
      <p:sp>
        <p:nvSpPr>
          <p:cNvPr id="7" name="1"/>
          <p:cNvSpPr txBox="1">
            <a:spLocks noGrp="1" noChangeArrowheads="1"/>
          </p:cNvSpPr>
          <p:nvPr>
            <p:ph type="title"/>
          </p:nvPr>
        </p:nvSpPr>
        <p:spPr bwMode="auto">
          <a:xfrm>
            <a:off x="362427" y="122964"/>
            <a:ext cx="8781575" cy="52322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a:lnSpc>
                <a:spcPct val="90000"/>
              </a:lnSpc>
              <a:spcBef>
                <a:spcPts val="1000"/>
              </a:spcBef>
              <a:buFont typeface="Arial" panose="020B0604020202090204" pitchFamily="34" charset="0"/>
              <a:buChar char="•"/>
              <a:defRPr sz="2800">
                <a:solidFill>
                  <a:schemeClr val="tx1"/>
                </a:solidFill>
                <a:latin typeface="Calibri" pitchFamily="34" charset="0"/>
                <a:ea typeface="宋体" pitchFamily="2" charset="-122"/>
              </a:defRPr>
            </a:lvl1pPr>
            <a:lvl2pPr marL="742950" indent="-285750">
              <a:lnSpc>
                <a:spcPct val="90000"/>
              </a:lnSpc>
              <a:spcBef>
                <a:spcPts val="500"/>
              </a:spcBef>
              <a:buFont typeface="Arial" panose="020B0604020202090204" pitchFamily="34" charset="0"/>
              <a:buChar char="•"/>
              <a:defRPr sz="2400">
                <a:solidFill>
                  <a:schemeClr val="tx1"/>
                </a:solidFill>
                <a:latin typeface="Calibri" pitchFamily="34" charset="0"/>
                <a:ea typeface="宋体" pitchFamily="2" charset="-122"/>
              </a:defRPr>
            </a:lvl2pPr>
            <a:lvl3pPr marL="1143000" indent="-228600">
              <a:lnSpc>
                <a:spcPct val="90000"/>
              </a:lnSpc>
              <a:spcBef>
                <a:spcPts val="500"/>
              </a:spcBef>
              <a:buFont typeface="Arial" panose="020B0604020202090204" pitchFamily="34" charset="0"/>
              <a:buChar char="•"/>
              <a:defRPr sz="2000">
                <a:solidFill>
                  <a:schemeClr val="tx1"/>
                </a:solidFill>
                <a:latin typeface="Calibri" pitchFamily="34" charset="0"/>
                <a:ea typeface="宋体" pitchFamily="2" charset="-122"/>
              </a:defRPr>
            </a:lvl3pPr>
            <a:lvl4pPr marL="1600200" indent="-228600">
              <a:lnSpc>
                <a:spcPct val="90000"/>
              </a:lnSpc>
              <a:spcBef>
                <a:spcPts val="500"/>
              </a:spcBef>
              <a:buFont typeface="Arial" panose="020B0604020202090204" pitchFamily="34" charset="0"/>
              <a:buChar char="•"/>
              <a:defRPr>
                <a:solidFill>
                  <a:schemeClr val="tx1"/>
                </a:solidFill>
                <a:latin typeface="Calibri" pitchFamily="34" charset="0"/>
                <a:ea typeface="宋体" pitchFamily="2" charset="-122"/>
              </a:defRPr>
            </a:lvl4pPr>
            <a:lvl5pPr marL="2057400" indent="-228600">
              <a:lnSpc>
                <a:spcPct val="90000"/>
              </a:lnSpc>
              <a:spcBef>
                <a:spcPts val="500"/>
              </a:spcBef>
              <a:buFont typeface="Arial" panose="020B0604020202090204" pitchFamily="34" charset="0"/>
              <a:buChar char="•"/>
              <a:defRPr>
                <a:solidFill>
                  <a:schemeClr val="tx1"/>
                </a:solidFill>
                <a:latin typeface="Calibri" pitchFamily="34" charset="0"/>
                <a:ea typeface="宋体" pitchFamily="2" charset="-122"/>
              </a:defRPr>
            </a:lvl5pPr>
            <a:lvl6pPr marL="2514600" indent="-228600" eaLnBrk="0" fontAlgn="base" hangingPunct="0">
              <a:lnSpc>
                <a:spcPct val="90000"/>
              </a:lnSpc>
              <a:spcBef>
                <a:spcPts val="500"/>
              </a:spcBef>
              <a:spcAft>
                <a:spcPct val="0"/>
              </a:spcAft>
              <a:buFont typeface="Arial" panose="020B0604020202090204" pitchFamily="34" charset="0"/>
              <a:buChar char="•"/>
              <a:defRPr>
                <a:solidFill>
                  <a:schemeClr val="tx1"/>
                </a:solidFill>
                <a:latin typeface="Calibri" pitchFamily="34" charset="0"/>
                <a:ea typeface="宋体" pitchFamily="2" charset="-122"/>
              </a:defRPr>
            </a:lvl6pPr>
            <a:lvl7pPr marL="2971800" indent="-228600" eaLnBrk="0" fontAlgn="base" hangingPunct="0">
              <a:lnSpc>
                <a:spcPct val="90000"/>
              </a:lnSpc>
              <a:spcBef>
                <a:spcPts val="500"/>
              </a:spcBef>
              <a:spcAft>
                <a:spcPct val="0"/>
              </a:spcAft>
              <a:buFont typeface="Arial" panose="020B0604020202090204" pitchFamily="34" charset="0"/>
              <a:buChar char="•"/>
              <a:defRPr>
                <a:solidFill>
                  <a:schemeClr val="tx1"/>
                </a:solidFill>
                <a:latin typeface="Calibri" pitchFamily="34" charset="0"/>
                <a:ea typeface="宋体" pitchFamily="2" charset="-122"/>
              </a:defRPr>
            </a:lvl7pPr>
            <a:lvl8pPr marL="3429000" indent="-228600" eaLnBrk="0" fontAlgn="base" hangingPunct="0">
              <a:lnSpc>
                <a:spcPct val="90000"/>
              </a:lnSpc>
              <a:spcBef>
                <a:spcPts val="500"/>
              </a:spcBef>
              <a:spcAft>
                <a:spcPct val="0"/>
              </a:spcAft>
              <a:buFont typeface="Arial" panose="020B0604020202090204" pitchFamily="34" charset="0"/>
              <a:buChar char="•"/>
              <a:defRPr>
                <a:solidFill>
                  <a:schemeClr val="tx1"/>
                </a:solidFill>
                <a:latin typeface="Calibri" pitchFamily="34" charset="0"/>
                <a:ea typeface="宋体" pitchFamily="2" charset="-122"/>
              </a:defRPr>
            </a:lvl8pPr>
            <a:lvl9pPr marL="3886200" indent="-228600" eaLnBrk="0" fontAlgn="base" hangingPunct="0">
              <a:lnSpc>
                <a:spcPct val="90000"/>
              </a:lnSpc>
              <a:spcBef>
                <a:spcPts val="500"/>
              </a:spcBef>
              <a:spcAft>
                <a:spcPct val="0"/>
              </a:spcAft>
              <a:buFont typeface="Arial" panose="020B0604020202090204" pitchFamily="34" charset="0"/>
              <a:buChar char="•"/>
              <a:defRPr>
                <a:solidFill>
                  <a:schemeClr val="tx1"/>
                </a:solidFill>
                <a:latin typeface="Calibri" pitchFamily="34" charset="0"/>
                <a:ea typeface="宋体" pitchFamily="2" charset="-122"/>
              </a:defRPr>
            </a:lvl9pPr>
          </a:lstStyle>
          <a:p>
            <a:pPr>
              <a:lnSpc>
                <a:spcPct val="100000"/>
              </a:lnSpc>
              <a:spcBef>
                <a:spcPct val="0"/>
              </a:spcBef>
              <a:buFontTx/>
              <a:buNone/>
            </a:pPr>
            <a:r>
              <a:rPr lang="zh-CN" altLang="en-US" b="1" dirty="0">
                <a:solidFill>
                  <a:srgbClr val="004C41"/>
                </a:solidFill>
                <a:latin typeface="Times New Roman" panose="02020503050405090304" pitchFamily="18" charset="0"/>
                <a:cs typeface="+mn-ea"/>
                <a:sym typeface="+mn-lt"/>
              </a:rPr>
              <a:t>自然语言处理的发展历程</a:t>
            </a:r>
            <a:endParaRPr lang="zh-CN" altLang="en-US" b="1" dirty="0">
              <a:solidFill>
                <a:srgbClr val="004C41"/>
              </a:solidFill>
              <a:latin typeface="Times New Roman" panose="02020503050405090304" pitchFamily="18" charset="0"/>
              <a:cs typeface="+mn-ea"/>
              <a:sym typeface="+mn-lt"/>
            </a:endParaRPr>
          </a:p>
        </p:txBody>
      </p:sp>
      <p:sp>
        <p:nvSpPr>
          <p:cNvPr id="2" name="日期占位符 1"/>
          <p:cNvSpPr>
            <a:spLocks noGrp="1"/>
          </p:cNvSpPr>
          <p:nvPr>
            <p:ph type="dt" sz="half" idx="10"/>
          </p:nvPr>
        </p:nvSpPr>
        <p:spPr/>
        <p:txBody>
          <a:bodyPr/>
          <a:lstStyle/>
          <a:p>
            <a:fld id="{6D7EC563-42EB-4867-BE53-E819A1848815}" type="datetime1">
              <a:rPr lang="zh-CN" altLang="en-US" smtClean="0"/>
            </a:fld>
            <a:endParaRPr lang="zh-CN" altLang="en-US"/>
          </a:p>
        </p:txBody>
      </p:sp>
      <p:sp>
        <p:nvSpPr>
          <p:cNvPr id="3" name="灯片编号占位符 2"/>
          <p:cNvSpPr>
            <a:spLocks noGrp="1"/>
          </p:cNvSpPr>
          <p:nvPr>
            <p:ph type="sldNum" sz="quarter" idx="12"/>
          </p:nvPr>
        </p:nvSpPr>
        <p:spPr/>
        <p:txBody>
          <a:bodyPr/>
          <a:lstStyle/>
          <a:p>
            <a:fld id="{82952373-7980-4DA7-9ADE-54D716DB38BB}" type="slidenum">
              <a:rPr lang="zh-CN" altLang="en-US" smtClean="0"/>
            </a:fld>
            <a:endParaRPr lang="zh-CN" altLang="en-US"/>
          </a:p>
        </p:txBody>
      </p:sp>
    </p:spTree>
  </p:cSld>
  <p:clrMapOvr>
    <a:masterClrMapping/>
  </p:clrMapOvr>
  <mc:AlternateContent xmlns:mc="http://schemas.openxmlformats.org/markup-compatibility/2006">
    <mc:Choice xmlns:p14="http://schemas.microsoft.com/office/powerpoint/2010/main" Requires="p14">
      <p:transition p14:dur="0"/>
    </mc:Choice>
    <mc:Fallback>
      <p:transition/>
    </mc:Fallback>
  </mc:AlternateContent>
</p:sld>
</file>

<file path=ppt/slides/slide7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sz="2400" b="1">
                <a:solidFill>
                  <a:srgbClr val="004C41"/>
                </a:solidFill>
                <a:ea typeface="宋体" pitchFamily="2" charset="-122"/>
                <a:cs typeface="+mn-ea"/>
                <a:sym typeface="+mn-lt"/>
              </a:rPr>
              <a:t>自然语言处理的发展历程</a:t>
            </a:r>
            <a:endParaRPr lang="zh-CN" altLang="en-US">
              <a:ea typeface="宋体" pitchFamily="2" charset="-122"/>
            </a:endParaRPr>
          </a:p>
        </p:txBody>
      </p:sp>
      <p:sp>
        <p:nvSpPr>
          <p:cNvPr id="4" name="文本框 3"/>
          <p:cNvSpPr txBox="1"/>
          <p:nvPr/>
        </p:nvSpPr>
        <p:spPr>
          <a:xfrm>
            <a:off x="457200" y="1057118"/>
            <a:ext cx="8408670" cy="1701748"/>
          </a:xfrm>
          <a:prstGeom prst="rect">
            <a:avLst/>
          </a:prstGeom>
          <a:noFill/>
        </p:spPr>
        <p:txBody>
          <a:bodyPr wrap="square">
            <a:spAutoFit/>
          </a:bodyPr>
          <a:lstStyle/>
          <a:p>
            <a:pPr algn="l">
              <a:lnSpc>
                <a:spcPct val="150000"/>
              </a:lnSpc>
            </a:pPr>
            <a:r>
              <a:rPr lang="en-US" altLang="zh-CN" b="0" i="0">
                <a:solidFill>
                  <a:srgbClr val="222222"/>
                </a:solidFill>
                <a:effectLst/>
                <a:latin typeface="Times New Roman" panose="02020503050405090304" pitchFamily="18" charset="0"/>
              </a:rPr>
              <a:t>《</a:t>
            </a:r>
            <a:r>
              <a:rPr lang="zh-CN" altLang="en-US" b="0" i="0">
                <a:solidFill>
                  <a:srgbClr val="222222"/>
                </a:solidFill>
                <a:effectLst/>
                <a:latin typeface="Times New Roman" panose="02020503050405090304" pitchFamily="18" charset="0"/>
              </a:rPr>
              <a:t>圣经</a:t>
            </a:r>
            <a:r>
              <a:rPr lang="en-US" altLang="zh-CN" b="0" i="0">
                <a:solidFill>
                  <a:srgbClr val="222222"/>
                </a:solidFill>
                <a:effectLst/>
                <a:latin typeface="Times New Roman" panose="02020503050405090304" pitchFamily="18" charset="0"/>
              </a:rPr>
              <a:t>》</a:t>
            </a:r>
            <a:r>
              <a:rPr lang="zh-CN" altLang="en-US" b="0" i="0">
                <a:solidFill>
                  <a:srgbClr val="222222"/>
                </a:solidFill>
                <a:effectLst/>
                <a:latin typeface="Times New Roman" panose="02020503050405090304" pitchFamily="18" charset="0"/>
              </a:rPr>
              <a:t>中记载了这样一个故事：</a:t>
            </a:r>
            <a:endParaRPr lang="zh-CN" altLang="en-US" b="0" i="0">
              <a:solidFill>
                <a:srgbClr val="222222"/>
              </a:solidFill>
              <a:effectLst/>
              <a:latin typeface="Times New Roman" panose="02020503050405090304" pitchFamily="18" charset="0"/>
            </a:endParaRPr>
          </a:p>
          <a:p>
            <a:pPr indent="457200" algn="l">
              <a:lnSpc>
                <a:spcPct val="150000"/>
              </a:lnSpc>
            </a:pPr>
            <a:r>
              <a:rPr lang="zh-CN" altLang="en-US" b="0" i="0">
                <a:solidFill>
                  <a:schemeClr val="accent2"/>
                </a:solidFill>
                <a:effectLst/>
                <a:latin typeface="Times New Roman" panose="02020503050405090304" pitchFamily="18" charset="0"/>
              </a:rPr>
              <a:t>人类曾经联合起来兴建能通往天堂的高塔</a:t>
            </a:r>
            <a:r>
              <a:rPr lang="en-US" altLang="zh-CN" b="0" i="0">
                <a:solidFill>
                  <a:schemeClr val="accent2"/>
                </a:solidFill>
                <a:effectLst/>
                <a:latin typeface="Times New Roman" panose="02020503050405090304" pitchFamily="18" charset="0"/>
              </a:rPr>
              <a:t>——</a:t>
            </a:r>
            <a:r>
              <a:rPr lang="zh-CN" altLang="en-US" b="0" i="0">
                <a:solidFill>
                  <a:schemeClr val="accent2"/>
                </a:solidFill>
                <a:effectLst/>
                <a:latin typeface="Times New Roman" panose="02020503050405090304" pitchFamily="18" charset="0"/>
              </a:rPr>
              <a:t>巴别塔，为了阻止人类的计划，上帝让人类说不同的语言，使人类相互之间不能沟通，计划因此失败，人类自此各散东西。</a:t>
            </a:r>
            <a:endParaRPr lang="zh-CN" altLang="en-US" b="0" i="0">
              <a:solidFill>
                <a:schemeClr val="accent2"/>
              </a:solidFill>
              <a:effectLst/>
              <a:latin typeface="Times New Roman" panose="02020503050405090304" pitchFamily="18" charset="0"/>
            </a:endParaRPr>
          </a:p>
        </p:txBody>
      </p:sp>
      <p:sp>
        <p:nvSpPr>
          <p:cNvPr id="6" name="文本框 5"/>
          <p:cNvSpPr txBox="1"/>
          <p:nvPr/>
        </p:nvSpPr>
        <p:spPr>
          <a:xfrm>
            <a:off x="579120" y="3494455"/>
            <a:ext cx="7523480" cy="369332"/>
          </a:xfrm>
          <a:prstGeom prst="rect">
            <a:avLst/>
          </a:prstGeom>
          <a:noFill/>
        </p:spPr>
        <p:txBody>
          <a:bodyPr wrap="square">
            <a:spAutoFit/>
          </a:bodyPr>
          <a:lstStyle/>
          <a:p>
            <a:pPr marL="285750" indent="-285750">
              <a:buClr>
                <a:srgbClr val="0070C0"/>
              </a:buClr>
              <a:buFont typeface="Wingdings" panose="05000000000000000000" pitchFamily="2" charset="2"/>
              <a:buChar char="n"/>
            </a:pPr>
            <a:r>
              <a:rPr lang="zh-CN" altLang="en-US">
                <a:solidFill>
                  <a:srgbClr val="3333FF"/>
                </a:solidFill>
                <a:latin typeface="Times New Roman" panose="02020503050405090304" pitchFamily="18" charset="0"/>
              </a:rPr>
              <a:t>自然语言处理的技术突破似乎总是从机器翻译领域开始。</a:t>
            </a:r>
            <a:endParaRPr lang="zh-CN" altLang="en-US">
              <a:solidFill>
                <a:srgbClr val="3333FF"/>
              </a:solidFill>
              <a:latin typeface="Times New Roman" panose="02020503050405090304" pitchFamily="18" charset="0"/>
            </a:endParaRPr>
          </a:p>
        </p:txBody>
      </p:sp>
      <p:sp>
        <p:nvSpPr>
          <p:cNvPr id="3" name="日期占位符 2"/>
          <p:cNvSpPr>
            <a:spLocks noGrp="1"/>
          </p:cNvSpPr>
          <p:nvPr>
            <p:ph type="dt" sz="half" idx="10"/>
          </p:nvPr>
        </p:nvSpPr>
        <p:spPr/>
        <p:txBody>
          <a:bodyPr/>
          <a:lstStyle/>
          <a:p>
            <a:fld id="{DBEF96E5-C475-4C85-A875-23B0A812364B}" type="datetime1">
              <a:rPr lang="zh-CN" altLang="en-US" smtClean="0"/>
            </a:fld>
            <a:endParaRPr lang="zh-CN" altLang="en-US"/>
          </a:p>
        </p:txBody>
      </p:sp>
      <p:sp>
        <p:nvSpPr>
          <p:cNvPr id="5" name="灯片编号占位符 4"/>
          <p:cNvSpPr>
            <a:spLocks noGrp="1"/>
          </p:cNvSpPr>
          <p:nvPr>
            <p:ph type="sldNum" sz="quarter" idx="12"/>
          </p:nvPr>
        </p:nvSpPr>
        <p:spPr/>
        <p:txBody>
          <a:bodyPr/>
          <a:lstStyle/>
          <a:p>
            <a:fld id="{82952373-7980-4DA7-9ADE-54D716DB38BB}" type="slidenum">
              <a:rPr lang="zh-CN" altLang="en-US" smtClean="0"/>
            </a:fld>
            <a:endParaRPr lang="zh-CN" altLang="en-US"/>
          </a:p>
        </p:txBody>
      </p:sp>
      <p:sp>
        <p:nvSpPr>
          <p:cNvPr id="8" name="文本框 7"/>
          <p:cNvSpPr txBox="1"/>
          <p:nvPr/>
        </p:nvSpPr>
        <p:spPr>
          <a:xfrm>
            <a:off x="579120" y="2899034"/>
            <a:ext cx="7523480" cy="455253"/>
          </a:xfrm>
          <a:prstGeom prst="rect">
            <a:avLst/>
          </a:prstGeom>
          <a:noFill/>
        </p:spPr>
        <p:txBody>
          <a:bodyPr wrap="square">
            <a:spAutoFit/>
          </a:bodyPr>
          <a:lstStyle/>
          <a:p>
            <a:pPr marL="285750" indent="-285750" algn="l">
              <a:lnSpc>
                <a:spcPct val="150000"/>
              </a:lnSpc>
              <a:buClr>
                <a:srgbClr val="0070C0"/>
              </a:buClr>
              <a:buFont typeface="Wingdings" panose="05000000000000000000" pitchFamily="2" charset="2"/>
              <a:buChar char="n"/>
            </a:pPr>
            <a:r>
              <a:rPr lang="zh-CN" altLang="en-US" b="1" i="0">
                <a:solidFill>
                  <a:srgbClr val="333333"/>
                </a:solidFill>
                <a:effectLst/>
                <a:latin typeface="Times New Roman" panose="02020503050405090304" pitchFamily="18" charset="0"/>
              </a:rPr>
              <a:t>实现不同语种之间的无障碍沟通，一直都是人类终极梦想之一。</a:t>
            </a:r>
            <a:endParaRPr lang="zh-CN" altLang="en-US" b="0" i="0">
              <a:solidFill>
                <a:srgbClr val="222222"/>
              </a:solidFill>
              <a:effectLst/>
              <a:latin typeface="Times New Roman" panose="02020503050405090304" pitchFamily="18" charset="0"/>
            </a:endParaRPr>
          </a:p>
        </p:txBody>
      </p:sp>
    </p:spTree>
  </p:cSld>
  <p:clrMapOvr>
    <a:masterClrMapping/>
  </p:clrMapOvr>
  <mc:AlternateContent xmlns:mc="http://schemas.openxmlformats.org/markup-compatibility/2006">
    <mc:Choice xmlns:p14="http://schemas.microsoft.com/office/powerpoint/2010/main" Requires="p14">
      <p:transition p14:dur="0"/>
    </mc:Choice>
    <mc:Fallback>
      <p:transition/>
    </mc:Fallback>
  </mc:AlternateContent>
</p:sld>
</file>

<file path=ppt/slides/slide7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标题 2"/>
          <p:cNvSpPr>
            <a:spLocks noGrp="1"/>
          </p:cNvSpPr>
          <p:nvPr>
            <p:ph type="title"/>
          </p:nvPr>
        </p:nvSpPr>
        <p:spPr/>
        <p:txBody>
          <a:bodyPr/>
          <a:lstStyle/>
          <a:p>
            <a:r>
              <a:rPr lang="zh-CN" altLang="en-US" sz="2400" b="1">
                <a:solidFill>
                  <a:srgbClr val="004C41"/>
                </a:solidFill>
                <a:ea typeface="宋体" pitchFamily="2" charset="-122"/>
                <a:cs typeface="+mn-ea"/>
                <a:sym typeface="+mn-lt"/>
              </a:rPr>
              <a:t>自然语言处理的发展历程</a:t>
            </a:r>
            <a:endParaRPr lang="zh-CN" altLang="en-US">
              <a:ea typeface="宋体" pitchFamily="2" charset="-122"/>
            </a:endParaRPr>
          </a:p>
        </p:txBody>
      </p:sp>
      <p:sp>
        <p:nvSpPr>
          <p:cNvPr id="9" name="文本框 8"/>
          <p:cNvSpPr txBox="1"/>
          <p:nvPr/>
        </p:nvSpPr>
        <p:spPr>
          <a:xfrm>
            <a:off x="447917" y="1087360"/>
            <a:ext cx="8436187" cy="2948243"/>
          </a:xfrm>
          <a:prstGeom prst="rect">
            <a:avLst/>
          </a:prstGeom>
          <a:noFill/>
        </p:spPr>
        <p:txBody>
          <a:bodyPr wrap="square">
            <a:spAutoFit/>
          </a:bodyPr>
          <a:lstStyle/>
          <a:p>
            <a:pPr marL="285750" indent="-285750" algn="just">
              <a:lnSpc>
                <a:spcPct val="150000"/>
              </a:lnSpc>
              <a:buClr>
                <a:srgbClr val="0070C0"/>
              </a:buClr>
              <a:buFont typeface="Wingdings" panose="05000000000000000000" pitchFamily="2" charset="2"/>
              <a:buChar char="n"/>
            </a:pPr>
            <a:r>
              <a:rPr lang="zh-CN" altLang="en-US" b="0">
                <a:latin typeface="Times New Roman" panose="02020503050405090304" pitchFamily="18" charset="0"/>
                <a:cs typeface="Times New Roman" panose="02020503050405090304" pitchFamily="18" charset="0"/>
              </a:rPr>
              <a:t>机器翻译起源于</a:t>
            </a:r>
            <a:r>
              <a:rPr lang="en-US" altLang="zh-CN" b="0">
                <a:latin typeface="Times New Roman" panose="02020503050405090304" pitchFamily="18" charset="0"/>
                <a:cs typeface="Times New Roman" panose="02020503050405090304" pitchFamily="18" charset="0"/>
              </a:rPr>
              <a:t>1933</a:t>
            </a:r>
            <a:r>
              <a:rPr lang="zh-CN" altLang="en-US" b="0">
                <a:latin typeface="Times New Roman" panose="02020503050405090304" pitchFamily="18" charset="0"/>
                <a:cs typeface="Times New Roman" panose="02020503050405090304" pitchFamily="18" charset="0"/>
              </a:rPr>
              <a:t>年，由法国工程师</a:t>
            </a:r>
            <a:r>
              <a:rPr lang="en-US" altLang="zh-CN" b="0">
                <a:latin typeface="Times New Roman" panose="02020503050405090304" pitchFamily="18" charset="0"/>
                <a:cs typeface="Times New Roman" panose="02020503050405090304" pitchFamily="18" charset="0"/>
              </a:rPr>
              <a:t>G.B.</a:t>
            </a:r>
            <a:r>
              <a:rPr lang="zh-CN" altLang="en-US" b="0">
                <a:latin typeface="Times New Roman" panose="02020503050405090304" pitchFamily="18" charset="0"/>
                <a:cs typeface="Times New Roman" panose="02020503050405090304" pitchFamily="18" charset="0"/>
              </a:rPr>
              <a:t>阿尔楚尼提出机器翻译设想，并获得一项翻译机专利；</a:t>
            </a:r>
            <a:endParaRPr lang="en-US" altLang="zh-CN" b="0">
              <a:latin typeface="Times New Roman" panose="02020503050405090304" pitchFamily="18" charset="0"/>
              <a:cs typeface="Times New Roman" panose="02020503050405090304" pitchFamily="18" charset="0"/>
            </a:endParaRPr>
          </a:p>
          <a:p>
            <a:pPr marL="285750" indent="-285750" algn="just">
              <a:lnSpc>
                <a:spcPct val="150000"/>
              </a:lnSpc>
              <a:buClr>
                <a:srgbClr val="0070C0"/>
              </a:buClr>
              <a:buFont typeface="Wingdings" panose="05000000000000000000" pitchFamily="2" charset="2"/>
              <a:buChar char="n"/>
            </a:pPr>
            <a:r>
              <a:rPr lang="zh-CN" altLang="en-US" b="0">
                <a:latin typeface="Times New Roman" panose="02020503050405090304" pitchFamily="18" charset="0"/>
                <a:cs typeface="Times New Roman" panose="02020503050405090304" pitchFamily="18" charset="0"/>
              </a:rPr>
              <a:t>自然语言处理的研究历史可以追溯到</a:t>
            </a:r>
            <a:r>
              <a:rPr lang="en-US" altLang="zh-CN" b="0">
                <a:latin typeface="Times New Roman" panose="02020503050405090304" pitchFamily="18" charset="0"/>
                <a:cs typeface="Times New Roman" panose="02020503050405090304" pitchFamily="18" charset="0"/>
              </a:rPr>
              <a:t>1947</a:t>
            </a:r>
            <a:r>
              <a:rPr lang="zh-CN" altLang="en-US" b="0">
                <a:latin typeface="Times New Roman" panose="02020503050405090304" pitchFamily="18" charset="0"/>
                <a:cs typeface="Times New Roman" panose="02020503050405090304" pitchFamily="18" charset="0"/>
              </a:rPr>
              <a:t>年，</a:t>
            </a:r>
            <a:r>
              <a:rPr lang="en-US" altLang="zh-CN" b="0">
                <a:latin typeface="Times New Roman" panose="02020503050405090304" pitchFamily="18" charset="0"/>
                <a:cs typeface="Times New Roman" panose="02020503050405090304" pitchFamily="18" charset="0"/>
              </a:rPr>
              <a:t>Warren Weaver</a:t>
            </a:r>
            <a:r>
              <a:rPr lang="zh-CN" altLang="en-US" b="0">
                <a:latin typeface="Times New Roman" panose="02020503050405090304" pitchFamily="18" charset="0"/>
                <a:cs typeface="Times New Roman" panose="02020503050405090304" pitchFamily="18" charset="0"/>
              </a:rPr>
              <a:t>就提出了利用计算机翻译人类语言的可能，并于</a:t>
            </a:r>
            <a:r>
              <a:rPr lang="en-US" altLang="zh-CN" b="0">
                <a:latin typeface="Times New Roman" panose="02020503050405090304" pitchFamily="18" charset="0"/>
                <a:cs typeface="Times New Roman" panose="02020503050405090304" pitchFamily="18" charset="0"/>
              </a:rPr>
              <a:t>1949</a:t>
            </a:r>
            <a:r>
              <a:rPr lang="zh-CN" altLang="en-US" b="0">
                <a:latin typeface="Times New Roman" panose="02020503050405090304" pitchFamily="18" charset="0"/>
                <a:cs typeface="Times New Roman" panose="02020503050405090304" pitchFamily="18" charset="0"/>
              </a:rPr>
              <a:t>年发布了著名的</a:t>
            </a:r>
            <a:r>
              <a:rPr lang="en-US" altLang="zh-CN" b="0">
                <a:latin typeface="Times New Roman" panose="02020503050405090304" pitchFamily="18" charset="0"/>
                <a:cs typeface="Times New Roman" panose="02020503050405090304" pitchFamily="18" charset="0"/>
              </a:rPr>
              <a:t>《Translation》</a:t>
            </a:r>
            <a:r>
              <a:rPr lang="zh-CN" altLang="en-US" b="0">
                <a:latin typeface="Times New Roman" panose="02020503050405090304" pitchFamily="18" charset="0"/>
                <a:cs typeface="Times New Roman" panose="02020503050405090304" pitchFamily="18" charset="0"/>
              </a:rPr>
              <a:t>（翻译）备忘录。当时的研究主要是基于规则和字符串替换的方法。</a:t>
            </a:r>
            <a:endParaRPr lang="en-US" altLang="zh-CN" b="0">
              <a:latin typeface="Times New Roman" panose="02020503050405090304" pitchFamily="18" charset="0"/>
              <a:cs typeface="Times New Roman" panose="02020503050405090304" pitchFamily="18" charset="0"/>
            </a:endParaRPr>
          </a:p>
          <a:p>
            <a:pPr marL="285750" indent="-285750" algn="just">
              <a:lnSpc>
                <a:spcPct val="150000"/>
              </a:lnSpc>
              <a:buClr>
                <a:srgbClr val="0070C0"/>
              </a:buClr>
              <a:buFont typeface="Wingdings" panose="05000000000000000000" pitchFamily="2" charset="2"/>
              <a:buChar char="n"/>
            </a:pPr>
            <a:r>
              <a:rPr lang="zh-CN" altLang="en-US" b="0">
                <a:solidFill>
                  <a:srgbClr val="7030A0"/>
                </a:solidFill>
                <a:latin typeface="Times New Roman" panose="02020503050405090304" pitchFamily="18" charset="0"/>
                <a:cs typeface="Times New Roman" panose="02020503050405090304" pitchFamily="18" charset="0"/>
              </a:rPr>
              <a:t> </a:t>
            </a:r>
            <a:r>
              <a:rPr lang="en-US" altLang="zh-CN" b="0">
                <a:latin typeface="Times New Roman" panose="02020503050405090304" pitchFamily="18" charset="0"/>
                <a:cs typeface="Times New Roman" panose="02020503050405090304" pitchFamily="18" charset="0"/>
              </a:rPr>
              <a:t>1952</a:t>
            </a:r>
            <a:r>
              <a:rPr lang="zh-CN" altLang="en-US" b="0" dirty="0">
                <a:latin typeface="Times New Roman" panose="02020503050405090304" pitchFamily="18" charset="0"/>
                <a:cs typeface="Times New Roman" panose="02020503050405090304" pitchFamily="18" charset="0"/>
              </a:rPr>
              <a:t>年，在洛克菲勒基金会的大力支持下，在美国麻省理工学院召开了</a:t>
            </a:r>
            <a:r>
              <a:rPr lang="zh-CN" altLang="en-US" b="0" u="sng" dirty="0">
                <a:solidFill>
                  <a:srgbClr val="FF0000"/>
                </a:solidFill>
                <a:latin typeface="Times New Roman" panose="02020503050405090304" pitchFamily="18" charset="0"/>
                <a:cs typeface="Times New Roman" panose="02020503050405090304" pitchFamily="18" charset="0"/>
              </a:rPr>
              <a:t>第一次机器翻译</a:t>
            </a:r>
            <a:r>
              <a:rPr lang="zh-CN" altLang="en-US" b="0" u="sng">
                <a:solidFill>
                  <a:srgbClr val="FF0000"/>
                </a:solidFill>
                <a:latin typeface="Times New Roman" panose="02020503050405090304" pitchFamily="18" charset="0"/>
                <a:cs typeface="Times New Roman" panose="02020503050405090304" pitchFamily="18" charset="0"/>
              </a:rPr>
              <a:t>会议</a:t>
            </a:r>
            <a:r>
              <a:rPr lang="zh-CN" altLang="en-US" b="0">
                <a:latin typeface="Times New Roman" panose="02020503050405090304" pitchFamily="18" charset="0"/>
                <a:cs typeface="Times New Roman" panose="02020503050405090304" pitchFamily="18" charset="0"/>
              </a:rPr>
              <a:t>。</a:t>
            </a:r>
            <a:endParaRPr lang="en-US" altLang="zh-CN" b="0" dirty="0">
              <a:latin typeface="Times New Roman" panose="02020503050405090304" pitchFamily="18" charset="0"/>
              <a:cs typeface="Times New Roman" panose="02020503050405090304" pitchFamily="18" charset="0"/>
            </a:endParaRPr>
          </a:p>
        </p:txBody>
      </p:sp>
      <p:sp>
        <p:nvSpPr>
          <p:cNvPr id="2" name="日期占位符 1"/>
          <p:cNvSpPr>
            <a:spLocks noGrp="1"/>
          </p:cNvSpPr>
          <p:nvPr>
            <p:ph type="dt" sz="half" idx="10"/>
          </p:nvPr>
        </p:nvSpPr>
        <p:spPr/>
        <p:txBody>
          <a:bodyPr/>
          <a:lstStyle/>
          <a:p>
            <a:fld id="{E7574DF6-2B64-4DC5-90B6-D814AB220C78}" type="datetime1">
              <a:rPr lang="zh-CN" altLang="en-US" smtClean="0"/>
            </a:fld>
            <a:endParaRPr lang="zh-CN" altLang="en-US"/>
          </a:p>
        </p:txBody>
      </p:sp>
      <p:sp>
        <p:nvSpPr>
          <p:cNvPr id="4" name="灯片编号占位符 3"/>
          <p:cNvSpPr>
            <a:spLocks noGrp="1"/>
          </p:cNvSpPr>
          <p:nvPr>
            <p:ph type="sldNum" sz="quarter" idx="12"/>
          </p:nvPr>
        </p:nvSpPr>
        <p:spPr/>
        <p:txBody>
          <a:bodyPr/>
          <a:lstStyle/>
          <a:p>
            <a:fld id="{82952373-7980-4DA7-9ADE-54D716DB38BB}" type="slidenum">
              <a:rPr lang="zh-CN" altLang="en-US" smtClean="0"/>
            </a:fld>
            <a:endParaRPr lang="zh-CN" altLang="en-US"/>
          </a:p>
        </p:txBody>
      </p:sp>
    </p:spTree>
  </p:cSld>
  <p:clrMapOvr>
    <a:masterClrMapping/>
  </p:clrMapOvr>
  <mc:AlternateContent xmlns:mc="http://schemas.openxmlformats.org/markup-compatibility/2006">
    <mc:Choice xmlns:p14="http://schemas.microsoft.com/office/powerpoint/2010/main" Requires="p14">
      <p:transition p14:dur="0"/>
    </mc:Choice>
    <mc:Fallback>
      <p:transition/>
    </mc:Fallback>
  </mc:AlternateContent>
</p:sld>
</file>

<file path=ppt/slides/slide8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endParaRPr lang="zh-CN" altLang="en-US"/>
          </a:p>
        </p:txBody>
      </p:sp>
      <p:sp>
        <p:nvSpPr>
          <p:cNvPr id="3" name="日期占位符 2"/>
          <p:cNvSpPr>
            <a:spLocks noGrp="1"/>
          </p:cNvSpPr>
          <p:nvPr>
            <p:ph type="dt" sz="half" idx="10"/>
          </p:nvPr>
        </p:nvSpPr>
        <p:spPr/>
        <p:txBody>
          <a:bodyPr/>
          <a:lstStyle/>
          <a:p>
            <a:fld id="{59EA5E4C-3639-4B8B-822E-E7371B831F99}" type="datetime1">
              <a:rPr lang="zh-CN" altLang="en-US" smtClean="0"/>
            </a:fld>
            <a:endParaRPr lang="zh-CN" altLang="en-US"/>
          </a:p>
        </p:txBody>
      </p:sp>
      <p:sp>
        <p:nvSpPr>
          <p:cNvPr id="4" name="灯片编号占位符 3"/>
          <p:cNvSpPr>
            <a:spLocks noGrp="1"/>
          </p:cNvSpPr>
          <p:nvPr>
            <p:ph type="sldNum" sz="quarter" idx="12"/>
          </p:nvPr>
        </p:nvSpPr>
        <p:spPr/>
        <p:txBody>
          <a:bodyPr/>
          <a:lstStyle/>
          <a:p>
            <a:fld id="{82952373-7980-4DA7-9ADE-54D716DB38BB}" type="slidenum">
              <a:rPr lang="zh-CN" altLang="en-US" smtClean="0"/>
            </a:fld>
            <a:endParaRPr lang="zh-CN" altLang="en-US"/>
          </a:p>
        </p:txBody>
      </p:sp>
      <p:sp>
        <p:nvSpPr>
          <p:cNvPr id="6" name="文本框 5"/>
          <p:cNvSpPr txBox="1"/>
          <p:nvPr/>
        </p:nvSpPr>
        <p:spPr>
          <a:xfrm>
            <a:off x="744664" y="945020"/>
            <a:ext cx="8024432" cy="2117246"/>
          </a:xfrm>
          <a:prstGeom prst="rect">
            <a:avLst/>
          </a:prstGeom>
          <a:noFill/>
        </p:spPr>
        <p:txBody>
          <a:bodyPr wrap="square">
            <a:spAutoFit/>
          </a:bodyPr>
          <a:lstStyle/>
          <a:p>
            <a:pPr marL="285750" indent="-285750" algn="just">
              <a:lnSpc>
                <a:spcPct val="150000"/>
              </a:lnSpc>
              <a:buClr>
                <a:srgbClr val="0070C0"/>
              </a:buClr>
              <a:buFont typeface="Wingdings" panose="05000000000000000000" pitchFamily="2" charset="2"/>
              <a:buChar char="n"/>
            </a:pPr>
            <a:r>
              <a:rPr lang="en-US" altLang="zh-CN" sz="1800" b="0">
                <a:solidFill>
                  <a:srgbClr val="7030A0"/>
                </a:solidFill>
                <a:latin typeface="Times New Roman" panose="02020503050405090304" pitchFamily="18" charset="0"/>
                <a:cs typeface="Times New Roman" panose="02020503050405090304" pitchFamily="18" charset="0"/>
              </a:rPr>
              <a:t>1954</a:t>
            </a:r>
            <a:r>
              <a:rPr lang="zh-CN" altLang="en-US" sz="1800" b="0">
                <a:solidFill>
                  <a:srgbClr val="7030A0"/>
                </a:solidFill>
                <a:latin typeface="Times New Roman" panose="02020503050405090304" pitchFamily="18" charset="0"/>
                <a:cs typeface="Times New Roman" panose="02020503050405090304" pitchFamily="18" charset="0"/>
              </a:rPr>
              <a:t>年</a:t>
            </a:r>
            <a:r>
              <a:rPr lang="zh-CN" altLang="en-US" sz="1800" b="0">
                <a:latin typeface="Times New Roman" panose="02020503050405090304" pitchFamily="18" charset="0"/>
                <a:cs typeface="Times New Roman" panose="02020503050405090304" pitchFamily="18" charset="0"/>
              </a:rPr>
              <a:t>，</a:t>
            </a:r>
            <a:r>
              <a:rPr lang="en-US" altLang="zh-CN" sz="1800" b="0">
                <a:latin typeface="Times New Roman" panose="02020503050405090304" pitchFamily="18" charset="0"/>
                <a:cs typeface="Times New Roman" panose="02020503050405090304" pitchFamily="18" charset="0"/>
              </a:rPr>
              <a:t>《</a:t>
            </a:r>
            <a:r>
              <a:rPr lang="zh-CN" altLang="en-US" sz="1800" b="0">
                <a:latin typeface="Times New Roman" panose="02020503050405090304" pitchFamily="18" charset="0"/>
                <a:cs typeface="Times New Roman" panose="02020503050405090304" pitchFamily="18" charset="0"/>
              </a:rPr>
              <a:t>机器翻译</a:t>
            </a:r>
            <a:r>
              <a:rPr lang="en-US" altLang="zh-CN" sz="1800" b="0">
                <a:latin typeface="Times New Roman" panose="02020503050405090304" pitchFamily="18" charset="0"/>
                <a:cs typeface="Times New Roman" panose="02020503050405090304" pitchFamily="18" charset="0"/>
              </a:rPr>
              <a:t>》</a:t>
            </a:r>
            <a:r>
              <a:rPr lang="zh-CN" altLang="en-US" sz="1800" b="0">
                <a:latin typeface="Times New Roman" panose="02020503050405090304" pitchFamily="18" charset="0"/>
                <a:cs typeface="Times New Roman" panose="02020503050405090304" pitchFamily="18" charset="0"/>
              </a:rPr>
              <a:t>杂志开始公开发行。同年，成功地进行了世界上第一次机器翻译试验。乔治城大学（</a:t>
            </a:r>
            <a:r>
              <a:rPr lang="en-US" altLang="zh-CN" sz="1800" b="0">
                <a:latin typeface="Times New Roman" panose="02020503050405090304" pitchFamily="18" charset="0"/>
                <a:cs typeface="Times New Roman" panose="02020503050405090304" pitchFamily="18" charset="0"/>
              </a:rPr>
              <a:t>Georgetown University</a:t>
            </a:r>
            <a:r>
              <a:rPr lang="zh-CN" altLang="en-US" sz="1800" b="0">
                <a:latin typeface="Times New Roman" panose="02020503050405090304" pitchFamily="18" charset="0"/>
                <a:cs typeface="Times New Roman" panose="02020503050405090304" pitchFamily="18" charset="0"/>
              </a:rPr>
              <a:t>）与</a:t>
            </a:r>
            <a:r>
              <a:rPr lang="en-US" altLang="zh-CN" sz="1800" b="0">
                <a:latin typeface="Times New Roman" panose="02020503050405090304" pitchFamily="18" charset="0"/>
                <a:cs typeface="Times New Roman" panose="02020503050405090304" pitchFamily="18" charset="0"/>
              </a:rPr>
              <a:t>IBM</a:t>
            </a:r>
            <a:r>
              <a:rPr lang="zh-CN" altLang="en-US" sz="1800" b="0">
                <a:latin typeface="Times New Roman" panose="02020503050405090304" pitchFamily="18" charset="0"/>
                <a:cs typeface="Times New Roman" panose="02020503050405090304" pitchFamily="18" charset="0"/>
              </a:rPr>
              <a:t>合作的机器翻译演示系统（</a:t>
            </a:r>
            <a:r>
              <a:rPr lang="en-US" altLang="zh-CN" sz="1800" b="0">
                <a:latin typeface="Times New Roman" panose="02020503050405090304" pitchFamily="18" charset="0"/>
                <a:cs typeface="Times New Roman" panose="02020503050405090304" pitchFamily="18" charset="0"/>
              </a:rPr>
              <a:t>IBM-701</a:t>
            </a:r>
            <a:r>
              <a:rPr lang="zh-CN" altLang="en-US" sz="1800" b="0">
                <a:latin typeface="Times New Roman" panose="02020503050405090304" pitchFamily="18" charset="0"/>
                <a:cs typeface="Times New Roman" panose="02020503050405090304" pitchFamily="18" charset="0"/>
              </a:rPr>
              <a:t>计算机）将</a:t>
            </a:r>
            <a:r>
              <a:rPr lang="en-US" altLang="zh-CN" sz="1800" b="0">
                <a:solidFill>
                  <a:srgbClr val="FF0000"/>
                </a:solidFill>
                <a:latin typeface="Times New Roman" panose="02020503050405090304" pitchFamily="18" charset="0"/>
                <a:cs typeface="Times New Roman" panose="02020503050405090304" pitchFamily="18" charset="0"/>
              </a:rPr>
              <a:t>60</a:t>
            </a:r>
            <a:r>
              <a:rPr lang="zh-CN" altLang="en-US" sz="1800" b="0">
                <a:solidFill>
                  <a:srgbClr val="FF0000"/>
                </a:solidFill>
                <a:latin typeface="Times New Roman" panose="02020503050405090304" pitchFamily="18" charset="0"/>
                <a:cs typeface="Times New Roman" panose="02020503050405090304" pitchFamily="18" charset="0"/>
              </a:rPr>
              <a:t>多个俄语句子翻译成了英文</a:t>
            </a:r>
            <a:r>
              <a:rPr lang="zh-CN" altLang="en-US" sz="1800" b="0">
                <a:latin typeface="Times New Roman" panose="02020503050405090304" pitchFamily="18" charset="0"/>
                <a:cs typeface="Times New Roman" panose="02020503050405090304" pitchFamily="18" charset="0"/>
              </a:rPr>
              <a:t>，第一次向公众和科学界展示了</a:t>
            </a:r>
            <a:r>
              <a:rPr lang="zh-CN" altLang="en-US" sz="1800" b="0">
                <a:solidFill>
                  <a:srgbClr val="FF0000"/>
                </a:solidFill>
                <a:latin typeface="Times New Roman" panose="02020503050405090304" pitchFamily="18" charset="0"/>
                <a:cs typeface="Times New Roman" panose="02020503050405090304" pitchFamily="18" charset="0"/>
              </a:rPr>
              <a:t>机器翻译的可行性</a:t>
            </a:r>
            <a:r>
              <a:rPr lang="zh-CN" altLang="en-US" sz="1800" b="0">
                <a:latin typeface="Times New Roman" panose="02020503050405090304" pitchFamily="18" charset="0"/>
                <a:cs typeface="Times New Roman" panose="02020503050405090304" pitchFamily="18" charset="0"/>
              </a:rPr>
              <a:t>，并且激发了美国政府部门在随后十年对机器翻译进行大量资助。</a:t>
            </a:r>
            <a:endParaRPr lang="en-US" altLang="zh-CN" sz="1800" b="0" dirty="0">
              <a:latin typeface="Times New Roman" panose="02020503050405090304" pitchFamily="18" charset="0"/>
              <a:cs typeface="Times New Roman" panose="02020503050405090304" pitchFamily="18" charset="0"/>
            </a:endParaRPr>
          </a:p>
        </p:txBody>
      </p:sp>
      <p:sp>
        <p:nvSpPr>
          <p:cNvPr id="8" name="文本框 7"/>
          <p:cNvSpPr txBox="1"/>
          <p:nvPr/>
        </p:nvSpPr>
        <p:spPr>
          <a:xfrm>
            <a:off x="593788" y="3207469"/>
            <a:ext cx="7805547" cy="870751"/>
          </a:xfrm>
          <a:prstGeom prst="rect">
            <a:avLst/>
          </a:prstGeom>
          <a:noFill/>
        </p:spPr>
        <p:txBody>
          <a:bodyPr wrap="square">
            <a:spAutoFit/>
          </a:bodyPr>
          <a:lstStyle/>
          <a:p>
            <a:pPr marL="285750" indent="-285750">
              <a:lnSpc>
                <a:spcPct val="150000"/>
              </a:lnSpc>
              <a:buClr>
                <a:srgbClr val="0070C0"/>
              </a:buClr>
              <a:buFont typeface="Wingdings" panose="05000000000000000000" pitchFamily="2" charset="2"/>
              <a:buChar char="n"/>
            </a:pPr>
            <a:r>
              <a:rPr lang="en-US" altLang="zh-CN" b="0">
                <a:latin typeface="Times New Roman" panose="02020503050405090304" pitchFamily="18" charset="0"/>
                <a:cs typeface="Times New Roman" panose="02020503050405090304" pitchFamily="18" charset="0"/>
              </a:rPr>
              <a:t>1950</a:t>
            </a:r>
            <a:r>
              <a:rPr lang="zh-CN" altLang="en-US" b="0">
                <a:latin typeface="Times New Roman" panose="02020503050405090304" pitchFamily="18" charset="0"/>
                <a:cs typeface="Times New Roman" panose="02020503050405090304" pitchFamily="18" charset="0"/>
              </a:rPr>
              <a:t>年代，随着语言模型的研究，机器翻译开始使用统计方法。</a:t>
            </a:r>
            <a:r>
              <a:rPr lang="en-US" altLang="zh-CN" b="0">
                <a:latin typeface="Times New Roman" panose="02020503050405090304" pitchFamily="18" charset="0"/>
                <a:cs typeface="Times New Roman" panose="02020503050405090304" pitchFamily="18" charset="0"/>
              </a:rPr>
              <a:t>1960</a:t>
            </a:r>
            <a:r>
              <a:rPr lang="zh-CN" altLang="en-US" b="0">
                <a:latin typeface="Times New Roman" panose="02020503050405090304" pitchFamily="18" charset="0"/>
                <a:cs typeface="Times New Roman" panose="02020503050405090304" pitchFamily="18" charset="0"/>
              </a:rPr>
              <a:t>年代，随着人工智能的发展，机器翻译开始</a:t>
            </a:r>
            <a:r>
              <a:rPr lang="zh-CN" altLang="en-US" b="0">
                <a:solidFill>
                  <a:srgbClr val="0000FF"/>
                </a:solidFill>
                <a:latin typeface="Times New Roman" panose="02020503050405090304" pitchFamily="18" charset="0"/>
                <a:cs typeface="Times New Roman" panose="02020503050405090304" pitchFamily="18" charset="0"/>
              </a:rPr>
              <a:t>使用规则和知识表示方法</a:t>
            </a:r>
            <a:r>
              <a:rPr lang="zh-CN" altLang="en-US" b="0">
                <a:latin typeface="Times New Roman" panose="02020503050405090304" pitchFamily="18" charset="0"/>
                <a:cs typeface="Times New Roman" panose="02020503050405090304" pitchFamily="18" charset="0"/>
              </a:rPr>
              <a:t>。</a:t>
            </a:r>
            <a:endParaRPr lang="zh-CN" altLang="en-US" b="0">
              <a:latin typeface="Times New Roman" panose="02020503050405090304" pitchFamily="18" charset="0"/>
              <a:cs typeface="Times New Roman" panose="02020503050405090304" pitchFamily="18" charset="0"/>
            </a:endParaRPr>
          </a:p>
        </p:txBody>
      </p:sp>
    </p:spTree>
  </p:cSld>
  <p:clrMapOvr>
    <a:masterClrMapping/>
  </p:clrMapOvr>
  <mc:AlternateContent xmlns:mc="http://schemas.openxmlformats.org/markup-compatibility/2006">
    <mc:Choice xmlns:p14="http://schemas.microsoft.com/office/powerpoint/2010/main" Requires="p14">
      <p:transition p14:dur="0"/>
    </mc:Choice>
    <mc:Fallback>
      <p:transition/>
    </mc:Fallback>
  </mc:AlternateContent>
</p:sld>
</file>

<file path=ppt/slides/slide8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sz="2400" b="1">
                <a:solidFill>
                  <a:srgbClr val="004C41"/>
                </a:solidFill>
                <a:ea typeface="宋体" pitchFamily="2" charset="-122"/>
                <a:cs typeface="+mn-ea"/>
                <a:sym typeface="+mn-lt"/>
              </a:rPr>
              <a:t>自然语言处理的发展历程</a:t>
            </a:r>
            <a:endParaRPr lang="zh-CN" altLang="en-US"/>
          </a:p>
        </p:txBody>
      </p:sp>
      <p:sp>
        <p:nvSpPr>
          <p:cNvPr id="3" name="日期占位符 2"/>
          <p:cNvSpPr>
            <a:spLocks noGrp="1"/>
          </p:cNvSpPr>
          <p:nvPr>
            <p:ph type="dt" sz="half" idx="10"/>
          </p:nvPr>
        </p:nvSpPr>
        <p:spPr/>
        <p:txBody>
          <a:bodyPr/>
          <a:lstStyle/>
          <a:p>
            <a:fld id="{59EA5E4C-3639-4B8B-822E-E7371B831F99}" type="datetime1">
              <a:rPr lang="zh-CN" altLang="en-US" smtClean="0"/>
            </a:fld>
            <a:endParaRPr lang="zh-CN" altLang="en-US"/>
          </a:p>
        </p:txBody>
      </p:sp>
      <p:sp>
        <p:nvSpPr>
          <p:cNvPr id="4" name="灯片编号占位符 3"/>
          <p:cNvSpPr>
            <a:spLocks noGrp="1"/>
          </p:cNvSpPr>
          <p:nvPr>
            <p:ph type="sldNum" sz="quarter" idx="12"/>
          </p:nvPr>
        </p:nvSpPr>
        <p:spPr/>
        <p:txBody>
          <a:bodyPr/>
          <a:lstStyle/>
          <a:p>
            <a:fld id="{82952373-7980-4DA7-9ADE-54D716DB38BB}" type="slidenum">
              <a:rPr lang="zh-CN" altLang="en-US" smtClean="0"/>
            </a:fld>
            <a:endParaRPr lang="zh-CN" altLang="en-US"/>
          </a:p>
        </p:txBody>
      </p:sp>
      <p:sp>
        <p:nvSpPr>
          <p:cNvPr id="6" name="文本框 5"/>
          <p:cNvSpPr txBox="1"/>
          <p:nvPr/>
        </p:nvSpPr>
        <p:spPr>
          <a:xfrm>
            <a:off x="395286" y="805340"/>
            <a:ext cx="4119372" cy="1701748"/>
          </a:xfrm>
          <a:prstGeom prst="rect">
            <a:avLst/>
          </a:prstGeom>
          <a:noFill/>
        </p:spPr>
        <p:txBody>
          <a:bodyPr wrap="square">
            <a:spAutoFit/>
          </a:bodyPr>
          <a:lstStyle/>
          <a:p>
            <a:pPr indent="457200">
              <a:lnSpc>
                <a:spcPct val="150000"/>
              </a:lnSpc>
            </a:pPr>
            <a:r>
              <a:rPr lang="zh-CN" altLang="en-US" b="0" i="0">
                <a:solidFill>
                  <a:srgbClr val="333333"/>
                </a:solidFill>
                <a:effectLst/>
                <a:latin typeface="+mn-lt"/>
                <a:ea typeface="+mj-ea"/>
              </a:rPr>
              <a:t>美国麻省理工学院人工智能实验室的德裔电脑科学家</a:t>
            </a:r>
            <a:r>
              <a:rPr lang="en-US" altLang="zh-CN" b="0" i="0">
                <a:solidFill>
                  <a:srgbClr val="333333"/>
                </a:solidFill>
                <a:effectLst/>
                <a:latin typeface="+mn-lt"/>
                <a:ea typeface="+mj-ea"/>
              </a:rPr>
              <a:t>Joseph Weizenbaum</a:t>
            </a:r>
            <a:r>
              <a:rPr lang="zh-CN" altLang="en-US" b="0" i="0">
                <a:solidFill>
                  <a:srgbClr val="333333"/>
                </a:solidFill>
                <a:effectLst/>
                <a:latin typeface="+mn-lt"/>
                <a:ea typeface="+mj-ea"/>
              </a:rPr>
              <a:t>则是在</a:t>
            </a:r>
            <a:r>
              <a:rPr lang="en-US" altLang="zh-CN" b="0" i="0">
                <a:solidFill>
                  <a:srgbClr val="333333"/>
                </a:solidFill>
                <a:effectLst/>
                <a:latin typeface="+mn-lt"/>
                <a:ea typeface="+mj-ea"/>
              </a:rPr>
              <a:t>1964</a:t>
            </a:r>
            <a:r>
              <a:rPr lang="zh-CN" altLang="en-US" b="0" i="0">
                <a:solidFill>
                  <a:srgbClr val="333333"/>
                </a:solidFill>
                <a:effectLst/>
                <a:latin typeface="+mn-lt"/>
                <a:ea typeface="+mj-ea"/>
              </a:rPr>
              <a:t>年至</a:t>
            </a:r>
            <a:r>
              <a:rPr lang="en-US" altLang="zh-CN" b="0" i="0">
                <a:solidFill>
                  <a:srgbClr val="333333"/>
                </a:solidFill>
                <a:effectLst/>
                <a:latin typeface="+mn-lt"/>
                <a:ea typeface="+mj-ea"/>
              </a:rPr>
              <a:t>1966</a:t>
            </a:r>
            <a:r>
              <a:rPr lang="zh-CN" altLang="en-US" b="0" i="0">
                <a:solidFill>
                  <a:srgbClr val="333333"/>
                </a:solidFill>
                <a:effectLst/>
                <a:latin typeface="+mn-lt"/>
                <a:ea typeface="+mj-ea"/>
              </a:rPr>
              <a:t>年期间打造史上第一个聊天机器人“</a:t>
            </a:r>
            <a:r>
              <a:rPr lang="en-US" altLang="zh-CN" b="0" i="0">
                <a:solidFill>
                  <a:srgbClr val="333333"/>
                </a:solidFill>
                <a:effectLst/>
                <a:latin typeface="+mn-lt"/>
                <a:ea typeface="+mj-ea"/>
              </a:rPr>
              <a:t>Eliza”</a:t>
            </a:r>
            <a:r>
              <a:rPr lang="zh-CN" altLang="en-US" b="0" i="0">
                <a:solidFill>
                  <a:srgbClr val="333333"/>
                </a:solidFill>
                <a:effectLst/>
                <a:latin typeface="+mn-lt"/>
                <a:ea typeface="+mj-ea"/>
              </a:rPr>
              <a:t>。</a:t>
            </a:r>
            <a:endParaRPr lang="zh-CN" altLang="en-US">
              <a:latin typeface="+mn-lt"/>
              <a:ea typeface="+mj-ea"/>
            </a:endParaRPr>
          </a:p>
        </p:txBody>
      </p:sp>
      <p:pic>
        <p:nvPicPr>
          <p:cNvPr id="8" name="图片 7"/>
          <p:cNvPicPr>
            <a:picLocks noChangeAspect="1"/>
          </p:cNvPicPr>
          <p:nvPr/>
        </p:nvPicPr>
        <p:blipFill>
          <a:blip r:embed="rId1">
            <a:extLst>
              <a:ext uri="{28A0092B-C50C-407E-A947-70E740481C1C}">
                <a14:useLocalDpi xmlns:a14="http://schemas.microsoft.com/office/drawing/2010/main" val="0"/>
              </a:ext>
            </a:extLst>
          </a:blip>
          <a:stretch>
            <a:fillRect/>
          </a:stretch>
        </p:blipFill>
        <p:spPr>
          <a:xfrm>
            <a:off x="4874134" y="1459861"/>
            <a:ext cx="4207274" cy="2964813"/>
          </a:xfrm>
          <a:prstGeom prst="rect">
            <a:avLst/>
          </a:prstGeom>
        </p:spPr>
      </p:pic>
      <p:sp>
        <p:nvSpPr>
          <p:cNvPr id="10" name="文本框 9"/>
          <p:cNvSpPr txBox="1"/>
          <p:nvPr/>
        </p:nvSpPr>
        <p:spPr>
          <a:xfrm>
            <a:off x="395286" y="2567703"/>
            <a:ext cx="4057841" cy="2261581"/>
          </a:xfrm>
          <a:prstGeom prst="rect">
            <a:avLst/>
          </a:prstGeom>
          <a:noFill/>
        </p:spPr>
        <p:txBody>
          <a:bodyPr wrap="square">
            <a:spAutoFit/>
          </a:bodyPr>
          <a:lstStyle>
            <a:defPPr>
              <a:defRPr lang="zh-CN"/>
            </a:defPPr>
            <a:lvl1pPr indent="457200">
              <a:lnSpc>
                <a:spcPct val="150000"/>
              </a:lnSpc>
              <a:defRPr b="0" i="0">
                <a:solidFill>
                  <a:srgbClr val="333333"/>
                </a:solidFill>
                <a:effectLst/>
                <a:latin typeface="+mn-lt"/>
                <a:ea typeface="+mj-ea"/>
              </a:defRPr>
            </a:lvl1pPr>
          </a:lstStyle>
          <a:p>
            <a:r>
              <a:rPr lang="zh-CN" altLang="en-US" sz="1600"/>
              <a:t>“</a:t>
            </a:r>
            <a:r>
              <a:rPr lang="en-US" altLang="zh-CN" sz="1600"/>
              <a:t>Eliza</a:t>
            </a:r>
            <a:r>
              <a:rPr lang="zh-CN" altLang="en-US" sz="1600"/>
              <a:t>”是以</a:t>
            </a:r>
            <a:r>
              <a:rPr lang="en-US" altLang="zh-CN" sz="1600"/>
              <a:t>MAD-SLIP</a:t>
            </a:r>
            <a:r>
              <a:rPr lang="zh-CN" altLang="en-US" sz="1600"/>
              <a:t>程序语言编写，并且在</a:t>
            </a:r>
            <a:r>
              <a:rPr lang="en-US" altLang="zh-CN" sz="1600"/>
              <a:t>36</a:t>
            </a:r>
            <a:r>
              <a:rPr lang="zh-CN" altLang="en-US" sz="1600"/>
              <a:t>位元架构的</a:t>
            </a:r>
            <a:r>
              <a:rPr lang="en-US" altLang="zh-CN" sz="1600"/>
              <a:t>IBM 7094</a:t>
            </a:r>
            <a:r>
              <a:rPr lang="zh-CN" altLang="en-US" sz="1600"/>
              <a:t>大型电脑上运作，所有程序代码约在</a:t>
            </a:r>
            <a:r>
              <a:rPr lang="en-US" altLang="zh-CN" sz="1600"/>
              <a:t>200</a:t>
            </a:r>
            <a:r>
              <a:rPr lang="zh-CN" altLang="en-US" sz="1600"/>
              <a:t>行左右。执行过程中，“</a:t>
            </a:r>
            <a:r>
              <a:rPr lang="en-US" altLang="zh-CN" sz="1600"/>
              <a:t>Eliza</a:t>
            </a:r>
            <a:r>
              <a:rPr lang="zh-CN" altLang="en-US" sz="1600"/>
              <a:t>”会透过分析所输入文字内容，并且将特定字句重组，变成全新字句组合。</a:t>
            </a:r>
            <a:endParaRPr lang="zh-CN" altLang="en-US" sz="1600"/>
          </a:p>
        </p:txBody>
      </p:sp>
    </p:spTree>
  </p:cSld>
  <p:clrMapOvr>
    <a:masterClrMapping/>
  </p:clrMapOvr>
  <mc:AlternateContent xmlns:mc="http://schemas.openxmlformats.org/markup-compatibility/2006">
    <mc:Choice xmlns:p14="http://schemas.microsoft.com/office/powerpoint/2010/main" Requires="p14">
      <p:transition p14:dur="0"/>
    </mc:Choice>
    <mc:Fallback>
      <p:transition/>
    </mc:Fallback>
  </mc:AlternateContent>
</p:sld>
</file>

<file path=ppt/slides/slide8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标题 2"/>
          <p:cNvSpPr>
            <a:spLocks noGrp="1"/>
          </p:cNvSpPr>
          <p:nvPr>
            <p:ph type="title"/>
          </p:nvPr>
        </p:nvSpPr>
        <p:spPr/>
        <p:txBody>
          <a:bodyPr/>
          <a:lstStyle/>
          <a:p>
            <a:r>
              <a:rPr lang="zh-CN" altLang="en-US" sz="2400" b="1">
                <a:solidFill>
                  <a:srgbClr val="004C41"/>
                </a:solidFill>
                <a:ea typeface="宋体" pitchFamily="2" charset="-122"/>
                <a:cs typeface="+mn-ea"/>
                <a:sym typeface="+mn-lt"/>
              </a:rPr>
              <a:t>自然语言处理的发展历程</a:t>
            </a:r>
            <a:endParaRPr lang="zh-CN" altLang="en-US">
              <a:ea typeface="宋体" pitchFamily="2" charset="-122"/>
            </a:endParaRPr>
          </a:p>
        </p:txBody>
      </p:sp>
      <p:sp>
        <p:nvSpPr>
          <p:cNvPr id="9" name="文本框 8"/>
          <p:cNvSpPr txBox="1"/>
          <p:nvPr/>
        </p:nvSpPr>
        <p:spPr>
          <a:xfrm>
            <a:off x="690033" y="1056824"/>
            <a:ext cx="7763933" cy="2117246"/>
          </a:xfrm>
          <a:prstGeom prst="rect">
            <a:avLst/>
          </a:prstGeom>
          <a:noFill/>
        </p:spPr>
        <p:txBody>
          <a:bodyPr wrap="square">
            <a:spAutoFit/>
          </a:bodyPr>
          <a:lstStyle/>
          <a:p>
            <a:pPr marL="285750" indent="-285750" algn="just">
              <a:lnSpc>
                <a:spcPct val="150000"/>
              </a:lnSpc>
              <a:buClr>
                <a:srgbClr val="0070C0"/>
              </a:buClr>
              <a:buFont typeface="Wingdings" panose="05000000000000000000" pitchFamily="2" charset="2"/>
              <a:buChar char="n"/>
            </a:pPr>
            <a:r>
              <a:rPr lang="zh-CN" altLang="en-US" b="0">
                <a:latin typeface="Times New Roman" panose="02020503050405090304" pitchFamily="18" charset="0"/>
              </a:rPr>
              <a:t>在萌芽期人们</a:t>
            </a:r>
            <a:r>
              <a:rPr lang="zh-CN" altLang="en-US" b="0" dirty="0">
                <a:latin typeface="Times New Roman" panose="02020503050405090304" pitchFamily="18" charset="0"/>
              </a:rPr>
              <a:t>看到不是机器翻译的成功，反而看到的是一个又一个它无法克服的局限。</a:t>
            </a:r>
            <a:endParaRPr lang="en-US" altLang="zh-CN" b="0" dirty="0">
              <a:latin typeface="Times New Roman" panose="02020503050405090304" pitchFamily="18" charset="0"/>
            </a:endParaRPr>
          </a:p>
          <a:p>
            <a:pPr marL="285750" indent="-285750" algn="just">
              <a:lnSpc>
                <a:spcPct val="150000"/>
              </a:lnSpc>
              <a:buClr>
                <a:srgbClr val="0070C0"/>
              </a:buClr>
              <a:buFont typeface="Wingdings" panose="05000000000000000000" pitchFamily="2" charset="2"/>
              <a:buChar char="n"/>
            </a:pPr>
            <a:r>
              <a:rPr lang="zh-CN" altLang="en-US" b="0" dirty="0">
                <a:latin typeface="Times New Roman" panose="02020503050405090304" pitchFamily="18" charset="0"/>
              </a:rPr>
              <a:t> 第一代机器翻译系统设计上的粗糙所带来的翻译质量的低劣，最终导致了一些人对机器翻译的研究失去信心。有些人甚至错误地认为机器翻译追求全自动质量目标是不可能实现的。机器翻译的研究就此</a:t>
            </a:r>
            <a:r>
              <a:rPr lang="zh-CN" altLang="en-US" b="0" dirty="0">
                <a:solidFill>
                  <a:srgbClr val="FF0000"/>
                </a:solidFill>
                <a:latin typeface="Times New Roman" panose="02020503050405090304" pitchFamily="18" charset="0"/>
              </a:rPr>
              <a:t>陷入低谷</a:t>
            </a:r>
            <a:r>
              <a:rPr lang="zh-CN" altLang="en-US" b="0" dirty="0">
                <a:latin typeface="Times New Roman" panose="02020503050405090304" pitchFamily="18" charset="0"/>
              </a:rPr>
              <a:t>。</a:t>
            </a:r>
            <a:endParaRPr lang="zh-CN" altLang="en-US" b="0" dirty="0">
              <a:latin typeface="Times New Roman" panose="02020503050405090304" pitchFamily="18" charset="0"/>
            </a:endParaRPr>
          </a:p>
        </p:txBody>
      </p:sp>
      <p:sp>
        <p:nvSpPr>
          <p:cNvPr id="2" name="日期占位符 1"/>
          <p:cNvSpPr>
            <a:spLocks noGrp="1"/>
          </p:cNvSpPr>
          <p:nvPr>
            <p:ph type="dt" sz="half" idx="10"/>
          </p:nvPr>
        </p:nvSpPr>
        <p:spPr/>
        <p:txBody>
          <a:bodyPr/>
          <a:lstStyle/>
          <a:p>
            <a:fld id="{70484243-0356-4708-B337-B370EC5959E6}" type="datetime1">
              <a:rPr lang="zh-CN" altLang="en-US" smtClean="0"/>
            </a:fld>
            <a:endParaRPr lang="zh-CN" altLang="en-US"/>
          </a:p>
        </p:txBody>
      </p:sp>
      <p:sp>
        <p:nvSpPr>
          <p:cNvPr id="4" name="灯片编号占位符 3"/>
          <p:cNvSpPr>
            <a:spLocks noGrp="1"/>
          </p:cNvSpPr>
          <p:nvPr>
            <p:ph type="sldNum" sz="quarter" idx="12"/>
          </p:nvPr>
        </p:nvSpPr>
        <p:spPr/>
        <p:txBody>
          <a:bodyPr/>
          <a:lstStyle/>
          <a:p>
            <a:fld id="{82952373-7980-4DA7-9ADE-54D716DB38BB}" type="slidenum">
              <a:rPr lang="zh-CN" altLang="en-US" smtClean="0"/>
            </a:fld>
            <a:endParaRPr lang="zh-CN" altLang="en-US"/>
          </a:p>
        </p:txBody>
      </p:sp>
    </p:spTree>
  </p:cSld>
  <p:clrMapOvr>
    <a:masterClrMapping/>
  </p:clrMapOvr>
  <mc:AlternateContent xmlns:mc="http://schemas.openxmlformats.org/markup-compatibility/2006">
    <mc:Choice xmlns:p14="http://schemas.microsoft.com/office/powerpoint/2010/main" Requires="p14">
      <p:transition p14:dur="0"/>
    </mc:Choice>
    <mc:Fallback>
      <p:transition/>
    </mc:Fallback>
  </mc:AlternateContent>
</p:sld>
</file>

<file path=ppt/slides/slide8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标题 2"/>
          <p:cNvSpPr>
            <a:spLocks noGrp="1"/>
          </p:cNvSpPr>
          <p:nvPr>
            <p:ph type="title"/>
          </p:nvPr>
        </p:nvSpPr>
        <p:spPr/>
        <p:txBody>
          <a:bodyPr/>
          <a:lstStyle/>
          <a:p>
            <a:r>
              <a:rPr lang="zh-CN" altLang="en-US" sz="2400" b="1">
                <a:solidFill>
                  <a:srgbClr val="004C41"/>
                </a:solidFill>
                <a:ea typeface="宋体" pitchFamily="2" charset="-122"/>
                <a:cs typeface="+mn-ea"/>
                <a:sym typeface="+mn-lt"/>
              </a:rPr>
              <a:t>自然语言处理的发展历程</a:t>
            </a:r>
            <a:endParaRPr lang="zh-CN" altLang="en-US">
              <a:ea typeface="宋体" pitchFamily="2" charset="-122"/>
            </a:endParaRPr>
          </a:p>
        </p:txBody>
      </p:sp>
      <p:sp>
        <p:nvSpPr>
          <p:cNvPr id="9" name="文本框 8"/>
          <p:cNvSpPr txBox="1"/>
          <p:nvPr/>
        </p:nvSpPr>
        <p:spPr>
          <a:xfrm>
            <a:off x="430106" y="930533"/>
            <a:ext cx="8398933" cy="2536400"/>
          </a:xfrm>
          <a:prstGeom prst="rect">
            <a:avLst/>
          </a:prstGeom>
          <a:noFill/>
        </p:spPr>
        <p:txBody>
          <a:bodyPr wrap="square">
            <a:spAutoFit/>
          </a:bodyPr>
          <a:lstStyle/>
          <a:p>
            <a:pPr marL="285750" lvl="1" indent="-285750" algn="just">
              <a:lnSpc>
                <a:spcPct val="150000"/>
              </a:lnSpc>
              <a:buClr>
                <a:srgbClr val="0070C0"/>
              </a:buClr>
              <a:buFont typeface="Wingdings" panose="05000000000000000000" pitchFamily="2" charset="2"/>
              <a:buChar char="n"/>
            </a:pPr>
            <a:r>
              <a:rPr lang="en-US" altLang="zh-CN" b="0">
                <a:latin typeface="Times New Roman" panose="02020503050405090304" pitchFamily="18" charset="0"/>
              </a:rPr>
              <a:t>1976</a:t>
            </a:r>
            <a:r>
              <a:rPr lang="zh-CN" altLang="en-US" b="0">
                <a:latin typeface="Times New Roman" panose="02020503050405090304" pitchFamily="18" charset="0"/>
              </a:rPr>
              <a:t>年，加拿大蒙特利尔大学与加拿大联邦政府翻译局开发</a:t>
            </a:r>
            <a:r>
              <a:rPr lang="zh-CN" altLang="en-US" b="0" dirty="0">
                <a:latin typeface="Times New Roman" panose="02020503050405090304" pitchFamily="18" charset="0"/>
              </a:rPr>
              <a:t>研制的</a:t>
            </a:r>
            <a:r>
              <a:rPr lang="zh-CN" altLang="en-US" b="0" u="sng" dirty="0">
                <a:latin typeface="Times New Roman" panose="02020503050405090304" pitchFamily="18" charset="0"/>
              </a:rPr>
              <a:t>实用性机器翻译</a:t>
            </a:r>
            <a:r>
              <a:rPr lang="zh-CN" altLang="en-US" b="0" u="sng">
                <a:latin typeface="Times New Roman" panose="02020503050405090304" pitchFamily="18" charset="0"/>
              </a:rPr>
              <a:t>系统</a:t>
            </a:r>
            <a:r>
              <a:rPr lang="en-US" altLang="zh-CN" b="0" u="sng">
                <a:latin typeface="Times New Roman" panose="02020503050405090304" pitchFamily="18" charset="0"/>
              </a:rPr>
              <a:t>TAUM-METEO</a:t>
            </a:r>
            <a:r>
              <a:rPr lang="zh-CN" altLang="en-US" b="0">
                <a:latin typeface="Times New Roman" panose="02020503050405090304" pitchFamily="18" charset="0"/>
              </a:rPr>
              <a:t>采用</a:t>
            </a:r>
            <a:r>
              <a:rPr lang="zh-CN" altLang="en-US" b="0" dirty="0">
                <a:latin typeface="Times New Roman" panose="02020503050405090304" pitchFamily="18" charset="0"/>
              </a:rPr>
              <a:t>了典型的转换方法，整个翻译过程分为</a:t>
            </a:r>
            <a:r>
              <a:rPr lang="en-US" altLang="zh-CN" b="0" dirty="0">
                <a:solidFill>
                  <a:srgbClr val="FF0000"/>
                </a:solidFill>
                <a:latin typeface="Times New Roman" panose="02020503050405090304" pitchFamily="18" charset="0"/>
              </a:rPr>
              <a:t>5</a:t>
            </a:r>
            <a:r>
              <a:rPr lang="zh-CN" altLang="en-US" b="0" dirty="0">
                <a:solidFill>
                  <a:srgbClr val="FF0000"/>
                </a:solidFill>
                <a:latin typeface="Times New Roman" panose="02020503050405090304" pitchFamily="18" charset="0"/>
              </a:rPr>
              <a:t>个阶段</a:t>
            </a:r>
            <a:r>
              <a:rPr lang="zh-CN" altLang="en-US" b="0" dirty="0">
                <a:latin typeface="Times New Roman" panose="02020503050405090304" pitchFamily="18" charset="0"/>
              </a:rPr>
              <a:t>（英</a:t>
            </a:r>
            <a:r>
              <a:rPr lang="en-US" altLang="zh-CN" b="0" dirty="0">
                <a:latin typeface="Times New Roman" panose="02020503050405090304" pitchFamily="18" charset="0"/>
              </a:rPr>
              <a:t>-</a:t>
            </a:r>
            <a:r>
              <a:rPr lang="zh-CN" altLang="en-US" b="0" dirty="0">
                <a:latin typeface="Times New Roman" panose="02020503050405090304" pitchFamily="18" charset="0"/>
              </a:rPr>
              <a:t>法翻译）：英语形态分析、英语句法分析、转换、法语句法生成和法语形态生成。每小时可以翻译</a:t>
            </a:r>
            <a:r>
              <a:rPr lang="en-US" altLang="zh-CN" b="0" dirty="0">
                <a:latin typeface="Times New Roman" panose="02020503050405090304" pitchFamily="18" charset="0"/>
              </a:rPr>
              <a:t>6</a:t>
            </a:r>
            <a:r>
              <a:rPr lang="zh-CN" altLang="en-US" b="0" dirty="0">
                <a:latin typeface="Times New Roman" panose="02020503050405090304" pitchFamily="18" charset="0"/>
              </a:rPr>
              <a:t>万</a:t>
            </a:r>
            <a:r>
              <a:rPr lang="en-US" altLang="zh-CN" b="0" dirty="0">
                <a:latin typeface="Times New Roman" panose="02020503050405090304" pitchFamily="18" charset="0"/>
              </a:rPr>
              <a:t>-30</a:t>
            </a:r>
            <a:r>
              <a:rPr lang="zh-CN" altLang="en-US" b="0" dirty="0">
                <a:latin typeface="Times New Roman" panose="02020503050405090304" pitchFamily="18" charset="0"/>
              </a:rPr>
              <a:t>万个词，每天可以翻译</a:t>
            </a:r>
            <a:r>
              <a:rPr lang="en-US" altLang="zh-CN" b="0" dirty="0">
                <a:latin typeface="Times New Roman" panose="02020503050405090304" pitchFamily="18" charset="0"/>
              </a:rPr>
              <a:t>1500-2000</a:t>
            </a:r>
            <a:r>
              <a:rPr lang="zh-CN" altLang="en-US" b="0" dirty="0">
                <a:latin typeface="Times New Roman" panose="02020503050405090304" pitchFamily="18" charset="0"/>
              </a:rPr>
              <a:t>篇天气预报的资料，并能够通过电视、报纸立即公布。</a:t>
            </a:r>
            <a:r>
              <a:rPr lang="en-US" altLang="zh-CN" b="0" dirty="0">
                <a:solidFill>
                  <a:srgbClr val="FF0000"/>
                </a:solidFill>
                <a:latin typeface="Times New Roman" panose="02020503050405090304" pitchFamily="18" charset="0"/>
              </a:rPr>
              <a:t>TAUM-METEO</a:t>
            </a:r>
            <a:r>
              <a:rPr lang="zh-CN" altLang="en-US" b="0" dirty="0">
                <a:solidFill>
                  <a:srgbClr val="FF0000"/>
                </a:solidFill>
                <a:latin typeface="Times New Roman" panose="02020503050405090304" pitchFamily="18" charset="0"/>
              </a:rPr>
              <a:t>系统是机器翻译发展史上的一个里程碑，它标志着机器翻译由复苏走向了繁荣。 </a:t>
            </a:r>
            <a:endParaRPr lang="zh-CN" altLang="en-US" b="0" dirty="0">
              <a:solidFill>
                <a:srgbClr val="FF0000"/>
              </a:solidFill>
              <a:latin typeface="Times New Roman" panose="02020503050405090304" pitchFamily="18" charset="0"/>
            </a:endParaRPr>
          </a:p>
        </p:txBody>
      </p:sp>
      <p:sp>
        <p:nvSpPr>
          <p:cNvPr id="2" name="日期占位符 1"/>
          <p:cNvSpPr>
            <a:spLocks noGrp="1"/>
          </p:cNvSpPr>
          <p:nvPr>
            <p:ph type="dt" sz="half" idx="10"/>
          </p:nvPr>
        </p:nvSpPr>
        <p:spPr/>
        <p:txBody>
          <a:bodyPr/>
          <a:lstStyle/>
          <a:p>
            <a:fld id="{C29AA9CB-72A3-4414-852D-A0BB95E61C0A}" type="datetime1">
              <a:rPr lang="zh-CN" altLang="en-US" smtClean="0"/>
            </a:fld>
            <a:endParaRPr lang="zh-CN" altLang="en-US"/>
          </a:p>
        </p:txBody>
      </p:sp>
      <p:sp>
        <p:nvSpPr>
          <p:cNvPr id="4" name="灯片编号占位符 3"/>
          <p:cNvSpPr>
            <a:spLocks noGrp="1"/>
          </p:cNvSpPr>
          <p:nvPr>
            <p:ph type="sldNum" sz="quarter" idx="12"/>
          </p:nvPr>
        </p:nvSpPr>
        <p:spPr/>
        <p:txBody>
          <a:bodyPr/>
          <a:lstStyle/>
          <a:p>
            <a:fld id="{82952373-7980-4DA7-9ADE-54D716DB38BB}" type="slidenum">
              <a:rPr lang="zh-CN" altLang="en-US" smtClean="0"/>
            </a:fld>
            <a:endParaRPr lang="zh-CN" altLang="en-US"/>
          </a:p>
        </p:txBody>
      </p:sp>
    </p:spTree>
  </p:cSld>
  <p:clrMapOvr>
    <a:masterClrMapping/>
  </p:clrMapOvr>
  <mc:AlternateContent xmlns:mc="http://schemas.openxmlformats.org/markup-compatibility/2006">
    <mc:Choice xmlns:p14="http://schemas.microsoft.com/office/powerpoint/2010/main" Requires="p14">
      <p:transition p14:dur="0"/>
    </mc:Choice>
    <mc:Fallback>
      <p:transition/>
    </mc:Fallback>
  </mc:AlternateContent>
</p:sld>
</file>

<file path=ppt/slides/slide8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sz="2400" b="1">
                <a:solidFill>
                  <a:srgbClr val="004C41"/>
                </a:solidFill>
                <a:ea typeface="宋体" pitchFamily="2" charset="-122"/>
                <a:cs typeface="+mn-ea"/>
                <a:sym typeface="+mn-lt"/>
              </a:rPr>
              <a:t>自然语言处理的发展历程</a:t>
            </a:r>
            <a:endParaRPr lang="zh-CN" altLang="en-US">
              <a:ea typeface="宋体" pitchFamily="2" charset="-122"/>
            </a:endParaRPr>
          </a:p>
        </p:txBody>
      </p:sp>
      <p:sp>
        <p:nvSpPr>
          <p:cNvPr id="4" name="文本框 3"/>
          <p:cNvSpPr txBox="1"/>
          <p:nvPr/>
        </p:nvSpPr>
        <p:spPr>
          <a:xfrm>
            <a:off x="457200" y="1005830"/>
            <a:ext cx="8515350" cy="2574294"/>
          </a:xfrm>
          <a:prstGeom prst="rect">
            <a:avLst/>
          </a:prstGeom>
          <a:noFill/>
        </p:spPr>
        <p:txBody>
          <a:bodyPr wrap="square">
            <a:spAutoFit/>
          </a:bodyPr>
          <a:lstStyle/>
          <a:p>
            <a:pPr algn="l">
              <a:lnSpc>
                <a:spcPct val="130000"/>
              </a:lnSpc>
            </a:pPr>
            <a:r>
              <a:rPr lang="zh-CN" altLang="en-US" b="1" i="0">
                <a:solidFill>
                  <a:srgbClr val="3333FF"/>
                </a:solidFill>
                <a:effectLst/>
                <a:latin typeface="Times New Roman" panose="02020503050405090304" pitchFamily="18" charset="0"/>
                <a:cs typeface="Times New Roman" panose="02020503050405090304" pitchFamily="18" charset="0"/>
              </a:rPr>
              <a:t>发展阶段</a:t>
            </a:r>
            <a:r>
              <a:rPr lang="zh-CN" altLang="en-US" b="1" i="0">
                <a:solidFill>
                  <a:srgbClr val="0000FF"/>
                </a:solidFill>
                <a:effectLst/>
                <a:latin typeface="Times New Roman" panose="02020503050405090304" pitchFamily="18" charset="0"/>
                <a:cs typeface="Times New Roman" panose="02020503050405090304" pitchFamily="18" charset="0"/>
              </a:rPr>
              <a:t>：</a:t>
            </a:r>
            <a:endParaRPr lang="zh-CN" altLang="en-US" b="0" i="0">
              <a:solidFill>
                <a:srgbClr val="0000FF"/>
              </a:solidFill>
              <a:effectLst/>
              <a:latin typeface="Times New Roman" panose="02020503050405090304" pitchFamily="18" charset="0"/>
              <a:cs typeface="Times New Roman" panose="02020503050405090304" pitchFamily="18" charset="0"/>
            </a:endParaRPr>
          </a:p>
          <a:p>
            <a:pPr marL="285750" indent="-285750" algn="l">
              <a:lnSpc>
                <a:spcPct val="130000"/>
              </a:lnSpc>
              <a:buFont typeface="Wingdings" panose="05000000000000000000" pitchFamily="2" charset="2"/>
              <a:buChar char="ü"/>
            </a:pPr>
            <a:r>
              <a:rPr lang="en-US" altLang="zh-CN" b="0" i="0">
                <a:effectLst/>
                <a:latin typeface="Times New Roman" panose="02020503050405090304" pitchFamily="18" charset="0"/>
                <a:cs typeface="Times New Roman" panose="02020503050405090304" pitchFamily="18" charset="0"/>
              </a:rPr>
              <a:t>1993</a:t>
            </a:r>
            <a:r>
              <a:rPr lang="zh-CN" altLang="en-US" b="0" i="0">
                <a:effectLst/>
                <a:latin typeface="Times New Roman" panose="02020503050405090304" pitchFamily="18" charset="0"/>
                <a:cs typeface="Times New Roman" panose="02020503050405090304" pitchFamily="18" charset="0"/>
              </a:rPr>
              <a:t>年，</a:t>
            </a:r>
            <a:r>
              <a:rPr lang="en-US" altLang="zh-CN" b="0" i="0">
                <a:effectLst/>
                <a:latin typeface="Times New Roman" panose="02020503050405090304" pitchFamily="18" charset="0"/>
                <a:cs typeface="Times New Roman" panose="02020503050405090304" pitchFamily="18" charset="0"/>
              </a:rPr>
              <a:t>IBM</a:t>
            </a:r>
            <a:r>
              <a:rPr lang="zh-CN" altLang="en-US" b="0" i="0">
                <a:effectLst/>
                <a:latin typeface="Times New Roman" panose="02020503050405090304" pitchFamily="18" charset="0"/>
                <a:cs typeface="Times New Roman" panose="02020503050405090304" pitchFamily="18" charset="0"/>
              </a:rPr>
              <a:t>的</a:t>
            </a:r>
            <a:r>
              <a:rPr lang="en-US" altLang="zh-CN" b="0" i="0">
                <a:effectLst/>
                <a:latin typeface="Times New Roman" panose="02020503050405090304" pitchFamily="18" charset="0"/>
                <a:cs typeface="Times New Roman" panose="02020503050405090304" pitchFamily="18" charset="0"/>
              </a:rPr>
              <a:t>Brown</a:t>
            </a:r>
            <a:r>
              <a:rPr lang="zh-CN" altLang="en-US" b="0" i="0">
                <a:effectLst/>
                <a:latin typeface="Times New Roman" panose="02020503050405090304" pitchFamily="18" charset="0"/>
                <a:cs typeface="Times New Roman" panose="02020503050405090304" pitchFamily="18" charset="0"/>
              </a:rPr>
              <a:t>等提出基于词对齐的统计翻译模型，基于语料库的方法开始盛行；</a:t>
            </a:r>
            <a:endParaRPr lang="zh-CN" altLang="en-US" b="0" i="0">
              <a:effectLst/>
              <a:latin typeface="Times New Roman" panose="02020503050405090304" pitchFamily="18" charset="0"/>
              <a:cs typeface="Times New Roman" panose="02020503050405090304" pitchFamily="18" charset="0"/>
            </a:endParaRPr>
          </a:p>
          <a:p>
            <a:pPr marL="285750" indent="-285750" algn="l">
              <a:lnSpc>
                <a:spcPct val="130000"/>
              </a:lnSpc>
              <a:buFont typeface="Wingdings" panose="05000000000000000000" pitchFamily="2" charset="2"/>
              <a:buChar char="ü"/>
            </a:pPr>
            <a:r>
              <a:rPr lang="en-US" altLang="zh-CN" b="0" i="0">
                <a:effectLst/>
                <a:latin typeface="Times New Roman" panose="02020503050405090304" pitchFamily="18" charset="0"/>
                <a:cs typeface="Times New Roman" panose="02020503050405090304" pitchFamily="18" charset="0"/>
              </a:rPr>
              <a:t>2003</a:t>
            </a:r>
            <a:r>
              <a:rPr lang="zh-CN" altLang="en-US" b="0" i="0">
                <a:effectLst/>
                <a:latin typeface="Times New Roman" panose="02020503050405090304" pitchFamily="18" charset="0"/>
                <a:cs typeface="Times New Roman" panose="02020503050405090304" pitchFamily="18" charset="0"/>
              </a:rPr>
              <a:t>年，爱丁堡大学的</a:t>
            </a:r>
            <a:r>
              <a:rPr lang="en-US" altLang="zh-CN" b="0" i="0">
                <a:effectLst/>
                <a:latin typeface="Times New Roman" panose="02020503050405090304" pitchFamily="18" charset="0"/>
                <a:cs typeface="Times New Roman" panose="02020503050405090304" pitchFamily="18" charset="0"/>
              </a:rPr>
              <a:t>Koehn</a:t>
            </a:r>
            <a:r>
              <a:rPr lang="zh-CN" altLang="en-US" b="0" i="0">
                <a:effectLst/>
                <a:latin typeface="Times New Roman" panose="02020503050405090304" pitchFamily="18" charset="0"/>
                <a:cs typeface="Times New Roman" panose="02020503050405090304" pitchFamily="18" charset="0"/>
              </a:rPr>
              <a:t>提出短语翻译模型，使机器翻译效果显著提升，推动了工业应用；</a:t>
            </a:r>
            <a:endParaRPr lang="zh-CN" altLang="en-US" b="0" i="0">
              <a:effectLst/>
              <a:latin typeface="Times New Roman" panose="02020503050405090304" pitchFamily="18" charset="0"/>
              <a:cs typeface="Times New Roman" panose="02020503050405090304" pitchFamily="18" charset="0"/>
            </a:endParaRPr>
          </a:p>
          <a:p>
            <a:pPr marL="285750" indent="-285750" algn="l">
              <a:lnSpc>
                <a:spcPct val="130000"/>
              </a:lnSpc>
              <a:buFont typeface="Wingdings" panose="05000000000000000000" pitchFamily="2" charset="2"/>
              <a:buChar char="ü"/>
            </a:pPr>
            <a:r>
              <a:rPr lang="en-US" altLang="zh-CN" b="0" i="0">
                <a:effectLst/>
                <a:latin typeface="Times New Roman" panose="02020503050405090304" pitchFamily="18" charset="0"/>
                <a:cs typeface="Times New Roman" panose="02020503050405090304" pitchFamily="18" charset="0"/>
              </a:rPr>
              <a:t>2005</a:t>
            </a:r>
            <a:r>
              <a:rPr lang="zh-CN" altLang="en-US" b="0" i="0">
                <a:effectLst/>
                <a:latin typeface="Times New Roman" panose="02020503050405090304" pitchFamily="18" charset="0"/>
                <a:cs typeface="Times New Roman" panose="02020503050405090304" pitchFamily="18" charset="0"/>
              </a:rPr>
              <a:t>年，</a:t>
            </a:r>
            <a:r>
              <a:rPr lang="en-US" altLang="zh-CN" b="0" i="0">
                <a:effectLst/>
                <a:latin typeface="Times New Roman" panose="02020503050405090304" pitchFamily="18" charset="0"/>
                <a:cs typeface="Times New Roman" panose="02020503050405090304" pitchFamily="18" charset="0"/>
              </a:rPr>
              <a:t>David Chang</a:t>
            </a:r>
            <a:r>
              <a:rPr lang="zh-CN" altLang="en-US" b="0" i="0">
                <a:effectLst/>
                <a:latin typeface="Times New Roman" panose="02020503050405090304" pitchFamily="18" charset="0"/>
                <a:cs typeface="Times New Roman" panose="02020503050405090304" pitchFamily="18" charset="0"/>
              </a:rPr>
              <a:t>进一步提出了层次短语模型，同时基于语法树的翻译模型方面研究也取得了长足的进步；</a:t>
            </a:r>
            <a:endParaRPr lang="zh-CN" altLang="en-US" b="0" i="0">
              <a:effectLst/>
              <a:latin typeface="Times New Roman" panose="02020503050405090304" pitchFamily="18" charset="0"/>
              <a:cs typeface="Times New Roman" panose="02020503050405090304" pitchFamily="18" charset="0"/>
            </a:endParaRPr>
          </a:p>
        </p:txBody>
      </p:sp>
      <p:sp>
        <p:nvSpPr>
          <p:cNvPr id="3" name="日期占位符 2"/>
          <p:cNvSpPr>
            <a:spLocks noGrp="1"/>
          </p:cNvSpPr>
          <p:nvPr>
            <p:ph type="dt" sz="half" idx="10"/>
          </p:nvPr>
        </p:nvSpPr>
        <p:spPr/>
        <p:txBody>
          <a:bodyPr/>
          <a:lstStyle/>
          <a:p>
            <a:fld id="{A273F79A-B08D-43C8-8793-2D116F82098C}" type="datetime1">
              <a:rPr lang="zh-CN" altLang="en-US" smtClean="0"/>
            </a:fld>
            <a:endParaRPr lang="zh-CN" altLang="en-US"/>
          </a:p>
        </p:txBody>
      </p:sp>
      <p:sp>
        <p:nvSpPr>
          <p:cNvPr id="5" name="灯片编号占位符 4"/>
          <p:cNvSpPr>
            <a:spLocks noGrp="1"/>
          </p:cNvSpPr>
          <p:nvPr>
            <p:ph type="sldNum" sz="quarter" idx="12"/>
          </p:nvPr>
        </p:nvSpPr>
        <p:spPr/>
        <p:txBody>
          <a:bodyPr/>
          <a:lstStyle/>
          <a:p>
            <a:fld id="{82952373-7980-4DA7-9ADE-54D716DB38BB}" type="slidenum">
              <a:rPr lang="zh-CN" altLang="en-US" smtClean="0"/>
            </a:fld>
            <a:endParaRPr lang="zh-CN" altLang="en-US"/>
          </a:p>
        </p:txBody>
      </p:sp>
    </p:spTree>
  </p:cSld>
  <p:clrMapOvr>
    <a:masterClrMapping/>
  </p:clrMapOvr>
  <mc:AlternateContent xmlns:mc="http://schemas.openxmlformats.org/markup-compatibility/2006">
    <mc:Choice xmlns:p14="http://schemas.microsoft.com/office/powerpoint/2010/main" Requires="p14">
      <p:transition p14:dur="0"/>
    </mc:Choice>
    <mc:Fallback>
      <p:transition/>
    </mc:Fallback>
  </mc:AlternateContent>
</p:sld>
</file>

<file path=ppt/slides/slide8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sz="2400" b="1">
                <a:solidFill>
                  <a:srgbClr val="004C41"/>
                </a:solidFill>
                <a:ea typeface="宋体" pitchFamily="2" charset="-122"/>
                <a:cs typeface="+mn-ea"/>
                <a:sym typeface="+mn-lt"/>
              </a:rPr>
              <a:t>自然语言处理的发展历程</a:t>
            </a:r>
            <a:endParaRPr lang="zh-CN" altLang="en-US">
              <a:ea typeface="宋体" pitchFamily="2" charset="-122"/>
            </a:endParaRPr>
          </a:p>
        </p:txBody>
      </p:sp>
      <p:sp>
        <p:nvSpPr>
          <p:cNvPr id="4" name="文本框 3"/>
          <p:cNvSpPr txBox="1"/>
          <p:nvPr/>
        </p:nvSpPr>
        <p:spPr>
          <a:xfrm>
            <a:off x="643890" y="1055024"/>
            <a:ext cx="8098790" cy="2477345"/>
          </a:xfrm>
          <a:prstGeom prst="rect">
            <a:avLst/>
          </a:prstGeom>
          <a:noFill/>
        </p:spPr>
        <p:txBody>
          <a:bodyPr wrap="square">
            <a:spAutoFit/>
          </a:bodyPr>
          <a:lstStyle/>
          <a:p>
            <a:pPr algn="l">
              <a:lnSpc>
                <a:spcPct val="130000"/>
              </a:lnSpc>
            </a:pPr>
            <a:r>
              <a:rPr lang="zh-CN" altLang="en-US">
                <a:solidFill>
                  <a:srgbClr val="3333FF"/>
                </a:solidFill>
                <a:latin typeface="Times New Roman" panose="02020503050405090304" pitchFamily="18" charset="0"/>
                <a:cs typeface="Times New Roman" panose="02020503050405090304" pitchFamily="18" charset="0"/>
              </a:rPr>
              <a:t>繁荣阶段：</a:t>
            </a:r>
            <a:endParaRPr lang="zh-CN" altLang="en-US">
              <a:solidFill>
                <a:srgbClr val="3333FF"/>
              </a:solidFill>
              <a:latin typeface="Times New Roman" panose="02020503050405090304" pitchFamily="18" charset="0"/>
              <a:cs typeface="Times New Roman" panose="02020503050405090304" pitchFamily="18" charset="0"/>
            </a:endParaRPr>
          </a:p>
          <a:p>
            <a:pPr marL="285750" indent="-285750" algn="l">
              <a:lnSpc>
                <a:spcPct val="150000"/>
              </a:lnSpc>
              <a:buFont typeface="Wingdings" panose="05000000000000000000" pitchFamily="2" charset="2"/>
              <a:buChar char="ü"/>
            </a:pPr>
            <a:r>
              <a:rPr lang="en-US" altLang="zh-CN" b="0" i="0">
                <a:effectLst/>
                <a:latin typeface="Times New Roman" panose="02020503050405090304" pitchFamily="18" charset="0"/>
                <a:cs typeface="Times New Roman" panose="02020503050405090304" pitchFamily="18" charset="0"/>
              </a:rPr>
              <a:t>2013</a:t>
            </a:r>
            <a:r>
              <a:rPr lang="zh-CN" altLang="en-US" b="0" i="0">
                <a:effectLst/>
                <a:latin typeface="Times New Roman" panose="02020503050405090304" pitchFamily="18" charset="0"/>
                <a:cs typeface="Times New Roman" panose="02020503050405090304" pitchFamily="18" charset="0"/>
              </a:rPr>
              <a:t>年和</a:t>
            </a:r>
            <a:r>
              <a:rPr lang="en-US" altLang="zh-CN" b="0" i="0">
                <a:effectLst/>
                <a:latin typeface="Times New Roman" panose="02020503050405090304" pitchFamily="18" charset="0"/>
                <a:cs typeface="Times New Roman" panose="02020503050405090304" pitchFamily="18" charset="0"/>
              </a:rPr>
              <a:t>2014</a:t>
            </a:r>
            <a:r>
              <a:rPr lang="zh-CN" altLang="en-US" b="0" i="0">
                <a:effectLst/>
                <a:latin typeface="Times New Roman" panose="02020503050405090304" pitchFamily="18" charset="0"/>
                <a:cs typeface="Times New Roman" panose="02020503050405090304" pitchFamily="18" charset="0"/>
              </a:rPr>
              <a:t>年，牛津大学、谷歌、蒙特利尔大学研究人员提出端到端（</a:t>
            </a:r>
            <a:r>
              <a:rPr lang="en-US" altLang="zh-CN" b="0" i="0">
                <a:effectLst/>
                <a:latin typeface="Times New Roman" panose="02020503050405090304" pitchFamily="18" charset="0"/>
                <a:cs typeface="Times New Roman" panose="02020503050405090304" pitchFamily="18" charset="0"/>
              </a:rPr>
              <a:t>end-to-end</a:t>
            </a:r>
            <a:r>
              <a:rPr lang="zh-CN" altLang="en-US" b="0" i="0">
                <a:effectLst/>
                <a:latin typeface="Times New Roman" panose="02020503050405090304" pitchFamily="18" charset="0"/>
                <a:cs typeface="Times New Roman" panose="02020503050405090304" pitchFamily="18" charset="0"/>
              </a:rPr>
              <a:t>）的神经机器翻译，开创了深度学习翻译新时代；</a:t>
            </a:r>
            <a:endParaRPr lang="zh-CN" altLang="en-US" b="0" i="0">
              <a:effectLst/>
              <a:latin typeface="Times New Roman" panose="02020503050405090304" pitchFamily="18" charset="0"/>
              <a:cs typeface="Times New Roman" panose="02020503050405090304" pitchFamily="18" charset="0"/>
            </a:endParaRPr>
          </a:p>
          <a:p>
            <a:pPr marL="285750" indent="-285750" algn="l">
              <a:lnSpc>
                <a:spcPct val="150000"/>
              </a:lnSpc>
              <a:buFont typeface="Wingdings" panose="05000000000000000000" pitchFamily="2" charset="2"/>
              <a:buChar char="ü"/>
            </a:pPr>
            <a:r>
              <a:rPr lang="en-US" altLang="zh-CN" b="0" i="0">
                <a:effectLst/>
                <a:latin typeface="Times New Roman" panose="02020503050405090304" pitchFamily="18" charset="0"/>
                <a:cs typeface="Times New Roman" panose="02020503050405090304" pitchFamily="18" charset="0"/>
              </a:rPr>
              <a:t>2015</a:t>
            </a:r>
            <a:r>
              <a:rPr lang="zh-CN" altLang="en-US" b="0" i="0">
                <a:effectLst/>
                <a:latin typeface="Times New Roman" panose="02020503050405090304" pitchFamily="18" charset="0"/>
                <a:cs typeface="Times New Roman" panose="02020503050405090304" pitchFamily="18" charset="0"/>
              </a:rPr>
              <a:t>年，蒙特利尔大学引入</a:t>
            </a:r>
            <a:r>
              <a:rPr lang="en-US" altLang="zh-CN" b="0" i="0">
                <a:effectLst/>
                <a:latin typeface="Times New Roman" panose="02020503050405090304" pitchFamily="18" charset="0"/>
                <a:cs typeface="Times New Roman" panose="02020503050405090304" pitchFamily="18" charset="0"/>
              </a:rPr>
              <a:t>Attention</a:t>
            </a:r>
            <a:r>
              <a:rPr lang="zh-CN" altLang="en-US" b="0" i="0">
                <a:effectLst/>
                <a:latin typeface="Times New Roman" panose="02020503050405090304" pitchFamily="18" charset="0"/>
                <a:cs typeface="Times New Roman" panose="02020503050405090304" pitchFamily="18" charset="0"/>
              </a:rPr>
              <a:t>机制，神经机器翻译达到实用阶段；</a:t>
            </a:r>
            <a:endParaRPr lang="zh-CN" altLang="en-US" b="0" i="0">
              <a:effectLst/>
              <a:latin typeface="Times New Roman" panose="02020503050405090304" pitchFamily="18" charset="0"/>
              <a:cs typeface="Times New Roman" panose="02020503050405090304" pitchFamily="18" charset="0"/>
            </a:endParaRPr>
          </a:p>
          <a:p>
            <a:pPr marL="285750" indent="-285750" algn="l">
              <a:lnSpc>
                <a:spcPct val="150000"/>
              </a:lnSpc>
              <a:buFont typeface="Wingdings" panose="05000000000000000000" pitchFamily="2" charset="2"/>
              <a:buChar char="ü"/>
            </a:pPr>
            <a:r>
              <a:rPr lang="en-US" altLang="zh-CN" b="0" i="0">
                <a:effectLst/>
                <a:latin typeface="Times New Roman" panose="02020503050405090304" pitchFamily="18" charset="0"/>
                <a:cs typeface="Times New Roman" panose="02020503050405090304" pitchFamily="18" charset="0"/>
              </a:rPr>
              <a:t>2016</a:t>
            </a:r>
            <a:r>
              <a:rPr lang="zh-CN" altLang="en-US" b="0" i="0">
                <a:effectLst/>
                <a:latin typeface="Times New Roman" panose="02020503050405090304" pitchFamily="18" charset="0"/>
                <a:cs typeface="Times New Roman" panose="02020503050405090304" pitchFamily="18" charset="0"/>
              </a:rPr>
              <a:t>年，谷歌</a:t>
            </a:r>
            <a:r>
              <a:rPr lang="en-US" altLang="zh-CN" b="0" i="0">
                <a:effectLst/>
                <a:latin typeface="Times New Roman" panose="02020503050405090304" pitchFamily="18" charset="0"/>
                <a:cs typeface="Times New Roman" panose="02020503050405090304" pitchFamily="18" charset="0"/>
              </a:rPr>
              <a:t>GNMT(Google Neural Machine Translation)</a:t>
            </a:r>
            <a:r>
              <a:rPr lang="zh-CN" altLang="en-US" b="0" i="0">
                <a:effectLst/>
                <a:latin typeface="Times New Roman" panose="02020503050405090304" pitchFamily="18" charset="0"/>
                <a:cs typeface="Times New Roman" panose="02020503050405090304" pitchFamily="18" charset="0"/>
              </a:rPr>
              <a:t>发布，讯飞上线</a:t>
            </a:r>
            <a:r>
              <a:rPr lang="en-US" altLang="zh-CN" b="0" i="0">
                <a:effectLst/>
                <a:latin typeface="Times New Roman" panose="02020503050405090304" pitchFamily="18" charset="0"/>
                <a:cs typeface="Times New Roman" panose="02020503050405090304" pitchFamily="18" charset="0"/>
              </a:rPr>
              <a:t>NMT</a:t>
            </a:r>
            <a:r>
              <a:rPr lang="zh-CN" altLang="en-US" b="0" i="0">
                <a:effectLst/>
                <a:latin typeface="Times New Roman" panose="02020503050405090304" pitchFamily="18" charset="0"/>
                <a:cs typeface="Times New Roman" panose="02020503050405090304" pitchFamily="18" charset="0"/>
              </a:rPr>
              <a:t>系统，神经翻译开始大规模应用。</a:t>
            </a:r>
            <a:endParaRPr lang="zh-CN" altLang="en-US" b="0" i="0">
              <a:effectLst/>
              <a:latin typeface="Times New Roman" panose="02020503050405090304" pitchFamily="18" charset="0"/>
              <a:cs typeface="Times New Roman" panose="02020503050405090304" pitchFamily="18" charset="0"/>
            </a:endParaRPr>
          </a:p>
        </p:txBody>
      </p:sp>
      <p:sp>
        <p:nvSpPr>
          <p:cNvPr id="3" name="日期占位符 2"/>
          <p:cNvSpPr>
            <a:spLocks noGrp="1"/>
          </p:cNvSpPr>
          <p:nvPr>
            <p:ph type="dt" sz="half" idx="10"/>
          </p:nvPr>
        </p:nvSpPr>
        <p:spPr/>
        <p:txBody>
          <a:bodyPr/>
          <a:lstStyle/>
          <a:p>
            <a:fld id="{C1A57FEC-FF19-4264-AB64-31AAE54377E5}" type="datetime1">
              <a:rPr lang="zh-CN" altLang="en-US" smtClean="0"/>
            </a:fld>
            <a:endParaRPr lang="zh-CN" altLang="en-US"/>
          </a:p>
        </p:txBody>
      </p:sp>
      <p:sp>
        <p:nvSpPr>
          <p:cNvPr id="5" name="灯片编号占位符 4"/>
          <p:cNvSpPr>
            <a:spLocks noGrp="1"/>
          </p:cNvSpPr>
          <p:nvPr>
            <p:ph type="sldNum" sz="quarter" idx="12"/>
          </p:nvPr>
        </p:nvSpPr>
        <p:spPr/>
        <p:txBody>
          <a:bodyPr/>
          <a:lstStyle/>
          <a:p>
            <a:fld id="{82952373-7980-4DA7-9ADE-54D716DB38BB}" type="slidenum">
              <a:rPr lang="zh-CN" altLang="en-US" smtClean="0"/>
            </a:fld>
            <a:endParaRPr lang="zh-CN" altLang="en-US"/>
          </a:p>
        </p:txBody>
      </p:sp>
    </p:spTree>
  </p:cSld>
  <p:clrMapOvr>
    <a:masterClrMapping/>
  </p:clrMapOvr>
  <mc:AlternateContent xmlns:mc="http://schemas.openxmlformats.org/markup-compatibility/2006">
    <mc:Choice xmlns:p14="http://schemas.microsoft.com/office/powerpoint/2010/main" Requires="p14">
      <p:transition p14:dur="0"/>
    </mc:Choice>
    <mc:Fallback>
      <p:transition/>
    </mc:Fallback>
  </mc:AlternateContent>
</p:sld>
</file>

<file path=ppt/slides/slide8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sz="2400" b="1">
                <a:solidFill>
                  <a:srgbClr val="004C41"/>
                </a:solidFill>
                <a:ea typeface="宋体" pitchFamily="2" charset="-122"/>
                <a:cs typeface="+mn-ea"/>
                <a:sym typeface="+mn-lt"/>
              </a:rPr>
              <a:t>自然语言处理的发展历程</a:t>
            </a:r>
            <a:endParaRPr lang="zh-CN" altLang="en-US">
              <a:ea typeface="宋体" pitchFamily="2" charset="-122"/>
            </a:endParaRPr>
          </a:p>
        </p:txBody>
      </p:sp>
      <p:sp>
        <p:nvSpPr>
          <p:cNvPr id="4" name="文本框 3"/>
          <p:cNvSpPr txBox="1"/>
          <p:nvPr/>
        </p:nvSpPr>
        <p:spPr>
          <a:xfrm>
            <a:off x="486410" y="886142"/>
            <a:ext cx="8388350" cy="3779240"/>
          </a:xfrm>
          <a:prstGeom prst="rect">
            <a:avLst/>
          </a:prstGeom>
          <a:noFill/>
        </p:spPr>
        <p:txBody>
          <a:bodyPr wrap="square">
            <a:spAutoFit/>
          </a:bodyPr>
          <a:lstStyle/>
          <a:p>
            <a:pPr marL="285750" indent="-285750">
              <a:lnSpc>
                <a:spcPct val="150000"/>
              </a:lnSpc>
              <a:buClr>
                <a:srgbClr val="0070C0"/>
              </a:buClr>
              <a:buFont typeface="Wingdings" panose="05000000000000000000" pitchFamily="2" charset="2"/>
              <a:buChar char="n"/>
            </a:pPr>
            <a:r>
              <a:rPr lang="en-US" altLang="zh-CN" b="0">
                <a:latin typeface="Times New Roman" panose="02020503050405090304" pitchFamily="18" charset="0"/>
                <a:cs typeface="Times New Roman" panose="02020503050405090304" pitchFamily="18" charset="0"/>
              </a:rPr>
              <a:t>2017</a:t>
            </a:r>
            <a:r>
              <a:rPr lang="zh-CN" altLang="en-US" b="0">
                <a:latin typeface="Times New Roman" panose="02020503050405090304" pitchFamily="18" charset="0"/>
                <a:cs typeface="Times New Roman" panose="02020503050405090304" pitchFamily="18" charset="0"/>
              </a:rPr>
              <a:t>年提出了基于自注意力机制的</a:t>
            </a:r>
            <a:r>
              <a:rPr lang="en-US" altLang="zh-CN" b="0">
                <a:latin typeface="Times New Roman" panose="02020503050405090304" pitchFamily="18" charset="0"/>
                <a:cs typeface="Times New Roman" panose="02020503050405090304" pitchFamily="18" charset="0"/>
              </a:rPr>
              <a:t>Transformer</a:t>
            </a:r>
            <a:r>
              <a:rPr lang="zh-CN" altLang="en-US" b="0">
                <a:latin typeface="Times New Roman" panose="02020503050405090304" pitchFamily="18" charset="0"/>
                <a:cs typeface="Times New Roman" panose="02020503050405090304" pitchFamily="18" charset="0"/>
              </a:rPr>
              <a:t>模型架构</a:t>
            </a:r>
            <a:endParaRPr lang="en-US" altLang="zh-CN" b="0">
              <a:latin typeface="Times New Roman" panose="02020503050405090304" pitchFamily="18" charset="0"/>
              <a:cs typeface="Times New Roman" panose="02020503050405090304" pitchFamily="18" charset="0"/>
            </a:endParaRPr>
          </a:p>
          <a:p>
            <a:pPr marL="285750" indent="-285750">
              <a:lnSpc>
                <a:spcPct val="150000"/>
              </a:lnSpc>
              <a:buClr>
                <a:srgbClr val="0070C0"/>
              </a:buClr>
              <a:buFont typeface="Wingdings" panose="05000000000000000000" pitchFamily="2" charset="2"/>
              <a:buChar char="n"/>
            </a:pPr>
            <a:r>
              <a:rPr lang="en-US" altLang="zh-CN" b="0">
                <a:latin typeface="Times New Roman" panose="02020503050405090304" pitchFamily="18" charset="0"/>
                <a:cs typeface="Times New Roman" panose="02020503050405090304" pitchFamily="18" charset="0"/>
              </a:rPr>
              <a:t>2018</a:t>
            </a:r>
            <a:r>
              <a:rPr lang="zh-CN" altLang="en-US" b="0">
                <a:latin typeface="Times New Roman" panose="02020503050405090304" pitchFamily="18" charset="0"/>
                <a:cs typeface="Times New Roman" panose="02020503050405090304" pitchFamily="18" charset="0"/>
              </a:rPr>
              <a:t>年在</a:t>
            </a:r>
            <a:r>
              <a:rPr lang="en-US" altLang="zh-CN" b="0">
                <a:latin typeface="Times New Roman" panose="02020503050405090304" pitchFamily="18" charset="0"/>
                <a:cs typeface="Times New Roman" panose="02020503050405090304" pitchFamily="18" charset="0"/>
              </a:rPr>
              <a:t>Transformer</a:t>
            </a:r>
            <a:r>
              <a:rPr lang="zh-CN" altLang="en-US" b="0">
                <a:latin typeface="Times New Roman" panose="02020503050405090304" pitchFamily="18" charset="0"/>
                <a:cs typeface="Times New Roman" panose="02020503050405090304" pitchFamily="18" charset="0"/>
              </a:rPr>
              <a:t>模型的基础上推出了大规模预训练模型</a:t>
            </a:r>
            <a:r>
              <a:rPr lang="en-US" altLang="zh-CN" b="0">
                <a:latin typeface="Times New Roman" panose="02020503050405090304" pitchFamily="18" charset="0"/>
                <a:cs typeface="Times New Roman" panose="02020503050405090304" pitchFamily="18" charset="0"/>
              </a:rPr>
              <a:t>BERT</a:t>
            </a:r>
            <a:r>
              <a:rPr lang="zh-CN" altLang="en-US" b="0">
                <a:latin typeface="Times New Roman" panose="02020503050405090304" pitchFamily="18" charset="0"/>
                <a:cs typeface="Times New Roman" panose="02020503050405090304" pitchFamily="18" charset="0"/>
              </a:rPr>
              <a:t>，一举刷新了包括机器翻译在内的</a:t>
            </a:r>
            <a:r>
              <a:rPr lang="en-US" altLang="zh-CN" b="0">
                <a:latin typeface="Times New Roman" panose="02020503050405090304" pitchFamily="18" charset="0"/>
                <a:cs typeface="Times New Roman" panose="02020503050405090304" pitchFamily="18" charset="0"/>
              </a:rPr>
              <a:t>NLP</a:t>
            </a:r>
            <a:r>
              <a:rPr lang="zh-CN" altLang="en-US" b="0">
                <a:latin typeface="Times New Roman" panose="02020503050405090304" pitchFamily="18" charset="0"/>
                <a:cs typeface="Times New Roman" panose="02020503050405090304" pitchFamily="18" charset="0"/>
              </a:rPr>
              <a:t>领域的多项记录。</a:t>
            </a:r>
            <a:endParaRPr lang="en-US" altLang="zh-CN" b="0">
              <a:latin typeface="Times New Roman" panose="02020503050405090304" pitchFamily="18" charset="0"/>
              <a:cs typeface="Times New Roman" panose="02020503050405090304" pitchFamily="18" charset="0"/>
            </a:endParaRPr>
          </a:p>
          <a:p>
            <a:pPr marL="285750" indent="-285750">
              <a:lnSpc>
                <a:spcPct val="150000"/>
              </a:lnSpc>
              <a:buClr>
                <a:srgbClr val="0070C0"/>
              </a:buClr>
              <a:buFont typeface="Wingdings" panose="05000000000000000000" pitchFamily="2" charset="2"/>
              <a:buChar char="n"/>
            </a:pPr>
            <a:r>
              <a:rPr lang="en-US" altLang="zh-CN" b="0">
                <a:latin typeface="Times New Roman" panose="02020503050405090304" pitchFamily="18" charset="0"/>
                <a:cs typeface="Times New Roman" panose="02020503050405090304" pitchFamily="18" charset="0"/>
              </a:rPr>
              <a:t>2019</a:t>
            </a:r>
            <a:r>
              <a:rPr lang="zh-CN" altLang="en-US" b="0">
                <a:latin typeface="Times New Roman" panose="02020503050405090304" pitchFamily="18" charset="0"/>
                <a:cs typeface="Times New Roman" panose="02020503050405090304" pitchFamily="18" charset="0"/>
              </a:rPr>
              <a:t>年</a:t>
            </a:r>
            <a:r>
              <a:rPr lang="en-US" altLang="zh-CN" b="0">
                <a:latin typeface="Times New Roman" panose="02020503050405090304" pitchFamily="18" charset="0"/>
                <a:cs typeface="Times New Roman" panose="02020503050405090304" pitchFamily="18" charset="0"/>
              </a:rPr>
              <a:t>2</a:t>
            </a:r>
            <a:r>
              <a:rPr lang="zh-CN" altLang="en-US" b="0">
                <a:latin typeface="Times New Roman" panose="02020503050405090304" pitchFamily="18" charset="0"/>
                <a:cs typeface="Times New Roman" panose="02020503050405090304" pitchFamily="18" charset="0"/>
              </a:rPr>
              <a:t>月，</a:t>
            </a:r>
            <a:r>
              <a:rPr lang="en-US" altLang="zh-CN" b="0">
                <a:latin typeface="Times New Roman" panose="02020503050405090304" pitchFamily="18" charset="0"/>
                <a:cs typeface="Times New Roman" panose="02020503050405090304" pitchFamily="18" charset="0"/>
              </a:rPr>
              <a:t>OpenAI</a:t>
            </a:r>
            <a:r>
              <a:rPr lang="zh-CN" altLang="en-US" b="0">
                <a:latin typeface="Times New Roman" panose="02020503050405090304" pitchFamily="18" charset="0"/>
                <a:cs typeface="Times New Roman" panose="02020503050405090304" pitchFamily="18" charset="0"/>
              </a:rPr>
              <a:t>公司推出了大规模预训练语言生成模型</a:t>
            </a:r>
            <a:r>
              <a:rPr lang="en-US" altLang="zh-CN" b="0">
                <a:latin typeface="Times New Roman" panose="02020503050405090304" pitchFamily="18" charset="0"/>
                <a:cs typeface="Times New Roman" panose="02020503050405090304" pitchFamily="18" charset="0"/>
              </a:rPr>
              <a:t>GPT-2</a:t>
            </a:r>
            <a:r>
              <a:rPr lang="zh-CN" altLang="en-US" b="0">
                <a:latin typeface="Times New Roman" panose="02020503050405090304" pitchFamily="18" charset="0"/>
                <a:cs typeface="Times New Roman" panose="02020503050405090304" pitchFamily="18" charset="0"/>
              </a:rPr>
              <a:t>。</a:t>
            </a:r>
            <a:r>
              <a:rPr lang="en-US" altLang="zh-CN" b="0">
                <a:latin typeface="Times New Roman" panose="02020503050405090304" pitchFamily="18" charset="0"/>
                <a:cs typeface="Times New Roman" panose="02020503050405090304" pitchFamily="18" charset="0"/>
              </a:rPr>
              <a:t>GPT-2</a:t>
            </a:r>
            <a:r>
              <a:rPr lang="zh-CN" altLang="en-US" b="0">
                <a:latin typeface="Times New Roman" panose="02020503050405090304" pitchFamily="18" charset="0"/>
                <a:cs typeface="Times New Roman" panose="02020503050405090304" pitchFamily="18" charset="0"/>
              </a:rPr>
              <a:t>作为一个文本生成器，只要在开始输入只言片语，这个程序就会根据自己的判断，决定接下来应该如何写作，例如撰写小说、新闻、诗歌等，而且写出的作品能够达到非常高的水平，使人无法分辨到底是否是真人所写。</a:t>
            </a:r>
            <a:endParaRPr lang="en-US" altLang="zh-CN" b="0">
              <a:latin typeface="Times New Roman" panose="02020503050405090304" pitchFamily="18" charset="0"/>
              <a:cs typeface="Times New Roman" panose="02020503050405090304" pitchFamily="18" charset="0"/>
            </a:endParaRPr>
          </a:p>
          <a:p>
            <a:pPr marL="285750" indent="-285750">
              <a:lnSpc>
                <a:spcPct val="150000"/>
              </a:lnSpc>
              <a:buClr>
                <a:srgbClr val="0070C0"/>
              </a:buClr>
              <a:buFont typeface="Wingdings" panose="05000000000000000000" pitchFamily="2" charset="2"/>
              <a:buChar char="n"/>
            </a:pPr>
            <a:r>
              <a:rPr lang="en-US" altLang="zh-CN" b="0">
                <a:latin typeface="Times New Roman" panose="02020503050405090304" pitchFamily="18" charset="0"/>
                <a:cs typeface="Times New Roman" panose="02020503050405090304" pitchFamily="18" charset="0"/>
              </a:rPr>
              <a:t>2020</a:t>
            </a:r>
            <a:r>
              <a:rPr lang="zh-CN" altLang="en-US" b="0">
                <a:latin typeface="Times New Roman" panose="02020503050405090304" pitchFamily="18" charset="0"/>
                <a:cs typeface="Times New Roman" panose="02020503050405090304" pitchFamily="18" charset="0"/>
              </a:rPr>
              <a:t>年</a:t>
            </a:r>
            <a:r>
              <a:rPr lang="en-US" altLang="zh-CN" b="0">
                <a:latin typeface="Times New Roman" panose="02020503050405090304" pitchFamily="18" charset="0"/>
                <a:cs typeface="Times New Roman" panose="02020503050405090304" pitchFamily="18" charset="0"/>
              </a:rPr>
              <a:t>OpenAI</a:t>
            </a:r>
            <a:r>
              <a:rPr lang="zh-CN" altLang="en-US" b="0">
                <a:latin typeface="Times New Roman" panose="02020503050405090304" pitchFamily="18" charset="0"/>
                <a:cs typeface="Times New Roman" panose="02020503050405090304" pitchFamily="18" charset="0"/>
              </a:rPr>
              <a:t>公司又发布了功能更加强大的</a:t>
            </a:r>
            <a:r>
              <a:rPr lang="en-US" altLang="zh-CN" b="0">
                <a:latin typeface="Times New Roman" panose="02020503050405090304" pitchFamily="18" charset="0"/>
                <a:cs typeface="Times New Roman" panose="02020503050405090304" pitchFamily="18" charset="0"/>
              </a:rPr>
              <a:t>GPT-3</a:t>
            </a:r>
            <a:r>
              <a:rPr lang="zh-CN" altLang="en-US" b="0">
                <a:latin typeface="Times New Roman" panose="02020503050405090304" pitchFamily="18" charset="0"/>
                <a:cs typeface="Times New Roman" panose="02020503050405090304" pitchFamily="18" charset="0"/>
              </a:rPr>
              <a:t>，其模型参数达到</a:t>
            </a:r>
            <a:r>
              <a:rPr lang="en-US" altLang="zh-CN" b="0">
                <a:latin typeface="Times New Roman" panose="02020503050405090304" pitchFamily="18" charset="0"/>
                <a:cs typeface="Times New Roman" panose="02020503050405090304" pitchFamily="18" charset="0"/>
              </a:rPr>
              <a:t>1750</a:t>
            </a:r>
            <a:r>
              <a:rPr lang="zh-CN" altLang="en-US" b="0">
                <a:latin typeface="Times New Roman" panose="02020503050405090304" pitchFamily="18" charset="0"/>
                <a:cs typeface="Times New Roman" panose="02020503050405090304" pitchFamily="18" charset="0"/>
              </a:rPr>
              <a:t>亿个，是</a:t>
            </a:r>
            <a:r>
              <a:rPr lang="en-US" altLang="zh-CN" b="0">
                <a:latin typeface="Times New Roman" panose="02020503050405090304" pitchFamily="18" charset="0"/>
                <a:cs typeface="Times New Roman" panose="02020503050405090304" pitchFamily="18" charset="0"/>
              </a:rPr>
              <a:t>GPT-2</a:t>
            </a:r>
            <a:r>
              <a:rPr lang="zh-CN" altLang="en-US" b="0">
                <a:latin typeface="Times New Roman" panose="02020503050405090304" pitchFamily="18" charset="0"/>
                <a:cs typeface="Times New Roman" panose="02020503050405090304" pitchFamily="18" charset="0"/>
              </a:rPr>
              <a:t>的</a:t>
            </a:r>
            <a:r>
              <a:rPr lang="en-US" altLang="zh-CN" b="0">
                <a:latin typeface="Times New Roman" panose="02020503050405090304" pitchFamily="18" charset="0"/>
                <a:cs typeface="Times New Roman" panose="02020503050405090304" pitchFamily="18" charset="0"/>
              </a:rPr>
              <a:t>100</a:t>
            </a:r>
            <a:r>
              <a:rPr lang="zh-CN" altLang="en-US" b="0">
                <a:latin typeface="Times New Roman" panose="02020503050405090304" pitchFamily="18" charset="0"/>
                <a:cs typeface="Times New Roman" panose="02020503050405090304" pitchFamily="18" charset="0"/>
              </a:rPr>
              <a:t>倍</a:t>
            </a:r>
            <a:endParaRPr lang="zh-CN" altLang="en-US" b="0">
              <a:latin typeface="Times New Roman" panose="02020503050405090304" pitchFamily="18" charset="0"/>
              <a:cs typeface="Times New Roman" panose="02020503050405090304" pitchFamily="18" charset="0"/>
            </a:endParaRPr>
          </a:p>
        </p:txBody>
      </p:sp>
      <p:sp>
        <p:nvSpPr>
          <p:cNvPr id="3" name="日期占位符 2"/>
          <p:cNvSpPr>
            <a:spLocks noGrp="1"/>
          </p:cNvSpPr>
          <p:nvPr>
            <p:ph type="dt" sz="half" idx="10"/>
          </p:nvPr>
        </p:nvSpPr>
        <p:spPr/>
        <p:txBody>
          <a:bodyPr/>
          <a:lstStyle/>
          <a:p>
            <a:fld id="{A621E70B-ABFB-47A0-B303-597BDC653403}" type="datetime1">
              <a:rPr lang="zh-CN" altLang="en-US" smtClean="0"/>
            </a:fld>
            <a:endParaRPr lang="zh-CN" altLang="en-US"/>
          </a:p>
        </p:txBody>
      </p:sp>
      <p:sp>
        <p:nvSpPr>
          <p:cNvPr id="5" name="灯片编号占位符 4"/>
          <p:cNvSpPr>
            <a:spLocks noGrp="1"/>
          </p:cNvSpPr>
          <p:nvPr>
            <p:ph type="sldNum" sz="quarter" idx="12"/>
          </p:nvPr>
        </p:nvSpPr>
        <p:spPr/>
        <p:txBody>
          <a:bodyPr/>
          <a:lstStyle/>
          <a:p>
            <a:fld id="{82952373-7980-4DA7-9ADE-54D716DB38BB}" type="slidenum">
              <a:rPr lang="zh-CN" altLang="en-US" smtClean="0"/>
            </a:fld>
            <a:endParaRPr lang="zh-CN" altLang="en-US"/>
          </a:p>
        </p:txBody>
      </p:sp>
    </p:spTree>
  </p:cSld>
  <p:clrMapOvr>
    <a:masterClrMapping/>
  </p:clrMapOvr>
  <mc:AlternateContent xmlns:mc="http://schemas.openxmlformats.org/markup-compatibility/2006">
    <mc:Choice xmlns:p14="http://schemas.microsoft.com/office/powerpoint/2010/main" Requires="p14">
      <p:transition p14:dur="0"/>
    </mc:Choice>
    <mc:Fallback>
      <p:transition/>
    </mc:Fallback>
  </mc:AlternateContent>
</p:sld>
</file>

<file path=ppt/slides/slide8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sz="2400" b="1">
                <a:solidFill>
                  <a:srgbClr val="004C41"/>
                </a:solidFill>
                <a:ea typeface="宋体" pitchFamily="2" charset="-122"/>
                <a:cs typeface="+mn-ea"/>
                <a:sym typeface="+mn-lt"/>
              </a:rPr>
              <a:t>自然语言处理的发展历程</a:t>
            </a:r>
            <a:endParaRPr lang="zh-CN" altLang="en-US">
              <a:ea typeface="宋体" pitchFamily="2" charset="-122"/>
            </a:endParaRPr>
          </a:p>
        </p:txBody>
      </p:sp>
      <p:sp>
        <p:nvSpPr>
          <p:cNvPr id="4" name="文本框 3"/>
          <p:cNvSpPr txBox="1"/>
          <p:nvPr/>
        </p:nvSpPr>
        <p:spPr>
          <a:xfrm>
            <a:off x="486410" y="726122"/>
            <a:ext cx="8388350" cy="4661535"/>
          </a:xfrm>
          <a:prstGeom prst="rect">
            <a:avLst/>
          </a:prstGeom>
          <a:noFill/>
        </p:spPr>
        <p:txBody>
          <a:bodyPr wrap="square">
            <a:spAutoFit/>
          </a:bodyPr>
          <a:lstStyle/>
          <a:p>
            <a:pPr marL="285750" indent="-285750" eaLnBrk="1" latinLnBrk="0" hangingPunct="1">
              <a:lnSpc>
                <a:spcPct val="125000"/>
              </a:lnSpc>
              <a:buClr>
                <a:srgbClr val="0070C0"/>
              </a:buClr>
              <a:buFont typeface="Wingdings" panose="05000000000000000000" pitchFamily="2" charset="2"/>
              <a:buChar char="n"/>
            </a:pPr>
            <a:r>
              <a:rPr lang="en-US" altLang="zh-CN" sz="1800" b="0">
                <a:latin typeface="Times New Roman" panose="02020503050405090304" pitchFamily="18" charset="0"/>
                <a:cs typeface="Times New Roman" panose="02020503050405090304" pitchFamily="18" charset="0"/>
              </a:rPr>
              <a:t>2022</a:t>
            </a:r>
            <a:r>
              <a:rPr lang="zh-CN" altLang="en-US" sz="1800" b="0">
                <a:latin typeface="Times New Roman" panose="02020503050405090304" pitchFamily="18" charset="0"/>
                <a:cs typeface="Times New Roman" panose="02020503050405090304" pitchFamily="18" charset="0"/>
              </a:rPr>
              <a:t>年，</a:t>
            </a:r>
            <a:r>
              <a:rPr lang="en-US" altLang="zh-CN" sz="1800" b="0">
                <a:latin typeface="Times New Roman" panose="02020503050405090304" pitchFamily="18" charset="0"/>
                <a:cs typeface="Times New Roman" panose="02020503050405090304" pitchFamily="18" charset="0"/>
              </a:rPr>
              <a:t>OpenAI</a:t>
            </a:r>
            <a:r>
              <a:rPr lang="zh-CN" altLang="en-US" sz="1800" b="0">
                <a:latin typeface="Times New Roman" panose="02020503050405090304" pitchFamily="18" charset="0"/>
                <a:cs typeface="Times New Roman" panose="02020503050405090304" pitchFamily="18" charset="0"/>
              </a:rPr>
              <a:t>推出面向消费者的</a:t>
            </a:r>
            <a:r>
              <a:rPr lang="en-US" altLang="zh-CN" sz="1800" b="0">
                <a:latin typeface="Times New Roman" panose="02020503050405090304" pitchFamily="18" charset="0"/>
                <a:cs typeface="Times New Roman" panose="02020503050405090304" pitchFamily="18" charset="0"/>
              </a:rPr>
              <a:t>ChatGPT</a:t>
            </a:r>
            <a:r>
              <a:rPr lang="zh-CN" altLang="en-US" sz="1800" b="0">
                <a:latin typeface="Times New Roman" panose="02020503050405090304" pitchFamily="18" charset="0"/>
                <a:cs typeface="Times New Roman" panose="02020503050405090304" pitchFamily="18" charset="0"/>
              </a:rPr>
              <a:t>，引发公众和媒体热议。</a:t>
            </a:r>
            <a:r>
              <a:rPr lang="en-US" altLang="zh-CN" sz="1800" b="0">
                <a:latin typeface="Times New Roman" panose="02020503050405090304" pitchFamily="18" charset="0"/>
                <a:cs typeface="Times New Roman" panose="02020503050405090304" pitchFamily="18" charset="0"/>
              </a:rPr>
              <a:t>2023</a:t>
            </a:r>
            <a:r>
              <a:rPr lang="zh-CN" altLang="en-US" sz="1800" b="0">
                <a:latin typeface="Times New Roman" panose="02020503050405090304" pitchFamily="18" charset="0"/>
                <a:cs typeface="Times New Roman" panose="02020503050405090304" pitchFamily="18" charset="0"/>
              </a:rPr>
              <a:t>年，</a:t>
            </a:r>
            <a:r>
              <a:rPr lang="en-US" altLang="zh-CN" sz="1800" b="0">
                <a:latin typeface="Times New Roman" panose="02020503050405090304" pitchFamily="18" charset="0"/>
                <a:cs typeface="Times New Roman" panose="02020503050405090304" pitchFamily="18" charset="0"/>
              </a:rPr>
              <a:t>GPT-4</a:t>
            </a:r>
            <a:r>
              <a:rPr lang="zh-CN" altLang="en-US" sz="1800" b="0">
                <a:latin typeface="Times New Roman" panose="02020503050405090304" pitchFamily="18" charset="0"/>
                <a:cs typeface="Times New Roman" panose="02020503050405090304" pitchFamily="18" charset="0"/>
              </a:rPr>
              <a:t>问世，并因其优秀的性能和多模态能力受到学界、业界和社会的高度关注。</a:t>
            </a:r>
            <a:r>
              <a:rPr lang="en-US" altLang="zh-CN" sz="1800" b="0">
                <a:latin typeface="Times New Roman" panose="02020503050405090304" pitchFamily="18" charset="0"/>
                <a:cs typeface="Times New Roman" panose="02020503050405090304" pitchFamily="18" charset="0"/>
              </a:rPr>
              <a:t>2024</a:t>
            </a:r>
            <a:r>
              <a:rPr lang="zh-CN" altLang="en-US" sz="1800" b="0">
                <a:latin typeface="Times New Roman" panose="02020503050405090304" pitchFamily="18" charset="0"/>
                <a:cs typeface="Times New Roman" panose="02020503050405090304" pitchFamily="18" charset="0"/>
              </a:rPr>
              <a:t>年，</a:t>
            </a:r>
            <a:r>
              <a:rPr lang="en-US" altLang="zh-CN" sz="1800" b="0">
                <a:latin typeface="Times New Roman" panose="02020503050405090304" pitchFamily="18" charset="0"/>
                <a:cs typeface="Times New Roman" panose="02020503050405090304" pitchFamily="18" charset="0"/>
              </a:rPr>
              <a:t>OpenAI</a:t>
            </a:r>
            <a:r>
              <a:rPr lang="zh-CN" altLang="en-US" sz="1800" b="0">
                <a:latin typeface="Times New Roman" panose="02020503050405090304" pitchFamily="18" charset="0"/>
                <a:cs typeface="Times New Roman" panose="02020503050405090304" pitchFamily="18" charset="0"/>
              </a:rPr>
              <a:t>发布了推理模型</a:t>
            </a:r>
            <a:r>
              <a:rPr lang="en-US" altLang="zh-CN" sz="1800" b="0">
                <a:latin typeface="Times New Roman" panose="02020503050405090304" pitchFamily="18" charset="0"/>
                <a:cs typeface="Times New Roman" panose="02020503050405090304" pitchFamily="18" charset="0"/>
              </a:rPr>
              <a:t>GPT-o1</a:t>
            </a:r>
            <a:r>
              <a:rPr lang="zh-CN" altLang="en-US" sz="1800" b="0">
                <a:latin typeface="Times New Roman" panose="02020503050405090304" pitchFamily="18" charset="0"/>
                <a:cs typeface="Times New Roman" panose="02020503050405090304" pitchFamily="18" charset="0"/>
              </a:rPr>
              <a:t>，它会在回应指令前生成一长串的思维链，这项思维链技术极大地增强了推理能力。</a:t>
            </a:r>
            <a:endParaRPr lang="zh-CN" altLang="en-US" sz="1800" b="0">
              <a:latin typeface="Times New Roman" panose="02020503050405090304" pitchFamily="18" charset="0"/>
              <a:cs typeface="Times New Roman" panose="02020503050405090304" pitchFamily="18" charset="0"/>
            </a:endParaRPr>
          </a:p>
          <a:p>
            <a:pPr marL="285750" indent="-285750" eaLnBrk="1" latinLnBrk="0" hangingPunct="1">
              <a:lnSpc>
                <a:spcPct val="125000"/>
              </a:lnSpc>
              <a:buClr>
                <a:srgbClr val="0070C0"/>
              </a:buClr>
              <a:buFont typeface="Wingdings" panose="05000000000000000000" pitchFamily="2" charset="2"/>
              <a:buChar char="n"/>
            </a:pPr>
            <a:r>
              <a:rPr lang="en-US" altLang="zh-CN" sz="1800" b="0">
                <a:latin typeface="Times New Roman" panose="02020503050405090304" pitchFamily="18" charset="0"/>
                <a:cs typeface="Times New Roman" panose="02020503050405090304" pitchFamily="18" charset="0"/>
              </a:rPr>
              <a:t>2025</a:t>
            </a:r>
            <a:r>
              <a:rPr lang="zh-CN" altLang="en-US" sz="1800" b="0">
                <a:latin typeface="Times New Roman" panose="02020503050405090304" pitchFamily="18" charset="0"/>
                <a:cs typeface="Times New Roman" panose="02020503050405090304" pitchFamily="18" charset="0"/>
              </a:rPr>
              <a:t>年</a:t>
            </a:r>
            <a:r>
              <a:rPr lang="en-US" altLang="zh-CN" sz="1800" b="0">
                <a:latin typeface="Times New Roman" panose="02020503050405090304" pitchFamily="18" charset="0"/>
                <a:cs typeface="Times New Roman" panose="02020503050405090304" pitchFamily="18" charset="0"/>
              </a:rPr>
              <a:t>1</a:t>
            </a:r>
            <a:r>
              <a:rPr lang="zh-CN" altLang="en-US" sz="1800" b="0">
                <a:latin typeface="Times New Roman" panose="02020503050405090304" pitchFamily="18" charset="0"/>
                <a:cs typeface="Times New Roman" panose="02020503050405090304" pitchFamily="18" charset="0"/>
              </a:rPr>
              <a:t>月，</a:t>
            </a:r>
            <a:r>
              <a:rPr lang="en-US" altLang="zh-CN" sz="1800" b="0">
                <a:latin typeface="Times New Roman" panose="02020503050405090304" pitchFamily="18" charset="0"/>
                <a:cs typeface="Times New Roman" panose="02020503050405090304" pitchFamily="18" charset="0"/>
              </a:rPr>
              <a:t>DeepSeek</a:t>
            </a:r>
            <a:r>
              <a:rPr lang="zh-CN" altLang="en-US" sz="1800" b="0">
                <a:latin typeface="Times New Roman" panose="02020503050405090304" pitchFamily="18" charset="0"/>
                <a:cs typeface="Times New Roman" panose="02020503050405090304" pitchFamily="18" charset="0"/>
              </a:rPr>
              <a:t>发布</a:t>
            </a:r>
            <a:r>
              <a:rPr lang="en-US" altLang="zh-CN" sz="1800" b="0">
                <a:latin typeface="Times New Roman" panose="02020503050405090304" pitchFamily="18" charset="0"/>
                <a:cs typeface="Times New Roman" panose="02020503050405090304" pitchFamily="18" charset="0"/>
              </a:rPr>
              <a:t>671</a:t>
            </a:r>
            <a:r>
              <a:rPr lang="zh-CN" altLang="en-US" sz="1800" b="0">
                <a:latin typeface="Times New Roman" panose="02020503050405090304" pitchFamily="18" charset="0"/>
                <a:cs typeface="Times New Roman" panose="02020503050405090304" pitchFamily="18" charset="0"/>
              </a:rPr>
              <a:t>亿参数的开源模型</a:t>
            </a:r>
            <a:r>
              <a:rPr lang="en-US" altLang="zh-CN" sz="1800" b="0">
                <a:latin typeface="Times New Roman" panose="02020503050405090304" pitchFamily="18" charset="0"/>
                <a:cs typeface="Times New Roman" panose="02020503050405090304" pitchFamily="18" charset="0"/>
              </a:rPr>
              <a:t>DeepSeek R1 </a:t>
            </a:r>
            <a:r>
              <a:rPr lang="zh-CN" altLang="en-US" sz="1800" b="0">
                <a:latin typeface="Times New Roman" panose="02020503050405090304" pitchFamily="18" charset="0"/>
                <a:cs typeface="Times New Roman" panose="02020503050405090304" pitchFamily="18" charset="0"/>
              </a:rPr>
              <a:t>。</a:t>
            </a:r>
            <a:r>
              <a:rPr lang="en-US" altLang="zh-CN" sz="1800" b="0">
                <a:latin typeface="Times New Roman" panose="02020503050405090304" pitchFamily="18" charset="0"/>
                <a:cs typeface="Times New Roman" panose="02020503050405090304" pitchFamily="18" charset="0"/>
              </a:rPr>
              <a:t>DeepSeek R1</a:t>
            </a:r>
            <a:r>
              <a:rPr lang="zh-CN" altLang="en-US" sz="1800" b="0">
                <a:latin typeface="Times New Roman" panose="02020503050405090304" pitchFamily="18" charset="0"/>
                <a:cs typeface="Times New Roman" panose="02020503050405090304" pitchFamily="18" charset="0"/>
              </a:rPr>
              <a:t>的性能与</a:t>
            </a:r>
            <a:r>
              <a:rPr lang="en-US" altLang="zh-CN" sz="1800" b="0">
                <a:latin typeface="Times New Roman" panose="02020503050405090304" pitchFamily="18" charset="0"/>
                <a:cs typeface="Times New Roman" panose="02020503050405090304" pitchFamily="18" charset="0"/>
              </a:rPr>
              <a:t>OpenAI </a:t>
            </a:r>
            <a:r>
              <a:rPr lang="zh-CN" altLang="en-US" sz="1800" b="0">
                <a:latin typeface="Times New Roman" panose="02020503050405090304" pitchFamily="18" charset="0"/>
                <a:cs typeface="Times New Roman" panose="02020503050405090304" pitchFamily="18" charset="0"/>
              </a:rPr>
              <a:t>的</a:t>
            </a:r>
            <a:r>
              <a:rPr lang="en-US" altLang="zh-CN" sz="1800" b="0">
                <a:latin typeface="Times New Roman" panose="02020503050405090304" pitchFamily="18" charset="0"/>
                <a:cs typeface="Times New Roman" panose="02020503050405090304" pitchFamily="18" charset="0"/>
              </a:rPr>
              <a:t>GPT-o1</a:t>
            </a:r>
            <a:r>
              <a:rPr lang="zh-CN" altLang="en-US" sz="1800" b="0">
                <a:latin typeface="Times New Roman" panose="02020503050405090304" pitchFamily="18" charset="0"/>
                <a:cs typeface="Times New Roman" panose="02020503050405090304" pitchFamily="18" charset="0"/>
              </a:rPr>
              <a:t>相当，但成本远远低于闭源的</a:t>
            </a:r>
            <a:r>
              <a:rPr lang="en-US" altLang="zh-CN" sz="1800" b="0">
                <a:latin typeface="Times New Roman" panose="02020503050405090304" pitchFamily="18" charset="0"/>
                <a:cs typeface="Times New Roman" panose="02020503050405090304" pitchFamily="18" charset="0"/>
              </a:rPr>
              <a:t>o1</a:t>
            </a:r>
            <a:r>
              <a:rPr lang="zh-CN" altLang="en-US" sz="1800" b="0">
                <a:latin typeface="Times New Roman" panose="02020503050405090304" pitchFamily="18" charset="0"/>
                <a:cs typeface="Times New Roman" panose="02020503050405090304" pitchFamily="18" charset="0"/>
              </a:rPr>
              <a:t>模型，震撼了全球科技界。</a:t>
            </a:r>
            <a:endParaRPr lang="zh-CN" altLang="en-US" sz="1800" b="0">
              <a:latin typeface="Times New Roman" panose="02020503050405090304" pitchFamily="18" charset="0"/>
              <a:cs typeface="Times New Roman" panose="02020503050405090304" pitchFamily="18" charset="0"/>
            </a:endParaRPr>
          </a:p>
          <a:p>
            <a:pPr marL="285750" indent="-285750" eaLnBrk="1" latinLnBrk="0" hangingPunct="1">
              <a:lnSpc>
                <a:spcPct val="125000"/>
              </a:lnSpc>
              <a:buClr>
                <a:srgbClr val="0070C0"/>
              </a:buClr>
              <a:buFont typeface="Wingdings" panose="05000000000000000000" pitchFamily="2" charset="2"/>
              <a:buChar char="n"/>
            </a:pPr>
            <a:r>
              <a:rPr lang="zh-CN" altLang="en-US" sz="1800" b="0">
                <a:latin typeface="Times New Roman" panose="02020503050405090304" pitchFamily="18" charset="0"/>
                <a:cs typeface="Times New Roman" panose="02020503050405090304" pitchFamily="18" charset="0"/>
              </a:rPr>
              <a:t>自</a:t>
            </a:r>
            <a:r>
              <a:rPr lang="en-US" altLang="zh-CN" sz="1800" b="0">
                <a:latin typeface="Times New Roman" panose="02020503050405090304" pitchFamily="18" charset="0"/>
                <a:cs typeface="Times New Roman" panose="02020503050405090304" pitchFamily="18" charset="0"/>
              </a:rPr>
              <a:t>2020</a:t>
            </a:r>
            <a:r>
              <a:rPr lang="zh-CN" altLang="en-US" sz="1800" b="0">
                <a:latin typeface="Times New Roman" panose="02020503050405090304" pitchFamily="18" charset="0"/>
                <a:cs typeface="Times New Roman" panose="02020503050405090304" pitchFamily="18" charset="0"/>
              </a:rPr>
              <a:t>年以来，大模型同时开始拓展至其他模态。</a:t>
            </a:r>
            <a:r>
              <a:rPr lang="en-US" altLang="zh-CN" sz="1800" b="0">
                <a:latin typeface="Times New Roman" panose="02020503050405090304" pitchFamily="18" charset="0"/>
                <a:cs typeface="Times New Roman" panose="02020503050405090304" pitchFamily="18" charset="0"/>
              </a:rPr>
              <a:t>2020</a:t>
            </a:r>
            <a:r>
              <a:rPr lang="zh-CN" altLang="en-US" sz="1800" b="0">
                <a:latin typeface="Times New Roman" panose="02020503050405090304" pitchFamily="18" charset="0"/>
                <a:cs typeface="Times New Roman" panose="02020503050405090304" pitchFamily="18" charset="0"/>
              </a:rPr>
              <a:t>年，谷歌公司提出</a:t>
            </a:r>
            <a:r>
              <a:rPr lang="en-US" altLang="zh-CN" sz="1800" b="0">
                <a:latin typeface="Times New Roman" panose="02020503050405090304" pitchFamily="18" charset="0"/>
                <a:cs typeface="Times New Roman" panose="02020503050405090304" pitchFamily="18" charset="0"/>
              </a:rPr>
              <a:t>Vision Transformer</a:t>
            </a:r>
            <a:r>
              <a:rPr lang="zh-CN" altLang="en-US" sz="1800" b="0">
                <a:latin typeface="Times New Roman" panose="02020503050405090304" pitchFamily="18" charset="0"/>
                <a:cs typeface="Times New Roman" panose="02020503050405090304" pitchFamily="18" charset="0"/>
              </a:rPr>
              <a:t>（</a:t>
            </a:r>
            <a:r>
              <a:rPr lang="en-US" altLang="zh-CN" sz="1800" b="0">
                <a:latin typeface="Times New Roman" panose="02020503050405090304" pitchFamily="18" charset="0"/>
                <a:cs typeface="Times New Roman" panose="02020503050405090304" pitchFamily="18" charset="0"/>
              </a:rPr>
              <a:t>ViT</a:t>
            </a:r>
            <a:r>
              <a:rPr lang="zh-CN" altLang="en-US" sz="1800" b="0">
                <a:latin typeface="Times New Roman" panose="02020503050405090304" pitchFamily="18" charset="0"/>
                <a:cs typeface="Times New Roman" panose="02020503050405090304" pitchFamily="18" charset="0"/>
              </a:rPr>
              <a:t>）模型，将</a:t>
            </a:r>
            <a:r>
              <a:rPr lang="en-US" altLang="zh-CN" sz="1800" b="0">
                <a:latin typeface="Times New Roman" panose="02020503050405090304" pitchFamily="18" charset="0"/>
                <a:cs typeface="Times New Roman" panose="02020503050405090304" pitchFamily="18" charset="0"/>
              </a:rPr>
              <a:t>Transformer</a:t>
            </a:r>
            <a:r>
              <a:rPr lang="zh-CN" altLang="en-US" sz="1800" b="0">
                <a:latin typeface="Times New Roman" panose="02020503050405090304" pitchFamily="18" charset="0"/>
                <a:cs typeface="Times New Roman" panose="02020503050405090304" pitchFamily="18" charset="0"/>
              </a:rPr>
              <a:t>架构引入视觉领域。</a:t>
            </a:r>
            <a:r>
              <a:rPr lang="en-US" altLang="zh-CN" sz="1800" b="0">
                <a:latin typeface="Times New Roman" panose="02020503050405090304" pitchFamily="18" charset="0"/>
                <a:cs typeface="Times New Roman" panose="02020503050405090304" pitchFamily="18" charset="0"/>
              </a:rPr>
              <a:t>2021</a:t>
            </a:r>
            <a:r>
              <a:rPr lang="zh-CN" altLang="en-US" sz="1800" b="0">
                <a:latin typeface="Times New Roman" panose="02020503050405090304" pitchFamily="18" charset="0"/>
                <a:cs typeface="Times New Roman" panose="02020503050405090304" pitchFamily="18" charset="0"/>
              </a:rPr>
              <a:t>年，</a:t>
            </a:r>
            <a:r>
              <a:rPr lang="en-US" altLang="zh-CN" sz="1800" b="0">
                <a:latin typeface="Times New Roman" panose="02020503050405090304" pitchFamily="18" charset="0"/>
                <a:cs typeface="Times New Roman" panose="02020503050405090304" pitchFamily="18" charset="0"/>
              </a:rPr>
              <a:t>OpenAI</a:t>
            </a:r>
            <a:r>
              <a:rPr lang="zh-CN" altLang="en-US" sz="1800" b="0">
                <a:latin typeface="Times New Roman" panose="02020503050405090304" pitchFamily="18" charset="0"/>
                <a:cs typeface="Times New Roman" panose="02020503050405090304" pitchFamily="18" charset="0"/>
              </a:rPr>
              <a:t>于发布了</a:t>
            </a:r>
            <a:r>
              <a:rPr lang="en-US" altLang="zh-CN" sz="1800" b="0">
                <a:latin typeface="Times New Roman" panose="02020503050405090304" pitchFamily="18" charset="0"/>
                <a:cs typeface="Times New Roman" panose="02020503050405090304" pitchFamily="18" charset="0"/>
              </a:rPr>
              <a:t>CLIP</a:t>
            </a:r>
            <a:r>
              <a:rPr lang="zh-CN" altLang="en-US" sz="1800" b="0">
                <a:latin typeface="Times New Roman" panose="02020503050405090304" pitchFamily="18" charset="0"/>
                <a:cs typeface="Times New Roman" panose="02020503050405090304" pitchFamily="18" charset="0"/>
              </a:rPr>
              <a:t>模型</a:t>
            </a:r>
            <a:r>
              <a:rPr lang="en-US" altLang="zh-CN" sz="1800" b="0">
                <a:latin typeface="Times New Roman" panose="02020503050405090304" pitchFamily="18" charset="0"/>
                <a:cs typeface="Times New Roman" panose="02020503050405090304" pitchFamily="18" charset="0"/>
              </a:rPr>
              <a:t> </a:t>
            </a:r>
            <a:r>
              <a:rPr lang="zh-CN" altLang="en-US" sz="1800" b="0">
                <a:latin typeface="Times New Roman" panose="02020503050405090304" pitchFamily="18" charset="0"/>
                <a:cs typeface="Times New Roman" panose="02020503050405090304" pitchFamily="18" charset="0"/>
              </a:rPr>
              <a:t>，将图像和文本进行联合训练，实现了大模型中跨模态的信息对齐。</a:t>
            </a:r>
            <a:r>
              <a:rPr lang="en-US" altLang="zh-CN" sz="1800" b="0">
                <a:latin typeface="Times New Roman" panose="02020503050405090304" pitchFamily="18" charset="0"/>
                <a:cs typeface="Times New Roman" panose="02020503050405090304" pitchFamily="18" charset="0"/>
              </a:rPr>
              <a:t>2024</a:t>
            </a:r>
            <a:r>
              <a:rPr lang="zh-CN" altLang="en-US" sz="1800" b="0">
                <a:latin typeface="Times New Roman" panose="02020503050405090304" pitchFamily="18" charset="0"/>
                <a:cs typeface="Times New Roman" panose="02020503050405090304" pitchFamily="18" charset="0"/>
              </a:rPr>
              <a:t>年，</a:t>
            </a:r>
            <a:r>
              <a:rPr lang="en-US" altLang="zh-CN" sz="1800" b="0">
                <a:latin typeface="Times New Roman" panose="02020503050405090304" pitchFamily="18" charset="0"/>
                <a:cs typeface="Times New Roman" panose="02020503050405090304" pitchFamily="18" charset="0"/>
              </a:rPr>
              <a:t>OpenAI</a:t>
            </a:r>
            <a:r>
              <a:rPr lang="zh-CN" altLang="en-US" sz="1800" b="0">
                <a:latin typeface="Times New Roman" panose="02020503050405090304" pitchFamily="18" charset="0"/>
                <a:cs typeface="Times New Roman" panose="02020503050405090304" pitchFamily="18" charset="0"/>
              </a:rPr>
              <a:t>发布</a:t>
            </a:r>
            <a:r>
              <a:rPr lang="en-US" altLang="zh-CN" sz="1800" b="0">
                <a:latin typeface="Times New Roman" panose="02020503050405090304" pitchFamily="18" charset="0"/>
                <a:cs typeface="Times New Roman" panose="02020503050405090304" pitchFamily="18" charset="0"/>
              </a:rPr>
              <a:t>Sora</a:t>
            </a:r>
            <a:r>
              <a:rPr lang="zh-CN" altLang="en-US" sz="1800" b="0">
                <a:latin typeface="Times New Roman" panose="02020503050405090304" pitchFamily="18" charset="0"/>
                <a:cs typeface="Times New Roman" panose="02020503050405090304" pitchFamily="18" charset="0"/>
              </a:rPr>
              <a:t>，支持直接从文字提示词生成视频，引起社会广泛关注。</a:t>
            </a:r>
            <a:endParaRPr lang="zh-CN" altLang="en-US" sz="1800" b="0">
              <a:latin typeface="Times New Roman" panose="02020503050405090304" pitchFamily="18" charset="0"/>
              <a:cs typeface="Times New Roman" panose="02020503050405090304" pitchFamily="18" charset="0"/>
            </a:endParaRPr>
          </a:p>
          <a:p>
            <a:pPr marL="285750" indent="-285750">
              <a:lnSpc>
                <a:spcPct val="150000"/>
              </a:lnSpc>
              <a:buClr>
                <a:srgbClr val="0070C0"/>
              </a:buClr>
              <a:buFont typeface="Wingdings" panose="05000000000000000000" pitchFamily="2" charset="2"/>
              <a:buChar char="n"/>
            </a:pPr>
            <a:endParaRPr lang="zh-CN" altLang="en-US" sz="1800" b="0">
              <a:latin typeface="Times New Roman" panose="02020503050405090304" pitchFamily="18" charset="0"/>
              <a:cs typeface="Times New Roman" panose="02020503050405090304" pitchFamily="18" charset="0"/>
            </a:endParaRPr>
          </a:p>
        </p:txBody>
      </p:sp>
      <p:sp>
        <p:nvSpPr>
          <p:cNvPr id="3" name="日期占位符 2"/>
          <p:cNvSpPr>
            <a:spLocks noGrp="1"/>
          </p:cNvSpPr>
          <p:nvPr>
            <p:ph type="dt" sz="half" idx="10"/>
          </p:nvPr>
        </p:nvSpPr>
        <p:spPr/>
        <p:txBody>
          <a:bodyPr/>
          <a:lstStyle/>
          <a:p>
            <a:fld id="{A621E70B-ABFB-47A0-B303-597BDC653403}" type="datetime1">
              <a:rPr lang="zh-CN" altLang="en-US" smtClean="0"/>
            </a:fld>
            <a:endParaRPr lang="zh-CN" altLang="en-US"/>
          </a:p>
        </p:txBody>
      </p:sp>
      <p:sp>
        <p:nvSpPr>
          <p:cNvPr id="5" name="灯片编号占位符 4"/>
          <p:cNvSpPr>
            <a:spLocks noGrp="1"/>
          </p:cNvSpPr>
          <p:nvPr>
            <p:ph type="sldNum" sz="quarter" idx="12"/>
          </p:nvPr>
        </p:nvSpPr>
        <p:spPr/>
        <p:txBody>
          <a:bodyPr/>
          <a:lstStyle/>
          <a:p>
            <a:fld id="{82952373-7980-4DA7-9ADE-54D716DB38BB}" type="slidenum">
              <a:rPr lang="zh-CN" altLang="en-US" smtClean="0"/>
            </a:fld>
            <a:endParaRPr lang="zh-CN" altLang="en-US"/>
          </a:p>
        </p:txBody>
      </p:sp>
    </p:spTree>
  </p:cSld>
  <p:clrMapOvr>
    <a:masterClrMapping/>
  </p:clrMapOvr>
  <mc:AlternateContent xmlns:mc="http://schemas.openxmlformats.org/markup-compatibility/2006">
    <mc:Choice xmlns:p14="http://schemas.microsoft.com/office/powerpoint/2010/main" Requires="p14">
      <p:transition p14:dur="0"/>
    </mc:Choice>
    <mc:Fallback>
      <p:transition/>
    </mc:Fallback>
  </mc:AlternateContent>
</p:sld>
</file>

<file path=ppt/slides/slide8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sz="2400" b="1">
                <a:solidFill>
                  <a:srgbClr val="004C41"/>
                </a:solidFill>
                <a:ea typeface="宋体" pitchFamily="2" charset="-122"/>
                <a:cs typeface="+mn-ea"/>
                <a:sym typeface="+mn-lt"/>
              </a:rPr>
              <a:t>自然语言处理的发展历程</a:t>
            </a:r>
            <a:endParaRPr lang="zh-CN" altLang="en-US">
              <a:ea typeface="宋体" pitchFamily="2" charset="-122"/>
            </a:endParaRPr>
          </a:p>
        </p:txBody>
      </p:sp>
      <p:sp>
        <p:nvSpPr>
          <p:cNvPr id="4" name="文本框 3"/>
          <p:cNvSpPr txBox="1"/>
          <p:nvPr/>
        </p:nvSpPr>
        <p:spPr>
          <a:xfrm>
            <a:off x="486410" y="725805"/>
            <a:ext cx="4408170" cy="4661535"/>
          </a:xfrm>
          <a:prstGeom prst="rect">
            <a:avLst/>
          </a:prstGeom>
          <a:noFill/>
        </p:spPr>
        <p:txBody>
          <a:bodyPr wrap="square">
            <a:spAutoFit/>
          </a:bodyPr>
          <a:lstStyle/>
          <a:p>
            <a:pPr marL="285750" indent="-285750" eaLnBrk="1" latinLnBrk="0" hangingPunct="1">
              <a:lnSpc>
                <a:spcPct val="125000"/>
              </a:lnSpc>
              <a:buClr>
                <a:srgbClr val="0070C0"/>
              </a:buClr>
              <a:buFont typeface="Wingdings" panose="05000000000000000000" pitchFamily="2" charset="2"/>
              <a:buChar char="n"/>
            </a:pPr>
            <a:r>
              <a:rPr lang="zh-CN" altLang="en-US" sz="1800" b="0">
                <a:latin typeface="Times New Roman" panose="02020503050405090304" pitchFamily="18" charset="0"/>
                <a:cs typeface="Times New Roman" panose="02020503050405090304" pitchFamily="18" charset="0"/>
              </a:rPr>
              <a:t>在一段</a:t>
            </a:r>
            <a:r>
              <a:rPr lang="en-US" altLang="zh-CN" sz="1800" b="0">
                <a:latin typeface="Times New Roman" panose="02020503050405090304" pitchFamily="18" charset="0"/>
                <a:cs typeface="Times New Roman" panose="02020503050405090304" pitchFamily="18" charset="0"/>
              </a:rPr>
              <a:t>Sora</a:t>
            </a:r>
            <a:r>
              <a:rPr lang="zh-CN" altLang="en-US" sz="1800" b="0">
                <a:latin typeface="Times New Roman" panose="02020503050405090304" pitchFamily="18" charset="0"/>
                <a:cs typeface="Times New Roman" panose="02020503050405090304" pitchFamily="18" charset="0"/>
              </a:rPr>
              <a:t>生成的视频中，一位时尚女性走霓虹灯和城市标牌的东京街道上。</a:t>
            </a:r>
            <a:endParaRPr lang="zh-CN" altLang="en-US" sz="1800" b="0">
              <a:latin typeface="Times New Roman" panose="02020503050405090304" pitchFamily="18" charset="0"/>
              <a:cs typeface="Times New Roman" panose="02020503050405090304" pitchFamily="18" charset="0"/>
            </a:endParaRPr>
          </a:p>
          <a:p>
            <a:pPr marL="285750" indent="-285750" eaLnBrk="1" latinLnBrk="0" hangingPunct="1">
              <a:lnSpc>
                <a:spcPct val="125000"/>
              </a:lnSpc>
              <a:buClr>
                <a:srgbClr val="0070C0"/>
              </a:buClr>
              <a:buFont typeface="Wingdings" panose="05000000000000000000" pitchFamily="2" charset="2"/>
              <a:buChar char="n"/>
            </a:pPr>
            <a:r>
              <a:rPr lang="zh-CN" altLang="en-US" sz="1800" b="0">
                <a:latin typeface="Times New Roman" panose="02020503050405090304" pitchFamily="18" charset="0"/>
                <a:cs typeface="Times New Roman" panose="02020503050405090304" pitchFamily="18" charset="0"/>
              </a:rPr>
              <a:t>她穿着黑色皮夹克、红色长裙和黑色靴子，拎着黑色钱包。她戴着太阳镜，涂着红色口红。</a:t>
            </a:r>
            <a:endParaRPr lang="zh-CN" altLang="en-US" sz="1800" b="0">
              <a:latin typeface="Times New Roman" panose="02020503050405090304" pitchFamily="18" charset="0"/>
              <a:cs typeface="Times New Roman" panose="02020503050405090304" pitchFamily="18" charset="0"/>
            </a:endParaRPr>
          </a:p>
          <a:p>
            <a:pPr marL="285750" indent="-285750" eaLnBrk="1" latinLnBrk="0" hangingPunct="1">
              <a:lnSpc>
                <a:spcPct val="125000"/>
              </a:lnSpc>
              <a:buClr>
                <a:srgbClr val="0070C0"/>
              </a:buClr>
              <a:buFont typeface="Wingdings" panose="05000000000000000000" pitchFamily="2" charset="2"/>
              <a:buChar char="n"/>
            </a:pPr>
            <a:r>
              <a:rPr lang="zh-CN" altLang="en-US" sz="1800" b="0">
                <a:latin typeface="Times New Roman" panose="02020503050405090304" pitchFamily="18" charset="0"/>
                <a:cs typeface="Times New Roman" panose="02020503050405090304" pitchFamily="18" charset="0"/>
              </a:rPr>
              <a:t>她在行走中，散发着自信又随意的气质。街道潮湿且反光，在彩色灯光的照射下形成镜面效果。背景中，许多行人走来走去。</a:t>
            </a:r>
            <a:endParaRPr lang="zh-CN" altLang="en-US" sz="1800" b="0">
              <a:latin typeface="Times New Roman" panose="02020503050405090304" pitchFamily="18" charset="0"/>
              <a:cs typeface="Times New Roman" panose="02020503050405090304" pitchFamily="18" charset="0"/>
            </a:endParaRPr>
          </a:p>
          <a:p>
            <a:pPr marL="285750" indent="-285750" eaLnBrk="1" latinLnBrk="0" hangingPunct="1">
              <a:lnSpc>
                <a:spcPct val="125000"/>
              </a:lnSpc>
              <a:buClr>
                <a:srgbClr val="0070C0"/>
              </a:buClr>
              <a:buFont typeface="Wingdings" panose="05000000000000000000" pitchFamily="2" charset="2"/>
              <a:buChar char="n"/>
            </a:pPr>
            <a:r>
              <a:rPr lang="zh-CN" altLang="en-US" sz="1800" b="0">
                <a:latin typeface="Times New Roman" panose="02020503050405090304" pitchFamily="18" charset="0"/>
                <a:cs typeface="Times New Roman" panose="02020503050405090304" pitchFamily="18" charset="0"/>
              </a:rPr>
              <a:t>最精彩的是视频后半段的面部细节。这位时尚女性面部的毛孔和瑕疵清晰可见，质量让人赞叹。</a:t>
            </a:r>
            <a:endParaRPr lang="zh-CN" altLang="en-US" sz="1800" b="0">
              <a:latin typeface="Times New Roman" panose="02020503050405090304" pitchFamily="18" charset="0"/>
              <a:cs typeface="Times New Roman" panose="02020503050405090304" pitchFamily="18" charset="0"/>
            </a:endParaRPr>
          </a:p>
          <a:p>
            <a:pPr marL="0" indent="0">
              <a:lnSpc>
                <a:spcPct val="150000"/>
              </a:lnSpc>
              <a:buClr>
                <a:srgbClr val="0070C0"/>
              </a:buClr>
              <a:buFont typeface="Wingdings" panose="05000000000000000000" pitchFamily="2" charset="2"/>
              <a:buNone/>
            </a:pPr>
            <a:endParaRPr lang="zh-CN" altLang="en-US" sz="1800" b="0">
              <a:latin typeface="Times New Roman" panose="02020503050405090304" pitchFamily="18" charset="0"/>
              <a:cs typeface="Times New Roman" panose="02020503050405090304" pitchFamily="18" charset="0"/>
            </a:endParaRPr>
          </a:p>
        </p:txBody>
      </p:sp>
      <p:sp>
        <p:nvSpPr>
          <p:cNvPr id="3" name="日期占位符 2"/>
          <p:cNvSpPr>
            <a:spLocks noGrp="1"/>
          </p:cNvSpPr>
          <p:nvPr>
            <p:ph type="dt" sz="half" idx="10"/>
          </p:nvPr>
        </p:nvSpPr>
        <p:spPr/>
        <p:txBody>
          <a:bodyPr/>
          <a:lstStyle/>
          <a:p>
            <a:fld id="{A621E70B-ABFB-47A0-B303-597BDC653403}" type="datetime1">
              <a:rPr lang="zh-CN" altLang="en-US" smtClean="0"/>
            </a:fld>
            <a:endParaRPr lang="zh-CN" altLang="en-US"/>
          </a:p>
        </p:txBody>
      </p:sp>
      <p:sp>
        <p:nvSpPr>
          <p:cNvPr id="5" name="灯片编号占位符 4"/>
          <p:cNvSpPr>
            <a:spLocks noGrp="1"/>
          </p:cNvSpPr>
          <p:nvPr>
            <p:ph type="sldNum" sz="quarter" idx="12"/>
          </p:nvPr>
        </p:nvSpPr>
        <p:spPr/>
        <p:txBody>
          <a:bodyPr/>
          <a:lstStyle/>
          <a:p>
            <a:fld id="{82952373-7980-4DA7-9ADE-54D716DB38BB}" type="slidenum">
              <a:rPr lang="zh-CN" altLang="en-US" smtClean="0"/>
            </a:fld>
            <a:endParaRPr lang="zh-CN" altLang="en-US"/>
          </a:p>
        </p:txBody>
      </p:sp>
      <p:pic>
        <p:nvPicPr>
          <p:cNvPr id="6" name="图片 5" descr="463cd5ac-4d98-4590-9942-0e83ab7078a1"/>
          <p:cNvPicPr>
            <a:picLocks noChangeAspect="1"/>
          </p:cNvPicPr>
          <p:nvPr/>
        </p:nvPicPr>
        <p:blipFill>
          <a:blip r:embed="rId1"/>
          <a:stretch>
            <a:fillRect/>
          </a:stretch>
        </p:blipFill>
        <p:spPr>
          <a:xfrm>
            <a:off x="5081905" y="824230"/>
            <a:ext cx="3604895" cy="1996440"/>
          </a:xfrm>
          <a:prstGeom prst="rect">
            <a:avLst/>
          </a:prstGeom>
        </p:spPr>
      </p:pic>
      <p:pic>
        <p:nvPicPr>
          <p:cNvPr id="7" name="图片 6" descr="267bbbd4-5f0e-493f-9358-b1d696aa42e3"/>
          <p:cNvPicPr>
            <a:picLocks noChangeAspect="1"/>
          </p:cNvPicPr>
          <p:nvPr/>
        </p:nvPicPr>
        <p:blipFill>
          <a:blip r:embed="rId2"/>
          <a:stretch>
            <a:fillRect/>
          </a:stretch>
        </p:blipFill>
        <p:spPr>
          <a:xfrm>
            <a:off x="5081905" y="2828290"/>
            <a:ext cx="3604895" cy="2048510"/>
          </a:xfrm>
          <a:prstGeom prst="rect">
            <a:avLst/>
          </a:prstGeom>
        </p:spPr>
      </p:pic>
    </p:spTree>
  </p:cSld>
  <p:clrMapOvr>
    <a:masterClrMapping/>
  </p:clrMapOvr>
  <mc:AlternateContent xmlns:mc="http://schemas.openxmlformats.org/markup-compatibility/2006">
    <mc:Choice xmlns:p14="http://schemas.microsoft.com/office/powerpoint/2010/main" Requires="p14">
      <p:transition p14:dur="0"/>
    </mc:Choice>
    <mc:Fallback>
      <p:transition/>
    </mc:Fallback>
  </mc:AlternateContent>
</p:sld>
</file>

<file path=ppt/slides/slide8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sz="2400" b="1">
                <a:solidFill>
                  <a:srgbClr val="004C41"/>
                </a:solidFill>
                <a:ea typeface="宋体" pitchFamily="2" charset="-122"/>
                <a:cs typeface="+mn-ea"/>
                <a:sym typeface="+mn-lt"/>
              </a:rPr>
              <a:t>自然语言处理的发展历程</a:t>
            </a:r>
            <a:endParaRPr lang="zh-CN" altLang="en-US">
              <a:ea typeface="宋体" pitchFamily="2" charset="-122"/>
            </a:endParaRPr>
          </a:p>
        </p:txBody>
      </p:sp>
      <p:sp>
        <p:nvSpPr>
          <p:cNvPr id="4" name="文本框 3"/>
          <p:cNvSpPr txBox="1"/>
          <p:nvPr/>
        </p:nvSpPr>
        <p:spPr>
          <a:xfrm>
            <a:off x="486410" y="726122"/>
            <a:ext cx="8388350" cy="4246245"/>
          </a:xfrm>
          <a:prstGeom prst="rect">
            <a:avLst/>
          </a:prstGeom>
          <a:noFill/>
        </p:spPr>
        <p:txBody>
          <a:bodyPr wrap="square">
            <a:spAutoFit/>
          </a:bodyPr>
          <a:lstStyle/>
          <a:p>
            <a:pPr marL="285750" indent="-285750" eaLnBrk="1" latinLnBrk="0" hangingPunct="1">
              <a:lnSpc>
                <a:spcPct val="125000"/>
              </a:lnSpc>
              <a:buClr>
                <a:srgbClr val="0070C0"/>
              </a:buClr>
              <a:buFont typeface="Wingdings" panose="05000000000000000000" pitchFamily="2" charset="2"/>
              <a:buChar char="n"/>
            </a:pPr>
            <a:r>
              <a:rPr lang="zh-CN" altLang="en-US" sz="1800" b="0">
                <a:latin typeface="Times New Roman" panose="02020503050405090304" pitchFamily="18" charset="0"/>
                <a:cs typeface="Times New Roman" panose="02020503050405090304" pitchFamily="18" charset="0"/>
              </a:rPr>
              <a:t>基础科学大模型的快速发展开始于</a:t>
            </a:r>
            <a:r>
              <a:rPr lang="en-US" altLang="zh-CN" sz="1800" b="0">
                <a:latin typeface="Times New Roman" panose="02020503050405090304" pitchFamily="18" charset="0"/>
                <a:cs typeface="Times New Roman" panose="02020503050405090304" pitchFamily="18" charset="0"/>
              </a:rPr>
              <a:t>2020</a:t>
            </a:r>
            <a:r>
              <a:rPr lang="zh-CN" altLang="en-US" sz="1800" b="0">
                <a:latin typeface="Times New Roman" panose="02020503050405090304" pitchFamily="18" charset="0"/>
                <a:cs typeface="Times New Roman" panose="02020503050405090304" pitchFamily="18" charset="0"/>
              </a:rPr>
              <a:t>年。该年，</a:t>
            </a:r>
            <a:r>
              <a:rPr lang="en-US" altLang="zh-CN" sz="1800" b="0">
                <a:latin typeface="Times New Roman" panose="02020503050405090304" pitchFamily="18" charset="0"/>
                <a:cs typeface="Times New Roman" panose="02020503050405090304" pitchFamily="18" charset="0"/>
              </a:rPr>
              <a:t>AlphaFold2 [8]</a:t>
            </a:r>
            <a:r>
              <a:rPr lang="zh-CN" altLang="en-US" sz="1800" b="0">
                <a:latin typeface="Times New Roman" panose="02020503050405090304" pitchFamily="18" charset="0"/>
                <a:cs typeface="Times New Roman" panose="02020503050405090304" pitchFamily="18" charset="0"/>
              </a:rPr>
              <a:t>以图网络破解蛋白质折叠难题。</a:t>
            </a:r>
            <a:r>
              <a:rPr lang="en-US" altLang="zh-CN" sz="1800" b="0">
                <a:latin typeface="Times New Roman" panose="02020503050405090304" pitchFamily="18" charset="0"/>
                <a:cs typeface="Times New Roman" panose="02020503050405090304" pitchFamily="18" charset="0"/>
              </a:rPr>
              <a:t>2022</a:t>
            </a:r>
            <a:r>
              <a:rPr lang="zh-CN" altLang="en-US" sz="1800" b="0">
                <a:latin typeface="Times New Roman" panose="02020503050405090304" pitchFamily="18" charset="0"/>
                <a:cs typeface="Times New Roman" panose="02020503050405090304" pitchFamily="18" charset="0"/>
              </a:rPr>
              <a:t>年，华为盘古气象大模型</a:t>
            </a:r>
            <a:r>
              <a:rPr lang="en-US" altLang="zh-CN" sz="1800" b="0">
                <a:latin typeface="Times New Roman" panose="02020503050405090304" pitchFamily="18" charset="0"/>
                <a:cs typeface="Times New Roman" panose="02020503050405090304" pitchFamily="18" charset="0"/>
              </a:rPr>
              <a:t> [9]</a:t>
            </a:r>
            <a:r>
              <a:rPr lang="zh-CN" altLang="en-US" sz="1800" b="0">
                <a:latin typeface="Times New Roman" panose="02020503050405090304" pitchFamily="18" charset="0"/>
                <a:cs typeface="Times New Roman" panose="02020503050405090304" pitchFamily="18" charset="0"/>
              </a:rPr>
              <a:t>是首个精度超过传统数值预报方法的</a:t>
            </a:r>
            <a:r>
              <a:rPr lang="en-US" altLang="zh-CN" sz="1800" b="0">
                <a:latin typeface="Times New Roman" panose="02020503050405090304" pitchFamily="18" charset="0"/>
                <a:cs typeface="Times New Roman" panose="02020503050405090304" pitchFamily="18" charset="0"/>
              </a:rPr>
              <a:t>AI</a:t>
            </a:r>
            <a:r>
              <a:rPr lang="zh-CN" altLang="en-US" sz="1800" b="0">
                <a:latin typeface="Times New Roman" panose="02020503050405090304" pitchFamily="18" charset="0"/>
                <a:cs typeface="Times New Roman" panose="02020503050405090304" pitchFamily="18" charset="0"/>
              </a:rPr>
              <a:t>模型，速度相比传统数值预报提速</a:t>
            </a:r>
            <a:r>
              <a:rPr lang="en-US" altLang="zh-CN" sz="1800" b="0">
                <a:latin typeface="Times New Roman" panose="02020503050405090304" pitchFamily="18" charset="0"/>
                <a:cs typeface="Times New Roman" panose="02020503050405090304" pitchFamily="18" charset="0"/>
              </a:rPr>
              <a:t>10000</a:t>
            </a:r>
            <a:r>
              <a:rPr lang="zh-CN" altLang="en-US" sz="1800" b="0">
                <a:latin typeface="Times New Roman" panose="02020503050405090304" pitchFamily="18" charset="0"/>
                <a:cs typeface="Times New Roman" panose="02020503050405090304" pitchFamily="18" charset="0"/>
              </a:rPr>
              <a:t>倍以上。</a:t>
            </a:r>
            <a:r>
              <a:rPr lang="en-US" altLang="zh-CN" sz="1800" b="0">
                <a:latin typeface="Times New Roman" panose="02020503050405090304" pitchFamily="18" charset="0"/>
                <a:cs typeface="Times New Roman" panose="02020503050405090304" pitchFamily="18" charset="0"/>
              </a:rPr>
              <a:t>2023</a:t>
            </a:r>
            <a:r>
              <a:rPr lang="zh-CN" altLang="en-US" sz="1800" b="0">
                <a:latin typeface="Times New Roman" panose="02020503050405090304" pitchFamily="18" charset="0"/>
                <a:cs typeface="Times New Roman" panose="02020503050405090304" pitchFamily="18" charset="0"/>
              </a:rPr>
              <a:t>年</a:t>
            </a:r>
            <a:r>
              <a:rPr lang="en-US" altLang="zh-CN" sz="1800" b="0">
                <a:latin typeface="Times New Roman" panose="02020503050405090304" pitchFamily="18" charset="0"/>
                <a:cs typeface="Times New Roman" panose="02020503050405090304" pitchFamily="18" charset="0"/>
              </a:rPr>
              <a:t>DeepMind</a:t>
            </a:r>
            <a:r>
              <a:rPr lang="zh-CN" altLang="en-US" sz="1800" b="0">
                <a:latin typeface="Times New Roman" panose="02020503050405090304" pitchFamily="18" charset="0"/>
                <a:cs typeface="Times New Roman" panose="02020503050405090304" pitchFamily="18" charset="0"/>
              </a:rPr>
              <a:t>发布材料发现模型</a:t>
            </a:r>
            <a:r>
              <a:rPr lang="en-US" altLang="zh-CN" sz="1800" b="0">
                <a:latin typeface="Times New Roman" panose="02020503050405090304" pitchFamily="18" charset="0"/>
                <a:cs typeface="Times New Roman" panose="02020503050405090304" pitchFamily="18" charset="0"/>
              </a:rPr>
              <a:t>GNoME [10]</a:t>
            </a:r>
            <a:r>
              <a:rPr lang="zh-CN" altLang="en-US" sz="1800" b="0">
                <a:latin typeface="Times New Roman" panose="02020503050405090304" pitchFamily="18" charset="0"/>
                <a:cs typeface="Times New Roman" panose="02020503050405090304" pitchFamily="18" charset="0"/>
              </a:rPr>
              <a:t>，两周内发现</a:t>
            </a:r>
            <a:r>
              <a:rPr lang="en-US" altLang="zh-CN" sz="1800" b="0">
                <a:latin typeface="Times New Roman" panose="02020503050405090304" pitchFamily="18" charset="0"/>
                <a:cs typeface="Times New Roman" panose="02020503050405090304" pitchFamily="18" charset="0"/>
              </a:rPr>
              <a:t>220</a:t>
            </a:r>
            <a:r>
              <a:rPr lang="zh-CN" altLang="en-US" sz="1800" b="0">
                <a:latin typeface="Times New Roman" panose="02020503050405090304" pitchFamily="18" charset="0"/>
                <a:cs typeface="Times New Roman" panose="02020503050405090304" pitchFamily="18" charset="0"/>
              </a:rPr>
              <a:t>万种晶体结构；同年浦江实验室</a:t>
            </a:r>
            <a:r>
              <a:rPr lang="en-US" altLang="zh-CN" sz="1800" b="0">
                <a:latin typeface="Times New Roman" panose="02020503050405090304" pitchFamily="18" charset="0"/>
                <a:cs typeface="Times New Roman" panose="02020503050405090304" pitchFamily="18" charset="0"/>
              </a:rPr>
              <a:t>"</a:t>
            </a:r>
            <a:r>
              <a:rPr lang="zh-CN" altLang="en-US" sz="1800" b="0">
                <a:latin typeface="Times New Roman" panose="02020503050405090304" pitchFamily="18" charset="0"/>
                <a:cs typeface="Times New Roman" panose="02020503050405090304" pitchFamily="18" charset="0"/>
              </a:rPr>
              <a:t>风乌</a:t>
            </a:r>
            <a:r>
              <a:rPr lang="en-US" altLang="zh-CN" sz="1800" b="0">
                <a:latin typeface="Times New Roman" panose="02020503050405090304" pitchFamily="18" charset="0"/>
                <a:cs typeface="Times New Roman" panose="02020503050405090304" pitchFamily="18" charset="0"/>
              </a:rPr>
              <a:t>" [11]</a:t>
            </a:r>
            <a:r>
              <a:rPr lang="zh-CN" altLang="en-US" sz="1800" b="0">
                <a:latin typeface="Times New Roman" panose="02020503050405090304" pitchFamily="18" charset="0"/>
                <a:cs typeface="Times New Roman" panose="02020503050405090304" pitchFamily="18" charset="0"/>
              </a:rPr>
              <a:t>模型实现</a:t>
            </a:r>
            <a:r>
              <a:rPr lang="en-US" altLang="zh-CN" sz="1800" b="0">
                <a:latin typeface="Times New Roman" panose="02020503050405090304" pitchFamily="18" charset="0"/>
                <a:cs typeface="Times New Roman" panose="02020503050405090304" pitchFamily="18" charset="0"/>
              </a:rPr>
              <a:t>0.09</a:t>
            </a:r>
            <a:r>
              <a:rPr lang="" altLang="en-US" sz="1800" b="0">
                <a:latin typeface="Times New Roman" panose="02020503050405090304" pitchFamily="18" charset="0"/>
                <a:cs typeface="Times New Roman" panose="02020503050405090304" pitchFamily="18" charset="0"/>
              </a:rPr>
              <a:t>°</a:t>
            </a:r>
            <a:r>
              <a:rPr lang="zh-CN" altLang="en-US" sz="1800" b="0">
                <a:latin typeface="Times New Roman" panose="02020503050405090304" pitchFamily="18" charset="0"/>
                <a:cs typeface="Times New Roman" panose="02020503050405090304" pitchFamily="18" charset="0"/>
              </a:rPr>
              <a:t>全球气象预报，超越传统数值模型。基础科学大模型对基础科学研究产生了巨大的推动作用。</a:t>
            </a:r>
            <a:endParaRPr lang="zh-CN" altLang="en-US" sz="1800" b="0">
              <a:latin typeface="Times New Roman" panose="02020503050405090304" pitchFamily="18" charset="0"/>
              <a:cs typeface="Times New Roman" panose="02020503050405090304" pitchFamily="18" charset="0"/>
            </a:endParaRPr>
          </a:p>
          <a:p>
            <a:pPr marL="285750" indent="-285750" eaLnBrk="1" latinLnBrk="0" hangingPunct="1">
              <a:lnSpc>
                <a:spcPct val="125000"/>
              </a:lnSpc>
              <a:buClr>
                <a:srgbClr val="0070C0"/>
              </a:buClr>
              <a:buFont typeface="Wingdings" panose="05000000000000000000" pitchFamily="2" charset="2"/>
              <a:buChar char="n"/>
            </a:pPr>
            <a:r>
              <a:rPr lang="zh-CN" altLang="en-US" sz="1800" b="0">
                <a:latin typeface="Times New Roman" panose="02020503050405090304" pitchFamily="18" charset="0"/>
                <a:cs typeface="Times New Roman" panose="02020503050405090304" pitchFamily="18" charset="0"/>
              </a:rPr>
              <a:t>截止</a:t>
            </a:r>
            <a:r>
              <a:rPr lang="en-US" altLang="zh-CN" sz="1800" b="0">
                <a:latin typeface="Times New Roman" panose="02020503050405090304" pitchFamily="18" charset="0"/>
                <a:cs typeface="Times New Roman" panose="02020503050405090304" pitchFamily="18" charset="0"/>
              </a:rPr>
              <a:t>2025</a:t>
            </a:r>
            <a:r>
              <a:rPr lang="zh-CN" altLang="en-US" sz="1800" b="0">
                <a:latin typeface="Times New Roman" panose="02020503050405090304" pitchFamily="18" charset="0"/>
                <a:cs typeface="Times New Roman" panose="02020503050405090304" pitchFamily="18" charset="0"/>
              </a:rPr>
              <a:t>年</a:t>
            </a:r>
            <a:r>
              <a:rPr lang="en-US" altLang="zh-CN" sz="1800" b="0">
                <a:latin typeface="Times New Roman" panose="02020503050405090304" pitchFamily="18" charset="0"/>
                <a:cs typeface="Times New Roman" panose="02020503050405090304" pitchFamily="18" charset="0"/>
              </a:rPr>
              <a:t>7</a:t>
            </a:r>
            <a:r>
              <a:rPr lang="zh-CN" altLang="en-US" sz="1800" b="0">
                <a:latin typeface="Times New Roman" panose="02020503050405090304" pitchFamily="18" charset="0"/>
                <a:cs typeface="Times New Roman" panose="02020503050405090304" pitchFamily="18" charset="0"/>
              </a:rPr>
              <a:t>月，全球已发布的大模型总数达到</a:t>
            </a:r>
            <a:r>
              <a:rPr lang="en-US" altLang="zh-CN" sz="1800" b="0">
                <a:latin typeface="Times New Roman" panose="02020503050405090304" pitchFamily="18" charset="0"/>
                <a:cs typeface="Times New Roman" panose="02020503050405090304" pitchFamily="18" charset="0"/>
              </a:rPr>
              <a:t>3755</a:t>
            </a:r>
            <a:r>
              <a:rPr lang="zh-CN" altLang="en-US" sz="1800" b="0">
                <a:latin typeface="Times New Roman" panose="02020503050405090304" pitchFamily="18" charset="0"/>
                <a:cs typeface="Times New Roman" panose="02020503050405090304" pitchFamily="18" charset="0"/>
              </a:rPr>
              <a:t>个，其中，中国企业贡献了</a:t>
            </a:r>
            <a:r>
              <a:rPr lang="en-US" altLang="zh-CN" sz="1800" b="0">
                <a:latin typeface="Times New Roman" panose="02020503050405090304" pitchFamily="18" charset="0"/>
                <a:cs typeface="Times New Roman" panose="02020503050405090304" pitchFamily="18" charset="0"/>
              </a:rPr>
              <a:t>1509</a:t>
            </a:r>
            <a:r>
              <a:rPr lang="zh-CN" altLang="en-US" sz="1800" b="0">
                <a:latin typeface="Times New Roman" panose="02020503050405090304" pitchFamily="18" charset="0"/>
                <a:cs typeface="Times New Roman" panose="02020503050405090304" pitchFamily="18" charset="0"/>
              </a:rPr>
              <a:t>个，数量居全球首位。</a:t>
            </a:r>
            <a:endParaRPr lang="zh-CN" altLang="en-US" sz="1800" b="0">
              <a:latin typeface="Times New Roman" panose="02020503050405090304" pitchFamily="18" charset="0"/>
              <a:cs typeface="Times New Roman" panose="02020503050405090304" pitchFamily="18" charset="0"/>
            </a:endParaRPr>
          </a:p>
          <a:p>
            <a:pPr marL="285750" indent="-285750" eaLnBrk="1" latinLnBrk="0" hangingPunct="1">
              <a:lnSpc>
                <a:spcPct val="125000"/>
              </a:lnSpc>
              <a:buClr>
                <a:srgbClr val="0070C0"/>
              </a:buClr>
              <a:buFont typeface="Wingdings" panose="05000000000000000000" pitchFamily="2" charset="2"/>
              <a:buChar char="n"/>
            </a:pPr>
            <a:r>
              <a:rPr lang="en-US" altLang="zh-CN" sz="1800" b="0">
                <a:latin typeface="Times New Roman" panose="02020503050405090304" pitchFamily="18" charset="0"/>
                <a:cs typeface="Times New Roman" panose="02020503050405090304" pitchFamily="18" charset="0"/>
              </a:rPr>
              <a:t>2026</a:t>
            </a:r>
            <a:r>
              <a:rPr lang="zh-CN" altLang="en-US" sz="1800" b="0">
                <a:latin typeface="Times New Roman" panose="02020503050405090304" pitchFamily="18" charset="0"/>
                <a:cs typeface="Times New Roman" panose="02020503050405090304" pitchFamily="18" charset="0"/>
              </a:rPr>
              <a:t>年</a:t>
            </a:r>
            <a:r>
              <a:rPr lang="en-US" altLang="zh-CN" sz="1800" b="0">
                <a:latin typeface="Times New Roman" panose="02020503050405090304" pitchFamily="18" charset="0"/>
                <a:cs typeface="Times New Roman" panose="02020503050405090304" pitchFamily="18" charset="0"/>
              </a:rPr>
              <a:t>1</a:t>
            </a:r>
            <a:r>
              <a:rPr lang="zh-CN" altLang="en-US" sz="1800" b="0">
                <a:latin typeface="Times New Roman" panose="02020503050405090304" pitchFamily="18" charset="0"/>
                <a:cs typeface="Times New Roman" panose="02020503050405090304" pitchFamily="18" charset="0"/>
              </a:rPr>
              <a:t>月，月之暗面</a:t>
            </a:r>
            <a:r>
              <a:rPr lang="en-US" altLang="zh-CN" sz="1800" b="0">
                <a:latin typeface="Times New Roman" panose="02020503050405090304" pitchFamily="18" charset="0"/>
                <a:cs typeface="Times New Roman" panose="02020503050405090304" pitchFamily="18" charset="0"/>
              </a:rPr>
              <a:t>Kimi</a:t>
            </a:r>
            <a:r>
              <a:rPr lang="zh-CN" altLang="en-US" sz="1800" b="0">
                <a:latin typeface="Times New Roman" panose="02020503050405090304" pitchFamily="18" charset="0"/>
                <a:cs typeface="Times New Roman" panose="02020503050405090304" pitchFamily="18" charset="0"/>
              </a:rPr>
              <a:t>发布新一代开源模型</a:t>
            </a:r>
            <a:r>
              <a:rPr lang="en-US" altLang="zh-CN" sz="1800" b="0">
                <a:latin typeface="Times New Roman" panose="02020503050405090304" pitchFamily="18" charset="0"/>
                <a:cs typeface="Times New Roman" panose="02020503050405090304" pitchFamily="18" charset="0"/>
              </a:rPr>
              <a:t>Kimi K2.5</a:t>
            </a:r>
            <a:r>
              <a:rPr lang="zh-CN" altLang="en-US" sz="1800" b="0">
                <a:latin typeface="Times New Roman" panose="02020503050405090304" pitchFamily="18" charset="0"/>
                <a:cs typeface="Times New Roman" panose="02020503050405090304" pitchFamily="18" charset="0"/>
              </a:rPr>
              <a:t>。</a:t>
            </a:r>
            <a:r>
              <a:rPr lang="en-US" altLang="zh-CN" sz="1800" b="0">
                <a:latin typeface="Times New Roman" panose="02020503050405090304" pitchFamily="18" charset="0"/>
                <a:cs typeface="Times New Roman" panose="02020503050405090304" pitchFamily="18" charset="0"/>
              </a:rPr>
              <a:t>2</a:t>
            </a:r>
            <a:r>
              <a:rPr lang="zh-CN" altLang="en-US" sz="1800" b="0">
                <a:latin typeface="Times New Roman" panose="02020503050405090304" pitchFamily="18" charset="0"/>
                <a:cs typeface="Times New Roman" panose="02020503050405090304" pitchFamily="18" charset="0"/>
              </a:rPr>
              <a:t>月，抖音推出视频生成模型</a:t>
            </a:r>
            <a:r>
              <a:rPr lang="en-US" altLang="zh-CN" sz="1800" b="0">
                <a:latin typeface="Times New Roman" panose="02020503050405090304" pitchFamily="18" charset="0"/>
                <a:cs typeface="Times New Roman" panose="02020503050405090304" pitchFamily="18" charset="0"/>
              </a:rPr>
              <a:t>Seedance 2.0</a:t>
            </a:r>
            <a:r>
              <a:rPr lang="zh-CN" altLang="en-US" sz="1800" b="0">
                <a:latin typeface="Times New Roman" panose="02020503050405090304" pitchFamily="18" charset="0"/>
                <a:cs typeface="Times New Roman" panose="02020503050405090304" pitchFamily="18" charset="0"/>
              </a:rPr>
              <a:t>；智谱</a:t>
            </a:r>
            <a:r>
              <a:rPr lang="en-US" altLang="zh-CN" sz="1800" b="0">
                <a:latin typeface="Times New Roman" panose="02020503050405090304" pitchFamily="18" charset="0"/>
                <a:cs typeface="Times New Roman" panose="02020503050405090304" pitchFamily="18" charset="0"/>
              </a:rPr>
              <a:t>AI</a:t>
            </a:r>
            <a:r>
              <a:rPr lang="zh-CN" altLang="en-US" sz="1800" b="0">
                <a:latin typeface="Times New Roman" panose="02020503050405090304" pitchFamily="18" charset="0"/>
                <a:cs typeface="Times New Roman" panose="02020503050405090304" pitchFamily="18" charset="0"/>
              </a:rPr>
              <a:t>发布并开源旗舰模型</a:t>
            </a:r>
            <a:r>
              <a:rPr lang="en-US" altLang="zh-CN" sz="1800" b="0">
                <a:latin typeface="Times New Roman" panose="02020503050405090304" pitchFamily="18" charset="0"/>
                <a:cs typeface="Times New Roman" panose="02020503050405090304" pitchFamily="18" charset="0"/>
              </a:rPr>
              <a:t>GLM-5</a:t>
            </a:r>
            <a:r>
              <a:rPr lang="zh-CN" altLang="en-US" sz="1800" b="0">
                <a:latin typeface="Times New Roman" panose="02020503050405090304" pitchFamily="18" charset="0"/>
                <a:cs typeface="Times New Roman" panose="02020503050405090304" pitchFamily="18" charset="0"/>
              </a:rPr>
              <a:t>，在全球权威榜单</a:t>
            </a:r>
            <a:r>
              <a:rPr lang="en-US" altLang="zh-CN" sz="1800" b="0">
                <a:latin typeface="Times New Roman" panose="02020503050405090304" pitchFamily="18" charset="0"/>
                <a:cs typeface="Times New Roman" panose="02020503050405090304" pitchFamily="18" charset="0"/>
              </a:rPr>
              <a:t>Artificial Analysis</a:t>
            </a:r>
            <a:r>
              <a:rPr lang="zh-CN" altLang="en-US" sz="1800" b="0">
                <a:latin typeface="Times New Roman" panose="02020503050405090304" pitchFamily="18" charset="0"/>
                <a:cs typeface="Times New Roman" panose="02020503050405090304" pitchFamily="18" charset="0"/>
              </a:rPr>
              <a:t>中位居全球第四、开源模型第一。还有生数、银河通用、智源等等。</a:t>
            </a:r>
            <a:endParaRPr lang="zh-CN" altLang="en-US" sz="1800" b="0">
              <a:latin typeface="Times New Roman" panose="02020503050405090304" pitchFamily="18" charset="0"/>
              <a:cs typeface="Times New Roman" panose="02020503050405090304" pitchFamily="18" charset="0"/>
            </a:endParaRPr>
          </a:p>
        </p:txBody>
      </p:sp>
      <p:sp>
        <p:nvSpPr>
          <p:cNvPr id="3" name="日期占位符 2"/>
          <p:cNvSpPr>
            <a:spLocks noGrp="1"/>
          </p:cNvSpPr>
          <p:nvPr>
            <p:ph type="dt" sz="half" idx="10"/>
          </p:nvPr>
        </p:nvSpPr>
        <p:spPr/>
        <p:txBody>
          <a:bodyPr/>
          <a:lstStyle/>
          <a:p>
            <a:fld id="{A621E70B-ABFB-47A0-B303-597BDC653403}" type="datetime1">
              <a:rPr lang="zh-CN" altLang="en-US" smtClean="0"/>
            </a:fld>
            <a:endParaRPr lang="zh-CN" altLang="en-US"/>
          </a:p>
        </p:txBody>
      </p:sp>
      <p:sp>
        <p:nvSpPr>
          <p:cNvPr id="5" name="灯片编号占位符 4"/>
          <p:cNvSpPr>
            <a:spLocks noGrp="1"/>
          </p:cNvSpPr>
          <p:nvPr>
            <p:ph type="sldNum" sz="quarter" idx="12"/>
          </p:nvPr>
        </p:nvSpPr>
        <p:spPr/>
        <p:txBody>
          <a:bodyPr/>
          <a:lstStyle/>
          <a:p>
            <a:fld id="{82952373-7980-4DA7-9ADE-54D716DB38BB}" type="slidenum">
              <a:rPr lang="zh-CN" altLang="en-US" smtClean="0"/>
            </a:fld>
            <a:endParaRPr lang="zh-CN" altLang="en-US"/>
          </a:p>
        </p:txBody>
      </p:sp>
    </p:spTree>
  </p:cSld>
  <p:clrMapOvr>
    <a:masterClrMapping/>
  </p:clrMapOvr>
  <mc:AlternateContent xmlns:mc="http://schemas.openxmlformats.org/markup-compatibility/2006">
    <mc:Choice xmlns:p14="http://schemas.microsoft.com/office/powerpoint/2010/main" Requires="p14">
      <p:transition p14:dur="0"/>
    </mc:Choice>
    <mc:Fallback>
      <p:transition/>
    </mc:Fallback>
  </mc:AlternateContent>
</p:sld>
</file>

<file path=ppt/slides/slide9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15" name="2"/>
          <p:cNvGrpSpPr/>
          <p:nvPr/>
        </p:nvGrpSpPr>
        <p:grpSpPr>
          <a:xfrm>
            <a:off x="1002665" y="2046603"/>
            <a:ext cx="7488555" cy="1263015"/>
            <a:chOff x="31445" y="161947"/>
            <a:chExt cx="2500824" cy="318131"/>
          </a:xfrm>
          <a:solidFill>
            <a:srgbClr val="004C41"/>
          </a:solidFill>
        </p:grpSpPr>
        <p:sp>
          <p:nvSpPr>
            <p:cNvPr id="16" name="12"/>
            <p:cNvSpPr/>
            <p:nvPr/>
          </p:nvSpPr>
          <p:spPr>
            <a:xfrm>
              <a:off x="31445" y="176315"/>
              <a:ext cx="2268640" cy="293086"/>
            </a:xfrm>
            <a:prstGeom prst="rect">
              <a:avLst/>
            </a:prstGeom>
            <a:grpFill/>
            <a:ln w="25400" cap="flat" cmpd="sng" algn="ctr">
              <a:noFill/>
              <a:prstDash val="solid"/>
            </a:ln>
            <a:effectLst/>
          </p:spPr>
          <p:txBody>
            <a:bodyPr rtlCol="0" anchor="ctr"/>
            <a:lstStyle/>
            <a:p>
              <a:pPr algn="ctr">
                <a:defRPr/>
              </a:pPr>
              <a:endParaRPr lang="zh-CN" altLang="en-US" kern="0">
                <a:solidFill>
                  <a:prstClr val="white"/>
                </a:solidFill>
                <a:cs typeface="+mn-ea"/>
                <a:sym typeface="+mn-lt"/>
              </a:endParaRPr>
            </a:p>
          </p:txBody>
        </p:sp>
        <p:sp>
          <p:nvSpPr>
            <p:cNvPr id="17" name="等腰三角形 16"/>
            <p:cNvSpPr/>
            <p:nvPr/>
          </p:nvSpPr>
          <p:spPr>
            <a:xfrm rot="5400000">
              <a:off x="2257111" y="204921"/>
              <a:ext cx="318131" cy="232184"/>
            </a:xfrm>
            <a:prstGeom prst="triangle">
              <a:avLst/>
            </a:prstGeom>
            <a:grpFill/>
            <a:ln w="25400" cap="flat" cmpd="sng" algn="ctr">
              <a:noFill/>
              <a:prstDash val="solid"/>
            </a:ln>
            <a:effectLst/>
          </p:spPr>
          <p:txBody>
            <a:bodyPr rtlCol="0" anchor="ctr"/>
            <a:lstStyle/>
            <a:p>
              <a:pPr algn="ctr">
                <a:defRPr/>
              </a:pPr>
              <a:endParaRPr lang="zh-CN" altLang="en-US" kern="0">
                <a:solidFill>
                  <a:prstClr val="white"/>
                </a:solidFill>
                <a:cs typeface="+mn-ea"/>
                <a:sym typeface="+mn-lt"/>
              </a:endParaRPr>
            </a:p>
          </p:txBody>
        </p:sp>
        <p:sp>
          <p:nvSpPr>
            <p:cNvPr id="18" name="TextBox 8"/>
            <p:cNvSpPr txBox="1"/>
            <p:nvPr/>
          </p:nvSpPr>
          <p:spPr>
            <a:xfrm>
              <a:off x="998863" y="209292"/>
              <a:ext cx="1273633" cy="240323"/>
            </a:xfrm>
            <a:prstGeom prst="rect">
              <a:avLst/>
            </a:prstGeom>
            <a:grpFill/>
            <a:ln>
              <a:noFill/>
            </a:ln>
          </p:spPr>
          <p:txBody>
            <a:bodyPr wrap="square" rtlCol="0">
              <a:spAutoFit/>
            </a:bodyPr>
            <a:lstStyle/>
            <a:p>
              <a:pPr algn="just">
                <a:spcBef>
                  <a:spcPct val="0"/>
                </a:spcBef>
              </a:pPr>
              <a:r>
                <a:rPr lang="zh-CN" altLang="en-US" sz="2800" b="1" kern="0" spc="300" dirty="0">
                  <a:solidFill>
                    <a:prstClr val="white"/>
                  </a:solidFill>
                  <a:latin typeface="Times New Roman" panose="02020503050405090304" pitchFamily="18" charset="0"/>
                  <a:cs typeface="+mn-ea"/>
                  <a:sym typeface="+mn-lt"/>
                </a:rPr>
                <a:t>自然语言处理的研究现状和发展趋势</a:t>
              </a:r>
              <a:endParaRPr lang="zh-CN" altLang="en-US" sz="2800" b="1" kern="0" spc="300" dirty="0">
                <a:solidFill>
                  <a:prstClr val="white"/>
                </a:solidFill>
                <a:latin typeface="Times New Roman" panose="02020503050405090304" pitchFamily="18" charset="0"/>
                <a:cs typeface="+mn-ea"/>
                <a:sym typeface="+mn-lt"/>
              </a:endParaRPr>
            </a:p>
          </p:txBody>
        </p:sp>
      </p:grpSp>
      <p:grpSp>
        <p:nvGrpSpPr>
          <p:cNvPr id="19" name="1"/>
          <p:cNvGrpSpPr/>
          <p:nvPr/>
        </p:nvGrpSpPr>
        <p:grpSpPr>
          <a:xfrm>
            <a:off x="1200674" y="1403796"/>
            <a:ext cx="2619916" cy="2619916"/>
            <a:chOff x="267453" y="94709"/>
            <a:chExt cx="454824" cy="454824"/>
          </a:xfrm>
        </p:grpSpPr>
        <p:sp>
          <p:nvSpPr>
            <p:cNvPr id="20" name="4"/>
            <p:cNvSpPr/>
            <p:nvPr/>
          </p:nvSpPr>
          <p:spPr>
            <a:xfrm>
              <a:off x="301756" y="114952"/>
              <a:ext cx="390525" cy="395287"/>
            </a:xfrm>
            <a:prstGeom prst="ellipse">
              <a:avLst/>
            </a:prstGeom>
            <a:solidFill>
              <a:sysClr val="window" lastClr="FFFFFF"/>
            </a:solidFill>
            <a:ln w="25400" cap="flat" cmpd="sng" algn="ctr">
              <a:solidFill>
                <a:sysClr val="window" lastClr="FFFFFF"/>
              </a:solidFill>
              <a:prstDash val="solid"/>
            </a:ln>
            <a:effectLst/>
          </p:spPr>
          <p:txBody>
            <a:bodyPr rtlCol="0" anchor="ctr"/>
            <a:lstStyle/>
            <a:p>
              <a:pPr algn="ctr">
                <a:defRPr/>
              </a:pPr>
              <a:endParaRPr lang="zh-CN" altLang="en-US" kern="0">
                <a:solidFill>
                  <a:prstClr val="white"/>
                </a:solidFill>
                <a:cs typeface="+mn-ea"/>
                <a:sym typeface="+mn-lt"/>
              </a:endParaRPr>
            </a:p>
          </p:txBody>
        </p:sp>
        <p:sp>
          <p:nvSpPr>
            <p:cNvPr id="23" name="3"/>
            <p:cNvSpPr/>
            <p:nvPr/>
          </p:nvSpPr>
          <p:spPr>
            <a:xfrm>
              <a:off x="343738" y="170570"/>
              <a:ext cx="302255" cy="302255"/>
            </a:xfrm>
            <a:prstGeom prst="ellipse">
              <a:avLst/>
            </a:prstGeom>
            <a:solidFill>
              <a:srgbClr val="004C41"/>
            </a:solidFill>
            <a:ln w="25400" cap="flat" cmpd="sng" algn="ctr">
              <a:noFill/>
              <a:prstDash val="solid"/>
            </a:ln>
            <a:effectLst/>
          </p:spPr>
          <p:txBody>
            <a:bodyPr rtlCol="0" anchor="ctr"/>
            <a:lstStyle/>
            <a:p>
              <a:pPr algn="ctr">
                <a:defRPr/>
              </a:pPr>
              <a:endParaRPr lang="zh-CN" altLang="en-US" kern="0">
                <a:solidFill>
                  <a:prstClr val="white"/>
                </a:solidFill>
                <a:cs typeface="+mn-ea"/>
                <a:sym typeface="+mn-lt"/>
              </a:endParaRPr>
            </a:p>
          </p:txBody>
        </p:sp>
        <p:sp>
          <p:nvSpPr>
            <p:cNvPr id="24" name="同心圆 23"/>
            <p:cNvSpPr/>
            <p:nvPr/>
          </p:nvSpPr>
          <p:spPr>
            <a:xfrm>
              <a:off x="267453" y="94709"/>
              <a:ext cx="454824" cy="454824"/>
            </a:xfrm>
            <a:prstGeom prst="donut">
              <a:avLst>
                <a:gd name="adj" fmla="val 8567"/>
              </a:avLst>
            </a:prstGeom>
            <a:solidFill>
              <a:sysClr val="window" lastClr="FFFFFF"/>
            </a:solidFill>
            <a:ln w="9525" cap="flat" cmpd="sng" algn="ctr">
              <a:noFill/>
              <a:prstDash val="solid"/>
            </a:ln>
            <a:effectLst>
              <a:outerShdw blurRad="63500" sx="102000" sy="102000" algn="ctr" rotWithShape="0">
                <a:prstClr val="black">
                  <a:alpha val="20000"/>
                </a:prstClr>
              </a:outerShdw>
            </a:effectLst>
          </p:spPr>
          <p:txBody>
            <a:bodyPr rtlCol="0" anchor="ctr"/>
            <a:lstStyle/>
            <a:p>
              <a:pPr algn="ctr">
                <a:defRPr/>
              </a:pPr>
              <a:endParaRPr lang="zh-CN" altLang="en-US" sz="1200" kern="0">
                <a:solidFill>
                  <a:prstClr val="black"/>
                </a:solidFill>
                <a:cs typeface="+mn-ea"/>
                <a:sym typeface="+mn-lt"/>
              </a:endParaRPr>
            </a:p>
          </p:txBody>
        </p:sp>
        <p:sp>
          <p:nvSpPr>
            <p:cNvPr id="25" name="TextBox 9"/>
            <p:cNvSpPr txBox="1"/>
            <p:nvPr/>
          </p:nvSpPr>
          <p:spPr>
            <a:xfrm>
              <a:off x="370583" y="176347"/>
              <a:ext cx="248564" cy="272497"/>
            </a:xfrm>
            <a:prstGeom prst="rect">
              <a:avLst/>
            </a:prstGeom>
            <a:noFill/>
          </p:spPr>
          <p:txBody>
            <a:bodyPr wrap="none" rtlCol="0">
              <a:spAutoFit/>
            </a:bodyPr>
            <a:lstStyle/>
            <a:p>
              <a:pPr>
                <a:defRPr/>
              </a:pPr>
              <a:r>
                <a:rPr lang="en-US" altLang="zh-CN" sz="9600" kern="0" dirty="0">
                  <a:solidFill>
                    <a:prstClr val="white"/>
                  </a:solidFill>
                  <a:latin typeface="Times New Roman" panose="02020503050405090304" pitchFamily="18" charset="0"/>
                  <a:cs typeface="+mn-ea"/>
                  <a:sym typeface="+mn-lt"/>
                </a:rPr>
                <a:t>06</a:t>
              </a:r>
              <a:endParaRPr lang="zh-CN" altLang="en-US" sz="9600" kern="0" dirty="0">
                <a:solidFill>
                  <a:prstClr val="white"/>
                </a:solidFill>
                <a:latin typeface="Times New Roman" panose="02020503050405090304" pitchFamily="18" charset="0"/>
                <a:cs typeface="+mn-ea"/>
                <a:sym typeface="+mn-lt"/>
              </a:endParaRPr>
            </a:p>
          </p:txBody>
        </p:sp>
      </p:grpSp>
      <p:sp>
        <p:nvSpPr>
          <p:cNvPr id="2" name="标题 1"/>
          <p:cNvSpPr>
            <a:spLocks noGrp="1"/>
          </p:cNvSpPr>
          <p:nvPr>
            <p:ph type="title"/>
          </p:nvPr>
        </p:nvSpPr>
        <p:spPr/>
        <p:txBody>
          <a:bodyPr/>
          <a:lstStyle/>
          <a:p>
            <a:endParaRPr lang="zh-CN" altLang="en-US"/>
          </a:p>
        </p:txBody>
      </p:sp>
      <p:sp>
        <p:nvSpPr>
          <p:cNvPr id="3" name="日期占位符 2"/>
          <p:cNvSpPr>
            <a:spLocks noGrp="1"/>
          </p:cNvSpPr>
          <p:nvPr>
            <p:ph type="dt" sz="half" idx="10"/>
          </p:nvPr>
        </p:nvSpPr>
        <p:spPr/>
        <p:txBody>
          <a:bodyPr/>
          <a:lstStyle/>
          <a:p>
            <a:fld id="{3117176D-4544-45DC-B987-55469EAA5E0C}" type="datetime1">
              <a:rPr lang="zh-CN" altLang="en-US" smtClean="0"/>
            </a:fld>
            <a:endParaRPr lang="zh-CN" altLang="en-US"/>
          </a:p>
        </p:txBody>
      </p:sp>
      <p:sp>
        <p:nvSpPr>
          <p:cNvPr id="4" name="灯片编号占位符 3"/>
          <p:cNvSpPr>
            <a:spLocks noGrp="1"/>
          </p:cNvSpPr>
          <p:nvPr>
            <p:ph type="sldNum" sz="quarter" idx="12"/>
          </p:nvPr>
        </p:nvSpPr>
        <p:spPr/>
        <p:txBody>
          <a:bodyPr/>
          <a:lstStyle/>
          <a:p>
            <a:fld id="{82952373-7980-4DA7-9ADE-54D716DB38BB}" type="slidenum">
              <a:rPr lang="zh-CN" altLang="en-US" smtClean="0"/>
            </a:fld>
            <a:endParaRPr lang="zh-CN" altLang="en-US"/>
          </a:p>
        </p:txBody>
      </p:sp>
    </p:spTree>
  </p:cSld>
  <p:clrMapOvr>
    <a:masterClrMapping/>
  </p:clrMapOvr>
  <mc:AlternateContent xmlns:mc="http://schemas.openxmlformats.org/markup-compatibility/2006">
    <mc:Choice xmlns:p14="http://schemas.microsoft.com/office/powerpoint/2010/main" Requires="p14">
      <p:transition p14:dur="0"/>
    </mc:Choice>
    <mc:Fallback>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nodeType="afterEffect">
                                  <p:stCondLst>
                                    <p:cond delay="0"/>
                                  </p:stCondLst>
                                  <p:childTnLst>
                                    <p:set>
                                      <p:cBhvr>
                                        <p:cTn id="6" dur="1" fill="hold">
                                          <p:stCondLst>
                                            <p:cond delay="0"/>
                                          </p:stCondLst>
                                        </p:cTn>
                                        <p:tgtEl>
                                          <p:spTgt spid="19"/>
                                        </p:tgtEl>
                                        <p:attrNameLst>
                                          <p:attrName>style.visibility</p:attrName>
                                        </p:attrNameLst>
                                      </p:cBhvr>
                                      <p:to>
                                        <p:strVal val="visible"/>
                                      </p:to>
                                    </p:set>
                                    <p:animEffect transition="in" filter="fade">
                                      <p:cBhvr>
                                        <p:cTn id="7" dur="500"/>
                                        <p:tgtEl>
                                          <p:spTgt spid="19"/>
                                        </p:tgtEl>
                                      </p:cBhvr>
                                    </p:animEffect>
                                  </p:childTnLst>
                                </p:cTn>
                              </p:par>
                            </p:childTnLst>
                          </p:cTn>
                        </p:par>
                        <p:par>
                          <p:cTn id="8" fill="hold">
                            <p:stCondLst>
                              <p:cond delay="500"/>
                            </p:stCondLst>
                            <p:childTnLst>
                              <p:par>
                                <p:cTn id="9" presetID="22" presetClass="entr" presetSubtype="8" fill="hold" nodeType="afterEffect">
                                  <p:stCondLst>
                                    <p:cond delay="0"/>
                                  </p:stCondLst>
                                  <p:childTnLst>
                                    <p:set>
                                      <p:cBhvr>
                                        <p:cTn id="10" dur="1" fill="hold">
                                          <p:stCondLst>
                                            <p:cond delay="0"/>
                                          </p:stCondLst>
                                        </p:cTn>
                                        <p:tgtEl>
                                          <p:spTgt spid="15"/>
                                        </p:tgtEl>
                                        <p:attrNameLst>
                                          <p:attrName>style.visibility</p:attrName>
                                        </p:attrNameLst>
                                      </p:cBhvr>
                                      <p:to>
                                        <p:strVal val="visible"/>
                                      </p:to>
                                    </p:set>
                                    <p:animEffect transition="in" filter="wipe(left)">
                                      <p:cBhvr>
                                        <p:cTn id="11" dur="1000"/>
                                        <p:tgtEl>
                                          <p:spTgt spid="15"/>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9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文本框 3"/>
          <p:cNvSpPr txBox="1"/>
          <p:nvPr/>
        </p:nvSpPr>
        <p:spPr>
          <a:xfrm>
            <a:off x="502920" y="913341"/>
            <a:ext cx="8229601" cy="3966792"/>
          </a:xfrm>
          <a:prstGeom prst="rect">
            <a:avLst/>
          </a:prstGeom>
          <a:ln>
            <a:noFill/>
          </a:ln>
        </p:spPr>
        <p:style>
          <a:lnRef idx="2">
            <a:schemeClr val="dk1"/>
          </a:lnRef>
          <a:fillRef idx="1">
            <a:schemeClr val="lt1"/>
          </a:fillRef>
          <a:effectRef idx="0">
            <a:schemeClr val="dk1"/>
          </a:effectRef>
          <a:fontRef idx="minor">
            <a:schemeClr val="dk1"/>
          </a:fontRef>
        </p:style>
        <p:txBody>
          <a:bodyPr wrap="square" rtlCol="0" anchor="t">
            <a:spAutoFit/>
          </a:bodyPr>
          <a:lstStyle/>
          <a:p>
            <a:pPr marL="285750" indent="-285750" algn="l">
              <a:lnSpc>
                <a:spcPct val="150000"/>
              </a:lnSpc>
              <a:buClr>
                <a:srgbClr val="0070C0"/>
              </a:buClr>
              <a:buFont typeface="Wingdings" panose="05000000000000000000" pitchFamily="2" charset="2"/>
              <a:buChar char="n"/>
            </a:pPr>
            <a:r>
              <a:rPr lang="zh-CN" altLang="en-US" sz="1700" i="0">
                <a:solidFill>
                  <a:srgbClr val="3333FF"/>
                </a:solidFill>
                <a:effectLst/>
                <a:latin typeface="Times New Roman" panose="02020503050405090304" pitchFamily="18" charset="0"/>
                <a:ea typeface="宋体" pitchFamily="2" charset="-122"/>
              </a:rPr>
              <a:t>第一阶段</a:t>
            </a:r>
            <a:r>
              <a:rPr lang="zh-CN" altLang="en-US" sz="1700" b="0" i="0">
                <a:solidFill>
                  <a:srgbClr val="333333"/>
                </a:solidFill>
                <a:effectLst/>
                <a:latin typeface="Times New Roman" panose="02020503050405090304" pitchFamily="18" charset="0"/>
                <a:ea typeface="宋体" pitchFamily="2" charset="-122"/>
              </a:rPr>
              <a:t>：</a:t>
            </a:r>
            <a:r>
              <a:rPr lang="zh-CN" altLang="en-US" sz="1700" b="0" i="0">
                <a:solidFill>
                  <a:srgbClr val="FE2C24"/>
                </a:solidFill>
                <a:effectLst/>
                <a:latin typeface="Times New Roman" panose="02020503050405090304" pitchFamily="18" charset="0"/>
                <a:ea typeface="宋体" pitchFamily="2" charset="-122"/>
              </a:rPr>
              <a:t>受到语料规模以及计算能力的限制</a:t>
            </a:r>
            <a:r>
              <a:rPr lang="zh-CN" altLang="en-US" sz="1700" b="0" i="0">
                <a:solidFill>
                  <a:srgbClr val="333333"/>
                </a:solidFill>
                <a:effectLst/>
                <a:latin typeface="Times New Roman" panose="02020503050405090304" pitchFamily="18" charset="0"/>
                <a:ea typeface="宋体" pitchFamily="2" charset="-122"/>
              </a:rPr>
              <a:t>，早期的自然语言处理主要采用基于理性主义的规则方法，通过</a:t>
            </a:r>
            <a:r>
              <a:rPr lang="zh-CN" altLang="en-US" sz="1700" b="0" i="0">
                <a:solidFill>
                  <a:srgbClr val="1A439C"/>
                </a:solidFill>
                <a:effectLst/>
                <a:latin typeface="Times New Roman" panose="02020503050405090304" pitchFamily="18" charset="0"/>
                <a:ea typeface="宋体" pitchFamily="2" charset="-122"/>
              </a:rPr>
              <a:t>专家总结的符号逻辑知识</a:t>
            </a:r>
            <a:r>
              <a:rPr lang="zh-CN" altLang="en-US" sz="1700" b="0" i="0">
                <a:solidFill>
                  <a:srgbClr val="333333"/>
                </a:solidFill>
                <a:effectLst/>
                <a:latin typeface="Times New Roman" panose="02020503050405090304" pitchFamily="18" charset="0"/>
                <a:ea typeface="宋体" pitchFamily="2" charset="-122"/>
              </a:rPr>
              <a:t>处理通用的自然语言现象。</a:t>
            </a:r>
            <a:endParaRPr lang="zh-CN" altLang="en-US" sz="1700" b="0" i="0">
              <a:solidFill>
                <a:srgbClr val="333333"/>
              </a:solidFill>
              <a:effectLst/>
              <a:latin typeface="Times New Roman" panose="02020503050405090304" pitchFamily="18" charset="0"/>
              <a:ea typeface="宋体" pitchFamily="2" charset="-122"/>
            </a:endParaRPr>
          </a:p>
          <a:p>
            <a:pPr marL="285750" indent="-285750" algn="l">
              <a:lnSpc>
                <a:spcPct val="150000"/>
              </a:lnSpc>
              <a:buClr>
                <a:srgbClr val="0070C0"/>
              </a:buClr>
              <a:buFont typeface="Wingdings" panose="05000000000000000000" pitchFamily="2" charset="2"/>
              <a:buChar char="n"/>
            </a:pPr>
            <a:r>
              <a:rPr lang="zh-CN" altLang="en-US" sz="1700" i="0">
                <a:solidFill>
                  <a:srgbClr val="3333FF"/>
                </a:solidFill>
                <a:effectLst/>
                <a:latin typeface="Times New Roman" panose="02020503050405090304" pitchFamily="18" charset="0"/>
                <a:ea typeface="宋体" pitchFamily="2" charset="-122"/>
              </a:rPr>
              <a:t>第二阶段</a:t>
            </a:r>
            <a:r>
              <a:rPr lang="zh-CN" altLang="en-US" sz="1700" b="0" i="0">
                <a:solidFill>
                  <a:srgbClr val="333333"/>
                </a:solidFill>
                <a:effectLst/>
                <a:latin typeface="Times New Roman" panose="02020503050405090304" pitchFamily="18" charset="0"/>
                <a:ea typeface="宋体" pitchFamily="2" charset="-122"/>
              </a:rPr>
              <a:t>：随着</a:t>
            </a:r>
            <a:r>
              <a:rPr lang="zh-CN" altLang="en-US" sz="1700" b="0" i="0">
                <a:solidFill>
                  <a:srgbClr val="1A439C"/>
                </a:solidFill>
                <a:effectLst/>
                <a:latin typeface="Times New Roman" panose="02020503050405090304" pitchFamily="18" charset="0"/>
                <a:ea typeface="宋体" pitchFamily="2" charset="-122"/>
              </a:rPr>
              <a:t>计算机运算速度和存储容量的快速增加</a:t>
            </a:r>
            <a:r>
              <a:rPr lang="zh-CN" altLang="en-US" sz="1700" b="0" i="0">
                <a:solidFill>
                  <a:srgbClr val="333333"/>
                </a:solidFill>
                <a:effectLst/>
                <a:latin typeface="Times New Roman" panose="02020503050405090304" pitchFamily="18" charset="0"/>
                <a:ea typeface="宋体" pitchFamily="2" charset="-122"/>
              </a:rPr>
              <a:t>，以及</a:t>
            </a:r>
            <a:r>
              <a:rPr lang="zh-CN" altLang="en-US" sz="1700" b="0" i="0">
                <a:solidFill>
                  <a:srgbClr val="1A439C"/>
                </a:solidFill>
                <a:effectLst/>
                <a:latin typeface="Times New Roman" panose="02020503050405090304" pitchFamily="18" charset="0"/>
                <a:ea typeface="宋体" pitchFamily="2" charset="-122"/>
              </a:rPr>
              <a:t>统计学习方法</a:t>
            </a:r>
            <a:r>
              <a:rPr lang="zh-CN" altLang="en-US" sz="1700" b="0" i="0">
                <a:solidFill>
                  <a:srgbClr val="333333"/>
                </a:solidFill>
                <a:effectLst/>
                <a:latin typeface="Times New Roman" panose="02020503050405090304" pitchFamily="18" charset="0"/>
                <a:ea typeface="宋体" pitchFamily="2" charset="-122"/>
              </a:rPr>
              <a:t>的愈发成熟，使得以语料库为核心的统计学习方法在自然语言处理领域得以大规模应用。由于大规模的语料库中包含了大量关于语言的知识，使得基于语料库的统计自然语言处理方法能够更加客观、准确和细致地捕获语言规律。在这一时期，词法分析、句法分析、信息抽取、机器翻译和自动问答等领域的研究均取得了一定程度的成功。</a:t>
            </a:r>
            <a:endParaRPr lang="en-US" altLang="zh-CN" sz="1700" b="0" i="0">
              <a:solidFill>
                <a:srgbClr val="333333"/>
              </a:solidFill>
              <a:effectLst/>
              <a:latin typeface="Times New Roman" panose="02020503050405090304" pitchFamily="18" charset="0"/>
              <a:ea typeface="宋体" pitchFamily="2" charset="-122"/>
            </a:endParaRPr>
          </a:p>
          <a:p>
            <a:pPr indent="457200" algn="l">
              <a:lnSpc>
                <a:spcPct val="150000"/>
              </a:lnSpc>
              <a:buClr>
                <a:srgbClr val="0070C0"/>
              </a:buClr>
            </a:pPr>
            <a:r>
              <a:rPr lang="zh-CN" altLang="en-US" sz="1700" b="0" i="0">
                <a:solidFill>
                  <a:srgbClr val="FE2C24"/>
                </a:solidFill>
                <a:effectLst/>
                <a:latin typeface="Times New Roman" panose="02020503050405090304" pitchFamily="18" charset="0"/>
                <a:ea typeface="宋体" pitchFamily="2" charset="-122"/>
              </a:rPr>
              <a:t>局限性：</a:t>
            </a:r>
            <a:r>
              <a:rPr lang="zh-CN" altLang="en-US" sz="1700" b="0" i="0">
                <a:solidFill>
                  <a:schemeClr val="tx1"/>
                </a:solidFill>
                <a:effectLst/>
                <a:latin typeface="Times New Roman" panose="02020503050405090304" pitchFamily="18" charset="0"/>
                <a:ea typeface="宋体" pitchFamily="2" charset="-122"/>
              </a:rPr>
              <a:t>需要特征工程，即需要事先利用经验性规则将原始的自然语言输入转化为机器能够处理的向量形式。</a:t>
            </a:r>
            <a:endParaRPr lang="zh-CN" altLang="en-US" sz="1700" b="0" i="0">
              <a:solidFill>
                <a:schemeClr val="tx1"/>
              </a:solidFill>
              <a:effectLst/>
              <a:latin typeface="Times New Roman" panose="02020503050405090304" pitchFamily="18" charset="0"/>
              <a:ea typeface="宋体" pitchFamily="2" charset="-122"/>
            </a:endParaRPr>
          </a:p>
        </p:txBody>
      </p:sp>
      <p:sp>
        <p:nvSpPr>
          <p:cNvPr id="5" name="标题 4"/>
          <p:cNvSpPr>
            <a:spLocks noGrp="1"/>
          </p:cNvSpPr>
          <p:nvPr>
            <p:ph type="title"/>
          </p:nvPr>
        </p:nvSpPr>
        <p:spPr>
          <a:xfrm>
            <a:off x="362425" y="23736"/>
            <a:ext cx="8781575" cy="702469"/>
          </a:xfrm>
        </p:spPr>
        <p:txBody>
          <a:bodyPr/>
          <a:lstStyle/>
          <a:p>
            <a:r>
              <a:rPr lang="en-US" altLang="zh-CN" sz="2400" b="1">
                <a:solidFill>
                  <a:srgbClr val="004C41"/>
                </a:solidFill>
                <a:ea typeface="宋体" pitchFamily="2" charset="-122"/>
                <a:cs typeface="+mn-ea"/>
                <a:sym typeface="+mn-lt"/>
              </a:rPr>
              <a:t>1.</a:t>
            </a:r>
            <a:r>
              <a:rPr lang="zh-CN" altLang="en-US" sz="2400" b="1">
                <a:solidFill>
                  <a:srgbClr val="004C41"/>
                </a:solidFill>
                <a:ea typeface="宋体" pitchFamily="2" charset="-122"/>
                <a:cs typeface="+mn-ea"/>
                <a:sym typeface="+mn-lt"/>
              </a:rPr>
              <a:t>技术发展趋势</a:t>
            </a:r>
            <a:endParaRPr lang="zh-CN" altLang="en-US">
              <a:ea typeface="宋体" pitchFamily="2" charset="-122"/>
            </a:endParaRPr>
          </a:p>
        </p:txBody>
      </p:sp>
      <p:sp>
        <p:nvSpPr>
          <p:cNvPr id="2" name="日期占位符 1"/>
          <p:cNvSpPr>
            <a:spLocks noGrp="1"/>
          </p:cNvSpPr>
          <p:nvPr>
            <p:ph type="dt" sz="half" idx="10"/>
          </p:nvPr>
        </p:nvSpPr>
        <p:spPr/>
        <p:txBody>
          <a:bodyPr/>
          <a:lstStyle/>
          <a:p>
            <a:fld id="{0969A629-C51A-4B93-973D-B423EDD4A9EF}" type="datetime1">
              <a:rPr lang="zh-CN" altLang="en-US" smtClean="0"/>
            </a:fld>
            <a:endParaRPr lang="zh-CN" altLang="en-US"/>
          </a:p>
        </p:txBody>
      </p:sp>
      <p:sp>
        <p:nvSpPr>
          <p:cNvPr id="3" name="灯片编号占位符 2"/>
          <p:cNvSpPr>
            <a:spLocks noGrp="1"/>
          </p:cNvSpPr>
          <p:nvPr>
            <p:ph type="sldNum" sz="quarter" idx="12"/>
          </p:nvPr>
        </p:nvSpPr>
        <p:spPr/>
        <p:txBody>
          <a:bodyPr/>
          <a:lstStyle/>
          <a:p>
            <a:fld id="{82952373-7980-4DA7-9ADE-54D716DB38BB}" type="slidenum">
              <a:rPr lang="zh-CN" altLang="en-US" smtClean="0"/>
            </a:fld>
            <a:endParaRPr lang="zh-CN" altLang="en-US"/>
          </a:p>
        </p:txBody>
      </p:sp>
    </p:spTree>
  </p:cSld>
  <p:clrMapOvr>
    <a:masterClrMapping/>
  </p:clrMapOvr>
  <mc:AlternateContent xmlns:mc="http://schemas.openxmlformats.org/markup-compatibility/2006">
    <mc:Choice xmlns:p14="http://schemas.microsoft.com/office/powerpoint/2010/main" Requires="p14">
      <p:transition p14:dur="0"/>
    </mc:Choice>
    <mc:Fallback>
      <p:transition/>
    </mc:Fallback>
  </mc:AlternateContent>
</p:sld>
</file>

<file path=ppt/slides/slide9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en-US" altLang="zh-CN" sz="2400" b="1">
                <a:solidFill>
                  <a:srgbClr val="004C41"/>
                </a:solidFill>
                <a:ea typeface="宋体" pitchFamily="2" charset="-122"/>
                <a:cs typeface="+mn-ea"/>
                <a:sym typeface="+mn-lt"/>
              </a:rPr>
              <a:t>1.</a:t>
            </a:r>
            <a:r>
              <a:rPr lang="zh-CN" altLang="en-US" sz="2400" b="1">
                <a:solidFill>
                  <a:srgbClr val="004C41"/>
                </a:solidFill>
                <a:ea typeface="宋体" pitchFamily="2" charset="-122"/>
                <a:cs typeface="+mn-ea"/>
                <a:sym typeface="+mn-lt"/>
              </a:rPr>
              <a:t>技术发展趋势</a:t>
            </a:r>
            <a:endParaRPr lang="zh-CN" altLang="en-US">
              <a:ea typeface="宋体" pitchFamily="2" charset="-122"/>
            </a:endParaRPr>
          </a:p>
        </p:txBody>
      </p:sp>
      <p:sp>
        <p:nvSpPr>
          <p:cNvPr id="4" name="文本框 3"/>
          <p:cNvSpPr txBox="1"/>
          <p:nvPr/>
        </p:nvSpPr>
        <p:spPr>
          <a:xfrm>
            <a:off x="597788" y="1019038"/>
            <a:ext cx="8015859" cy="2953373"/>
          </a:xfrm>
          <a:prstGeom prst="rect">
            <a:avLst/>
          </a:prstGeom>
          <a:noFill/>
        </p:spPr>
        <p:txBody>
          <a:bodyPr wrap="square">
            <a:spAutoFit/>
          </a:bodyPr>
          <a:lstStyle/>
          <a:p>
            <a:pPr marL="285750" indent="-285750" algn="l">
              <a:lnSpc>
                <a:spcPct val="150000"/>
              </a:lnSpc>
              <a:buClr>
                <a:srgbClr val="0070C0"/>
              </a:buClr>
              <a:buFont typeface="Wingdings" panose="05000000000000000000" pitchFamily="2" charset="2"/>
              <a:buChar char="n"/>
            </a:pPr>
            <a:r>
              <a:rPr lang="zh-CN" altLang="en-US" b="0" i="0">
                <a:solidFill>
                  <a:srgbClr val="333333"/>
                </a:solidFill>
                <a:effectLst/>
                <a:latin typeface="Times New Roman" panose="02020503050405090304" pitchFamily="18" charset="0"/>
              </a:rPr>
              <a:t>第三阶段：随着基于深度神经网络的表示学习方法（也称深度学习）的兴起，该方法直接端到端地学习各种自然语言处理任务，不再依赖人工设计的特征。</a:t>
            </a:r>
            <a:r>
              <a:rPr lang="zh-CN" altLang="en-US" b="0" i="0">
                <a:solidFill>
                  <a:srgbClr val="1A439C"/>
                </a:solidFill>
                <a:effectLst/>
                <a:latin typeface="Times New Roman" panose="02020503050405090304" pitchFamily="18" charset="0"/>
              </a:rPr>
              <a:t>所谓表示学习，是指机器能根据输入自动地发现可以用于识别或分类等任务的表示。表示学习可以自动地发现有效特征，同时，还能够将不同任务在相同的向量空间内进行表示，从而具备跨任务迁移的能力。</a:t>
            </a:r>
            <a:endParaRPr lang="en-US" altLang="zh-CN" b="0" i="0">
              <a:solidFill>
                <a:srgbClr val="1A439C"/>
              </a:solidFill>
              <a:effectLst/>
              <a:latin typeface="Times New Roman" panose="02020503050405090304" pitchFamily="18" charset="0"/>
            </a:endParaRPr>
          </a:p>
          <a:p>
            <a:pPr algn="l">
              <a:lnSpc>
                <a:spcPct val="150000"/>
              </a:lnSpc>
              <a:buClr>
                <a:srgbClr val="0070C0"/>
              </a:buClr>
            </a:pPr>
            <a:r>
              <a:rPr lang="zh-CN" altLang="en-US" b="0" i="0">
                <a:solidFill>
                  <a:srgbClr val="FE2C24"/>
                </a:solidFill>
                <a:effectLst/>
                <a:latin typeface="Times New Roman" panose="02020503050405090304" pitchFamily="18" charset="0"/>
              </a:rPr>
              <a:t>缺点：过度依赖于大规模有标注数据，而自然语言处理的“主观性”特点，以及其所面对的任务和领域众多，导致自然语言处理的标注数据往往不够充足。</a:t>
            </a:r>
            <a:endParaRPr lang="zh-CN" altLang="en-US" b="0" i="0">
              <a:solidFill>
                <a:srgbClr val="333333"/>
              </a:solidFill>
              <a:effectLst/>
              <a:latin typeface="Times New Roman" panose="02020503050405090304" pitchFamily="18" charset="0"/>
            </a:endParaRPr>
          </a:p>
        </p:txBody>
      </p:sp>
      <p:sp>
        <p:nvSpPr>
          <p:cNvPr id="3" name="日期占位符 2"/>
          <p:cNvSpPr>
            <a:spLocks noGrp="1"/>
          </p:cNvSpPr>
          <p:nvPr>
            <p:ph type="dt" sz="half" idx="10"/>
          </p:nvPr>
        </p:nvSpPr>
        <p:spPr/>
        <p:txBody>
          <a:bodyPr/>
          <a:lstStyle/>
          <a:p>
            <a:fld id="{E8A8B885-F74D-4DCB-9C60-46D74D116BB2}" type="datetime1">
              <a:rPr lang="zh-CN" altLang="en-US" smtClean="0"/>
            </a:fld>
            <a:endParaRPr lang="zh-CN" altLang="en-US"/>
          </a:p>
        </p:txBody>
      </p:sp>
      <p:sp>
        <p:nvSpPr>
          <p:cNvPr id="5" name="灯片编号占位符 4"/>
          <p:cNvSpPr>
            <a:spLocks noGrp="1"/>
          </p:cNvSpPr>
          <p:nvPr>
            <p:ph type="sldNum" sz="quarter" idx="12"/>
          </p:nvPr>
        </p:nvSpPr>
        <p:spPr/>
        <p:txBody>
          <a:bodyPr/>
          <a:lstStyle/>
          <a:p>
            <a:fld id="{82952373-7980-4DA7-9ADE-54D716DB38BB}" type="slidenum">
              <a:rPr lang="zh-CN" altLang="en-US" smtClean="0"/>
            </a:fld>
            <a:endParaRPr lang="zh-CN" altLang="en-US"/>
          </a:p>
        </p:txBody>
      </p:sp>
    </p:spTree>
  </p:cSld>
  <p:clrMapOvr>
    <a:masterClrMapping/>
  </p:clrMapOvr>
  <mc:AlternateContent xmlns:mc="http://schemas.openxmlformats.org/markup-compatibility/2006">
    <mc:Choice xmlns:p14="http://schemas.microsoft.com/office/powerpoint/2010/main" Requires="p14">
      <p:transition p14:dur="0"/>
    </mc:Choice>
    <mc:Fallback>
      <p:transition/>
    </mc:Fallback>
  </mc:AlternateContent>
</p:sld>
</file>

<file path=ppt/slides/slide9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en-US" altLang="zh-CN" sz="2400" b="1">
                <a:solidFill>
                  <a:srgbClr val="004C41"/>
                </a:solidFill>
                <a:ea typeface="宋体" pitchFamily="2" charset="-122"/>
                <a:cs typeface="+mn-ea"/>
                <a:sym typeface="+mn-lt"/>
              </a:rPr>
              <a:t>1.</a:t>
            </a:r>
            <a:r>
              <a:rPr lang="zh-CN" altLang="en-US" sz="2400" b="1">
                <a:solidFill>
                  <a:srgbClr val="004C41"/>
                </a:solidFill>
                <a:ea typeface="宋体" pitchFamily="2" charset="-122"/>
                <a:cs typeface="+mn-ea"/>
                <a:sym typeface="+mn-lt"/>
              </a:rPr>
              <a:t>技术发展趋势</a:t>
            </a:r>
            <a:endParaRPr lang="zh-CN" altLang="en-US">
              <a:ea typeface="宋体" pitchFamily="2" charset="-122"/>
            </a:endParaRPr>
          </a:p>
        </p:txBody>
      </p:sp>
      <p:sp>
        <p:nvSpPr>
          <p:cNvPr id="4" name="文本框 3"/>
          <p:cNvSpPr txBox="1"/>
          <p:nvPr/>
        </p:nvSpPr>
        <p:spPr>
          <a:xfrm>
            <a:off x="523542" y="923258"/>
            <a:ext cx="8459343" cy="1218795"/>
          </a:xfrm>
          <a:prstGeom prst="rect">
            <a:avLst/>
          </a:prstGeom>
          <a:noFill/>
        </p:spPr>
        <p:txBody>
          <a:bodyPr wrap="square">
            <a:spAutoFit/>
          </a:bodyPr>
          <a:lstStyle/>
          <a:p>
            <a:pPr marL="285750" indent="-285750">
              <a:lnSpc>
                <a:spcPct val="150000"/>
              </a:lnSpc>
              <a:buClr>
                <a:srgbClr val="0070C0"/>
              </a:buClr>
              <a:buFont typeface="Wingdings" panose="05000000000000000000" pitchFamily="2" charset="2"/>
              <a:buChar char="n"/>
            </a:pPr>
            <a:r>
              <a:rPr lang="zh-CN" altLang="en-US" sz="1700" b="0" i="0">
                <a:solidFill>
                  <a:srgbClr val="0D0016"/>
                </a:solidFill>
                <a:effectLst/>
                <a:latin typeface="Times New Roman" panose="02020503050405090304" pitchFamily="18" charset="0"/>
              </a:rPr>
              <a:t>第四阶段：静态词向量预训练模型、动态词向量预训练模型，特别是</a:t>
            </a:r>
            <a:r>
              <a:rPr lang="en-US" altLang="zh-CN" sz="1700" b="0" i="0">
                <a:solidFill>
                  <a:srgbClr val="0D0016"/>
                </a:solidFill>
                <a:effectLst/>
                <a:latin typeface="Times New Roman" panose="02020503050405090304" pitchFamily="18" charset="0"/>
              </a:rPr>
              <a:t>2018</a:t>
            </a:r>
            <a:r>
              <a:rPr lang="zh-CN" altLang="en-US" sz="1700" b="0" i="0">
                <a:solidFill>
                  <a:srgbClr val="0D0016"/>
                </a:solidFill>
                <a:effectLst/>
                <a:latin typeface="Times New Roman" panose="02020503050405090304" pitchFamily="18" charset="0"/>
              </a:rPr>
              <a:t>年以来，以</a:t>
            </a:r>
            <a:r>
              <a:rPr lang="en-US" altLang="zh-CN" sz="1700" b="0" i="0">
                <a:solidFill>
                  <a:srgbClr val="0D0016"/>
                </a:solidFill>
                <a:effectLst/>
                <a:latin typeface="Times New Roman" panose="02020503050405090304" pitchFamily="18" charset="0"/>
              </a:rPr>
              <a:t>BERT</a:t>
            </a:r>
            <a:r>
              <a:rPr lang="zh-CN" altLang="en-US" sz="1700" b="0" i="0">
                <a:solidFill>
                  <a:srgbClr val="0D0016"/>
                </a:solidFill>
                <a:effectLst/>
                <a:latin typeface="Times New Roman" panose="02020503050405090304" pitchFamily="18" charset="0"/>
              </a:rPr>
              <a:t>、</a:t>
            </a:r>
            <a:r>
              <a:rPr lang="en-US" altLang="zh-CN" sz="1700" b="0" i="0">
                <a:solidFill>
                  <a:srgbClr val="0D0016"/>
                </a:solidFill>
                <a:effectLst/>
                <a:latin typeface="Times New Roman" panose="02020503050405090304" pitchFamily="18" charset="0"/>
              </a:rPr>
              <a:t>GPT</a:t>
            </a:r>
            <a:r>
              <a:rPr lang="zh-CN" altLang="en-US" sz="1700" b="0" i="0">
                <a:solidFill>
                  <a:srgbClr val="0D0016"/>
                </a:solidFill>
                <a:effectLst/>
                <a:latin typeface="Times New Roman" panose="02020503050405090304" pitchFamily="18" charset="0"/>
              </a:rPr>
              <a:t>为代表的超大规模预训练语言模型恰好弥补了自然语言处理标注数据不足的缺点。</a:t>
            </a:r>
            <a:endParaRPr lang="zh-CN" altLang="en-US" sz="1700">
              <a:latin typeface="Times New Roman" panose="02020503050405090304" pitchFamily="18" charset="0"/>
            </a:endParaRPr>
          </a:p>
        </p:txBody>
      </p:sp>
      <p:sp>
        <p:nvSpPr>
          <p:cNvPr id="6" name="文本框 5"/>
          <p:cNvSpPr txBox="1"/>
          <p:nvPr/>
        </p:nvSpPr>
        <p:spPr>
          <a:xfrm>
            <a:off x="781377" y="2236061"/>
            <a:ext cx="8102727" cy="1701748"/>
          </a:xfrm>
          <a:prstGeom prst="rect">
            <a:avLst/>
          </a:prstGeom>
          <a:noFill/>
        </p:spPr>
        <p:txBody>
          <a:bodyPr wrap="square">
            <a:spAutoFit/>
          </a:bodyPr>
          <a:lstStyle/>
          <a:p>
            <a:pPr marL="285750" indent="-285750" algn="l">
              <a:lnSpc>
                <a:spcPct val="150000"/>
              </a:lnSpc>
              <a:buFont typeface="Wingdings" panose="05000000000000000000" pitchFamily="2" charset="2"/>
              <a:buChar char="ü"/>
            </a:pPr>
            <a:r>
              <a:rPr lang="zh-CN" altLang="en-US" b="1" i="0">
                <a:solidFill>
                  <a:srgbClr val="956FE7"/>
                </a:solidFill>
                <a:effectLst/>
                <a:latin typeface="Times New Roman" panose="02020503050405090304" pitchFamily="18" charset="0"/>
              </a:rPr>
              <a:t>预训练模型：</a:t>
            </a:r>
            <a:r>
              <a:rPr lang="zh-CN" altLang="en-US" b="0" i="0">
                <a:solidFill>
                  <a:srgbClr val="0D0016"/>
                </a:solidFill>
                <a:effectLst/>
                <a:latin typeface="Times New Roman" panose="02020503050405090304" pitchFamily="18" charset="0"/>
              </a:rPr>
              <a:t>即首先在一个原任务上预先训练一个初始模型，然后在下游任务（也称目标任务）上继续对该模型进行精调（</a:t>
            </a:r>
            <a:r>
              <a:rPr lang="en-US" altLang="zh-CN" b="0" i="0">
                <a:solidFill>
                  <a:srgbClr val="0D0016"/>
                </a:solidFill>
                <a:effectLst/>
                <a:latin typeface="Times New Roman" panose="02020503050405090304" pitchFamily="18" charset="0"/>
              </a:rPr>
              <a:t>Fine-tune</a:t>
            </a:r>
            <a:r>
              <a:rPr lang="zh-CN" altLang="en-US" b="0" i="0">
                <a:solidFill>
                  <a:srgbClr val="0D0016"/>
                </a:solidFill>
                <a:effectLst/>
                <a:latin typeface="Times New Roman" panose="02020503050405090304" pitchFamily="18" charset="0"/>
              </a:rPr>
              <a:t>），从而达到提高下游任务准确率的目的。在本质上，这也是迁移学习（</a:t>
            </a:r>
            <a:r>
              <a:rPr lang="en-US" altLang="zh-CN" b="0" i="0">
                <a:solidFill>
                  <a:srgbClr val="0D0016"/>
                </a:solidFill>
                <a:effectLst/>
                <a:latin typeface="Times New Roman" panose="02020503050405090304" pitchFamily="18" charset="0"/>
              </a:rPr>
              <a:t>Transfer Learning</a:t>
            </a:r>
            <a:r>
              <a:rPr lang="zh-CN" altLang="en-US" b="0" i="0">
                <a:solidFill>
                  <a:srgbClr val="0D0016"/>
                </a:solidFill>
                <a:effectLst/>
                <a:latin typeface="Times New Roman" panose="02020503050405090304" pitchFamily="18" charset="0"/>
              </a:rPr>
              <a:t>）思想的一种应用。</a:t>
            </a:r>
            <a:endParaRPr lang="zh-CN" altLang="en-US" b="0" i="0">
              <a:solidFill>
                <a:srgbClr val="333333"/>
              </a:solidFill>
              <a:effectLst/>
              <a:latin typeface="Times New Roman" panose="02020503050405090304" pitchFamily="18" charset="0"/>
            </a:endParaRPr>
          </a:p>
        </p:txBody>
      </p:sp>
      <p:sp>
        <p:nvSpPr>
          <p:cNvPr id="3" name="日期占位符 2"/>
          <p:cNvSpPr>
            <a:spLocks noGrp="1"/>
          </p:cNvSpPr>
          <p:nvPr>
            <p:ph type="dt" sz="half" idx="10"/>
          </p:nvPr>
        </p:nvSpPr>
        <p:spPr/>
        <p:txBody>
          <a:bodyPr/>
          <a:lstStyle/>
          <a:p>
            <a:fld id="{1F739231-6340-44E3-9466-62FDE5D44643}" type="datetime1">
              <a:rPr lang="zh-CN" altLang="en-US" smtClean="0"/>
            </a:fld>
            <a:endParaRPr lang="zh-CN" altLang="en-US"/>
          </a:p>
        </p:txBody>
      </p:sp>
      <p:sp>
        <p:nvSpPr>
          <p:cNvPr id="5" name="灯片编号占位符 4"/>
          <p:cNvSpPr>
            <a:spLocks noGrp="1"/>
          </p:cNvSpPr>
          <p:nvPr>
            <p:ph type="sldNum" sz="quarter" idx="12"/>
          </p:nvPr>
        </p:nvSpPr>
        <p:spPr/>
        <p:txBody>
          <a:bodyPr/>
          <a:lstStyle/>
          <a:p>
            <a:fld id="{82952373-7980-4DA7-9ADE-54D716DB38BB}" type="slidenum">
              <a:rPr lang="zh-CN" altLang="en-US" smtClean="0"/>
            </a:fld>
            <a:endParaRPr lang="zh-CN" altLang="en-US"/>
          </a:p>
        </p:txBody>
      </p:sp>
    </p:spTree>
  </p:cSld>
  <p:clrMapOvr>
    <a:masterClrMapping/>
  </p:clrMapOvr>
  <mc:AlternateContent xmlns:mc="http://schemas.openxmlformats.org/markup-compatibility/2006">
    <mc:Choice xmlns:p14="http://schemas.microsoft.com/office/powerpoint/2010/main" Requires="p14">
      <p:transition p14:dur="0"/>
    </mc:Choice>
    <mc:Fallback>
      <p:transition/>
    </mc:Fallback>
  </mc:AlternateContent>
</p:sld>
</file>

<file path=ppt/slides/slide9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en-US" altLang="zh-CN" sz="2400" b="1">
                <a:solidFill>
                  <a:srgbClr val="004C41"/>
                </a:solidFill>
                <a:ea typeface="宋体" pitchFamily="2" charset="-122"/>
                <a:cs typeface="+mn-ea"/>
                <a:sym typeface="+mn-lt"/>
              </a:rPr>
              <a:t>1.</a:t>
            </a:r>
            <a:r>
              <a:rPr lang="zh-CN" altLang="en-US" sz="2400" b="1">
                <a:solidFill>
                  <a:srgbClr val="004C41"/>
                </a:solidFill>
                <a:ea typeface="宋体" pitchFamily="2" charset="-122"/>
                <a:cs typeface="+mn-ea"/>
                <a:sym typeface="+mn-lt"/>
              </a:rPr>
              <a:t>技术发展趋势</a:t>
            </a:r>
            <a:endParaRPr lang="zh-CN" altLang="en-US">
              <a:ea typeface="宋体" pitchFamily="2" charset="-122"/>
            </a:endParaRPr>
          </a:p>
        </p:txBody>
      </p:sp>
      <p:sp>
        <p:nvSpPr>
          <p:cNvPr id="6" name="文本框 5"/>
          <p:cNvSpPr txBox="1"/>
          <p:nvPr/>
        </p:nvSpPr>
        <p:spPr>
          <a:xfrm>
            <a:off x="584074" y="1161608"/>
            <a:ext cx="8102727" cy="1892249"/>
          </a:xfrm>
          <a:prstGeom prst="rect">
            <a:avLst/>
          </a:prstGeom>
          <a:noFill/>
        </p:spPr>
        <p:txBody>
          <a:bodyPr wrap="square">
            <a:spAutoFit/>
          </a:bodyPr>
          <a:lstStyle/>
          <a:p>
            <a:pPr marL="285750" indent="-285750" algn="l">
              <a:lnSpc>
                <a:spcPct val="150000"/>
              </a:lnSpc>
              <a:buFont typeface="Wingdings" panose="05000000000000000000" pitchFamily="2" charset="2"/>
              <a:buChar char="ü"/>
            </a:pPr>
            <a:r>
              <a:rPr lang="zh-CN" altLang="en-US" sz="1600" b="1" i="0">
                <a:solidFill>
                  <a:srgbClr val="956FE7"/>
                </a:solidFill>
                <a:effectLst/>
                <a:latin typeface="Times New Roman" panose="02020503050405090304" pitchFamily="18" charset="0"/>
              </a:rPr>
              <a:t>自监督学习（</a:t>
            </a:r>
            <a:r>
              <a:rPr lang="en-US" altLang="zh-CN" sz="1600" b="1" i="0">
                <a:solidFill>
                  <a:srgbClr val="956FE7"/>
                </a:solidFill>
                <a:effectLst/>
                <a:latin typeface="Times New Roman" panose="02020503050405090304" pitchFamily="18" charset="0"/>
              </a:rPr>
              <a:t>self-supervised learning</a:t>
            </a:r>
            <a:r>
              <a:rPr lang="zh-CN" altLang="en-US" sz="1600" b="1" i="0">
                <a:solidFill>
                  <a:srgbClr val="956FE7"/>
                </a:solidFill>
                <a:effectLst/>
                <a:latin typeface="Times New Roman" panose="02020503050405090304" pitchFamily="18" charset="0"/>
              </a:rPr>
              <a:t>）：</a:t>
            </a:r>
            <a:r>
              <a:rPr lang="zh-CN" altLang="en-US" sz="1600" b="0" i="0">
                <a:solidFill>
                  <a:srgbClr val="404040"/>
                </a:solidFill>
                <a:effectLst/>
                <a:latin typeface="Inter"/>
              </a:rPr>
              <a:t>“自监督”意味着用于预训练的监督信息是从原始数据中自动收集的，而无需人工标注。</a:t>
            </a:r>
            <a:r>
              <a:rPr lang="zh-CN" altLang="en-US" sz="1600" b="0" i="0" u="sng">
                <a:solidFill>
                  <a:srgbClr val="1A439C"/>
                </a:solidFill>
                <a:effectLst/>
                <a:latin typeface="Times New Roman" panose="02020503050405090304" pitchFamily="18" charset="0"/>
              </a:rPr>
              <a:t>文本自身的顺序性就是一种天然的标注数据，通过若干连续出现的词语预测下一个词语（又称语言模型）就可以构成一项原任务</a:t>
            </a:r>
            <a:r>
              <a:rPr lang="zh-CN" altLang="en-US" sz="1600" b="0" i="0">
                <a:solidFill>
                  <a:srgbClr val="333333"/>
                </a:solidFill>
                <a:effectLst/>
                <a:latin typeface="Times New Roman" panose="02020503050405090304" pitchFamily="18" charset="0"/>
              </a:rPr>
              <a:t>。由于图书、网页等文本数据规模近乎无限，所以，可以非常容易地获得超大规模的预训练数据。这种不需要人工标注数据的预训练学习方法称为自监督学习。</a:t>
            </a:r>
            <a:endParaRPr lang="zh-CN" altLang="en-US" sz="1600" b="0" i="0">
              <a:solidFill>
                <a:srgbClr val="333333"/>
              </a:solidFill>
              <a:effectLst/>
              <a:latin typeface="Times New Roman" panose="02020503050405090304" pitchFamily="18" charset="0"/>
            </a:endParaRPr>
          </a:p>
        </p:txBody>
      </p:sp>
      <p:sp>
        <p:nvSpPr>
          <p:cNvPr id="3" name="日期占位符 2"/>
          <p:cNvSpPr>
            <a:spLocks noGrp="1"/>
          </p:cNvSpPr>
          <p:nvPr>
            <p:ph type="dt" sz="half" idx="10"/>
          </p:nvPr>
        </p:nvSpPr>
        <p:spPr/>
        <p:txBody>
          <a:bodyPr/>
          <a:lstStyle/>
          <a:p>
            <a:fld id="{1F739231-6340-44E3-9466-62FDE5D44643}" type="datetime1">
              <a:rPr lang="zh-CN" altLang="en-US" smtClean="0"/>
            </a:fld>
            <a:endParaRPr lang="zh-CN" altLang="en-US"/>
          </a:p>
        </p:txBody>
      </p:sp>
      <p:sp>
        <p:nvSpPr>
          <p:cNvPr id="5" name="灯片编号占位符 4"/>
          <p:cNvSpPr>
            <a:spLocks noGrp="1"/>
          </p:cNvSpPr>
          <p:nvPr>
            <p:ph type="sldNum" sz="quarter" idx="12"/>
          </p:nvPr>
        </p:nvSpPr>
        <p:spPr/>
        <p:txBody>
          <a:bodyPr/>
          <a:lstStyle/>
          <a:p>
            <a:fld id="{82952373-7980-4DA7-9ADE-54D716DB38BB}" type="slidenum">
              <a:rPr lang="zh-CN" altLang="en-US" smtClean="0"/>
            </a:fld>
            <a:endParaRPr lang="zh-CN" altLang="en-US"/>
          </a:p>
        </p:txBody>
      </p:sp>
    </p:spTree>
  </p:cSld>
  <p:clrMapOvr>
    <a:masterClrMapping/>
  </p:clrMapOvr>
  <mc:AlternateContent xmlns:mc="http://schemas.openxmlformats.org/markup-compatibility/2006">
    <mc:Choice xmlns:p14="http://schemas.microsoft.com/office/powerpoint/2010/main" Requires="p14">
      <p:transition p14:dur="0"/>
    </mc:Choice>
    <mc:Fallback>
      <p:transition/>
    </mc:Fallback>
  </mc:AlternateContent>
</p:sld>
</file>

<file path=ppt/slides/slide9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文本框 3" descr="7b0a202020202262756c6c6574223a20227b5c2263617465676f727949645c223a31303030362c5c2274656d706c61746549645c223a32303233313236327d220a7d0a"/>
          <p:cNvSpPr txBox="1"/>
          <p:nvPr/>
        </p:nvSpPr>
        <p:spPr>
          <a:xfrm>
            <a:off x="447675" y="999723"/>
            <a:ext cx="8248649" cy="3738909"/>
          </a:xfrm>
          <a:prstGeom prst="rect">
            <a:avLst/>
          </a:prstGeom>
          <a:ln>
            <a:noFill/>
          </a:ln>
        </p:spPr>
        <p:style>
          <a:lnRef idx="2">
            <a:schemeClr val="dk1"/>
          </a:lnRef>
          <a:fillRef idx="1">
            <a:schemeClr val="lt1"/>
          </a:fillRef>
          <a:effectRef idx="0">
            <a:schemeClr val="dk1"/>
          </a:effectRef>
          <a:fontRef idx="minor">
            <a:schemeClr val="dk1"/>
          </a:fontRef>
        </p:style>
        <p:txBody>
          <a:bodyPr wrap="square" rtlCol="0" anchor="t">
            <a:spAutoFit/>
          </a:bodyPr>
          <a:lstStyle/>
          <a:p>
            <a:pPr>
              <a:lnSpc>
                <a:spcPct val="150000"/>
              </a:lnSpc>
            </a:pPr>
            <a:r>
              <a:rPr lang="zh-CN" altLang="en-US" sz="1600" dirty="0">
                <a:latin typeface="Times New Roman" panose="02020503050405090304" pitchFamily="18" charset="0"/>
                <a:ea typeface="宋体" pitchFamily="2" charset="-122"/>
              </a:rPr>
              <a:t>（</a:t>
            </a:r>
            <a:r>
              <a:rPr lang="en-US" altLang="zh-CN" sz="1600" dirty="0">
                <a:latin typeface="Times New Roman" panose="02020503050405090304" pitchFamily="18" charset="0"/>
                <a:ea typeface="宋体" pitchFamily="2" charset="-122"/>
              </a:rPr>
              <a:t>1</a:t>
            </a:r>
            <a:r>
              <a:rPr lang="zh-CN" altLang="en-US" sz="1600" dirty="0">
                <a:latin typeface="Times New Roman" panose="02020503050405090304" pitchFamily="18" charset="0"/>
                <a:ea typeface="宋体" pitchFamily="2" charset="-122"/>
              </a:rPr>
              <a:t>）应用发展现状：</a:t>
            </a:r>
            <a:endParaRPr lang="zh-CN" altLang="en-US" sz="1600" dirty="0">
              <a:latin typeface="Times New Roman" panose="02020503050405090304" pitchFamily="18" charset="0"/>
              <a:ea typeface="宋体" pitchFamily="2" charset="-122"/>
            </a:endParaRPr>
          </a:p>
          <a:p>
            <a:pPr>
              <a:lnSpc>
                <a:spcPct val="150000"/>
              </a:lnSpc>
            </a:pPr>
            <a:r>
              <a:rPr lang="en-US" altLang="zh-CN" sz="1600" dirty="0">
                <a:latin typeface="Times New Roman" panose="02020503050405090304" pitchFamily="18" charset="0"/>
                <a:ea typeface="宋体" pitchFamily="2" charset="-122"/>
              </a:rPr>
              <a:t>      </a:t>
            </a:r>
            <a:r>
              <a:rPr lang="zh-CN" altLang="en-US" sz="1600" dirty="0">
                <a:solidFill>
                  <a:srgbClr val="FF0000"/>
                </a:solidFill>
                <a:latin typeface="Times New Roman" panose="02020503050405090304" pitchFamily="18" charset="0"/>
                <a:ea typeface="宋体" pitchFamily="2" charset="-122"/>
              </a:rPr>
              <a:t>当前应用比较成熟的任务：信息检索、机器翻译、文本分类等。</a:t>
            </a:r>
            <a:endParaRPr lang="zh-CN" altLang="en-US" sz="1600" dirty="0">
              <a:latin typeface="Times New Roman" panose="02020503050405090304" pitchFamily="18" charset="0"/>
              <a:ea typeface="宋体" pitchFamily="2" charset="-122"/>
            </a:endParaRPr>
          </a:p>
          <a:p>
            <a:pPr>
              <a:lnSpc>
                <a:spcPct val="150000"/>
              </a:lnSpc>
            </a:pPr>
            <a:r>
              <a:rPr lang="zh-CN" altLang="en-US" sz="1600" dirty="0">
                <a:latin typeface="Times New Roman" panose="02020503050405090304" pitchFamily="18" charset="0"/>
                <a:ea typeface="宋体" pitchFamily="2" charset="-122"/>
              </a:rPr>
              <a:t> </a:t>
            </a:r>
            <a:r>
              <a:rPr lang="en-US" altLang="zh-CN" sz="1600" dirty="0">
                <a:latin typeface="Times New Roman" panose="02020503050405090304" pitchFamily="18" charset="0"/>
                <a:ea typeface="宋体" pitchFamily="2" charset="-122"/>
              </a:rPr>
              <a:t>    </a:t>
            </a:r>
            <a:r>
              <a:rPr lang="en-US" altLang="zh-CN" sz="1600" dirty="0">
                <a:gradFill>
                  <a:gsLst>
                    <a:gs pos="0">
                      <a:srgbClr val="7B32B2"/>
                    </a:gs>
                    <a:gs pos="100000">
                      <a:srgbClr val="401A5D"/>
                    </a:gs>
                  </a:gsLst>
                  <a:lin scaled="0"/>
                </a:gradFill>
                <a:latin typeface="Times New Roman" panose="02020503050405090304" pitchFamily="18" charset="0"/>
                <a:ea typeface="宋体" pitchFamily="2" charset="-122"/>
              </a:rPr>
              <a:t> </a:t>
            </a:r>
            <a:r>
              <a:rPr lang="zh-CN" altLang="en-US" sz="1600" dirty="0">
                <a:gradFill>
                  <a:gsLst>
                    <a:gs pos="0">
                      <a:srgbClr val="7B32B2"/>
                    </a:gs>
                    <a:gs pos="100000">
                      <a:srgbClr val="401A5D"/>
                    </a:gs>
                  </a:gsLst>
                  <a:lin scaled="0"/>
                </a:gradFill>
                <a:latin typeface="Times New Roman" panose="02020503050405090304" pitchFamily="18" charset="0"/>
                <a:ea typeface="宋体" pitchFamily="2" charset="-122"/>
              </a:rPr>
              <a:t>当前已经开始商业应用尝试、但是还不成熟的领域：</a:t>
            </a:r>
            <a:r>
              <a:rPr lang="zh-CN" altLang="en-US" sz="1600" dirty="0">
                <a:gradFill>
                  <a:gsLst>
                    <a:gs pos="0">
                      <a:srgbClr val="7B32B2"/>
                    </a:gs>
                    <a:gs pos="100000">
                      <a:srgbClr val="401A5D"/>
                    </a:gs>
                  </a:gsLst>
                  <a:lin scaled="0"/>
                </a:gradFill>
                <a:latin typeface="Times New Roman" panose="02020503050405090304" pitchFamily="18" charset="0"/>
                <a:ea typeface="宋体" pitchFamily="2" charset="-122"/>
                <a:sym typeface="+mn-ea"/>
              </a:rPr>
              <a:t>信息抽取、文本生成、问答与聊天系统等。</a:t>
            </a:r>
            <a:endParaRPr lang="zh-CN" altLang="en-US" sz="1600" dirty="0">
              <a:gradFill>
                <a:gsLst>
                  <a:gs pos="0">
                    <a:srgbClr val="7B32B2"/>
                  </a:gs>
                  <a:gs pos="100000">
                    <a:srgbClr val="401A5D"/>
                  </a:gs>
                </a:gsLst>
                <a:lin scaled="0"/>
              </a:gradFill>
              <a:latin typeface="Times New Roman" panose="02020503050405090304" pitchFamily="18" charset="0"/>
              <a:ea typeface="宋体" pitchFamily="2" charset="-122"/>
            </a:endParaRPr>
          </a:p>
          <a:p>
            <a:pPr>
              <a:lnSpc>
                <a:spcPct val="150000"/>
              </a:lnSpc>
            </a:pPr>
            <a:r>
              <a:rPr lang="zh-CN" altLang="en-US" sz="1600" dirty="0">
                <a:latin typeface="Times New Roman" panose="02020503050405090304" pitchFamily="18" charset="0"/>
                <a:ea typeface="宋体" pitchFamily="2" charset="-122"/>
              </a:rPr>
              <a:t>（</a:t>
            </a:r>
            <a:r>
              <a:rPr lang="en-US" altLang="zh-CN" sz="1600" dirty="0">
                <a:latin typeface="Times New Roman" panose="02020503050405090304" pitchFamily="18" charset="0"/>
                <a:ea typeface="宋体" pitchFamily="2" charset="-122"/>
              </a:rPr>
              <a:t>2</a:t>
            </a:r>
            <a:r>
              <a:rPr lang="zh-CN" altLang="en-US" sz="1600" dirty="0">
                <a:latin typeface="Times New Roman" panose="02020503050405090304" pitchFamily="18" charset="0"/>
                <a:ea typeface="宋体" pitchFamily="2" charset="-122"/>
              </a:rPr>
              <a:t>）应用发展趋势：</a:t>
            </a:r>
            <a:endParaRPr lang="zh-CN" altLang="en-US" sz="1600" dirty="0">
              <a:latin typeface="Times New Roman" panose="02020503050405090304" pitchFamily="18" charset="0"/>
              <a:ea typeface="宋体" pitchFamily="2" charset="-122"/>
            </a:endParaRPr>
          </a:p>
          <a:p>
            <a:pPr>
              <a:lnSpc>
                <a:spcPct val="150000"/>
              </a:lnSpc>
            </a:pPr>
            <a:r>
              <a:rPr lang="zh-CN" altLang="en-US" sz="1600" dirty="0">
                <a:latin typeface="Times New Roman" panose="02020503050405090304" pitchFamily="18" charset="0"/>
                <a:ea typeface="宋体" pitchFamily="2" charset="-122"/>
              </a:rPr>
              <a:t> </a:t>
            </a:r>
            <a:r>
              <a:rPr lang="en-US" altLang="zh-CN" sz="1600" dirty="0">
                <a:latin typeface="Times New Roman" panose="02020503050405090304" pitchFamily="18" charset="0"/>
                <a:ea typeface="宋体" pitchFamily="2" charset="-122"/>
              </a:rPr>
              <a:t>     </a:t>
            </a:r>
            <a:r>
              <a:rPr lang="zh-CN" altLang="en-US" sz="1600" dirty="0">
                <a:solidFill>
                  <a:srgbClr val="FF0000"/>
                </a:solidFill>
                <a:latin typeface="Times New Roman" panose="02020503050405090304" pitchFamily="18" charset="0"/>
                <a:ea typeface="宋体" pitchFamily="2" charset="-122"/>
                <a:sym typeface="+mn-ea"/>
              </a:rPr>
              <a:t>NLP在更多领域取得突破，将为行业创造更大的价值。</a:t>
            </a:r>
            <a:endParaRPr lang="zh-CN" altLang="en-US" sz="1600" dirty="0">
              <a:solidFill>
                <a:srgbClr val="FF0000"/>
              </a:solidFill>
              <a:latin typeface="Times New Roman" panose="02020503050405090304" pitchFamily="18" charset="0"/>
              <a:ea typeface="宋体" pitchFamily="2" charset="-122"/>
            </a:endParaRPr>
          </a:p>
          <a:p>
            <a:pPr>
              <a:lnSpc>
                <a:spcPct val="150000"/>
              </a:lnSpc>
            </a:pPr>
            <a:r>
              <a:rPr lang="zh-CN" altLang="en-US" sz="1600" dirty="0">
                <a:latin typeface="Times New Roman" panose="02020503050405090304" pitchFamily="18" charset="0"/>
                <a:ea typeface="宋体" pitchFamily="2" charset="-122"/>
              </a:rPr>
              <a:t> </a:t>
            </a:r>
            <a:r>
              <a:rPr lang="en-US" altLang="zh-CN" sz="1600" dirty="0">
                <a:latin typeface="Times New Roman" panose="02020503050405090304" pitchFamily="18" charset="0"/>
                <a:ea typeface="宋体" pitchFamily="2" charset="-122"/>
              </a:rPr>
              <a:t>     </a:t>
            </a:r>
            <a:r>
              <a:rPr lang="zh-CN" altLang="en-US" sz="1600" dirty="0">
                <a:gradFill>
                  <a:gsLst>
                    <a:gs pos="0">
                      <a:srgbClr val="7B32B2"/>
                    </a:gs>
                    <a:gs pos="100000">
                      <a:srgbClr val="401A5D"/>
                    </a:gs>
                  </a:gsLst>
                  <a:lin scaled="0"/>
                </a:gradFill>
                <a:latin typeface="Times New Roman" panose="02020503050405090304" pitchFamily="18" charset="0"/>
                <a:ea typeface="宋体" pitchFamily="2" charset="-122"/>
              </a:rPr>
              <a:t>NLP 平台从封闭走向开放（实现开放领域应用），从单模态走向</a:t>
            </a:r>
            <a:r>
              <a:rPr lang="zh-CN" altLang="en-US" sz="1600">
                <a:gradFill>
                  <a:gsLst>
                    <a:gs pos="0">
                      <a:srgbClr val="7B32B2"/>
                    </a:gs>
                    <a:gs pos="100000">
                      <a:srgbClr val="401A5D"/>
                    </a:gs>
                  </a:gsLst>
                  <a:lin scaled="0"/>
                </a:gradFill>
                <a:latin typeface="Times New Roman" panose="02020503050405090304" pitchFamily="18" charset="0"/>
                <a:ea typeface="宋体" pitchFamily="2" charset="-122"/>
              </a:rPr>
              <a:t>多模态（与视觉</a:t>
            </a:r>
            <a:r>
              <a:rPr lang="zh-CN" altLang="en-US" sz="1600" dirty="0">
                <a:gradFill>
                  <a:gsLst>
                    <a:gs pos="0">
                      <a:srgbClr val="7B32B2"/>
                    </a:gs>
                    <a:gs pos="100000">
                      <a:srgbClr val="401A5D"/>
                    </a:gs>
                  </a:gsLst>
                  <a:lin scaled="0"/>
                </a:gradFill>
                <a:latin typeface="Times New Roman" panose="02020503050405090304" pitchFamily="18" charset="0"/>
                <a:ea typeface="宋体" pitchFamily="2" charset="-122"/>
              </a:rPr>
              <a:t>技术、听觉技术、触觉技术和其他系统</a:t>
            </a:r>
            <a:r>
              <a:rPr lang="zh-CN" altLang="en-US" sz="1600">
                <a:gradFill>
                  <a:gsLst>
                    <a:gs pos="0">
                      <a:srgbClr val="7B32B2"/>
                    </a:gs>
                    <a:gs pos="100000">
                      <a:srgbClr val="401A5D"/>
                    </a:gs>
                  </a:gsLst>
                  <a:lin scaled="0"/>
                </a:gradFill>
                <a:latin typeface="Times New Roman" panose="02020503050405090304" pitchFamily="18" charset="0"/>
                <a:ea typeface="宋体" pitchFamily="2" charset="-122"/>
              </a:rPr>
              <a:t>高度融合，例如</a:t>
            </a:r>
            <a:r>
              <a:rPr lang="en-US" altLang="zh-CN" sz="1600">
                <a:gradFill>
                  <a:gsLst>
                    <a:gs pos="0">
                      <a:srgbClr val="7B32B2"/>
                    </a:gs>
                    <a:gs pos="100000">
                      <a:srgbClr val="401A5D"/>
                    </a:gs>
                  </a:gsLst>
                  <a:lin scaled="0"/>
                </a:gradFill>
                <a:latin typeface="Times New Roman" panose="02020503050405090304" pitchFamily="18" charset="0"/>
                <a:ea typeface="宋体" pitchFamily="2" charset="-122"/>
              </a:rPr>
              <a:t>VQA</a:t>
            </a:r>
            <a:r>
              <a:rPr lang="zh-CN" altLang="en-US" sz="1600">
                <a:gradFill>
                  <a:gsLst>
                    <a:gs pos="0">
                      <a:srgbClr val="7B32B2"/>
                    </a:gs>
                    <a:gs pos="100000">
                      <a:srgbClr val="401A5D"/>
                    </a:gs>
                  </a:gsLst>
                  <a:lin scaled="0"/>
                </a:gradFill>
                <a:latin typeface="Times New Roman" panose="02020503050405090304" pitchFamily="18" charset="0"/>
                <a:ea typeface="宋体" pitchFamily="2" charset="-122"/>
              </a:rPr>
              <a:t>（</a:t>
            </a:r>
            <a:r>
              <a:rPr lang="en-US" altLang="zh-CN" sz="1600">
                <a:gradFill>
                  <a:gsLst>
                    <a:gs pos="0">
                      <a:srgbClr val="7B32B2"/>
                    </a:gs>
                    <a:gs pos="100000">
                      <a:srgbClr val="401A5D"/>
                    </a:gs>
                  </a:gsLst>
                  <a:lin scaled="0"/>
                </a:gradFill>
                <a:latin typeface="Times New Roman" panose="02020503050405090304" pitchFamily="18" charset="0"/>
                <a:ea typeface="宋体" pitchFamily="2" charset="-122"/>
              </a:rPr>
              <a:t>Visual Question Answering</a:t>
            </a:r>
            <a:r>
              <a:rPr lang="zh-CN" altLang="en-US" sz="1600">
                <a:gradFill>
                  <a:gsLst>
                    <a:gs pos="0">
                      <a:srgbClr val="7B32B2"/>
                    </a:gs>
                    <a:gs pos="100000">
                      <a:srgbClr val="401A5D"/>
                    </a:gs>
                  </a:gsLst>
                  <a:lin scaled="0"/>
                </a:gradFill>
                <a:latin typeface="Times New Roman" panose="02020503050405090304" pitchFamily="18" charset="0"/>
                <a:ea typeface="宋体" pitchFamily="2" charset="-122"/>
              </a:rPr>
              <a:t>，视觉问答）旨在通过理解图像内容并回答与之相关的自然语言问题。</a:t>
            </a:r>
            <a:r>
              <a:rPr lang="en-US" altLang="zh-CN" sz="1600">
                <a:gradFill>
                  <a:gsLst>
                    <a:gs pos="0">
                      <a:srgbClr val="7B32B2"/>
                    </a:gs>
                    <a:gs pos="100000">
                      <a:srgbClr val="401A5D"/>
                    </a:gs>
                  </a:gsLst>
                  <a:lin scaled="0"/>
                </a:gradFill>
                <a:latin typeface="Times New Roman" panose="02020503050405090304" pitchFamily="18" charset="0"/>
                <a:ea typeface="宋体" pitchFamily="2" charset="-122"/>
              </a:rPr>
              <a:t>VQA</a:t>
            </a:r>
            <a:r>
              <a:rPr lang="zh-CN" altLang="en-US" sz="1600">
                <a:gradFill>
                  <a:gsLst>
                    <a:gs pos="0">
                      <a:srgbClr val="7B32B2"/>
                    </a:gs>
                    <a:gs pos="100000">
                      <a:srgbClr val="401A5D"/>
                    </a:gs>
                  </a:gsLst>
                  <a:lin scaled="0"/>
                </a:gradFill>
                <a:latin typeface="Times New Roman" panose="02020503050405090304" pitchFamily="18" charset="0"/>
                <a:ea typeface="宋体" pitchFamily="2" charset="-122"/>
              </a:rPr>
              <a:t>模型需要同时处理图像和文本信息，生成准确的自然语言答案。）</a:t>
            </a:r>
            <a:r>
              <a:rPr lang="zh-CN" altLang="en-US" sz="1600" dirty="0">
                <a:gradFill>
                  <a:gsLst>
                    <a:gs pos="0">
                      <a:srgbClr val="7B32B2"/>
                    </a:gs>
                    <a:gs pos="100000">
                      <a:srgbClr val="401A5D"/>
                    </a:gs>
                  </a:gsLst>
                  <a:lin scaled="0"/>
                </a:gradFill>
                <a:latin typeface="Times New Roman" panose="02020503050405090304" pitchFamily="18" charset="0"/>
                <a:ea typeface="宋体" pitchFamily="2" charset="-122"/>
              </a:rPr>
              <a:t>。</a:t>
            </a:r>
            <a:endParaRPr lang="zh-CN" altLang="en-US" sz="1600" dirty="0">
              <a:gradFill>
                <a:gsLst>
                  <a:gs pos="100000">
                    <a:srgbClr val="7C5E29"/>
                  </a:gs>
                  <a:gs pos="0">
                    <a:srgbClr val="CAAF4E"/>
                  </a:gs>
                </a:gsLst>
                <a:lin scaled="1"/>
              </a:gradFill>
              <a:latin typeface="Times New Roman" panose="02020503050405090304" pitchFamily="18" charset="0"/>
              <a:ea typeface="宋体" pitchFamily="2" charset="-122"/>
            </a:endParaRPr>
          </a:p>
        </p:txBody>
      </p:sp>
      <p:sp>
        <p:nvSpPr>
          <p:cNvPr id="8" name="标题 7"/>
          <p:cNvSpPr>
            <a:spLocks noGrp="1"/>
          </p:cNvSpPr>
          <p:nvPr>
            <p:ph type="title"/>
          </p:nvPr>
        </p:nvSpPr>
        <p:spPr>
          <a:xfrm>
            <a:off x="362424" y="17120"/>
            <a:ext cx="8781575" cy="702469"/>
          </a:xfrm>
        </p:spPr>
        <p:txBody>
          <a:bodyPr/>
          <a:lstStyle/>
          <a:p>
            <a:r>
              <a:rPr lang="en-US" altLang="zh-CN" sz="2400" b="1">
                <a:solidFill>
                  <a:srgbClr val="004C41"/>
                </a:solidFill>
                <a:ea typeface="宋体" pitchFamily="2" charset="-122"/>
                <a:cs typeface="+mn-ea"/>
                <a:sym typeface="+mn-lt"/>
              </a:rPr>
              <a:t>2.</a:t>
            </a:r>
            <a:r>
              <a:rPr lang="zh-CN" altLang="en-US" sz="2400" b="1">
                <a:solidFill>
                  <a:srgbClr val="004C41"/>
                </a:solidFill>
                <a:ea typeface="宋体" pitchFamily="2" charset="-122"/>
                <a:cs typeface="+mn-ea"/>
                <a:sym typeface="+mn-lt"/>
              </a:rPr>
              <a:t>应用发展趋势</a:t>
            </a:r>
            <a:endParaRPr lang="zh-CN" altLang="en-US">
              <a:ea typeface="宋体" pitchFamily="2" charset="-122"/>
            </a:endParaRPr>
          </a:p>
        </p:txBody>
      </p:sp>
      <p:sp>
        <p:nvSpPr>
          <p:cNvPr id="2" name="日期占位符 1"/>
          <p:cNvSpPr>
            <a:spLocks noGrp="1"/>
          </p:cNvSpPr>
          <p:nvPr>
            <p:ph type="dt" sz="half" idx="10"/>
          </p:nvPr>
        </p:nvSpPr>
        <p:spPr/>
        <p:txBody>
          <a:bodyPr/>
          <a:lstStyle/>
          <a:p>
            <a:fld id="{CD88A1B5-B9A6-4073-A91E-EF806F2EFF24}" type="datetime1">
              <a:rPr lang="zh-CN" altLang="en-US" smtClean="0"/>
            </a:fld>
            <a:endParaRPr lang="zh-CN" altLang="en-US"/>
          </a:p>
        </p:txBody>
      </p:sp>
      <p:sp>
        <p:nvSpPr>
          <p:cNvPr id="3" name="灯片编号占位符 2"/>
          <p:cNvSpPr>
            <a:spLocks noGrp="1"/>
          </p:cNvSpPr>
          <p:nvPr>
            <p:ph type="sldNum" sz="quarter" idx="12"/>
          </p:nvPr>
        </p:nvSpPr>
        <p:spPr/>
        <p:txBody>
          <a:bodyPr/>
          <a:lstStyle/>
          <a:p>
            <a:fld id="{82952373-7980-4DA7-9ADE-54D716DB38BB}" type="slidenum">
              <a:rPr lang="zh-CN" altLang="en-US" smtClean="0"/>
            </a:fld>
            <a:endParaRPr lang="zh-CN" altLang="en-US"/>
          </a:p>
        </p:txBody>
      </p:sp>
    </p:spTree>
  </p:cSld>
  <p:clrMapOvr>
    <a:masterClrMapping/>
  </p:clrMapOvr>
  <mc:AlternateContent xmlns:mc="http://schemas.openxmlformats.org/markup-compatibility/2006">
    <mc:Choice xmlns:p14="http://schemas.microsoft.com/office/powerpoint/2010/main" Requires="p14">
      <p:transition p14:dur="0"/>
    </mc:Choice>
    <mc:Fallback>
      <p:transition/>
    </mc:Fallback>
  </mc:AlternateContent>
</p:sld>
</file>

<file path=ppt/slides/slide9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en-US" altLang="zh-CN" sz="2400" b="1">
                <a:solidFill>
                  <a:srgbClr val="004C41"/>
                </a:solidFill>
                <a:ea typeface="宋体" pitchFamily="2" charset="-122"/>
                <a:cs typeface="+mn-ea"/>
                <a:sym typeface="+mn-lt"/>
              </a:rPr>
              <a:t>2.</a:t>
            </a:r>
            <a:r>
              <a:rPr lang="zh-CN" altLang="en-US" sz="2400" b="1">
                <a:solidFill>
                  <a:srgbClr val="004C41"/>
                </a:solidFill>
                <a:ea typeface="宋体" pitchFamily="2" charset="-122"/>
                <a:cs typeface="+mn-ea"/>
                <a:sym typeface="+mn-lt"/>
              </a:rPr>
              <a:t>应用发展趋势</a:t>
            </a:r>
            <a:endParaRPr lang="zh-CN" altLang="en-US"/>
          </a:p>
        </p:txBody>
      </p:sp>
      <p:sp>
        <p:nvSpPr>
          <p:cNvPr id="3" name="日期占位符 2"/>
          <p:cNvSpPr>
            <a:spLocks noGrp="1"/>
          </p:cNvSpPr>
          <p:nvPr>
            <p:ph type="dt" sz="half" idx="10"/>
          </p:nvPr>
        </p:nvSpPr>
        <p:spPr/>
        <p:txBody>
          <a:bodyPr/>
          <a:lstStyle/>
          <a:p>
            <a:fld id="{59EA5E4C-3639-4B8B-822E-E7371B831F99}" type="datetime1">
              <a:rPr lang="zh-CN" altLang="en-US" smtClean="0"/>
            </a:fld>
            <a:endParaRPr lang="zh-CN" altLang="en-US"/>
          </a:p>
        </p:txBody>
      </p:sp>
      <p:sp>
        <p:nvSpPr>
          <p:cNvPr id="4" name="灯片编号占位符 3"/>
          <p:cNvSpPr>
            <a:spLocks noGrp="1"/>
          </p:cNvSpPr>
          <p:nvPr>
            <p:ph type="sldNum" sz="quarter" idx="12"/>
          </p:nvPr>
        </p:nvSpPr>
        <p:spPr/>
        <p:txBody>
          <a:bodyPr/>
          <a:lstStyle/>
          <a:p>
            <a:fld id="{82952373-7980-4DA7-9ADE-54D716DB38BB}" type="slidenum">
              <a:rPr lang="zh-CN" altLang="en-US" smtClean="0"/>
            </a:fld>
            <a:endParaRPr lang="zh-CN" altLang="en-US"/>
          </a:p>
        </p:txBody>
      </p:sp>
      <p:pic>
        <p:nvPicPr>
          <p:cNvPr id="5" name="图片 4"/>
          <p:cNvPicPr>
            <a:picLocks noChangeAspect="1"/>
          </p:cNvPicPr>
          <p:nvPr/>
        </p:nvPicPr>
        <p:blipFill>
          <a:blip r:embed="rId1"/>
          <a:stretch>
            <a:fillRect/>
          </a:stretch>
        </p:blipFill>
        <p:spPr>
          <a:xfrm>
            <a:off x="4502027" y="1203133"/>
            <a:ext cx="4327647" cy="2863460"/>
          </a:xfrm>
          <a:prstGeom prst="rect">
            <a:avLst/>
          </a:prstGeom>
        </p:spPr>
      </p:pic>
      <p:sp>
        <p:nvSpPr>
          <p:cNvPr id="7" name="文本框 6"/>
          <p:cNvSpPr txBox="1"/>
          <p:nvPr/>
        </p:nvSpPr>
        <p:spPr>
          <a:xfrm>
            <a:off x="416856" y="822133"/>
            <a:ext cx="3973384" cy="3784369"/>
          </a:xfrm>
          <a:prstGeom prst="rect">
            <a:avLst/>
          </a:prstGeom>
          <a:noFill/>
        </p:spPr>
        <p:txBody>
          <a:bodyPr wrap="square">
            <a:spAutoFit/>
          </a:bodyPr>
          <a:lstStyle/>
          <a:p>
            <a:pPr algn="l">
              <a:lnSpc>
                <a:spcPct val="150000"/>
              </a:lnSpc>
            </a:pPr>
            <a:r>
              <a:rPr lang="zh-CN" altLang="en-US" b="0" i="0">
                <a:solidFill>
                  <a:srgbClr val="191B1F"/>
                </a:solidFill>
                <a:effectLst/>
                <a:latin typeface="+mn-lt"/>
                <a:ea typeface="+mn-ea"/>
              </a:rPr>
              <a:t>根据下面给出的图像，想象一个可以回答这些问题：</a:t>
            </a:r>
            <a:endParaRPr lang="zh-CN" altLang="en-US" b="0" i="0">
              <a:solidFill>
                <a:srgbClr val="191B1F"/>
              </a:solidFill>
              <a:effectLst/>
              <a:latin typeface="+mn-lt"/>
              <a:ea typeface="+mn-ea"/>
            </a:endParaRPr>
          </a:p>
          <a:p>
            <a:pPr marL="285750" indent="-285750" algn="l">
              <a:lnSpc>
                <a:spcPct val="150000"/>
              </a:lnSpc>
              <a:buFont typeface="Wingdings" panose="05000000000000000000" pitchFamily="2" charset="2"/>
              <a:buChar char="ü"/>
            </a:pPr>
            <a:r>
              <a:rPr lang="zh-CN" altLang="en-US" b="0" i="0">
                <a:solidFill>
                  <a:srgbClr val="191B1F"/>
                </a:solidFill>
                <a:effectLst/>
                <a:latin typeface="+mn-lt"/>
                <a:ea typeface="+mn-ea"/>
              </a:rPr>
              <a:t>图像中有什么？</a:t>
            </a:r>
            <a:endParaRPr lang="zh-CN" altLang="en-US" b="0" i="0">
              <a:solidFill>
                <a:srgbClr val="191B1F"/>
              </a:solidFill>
              <a:effectLst/>
              <a:latin typeface="+mn-lt"/>
              <a:ea typeface="+mn-ea"/>
            </a:endParaRPr>
          </a:p>
          <a:p>
            <a:pPr marL="285750" indent="-285750" algn="l">
              <a:lnSpc>
                <a:spcPct val="150000"/>
              </a:lnSpc>
              <a:buFont typeface="Wingdings" panose="05000000000000000000" pitchFamily="2" charset="2"/>
              <a:buChar char="ü"/>
            </a:pPr>
            <a:r>
              <a:rPr lang="zh-CN" altLang="en-US" b="0" i="0">
                <a:solidFill>
                  <a:srgbClr val="191B1F"/>
                </a:solidFill>
                <a:effectLst/>
                <a:latin typeface="+mn-lt"/>
                <a:ea typeface="+mn-ea"/>
              </a:rPr>
              <a:t>图像中有人类吗</a:t>
            </a:r>
            <a:r>
              <a:rPr lang="en-US" altLang="zh-CN" b="0" i="0">
                <a:solidFill>
                  <a:srgbClr val="191B1F"/>
                </a:solidFill>
                <a:effectLst/>
                <a:latin typeface="+mn-lt"/>
                <a:ea typeface="+mn-ea"/>
              </a:rPr>
              <a:t>?</a:t>
            </a:r>
            <a:endParaRPr lang="en-US" altLang="zh-CN" b="0" i="0">
              <a:solidFill>
                <a:srgbClr val="191B1F"/>
              </a:solidFill>
              <a:effectLst/>
              <a:latin typeface="+mn-lt"/>
              <a:ea typeface="+mn-ea"/>
            </a:endParaRPr>
          </a:p>
          <a:p>
            <a:pPr marL="285750" indent="-285750" algn="l">
              <a:lnSpc>
                <a:spcPct val="150000"/>
              </a:lnSpc>
              <a:buFont typeface="Wingdings" panose="05000000000000000000" pitchFamily="2" charset="2"/>
              <a:buChar char="ü"/>
            </a:pPr>
            <a:r>
              <a:rPr lang="zh-CN" altLang="en-US" b="0" i="0">
                <a:solidFill>
                  <a:srgbClr val="191B1F"/>
                </a:solidFill>
                <a:effectLst/>
                <a:latin typeface="+mn-lt"/>
                <a:ea typeface="+mn-ea"/>
              </a:rPr>
              <a:t>什么运动正在进行？</a:t>
            </a:r>
            <a:endParaRPr lang="zh-CN" altLang="en-US" b="0" i="0">
              <a:solidFill>
                <a:srgbClr val="191B1F"/>
              </a:solidFill>
              <a:effectLst/>
              <a:latin typeface="+mn-lt"/>
              <a:ea typeface="+mn-ea"/>
            </a:endParaRPr>
          </a:p>
          <a:p>
            <a:pPr marL="285750" indent="-285750" algn="l">
              <a:lnSpc>
                <a:spcPct val="150000"/>
              </a:lnSpc>
              <a:buFont typeface="Wingdings" panose="05000000000000000000" pitchFamily="2" charset="2"/>
              <a:buChar char="ü"/>
            </a:pPr>
            <a:r>
              <a:rPr lang="zh-CN" altLang="en-US" b="0" i="0">
                <a:solidFill>
                  <a:srgbClr val="191B1F"/>
                </a:solidFill>
                <a:effectLst/>
                <a:latin typeface="+mn-lt"/>
                <a:ea typeface="+mn-ea"/>
              </a:rPr>
              <a:t>谁在踢球</a:t>
            </a:r>
            <a:r>
              <a:rPr lang="en-US" altLang="zh-CN" b="0" i="0">
                <a:solidFill>
                  <a:srgbClr val="191B1F"/>
                </a:solidFill>
                <a:effectLst/>
                <a:latin typeface="+mn-lt"/>
                <a:ea typeface="+mn-ea"/>
              </a:rPr>
              <a:t>?</a:t>
            </a:r>
            <a:endParaRPr lang="en-US" altLang="zh-CN" b="0" i="0">
              <a:solidFill>
                <a:srgbClr val="191B1F"/>
              </a:solidFill>
              <a:effectLst/>
              <a:latin typeface="+mn-lt"/>
              <a:ea typeface="+mn-ea"/>
            </a:endParaRPr>
          </a:p>
          <a:p>
            <a:pPr marL="285750" indent="-285750" algn="l">
              <a:lnSpc>
                <a:spcPct val="150000"/>
              </a:lnSpc>
              <a:buFont typeface="Wingdings" panose="05000000000000000000" pitchFamily="2" charset="2"/>
              <a:buChar char="ü"/>
            </a:pPr>
            <a:r>
              <a:rPr lang="zh-CN" altLang="en-US" b="0" i="0">
                <a:solidFill>
                  <a:srgbClr val="191B1F"/>
                </a:solidFill>
                <a:effectLst/>
                <a:latin typeface="+mn-lt"/>
                <a:ea typeface="+mn-ea"/>
              </a:rPr>
              <a:t>在图像中有多少球员？</a:t>
            </a:r>
            <a:endParaRPr lang="zh-CN" altLang="en-US" b="0" i="0">
              <a:solidFill>
                <a:srgbClr val="191B1F"/>
              </a:solidFill>
              <a:effectLst/>
              <a:latin typeface="+mn-lt"/>
              <a:ea typeface="+mn-ea"/>
            </a:endParaRPr>
          </a:p>
          <a:p>
            <a:pPr marL="285750" indent="-285750" algn="l">
              <a:lnSpc>
                <a:spcPct val="150000"/>
              </a:lnSpc>
              <a:buFont typeface="Wingdings" panose="05000000000000000000" pitchFamily="2" charset="2"/>
              <a:buChar char="ü"/>
            </a:pPr>
            <a:r>
              <a:rPr lang="zh-CN" altLang="en-US" b="0" i="0">
                <a:solidFill>
                  <a:srgbClr val="191B1F"/>
                </a:solidFill>
                <a:effectLst/>
                <a:latin typeface="+mn-lt"/>
                <a:ea typeface="+mn-ea"/>
              </a:rPr>
              <a:t>参赛者都有谁</a:t>
            </a:r>
            <a:r>
              <a:rPr lang="en-US" altLang="zh-CN" b="0" i="0">
                <a:solidFill>
                  <a:srgbClr val="191B1F"/>
                </a:solidFill>
                <a:effectLst/>
                <a:latin typeface="+mn-lt"/>
                <a:ea typeface="+mn-ea"/>
              </a:rPr>
              <a:t>?</a:t>
            </a:r>
            <a:endParaRPr lang="en-US" altLang="zh-CN" b="0" i="0">
              <a:solidFill>
                <a:srgbClr val="191B1F"/>
              </a:solidFill>
              <a:effectLst/>
              <a:latin typeface="+mn-lt"/>
              <a:ea typeface="+mn-ea"/>
            </a:endParaRPr>
          </a:p>
          <a:p>
            <a:pPr marL="285750" indent="-285750" algn="l">
              <a:lnSpc>
                <a:spcPct val="150000"/>
              </a:lnSpc>
              <a:buFont typeface="Wingdings" panose="05000000000000000000" pitchFamily="2" charset="2"/>
              <a:buChar char="ü"/>
            </a:pPr>
            <a:r>
              <a:rPr lang="zh-CN" altLang="en-US" b="0" i="0">
                <a:solidFill>
                  <a:srgbClr val="191B1F"/>
                </a:solidFill>
                <a:effectLst/>
                <a:latin typeface="+mn-lt"/>
                <a:ea typeface="+mn-ea"/>
              </a:rPr>
              <a:t>在下雨吗</a:t>
            </a:r>
            <a:r>
              <a:rPr lang="en-US" altLang="zh-CN" b="0" i="0">
                <a:solidFill>
                  <a:srgbClr val="191B1F"/>
                </a:solidFill>
                <a:effectLst/>
                <a:latin typeface="+mn-lt"/>
                <a:ea typeface="+mn-ea"/>
              </a:rPr>
              <a:t>?</a:t>
            </a:r>
            <a:endParaRPr lang="en-US" altLang="zh-CN" b="0" i="0">
              <a:solidFill>
                <a:srgbClr val="191B1F"/>
              </a:solidFill>
              <a:effectLst/>
              <a:latin typeface="+mn-lt"/>
              <a:ea typeface="+mn-ea"/>
            </a:endParaRPr>
          </a:p>
        </p:txBody>
      </p:sp>
      <p:sp>
        <p:nvSpPr>
          <p:cNvPr id="11" name="文本框 10"/>
          <p:cNvSpPr txBox="1"/>
          <p:nvPr/>
        </p:nvSpPr>
        <p:spPr>
          <a:xfrm>
            <a:off x="5227865" y="4066593"/>
            <a:ext cx="4577442" cy="369332"/>
          </a:xfrm>
          <a:prstGeom prst="rect">
            <a:avLst/>
          </a:prstGeom>
          <a:noFill/>
        </p:spPr>
        <p:txBody>
          <a:bodyPr wrap="square">
            <a:spAutoFit/>
          </a:bodyPr>
          <a:lstStyle/>
          <a:p>
            <a:r>
              <a:rPr lang="zh-CN" altLang="en-US"/>
              <a:t>阿根廷对战英格兰（</a:t>
            </a:r>
            <a:r>
              <a:rPr lang="en-US" altLang="zh-CN"/>
              <a:t>1986</a:t>
            </a:r>
            <a:r>
              <a:rPr lang="zh-CN" altLang="en-US"/>
              <a:t>）</a:t>
            </a:r>
            <a:endParaRPr lang="zh-CN" altLang="en-US"/>
          </a:p>
        </p:txBody>
      </p:sp>
    </p:spTree>
  </p:cSld>
  <p:clrMapOvr>
    <a:masterClrMapping/>
  </p:clrMapOvr>
  <mc:AlternateContent xmlns:mc="http://schemas.openxmlformats.org/markup-compatibility/2006">
    <mc:Choice xmlns:p14="http://schemas.microsoft.com/office/powerpoint/2010/main" Requires="p14">
      <p:transition p14:dur="0"/>
    </mc:Choice>
    <mc:Fallback>
      <p:transition/>
    </mc:Fallback>
  </mc:AlternateContent>
</p:sld>
</file>

<file path=ppt/slides/slide9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15" name="2"/>
          <p:cNvGrpSpPr/>
          <p:nvPr/>
        </p:nvGrpSpPr>
        <p:grpSpPr>
          <a:xfrm>
            <a:off x="1002665" y="2046603"/>
            <a:ext cx="7488555" cy="1263015"/>
            <a:chOff x="31445" y="161947"/>
            <a:chExt cx="2500824" cy="318131"/>
          </a:xfrm>
          <a:solidFill>
            <a:srgbClr val="004C41"/>
          </a:solidFill>
        </p:grpSpPr>
        <p:sp>
          <p:nvSpPr>
            <p:cNvPr id="16" name="12"/>
            <p:cNvSpPr/>
            <p:nvPr/>
          </p:nvSpPr>
          <p:spPr>
            <a:xfrm>
              <a:off x="31445" y="176315"/>
              <a:ext cx="2268640" cy="293086"/>
            </a:xfrm>
            <a:prstGeom prst="rect">
              <a:avLst/>
            </a:prstGeom>
            <a:grpFill/>
            <a:ln w="25400" cap="flat" cmpd="sng" algn="ctr">
              <a:noFill/>
              <a:prstDash val="solid"/>
            </a:ln>
            <a:effectLst/>
          </p:spPr>
          <p:txBody>
            <a:bodyPr rtlCol="0" anchor="ctr"/>
            <a:lstStyle/>
            <a:p>
              <a:pPr algn="ctr">
                <a:defRPr/>
              </a:pPr>
              <a:endParaRPr lang="zh-CN" altLang="en-US" kern="0">
                <a:solidFill>
                  <a:prstClr val="white"/>
                </a:solidFill>
                <a:cs typeface="+mn-ea"/>
                <a:sym typeface="+mn-lt"/>
              </a:endParaRPr>
            </a:p>
          </p:txBody>
        </p:sp>
        <p:sp>
          <p:nvSpPr>
            <p:cNvPr id="17" name="等腰三角形 16"/>
            <p:cNvSpPr/>
            <p:nvPr/>
          </p:nvSpPr>
          <p:spPr>
            <a:xfrm rot="5400000">
              <a:off x="2257111" y="204921"/>
              <a:ext cx="318131" cy="232184"/>
            </a:xfrm>
            <a:prstGeom prst="triangle">
              <a:avLst/>
            </a:prstGeom>
            <a:grpFill/>
            <a:ln w="25400" cap="flat" cmpd="sng" algn="ctr">
              <a:noFill/>
              <a:prstDash val="solid"/>
            </a:ln>
            <a:effectLst/>
          </p:spPr>
          <p:txBody>
            <a:bodyPr rtlCol="0" anchor="ctr"/>
            <a:lstStyle/>
            <a:p>
              <a:pPr algn="ctr">
                <a:defRPr/>
              </a:pPr>
              <a:endParaRPr lang="zh-CN" altLang="en-US" kern="0">
                <a:solidFill>
                  <a:prstClr val="white"/>
                </a:solidFill>
                <a:cs typeface="+mn-ea"/>
                <a:sym typeface="+mn-lt"/>
              </a:endParaRPr>
            </a:p>
          </p:txBody>
        </p:sp>
        <p:sp>
          <p:nvSpPr>
            <p:cNvPr id="18" name="TextBox 8"/>
            <p:cNvSpPr txBox="1"/>
            <p:nvPr/>
          </p:nvSpPr>
          <p:spPr>
            <a:xfrm>
              <a:off x="998863" y="209292"/>
              <a:ext cx="1273633" cy="240323"/>
            </a:xfrm>
            <a:prstGeom prst="rect">
              <a:avLst/>
            </a:prstGeom>
            <a:grpFill/>
            <a:ln>
              <a:noFill/>
            </a:ln>
          </p:spPr>
          <p:txBody>
            <a:bodyPr wrap="square" rtlCol="0">
              <a:spAutoFit/>
            </a:bodyPr>
            <a:lstStyle/>
            <a:p>
              <a:pPr algn="just">
                <a:spcBef>
                  <a:spcPct val="0"/>
                </a:spcBef>
              </a:pPr>
              <a:r>
                <a:rPr lang="zh-CN" altLang="en-US" sz="2800" b="1" kern="0" spc="300" dirty="0">
                  <a:solidFill>
                    <a:prstClr val="white"/>
                  </a:solidFill>
                  <a:latin typeface="Times New Roman" panose="02020503050405090304" pitchFamily="18" charset="0"/>
                  <a:cs typeface="+mn-ea"/>
                  <a:sym typeface="+mn-lt"/>
                </a:rPr>
                <a:t>自然语言处理的知识和技术储备</a:t>
              </a:r>
              <a:endParaRPr lang="zh-CN" altLang="en-US" sz="2800" b="1" kern="0" spc="300" dirty="0">
                <a:solidFill>
                  <a:prstClr val="white"/>
                </a:solidFill>
                <a:latin typeface="Times New Roman" panose="02020503050405090304" pitchFamily="18" charset="0"/>
                <a:cs typeface="+mn-ea"/>
                <a:sym typeface="+mn-lt"/>
              </a:endParaRPr>
            </a:p>
          </p:txBody>
        </p:sp>
      </p:grpSp>
      <p:grpSp>
        <p:nvGrpSpPr>
          <p:cNvPr id="19" name="1"/>
          <p:cNvGrpSpPr/>
          <p:nvPr/>
        </p:nvGrpSpPr>
        <p:grpSpPr>
          <a:xfrm>
            <a:off x="1200674" y="1403796"/>
            <a:ext cx="2619916" cy="2619916"/>
            <a:chOff x="267453" y="94709"/>
            <a:chExt cx="454824" cy="454824"/>
          </a:xfrm>
        </p:grpSpPr>
        <p:sp>
          <p:nvSpPr>
            <p:cNvPr id="20" name="4"/>
            <p:cNvSpPr/>
            <p:nvPr/>
          </p:nvSpPr>
          <p:spPr>
            <a:xfrm>
              <a:off x="301756" y="114952"/>
              <a:ext cx="390525" cy="395287"/>
            </a:xfrm>
            <a:prstGeom prst="ellipse">
              <a:avLst/>
            </a:prstGeom>
            <a:solidFill>
              <a:sysClr val="window" lastClr="FFFFFF"/>
            </a:solidFill>
            <a:ln w="25400" cap="flat" cmpd="sng" algn="ctr">
              <a:solidFill>
                <a:sysClr val="window" lastClr="FFFFFF"/>
              </a:solidFill>
              <a:prstDash val="solid"/>
            </a:ln>
            <a:effectLst/>
          </p:spPr>
          <p:txBody>
            <a:bodyPr rtlCol="0" anchor="ctr"/>
            <a:lstStyle/>
            <a:p>
              <a:pPr algn="ctr">
                <a:defRPr/>
              </a:pPr>
              <a:endParaRPr lang="zh-CN" altLang="en-US" kern="0">
                <a:solidFill>
                  <a:prstClr val="white"/>
                </a:solidFill>
                <a:cs typeface="+mn-ea"/>
                <a:sym typeface="+mn-lt"/>
              </a:endParaRPr>
            </a:p>
          </p:txBody>
        </p:sp>
        <p:sp>
          <p:nvSpPr>
            <p:cNvPr id="23" name="3"/>
            <p:cNvSpPr/>
            <p:nvPr/>
          </p:nvSpPr>
          <p:spPr>
            <a:xfrm>
              <a:off x="343738" y="170570"/>
              <a:ext cx="302255" cy="302255"/>
            </a:xfrm>
            <a:prstGeom prst="ellipse">
              <a:avLst/>
            </a:prstGeom>
            <a:solidFill>
              <a:srgbClr val="004C41"/>
            </a:solidFill>
            <a:ln w="25400" cap="flat" cmpd="sng" algn="ctr">
              <a:noFill/>
              <a:prstDash val="solid"/>
            </a:ln>
            <a:effectLst/>
          </p:spPr>
          <p:txBody>
            <a:bodyPr rtlCol="0" anchor="ctr"/>
            <a:lstStyle/>
            <a:p>
              <a:pPr algn="ctr">
                <a:defRPr/>
              </a:pPr>
              <a:endParaRPr lang="zh-CN" altLang="en-US" kern="0">
                <a:solidFill>
                  <a:prstClr val="white"/>
                </a:solidFill>
                <a:cs typeface="+mn-ea"/>
                <a:sym typeface="+mn-lt"/>
              </a:endParaRPr>
            </a:p>
          </p:txBody>
        </p:sp>
        <p:sp>
          <p:nvSpPr>
            <p:cNvPr id="24" name="同心圆 23"/>
            <p:cNvSpPr/>
            <p:nvPr/>
          </p:nvSpPr>
          <p:spPr>
            <a:xfrm>
              <a:off x="267453" y="94709"/>
              <a:ext cx="454824" cy="454824"/>
            </a:xfrm>
            <a:prstGeom prst="donut">
              <a:avLst>
                <a:gd name="adj" fmla="val 8567"/>
              </a:avLst>
            </a:prstGeom>
            <a:solidFill>
              <a:sysClr val="window" lastClr="FFFFFF"/>
            </a:solidFill>
            <a:ln w="9525" cap="flat" cmpd="sng" algn="ctr">
              <a:noFill/>
              <a:prstDash val="solid"/>
            </a:ln>
            <a:effectLst>
              <a:outerShdw blurRad="63500" sx="102000" sy="102000" algn="ctr" rotWithShape="0">
                <a:prstClr val="black">
                  <a:alpha val="20000"/>
                </a:prstClr>
              </a:outerShdw>
            </a:effectLst>
          </p:spPr>
          <p:txBody>
            <a:bodyPr rtlCol="0" anchor="ctr"/>
            <a:lstStyle/>
            <a:p>
              <a:pPr algn="ctr">
                <a:defRPr/>
              </a:pPr>
              <a:endParaRPr lang="zh-CN" altLang="en-US" sz="1200" kern="0">
                <a:solidFill>
                  <a:prstClr val="black"/>
                </a:solidFill>
                <a:cs typeface="+mn-ea"/>
                <a:sym typeface="+mn-lt"/>
              </a:endParaRPr>
            </a:p>
          </p:txBody>
        </p:sp>
        <p:sp>
          <p:nvSpPr>
            <p:cNvPr id="25" name="TextBox 9"/>
            <p:cNvSpPr txBox="1"/>
            <p:nvPr/>
          </p:nvSpPr>
          <p:spPr>
            <a:xfrm>
              <a:off x="370583" y="176347"/>
              <a:ext cx="248564" cy="272497"/>
            </a:xfrm>
            <a:prstGeom prst="rect">
              <a:avLst/>
            </a:prstGeom>
            <a:noFill/>
          </p:spPr>
          <p:txBody>
            <a:bodyPr wrap="none" rtlCol="0">
              <a:spAutoFit/>
            </a:bodyPr>
            <a:lstStyle/>
            <a:p>
              <a:pPr>
                <a:defRPr/>
              </a:pPr>
              <a:r>
                <a:rPr lang="en-US" altLang="zh-CN" sz="9600" kern="0" dirty="0">
                  <a:solidFill>
                    <a:prstClr val="white"/>
                  </a:solidFill>
                  <a:latin typeface="Times New Roman" panose="02020503050405090304" pitchFamily="18" charset="0"/>
                  <a:cs typeface="+mn-ea"/>
                  <a:sym typeface="+mn-lt"/>
                </a:rPr>
                <a:t>07</a:t>
              </a:r>
              <a:endParaRPr lang="zh-CN" altLang="en-US" sz="9600" kern="0" dirty="0">
                <a:solidFill>
                  <a:prstClr val="white"/>
                </a:solidFill>
                <a:latin typeface="Times New Roman" panose="02020503050405090304" pitchFamily="18" charset="0"/>
                <a:cs typeface="+mn-ea"/>
                <a:sym typeface="+mn-lt"/>
              </a:endParaRPr>
            </a:p>
          </p:txBody>
        </p:sp>
      </p:grpSp>
      <p:sp>
        <p:nvSpPr>
          <p:cNvPr id="2" name="标题 1"/>
          <p:cNvSpPr>
            <a:spLocks noGrp="1"/>
          </p:cNvSpPr>
          <p:nvPr>
            <p:ph type="title"/>
          </p:nvPr>
        </p:nvSpPr>
        <p:spPr/>
        <p:txBody>
          <a:bodyPr/>
          <a:lstStyle/>
          <a:p>
            <a:endParaRPr lang="zh-CN" altLang="en-US"/>
          </a:p>
        </p:txBody>
      </p:sp>
      <p:sp>
        <p:nvSpPr>
          <p:cNvPr id="3" name="日期占位符 2"/>
          <p:cNvSpPr>
            <a:spLocks noGrp="1"/>
          </p:cNvSpPr>
          <p:nvPr>
            <p:ph type="dt" sz="half" idx="10"/>
          </p:nvPr>
        </p:nvSpPr>
        <p:spPr/>
        <p:txBody>
          <a:bodyPr/>
          <a:lstStyle/>
          <a:p>
            <a:fld id="{C11C40D3-3D45-47E0-8965-2835D2F2B2D7}" type="datetime1">
              <a:rPr lang="zh-CN" altLang="en-US" smtClean="0"/>
            </a:fld>
            <a:endParaRPr lang="zh-CN" altLang="en-US"/>
          </a:p>
        </p:txBody>
      </p:sp>
      <p:sp>
        <p:nvSpPr>
          <p:cNvPr id="4" name="灯片编号占位符 3"/>
          <p:cNvSpPr>
            <a:spLocks noGrp="1"/>
          </p:cNvSpPr>
          <p:nvPr>
            <p:ph type="sldNum" sz="quarter" idx="12"/>
          </p:nvPr>
        </p:nvSpPr>
        <p:spPr/>
        <p:txBody>
          <a:bodyPr/>
          <a:lstStyle/>
          <a:p>
            <a:fld id="{82952373-7980-4DA7-9ADE-54D716DB38BB}" type="slidenum">
              <a:rPr lang="zh-CN" altLang="en-US" smtClean="0"/>
            </a:fld>
            <a:endParaRPr lang="zh-CN" altLang="en-US"/>
          </a:p>
        </p:txBody>
      </p:sp>
    </p:spTree>
  </p:cSld>
  <p:clrMapOvr>
    <a:masterClrMapping/>
  </p:clrMapOvr>
  <mc:AlternateContent xmlns:mc="http://schemas.openxmlformats.org/markup-compatibility/2006">
    <mc:Choice xmlns:p14="http://schemas.microsoft.com/office/powerpoint/2010/main" Requires="p14">
      <p:transition p14:dur="0"/>
    </mc:Choice>
    <mc:Fallback>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nodeType="afterEffect">
                                  <p:stCondLst>
                                    <p:cond delay="0"/>
                                  </p:stCondLst>
                                  <p:childTnLst>
                                    <p:set>
                                      <p:cBhvr>
                                        <p:cTn id="6" dur="1" fill="hold">
                                          <p:stCondLst>
                                            <p:cond delay="0"/>
                                          </p:stCondLst>
                                        </p:cTn>
                                        <p:tgtEl>
                                          <p:spTgt spid="19"/>
                                        </p:tgtEl>
                                        <p:attrNameLst>
                                          <p:attrName>style.visibility</p:attrName>
                                        </p:attrNameLst>
                                      </p:cBhvr>
                                      <p:to>
                                        <p:strVal val="visible"/>
                                      </p:to>
                                    </p:set>
                                    <p:animEffect transition="in" filter="fade">
                                      <p:cBhvr>
                                        <p:cTn id="7" dur="500"/>
                                        <p:tgtEl>
                                          <p:spTgt spid="19"/>
                                        </p:tgtEl>
                                      </p:cBhvr>
                                    </p:animEffect>
                                  </p:childTnLst>
                                </p:cTn>
                              </p:par>
                            </p:childTnLst>
                          </p:cTn>
                        </p:par>
                        <p:par>
                          <p:cTn id="8" fill="hold">
                            <p:stCondLst>
                              <p:cond delay="500"/>
                            </p:stCondLst>
                            <p:childTnLst>
                              <p:par>
                                <p:cTn id="9" presetID="22" presetClass="entr" presetSubtype="8" fill="hold" nodeType="afterEffect">
                                  <p:stCondLst>
                                    <p:cond delay="0"/>
                                  </p:stCondLst>
                                  <p:childTnLst>
                                    <p:set>
                                      <p:cBhvr>
                                        <p:cTn id="10" dur="1" fill="hold">
                                          <p:stCondLst>
                                            <p:cond delay="0"/>
                                          </p:stCondLst>
                                        </p:cTn>
                                        <p:tgtEl>
                                          <p:spTgt spid="15"/>
                                        </p:tgtEl>
                                        <p:attrNameLst>
                                          <p:attrName>style.visibility</p:attrName>
                                        </p:attrNameLst>
                                      </p:cBhvr>
                                      <p:to>
                                        <p:strVal val="visible"/>
                                      </p:to>
                                    </p:set>
                                    <p:animEffect transition="in" filter="wipe(left)">
                                      <p:cBhvr>
                                        <p:cTn id="11" dur="1000"/>
                                        <p:tgtEl>
                                          <p:spTgt spid="15"/>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9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文本框 3"/>
          <p:cNvSpPr txBox="1"/>
          <p:nvPr/>
        </p:nvSpPr>
        <p:spPr>
          <a:xfrm>
            <a:off x="546100" y="948053"/>
            <a:ext cx="8094980" cy="1701748"/>
          </a:xfrm>
          <a:prstGeom prst="rect">
            <a:avLst/>
          </a:prstGeom>
          <a:ln>
            <a:noFill/>
          </a:ln>
        </p:spPr>
        <p:style>
          <a:lnRef idx="2">
            <a:schemeClr val="dk1"/>
          </a:lnRef>
          <a:fillRef idx="1">
            <a:schemeClr val="lt1"/>
          </a:fillRef>
          <a:effectRef idx="0">
            <a:schemeClr val="dk1"/>
          </a:effectRef>
          <a:fontRef idx="minor">
            <a:schemeClr val="dk1"/>
          </a:fontRef>
        </p:style>
        <p:txBody>
          <a:bodyPr wrap="square" rtlCol="0" anchor="t">
            <a:spAutoFit/>
          </a:bodyPr>
          <a:lstStyle/>
          <a:p>
            <a:pPr>
              <a:lnSpc>
                <a:spcPct val="150000"/>
              </a:lnSpc>
            </a:pPr>
            <a:r>
              <a:rPr lang="zh-CN" altLang="en-US" dirty="0">
                <a:solidFill>
                  <a:schemeClr val="tx1"/>
                </a:solidFill>
                <a:latin typeface="Times New Roman" panose="02020503050405090304" pitchFamily="18" charset="0"/>
                <a:ea typeface="宋体" pitchFamily="2" charset="-122"/>
              </a:rPr>
              <a:t>主要是三个方面的要求：</a:t>
            </a:r>
            <a:endParaRPr lang="zh-CN" altLang="en-US" dirty="0">
              <a:gradFill>
                <a:gsLst>
                  <a:gs pos="0">
                    <a:srgbClr val="14CD68"/>
                  </a:gs>
                  <a:gs pos="100000">
                    <a:srgbClr val="035C7D"/>
                  </a:gs>
                </a:gsLst>
                <a:lin scaled="0"/>
              </a:gradFill>
              <a:latin typeface="Times New Roman" panose="02020503050405090304" pitchFamily="18" charset="0"/>
              <a:ea typeface="宋体" pitchFamily="2" charset="-122"/>
            </a:endParaRPr>
          </a:p>
          <a:p>
            <a:pPr marL="285750" indent="-285750">
              <a:lnSpc>
                <a:spcPct val="150000"/>
              </a:lnSpc>
              <a:buClr>
                <a:schemeClr val="tx1"/>
              </a:buClr>
              <a:buFont typeface="Wingdings" panose="05000000000000000000" pitchFamily="2" charset="2"/>
              <a:buChar char="ü"/>
            </a:pPr>
            <a:r>
              <a:rPr lang="zh-CN" altLang="en-US">
                <a:solidFill>
                  <a:srgbClr val="FF0000"/>
                </a:solidFill>
                <a:latin typeface="Times New Roman" panose="02020503050405090304" pitchFamily="18" charset="0"/>
                <a:ea typeface="宋体" pitchFamily="2" charset="-122"/>
              </a:rPr>
              <a:t>高等</a:t>
            </a:r>
            <a:r>
              <a:rPr lang="zh-CN" altLang="en-US" dirty="0">
                <a:solidFill>
                  <a:srgbClr val="FF0000"/>
                </a:solidFill>
                <a:latin typeface="Times New Roman" panose="02020503050405090304" pitchFamily="18" charset="0"/>
                <a:ea typeface="宋体" pitchFamily="2" charset="-122"/>
              </a:rPr>
              <a:t>数学：</a:t>
            </a:r>
            <a:r>
              <a:rPr lang="zh-CN" altLang="en-US" dirty="0">
                <a:solidFill>
                  <a:schemeClr val="tx1"/>
                </a:solidFill>
                <a:latin typeface="Times New Roman" panose="02020503050405090304" pitchFamily="18" charset="0"/>
                <a:ea typeface="宋体" pitchFamily="2" charset="-122"/>
              </a:rPr>
              <a:t>例如微积分知识用在基于损失函数的梯度下降法更新模型参数。</a:t>
            </a:r>
            <a:endParaRPr lang="zh-CN" altLang="en-US" dirty="0">
              <a:solidFill>
                <a:schemeClr val="tx1"/>
              </a:solidFill>
              <a:latin typeface="Times New Roman" panose="02020503050405090304" pitchFamily="18" charset="0"/>
              <a:ea typeface="宋体" pitchFamily="2" charset="-122"/>
            </a:endParaRPr>
          </a:p>
          <a:p>
            <a:pPr marL="285750" indent="-285750">
              <a:lnSpc>
                <a:spcPct val="150000"/>
              </a:lnSpc>
              <a:buClr>
                <a:schemeClr val="tx1"/>
              </a:buClr>
              <a:buFont typeface="Wingdings" panose="05000000000000000000" pitchFamily="2" charset="2"/>
              <a:buChar char="ü"/>
            </a:pPr>
            <a:r>
              <a:rPr lang="zh-CN" altLang="en-US">
                <a:gradFill>
                  <a:gsLst>
                    <a:gs pos="0">
                      <a:srgbClr val="14CD68"/>
                    </a:gs>
                    <a:gs pos="100000">
                      <a:srgbClr val="035C7D"/>
                    </a:gs>
                  </a:gsLst>
                  <a:lin scaled="0"/>
                </a:gradFill>
                <a:latin typeface="Times New Roman" panose="02020503050405090304" pitchFamily="18" charset="0"/>
                <a:ea typeface="宋体" pitchFamily="2" charset="-122"/>
              </a:rPr>
              <a:t>线性代数</a:t>
            </a:r>
            <a:r>
              <a:rPr lang="zh-CN" altLang="en-US" dirty="0">
                <a:gradFill>
                  <a:gsLst>
                    <a:gs pos="0">
                      <a:srgbClr val="14CD68"/>
                    </a:gs>
                    <a:gs pos="100000">
                      <a:srgbClr val="035C7D"/>
                    </a:gs>
                  </a:gsLst>
                  <a:lin scaled="0"/>
                </a:gradFill>
                <a:latin typeface="Times New Roman" panose="02020503050405090304" pitchFamily="18" charset="0"/>
                <a:ea typeface="宋体" pitchFamily="2" charset="-122"/>
              </a:rPr>
              <a:t>：</a:t>
            </a:r>
            <a:r>
              <a:rPr lang="zh-CN" altLang="en-US" dirty="0">
                <a:solidFill>
                  <a:schemeClr val="tx1"/>
                </a:solidFill>
                <a:latin typeface="Times New Roman" panose="02020503050405090304" pitchFamily="18" charset="0"/>
                <a:ea typeface="宋体" pitchFamily="2" charset="-122"/>
              </a:rPr>
              <a:t>向量的表示与计算是</a:t>
            </a:r>
            <a:r>
              <a:rPr lang="en-US" altLang="zh-CN" dirty="0">
                <a:solidFill>
                  <a:schemeClr val="tx1"/>
                </a:solidFill>
                <a:latin typeface="Times New Roman" panose="02020503050405090304" pitchFamily="18" charset="0"/>
                <a:ea typeface="宋体" pitchFamily="2" charset="-122"/>
              </a:rPr>
              <a:t>NLP</a:t>
            </a:r>
            <a:r>
              <a:rPr lang="zh-CN" altLang="en-US" dirty="0">
                <a:solidFill>
                  <a:schemeClr val="tx1"/>
                </a:solidFill>
                <a:latin typeface="Times New Roman" panose="02020503050405090304" pitchFamily="18" charset="0"/>
                <a:ea typeface="宋体" pitchFamily="2" charset="-122"/>
              </a:rPr>
              <a:t>中语言表示和求解的主要操作。</a:t>
            </a:r>
            <a:endParaRPr lang="zh-CN" altLang="en-US" dirty="0">
              <a:solidFill>
                <a:schemeClr val="tx1"/>
              </a:solidFill>
              <a:latin typeface="Times New Roman" panose="02020503050405090304" pitchFamily="18" charset="0"/>
              <a:ea typeface="宋体" pitchFamily="2" charset="-122"/>
            </a:endParaRPr>
          </a:p>
          <a:p>
            <a:pPr marL="285750" indent="-285750">
              <a:lnSpc>
                <a:spcPct val="150000"/>
              </a:lnSpc>
              <a:buClr>
                <a:schemeClr val="tx1"/>
              </a:buClr>
              <a:buFont typeface="Wingdings" panose="05000000000000000000" pitchFamily="2" charset="2"/>
              <a:buChar char="ü"/>
            </a:pPr>
            <a:r>
              <a:rPr lang="zh-CN" altLang="en-US">
                <a:gradFill>
                  <a:gsLst>
                    <a:gs pos="0">
                      <a:srgbClr val="012D86"/>
                    </a:gs>
                    <a:gs pos="100000">
                      <a:srgbClr val="0E2557"/>
                    </a:gs>
                  </a:gsLst>
                  <a:lin scaled="0"/>
                </a:gradFill>
                <a:latin typeface="Times New Roman" panose="02020503050405090304" pitchFamily="18" charset="0"/>
                <a:ea typeface="宋体" pitchFamily="2" charset="-122"/>
              </a:rPr>
              <a:t>概率论</a:t>
            </a:r>
            <a:r>
              <a:rPr lang="zh-CN" altLang="en-US" dirty="0">
                <a:gradFill>
                  <a:gsLst>
                    <a:gs pos="0">
                      <a:srgbClr val="012D86"/>
                    </a:gs>
                    <a:gs pos="100000">
                      <a:srgbClr val="0E2557"/>
                    </a:gs>
                  </a:gsLst>
                  <a:lin scaled="0"/>
                </a:gradFill>
                <a:latin typeface="Times New Roman" panose="02020503050405090304" pitchFamily="18" charset="0"/>
                <a:ea typeface="宋体" pitchFamily="2" charset="-122"/>
              </a:rPr>
              <a:t>与数理统计：很多</a:t>
            </a:r>
            <a:r>
              <a:rPr lang="en-US" altLang="zh-CN" dirty="0">
                <a:gradFill>
                  <a:gsLst>
                    <a:gs pos="0">
                      <a:srgbClr val="012D86"/>
                    </a:gs>
                    <a:gs pos="100000">
                      <a:srgbClr val="0E2557"/>
                    </a:gs>
                  </a:gsLst>
                  <a:lin scaled="0"/>
                </a:gradFill>
                <a:latin typeface="Times New Roman" panose="02020503050405090304" pitchFamily="18" charset="0"/>
                <a:ea typeface="宋体" pitchFamily="2" charset="-122"/>
              </a:rPr>
              <a:t>NLP</a:t>
            </a:r>
            <a:r>
              <a:rPr lang="zh-CN" altLang="en-US" dirty="0">
                <a:gradFill>
                  <a:gsLst>
                    <a:gs pos="0">
                      <a:srgbClr val="012D86"/>
                    </a:gs>
                    <a:gs pos="100000">
                      <a:srgbClr val="0E2557"/>
                    </a:gs>
                  </a:gsLst>
                  <a:lin scaled="0"/>
                </a:gradFill>
                <a:latin typeface="Times New Roman" panose="02020503050405090304" pitchFamily="18" charset="0"/>
                <a:ea typeface="宋体" pitchFamily="2" charset="-122"/>
              </a:rPr>
              <a:t>的求解模型都是基于统计学方法构建的。</a:t>
            </a:r>
            <a:endParaRPr lang="zh-CN" altLang="en-US" dirty="0">
              <a:gradFill>
                <a:gsLst>
                  <a:gs pos="0">
                    <a:srgbClr val="012D86"/>
                  </a:gs>
                  <a:gs pos="100000">
                    <a:srgbClr val="0E2557"/>
                  </a:gs>
                </a:gsLst>
                <a:lin scaled="0"/>
              </a:gradFill>
              <a:latin typeface="Times New Roman" panose="02020503050405090304" pitchFamily="18" charset="0"/>
              <a:ea typeface="宋体" pitchFamily="2" charset="-122"/>
            </a:endParaRPr>
          </a:p>
        </p:txBody>
      </p:sp>
      <p:sp>
        <p:nvSpPr>
          <p:cNvPr id="5" name="标题 4"/>
          <p:cNvSpPr>
            <a:spLocks noGrp="1"/>
          </p:cNvSpPr>
          <p:nvPr>
            <p:ph type="title"/>
          </p:nvPr>
        </p:nvSpPr>
        <p:spPr>
          <a:xfrm>
            <a:off x="362425" y="12359"/>
            <a:ext cx="8781575" cy="702469"/>
          </a:xfrm>
        </p:spPr>
        <p:txBody>
          <a:bodyPr/>
          <a:lstStyle/>
          <a:p>
            <a:r>
              <a:rPr lang="en-US" altLang="zh-CN" sz="2400" b="1">
                <a:solidFill>
                  <a:srgbClr val="004C41"/>
                </a:solidFill>
                <a:ea typeface="宋体" pitchFamily="2" charset="-122"/>
                <a:cs typeface="+mn-ea"/>
                <a:sym typeface="+mn-lt"/>
              </a:rPr>
              <a:t>1.</a:t>
            </a:r>
            <a:r>
              <a:rPr lang="zh-CN" altLang="en-US" sz="2400" b="1">
                <a:solidFill>
                  <a:srgbClr val="004C41"/>
                </a:solidFill>
                <a:ea typeface="宋体" pitchFamily="2" charset="-122"/>
                <a:cs typeface="+mn-ea"/>
                <a:sym typeface="+mn-lt"/>
              </a:rPr>
              <a:t>数学知识和技能要求</a:t>
            </a:r>
            <a:endParaRPr lang="zh-CN" altLang="en-US">
              <a:ea typeface="宋体" pitchFamily="2" charset="-122"/>
            </a:endParaRPr>
          </a:p>
        </p:txBody>
      </p:sp>
      <p:sp>
        <p:nvSpPr>
          <p:cNvPr id="2" name="日期占位符 1"/>
          <p:cNvSpPr>
            <a:spLocks noGrp="1"/>
          </p:cNvSpPr>
          <p:nvPr>
            <p:ph type="dt" sz="half" idx="10"/>
          </p:nvPr>
        </p:nvSpPr>
        <p:spPr/>
        <p:txBody>
          <a:bodyPr/>
          <a:lstStyle/>
          <a:p>
            <a:fld id="{97D16F23-4226-4956-9501-D9F8117F3438}" type="datetime1">
              <a:rPr lang="zh-CN" altLang="en-US" smtClean="0"/>
            </a:fld>
            <a:endParaRPr lang="zh-CN" altLang="en-US"/>
          </a:p>
        </p:txBody>
      </p:sp>
      <p:sp>
        <p:nvSpPr>
          <p:cNvPr id="3" name="灯片编号占位符 2"/>
          <p:cNvSpPr>
            <a:spLocks noGrp="1"/>
          </p:cNvSpPr>
          <p:nvPr>
            <p:ph type="sldNum" sz="quarter" idx="12"/>
          </p:nvPr>
        </p:nvSpPr>
        <p:spPr/>
        <p:txBody>
          <a:bodyPr/>
          <a:lstStyle/>
          <a:p>
            <a:fld id="{82952373-7980-4DA7-9ADE-54D716DB38BB}" type="slidenum">
              <a:rPr lang="zh-CN" altLang="en-US" smtClean="0"/>
            </a:fld>
            <a:endParaRPr lang="zh-CN" altLang="en-US"/>
          </a:p>
        </p:txBody>
      </p:sp>
    </p:spTree>
  </p:cSld>
  <p:clrMapOvr>
    <a:masterClrMapping/>
  </p:clrMapOvr>
  <mc:AlternateContent xmlns:mc="http://schemas.openxmlformats.org/markup-compatibility/2006">
    <mc:Choice xmlns:p14="http://schemas.microsoft.com/office/powerpoint/2010/main" Requires="p14">
      <p:transition p14:dur="0"/>
    </mc:Choice>
    <mc:Fallback>
      <p:transition/>
    </mc:Fallback>
  </mc:AlternateContent>
</p:sld>
</file>

<file path=ppt/slides/slide9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文本框 3" descr="7b0a202020202262756c6c6574223a20227b5c2263617465676f727949645c223a31303030362c5c2274656d706c61746549645c223a32303233313236327d220a7d0a"/>
          <p:cNvSpPr txBox="1"/>
          <p:nvPr/>
        </p:nvSpPr>
        <p:spPr>
          <a:xfrm>
            <a:off x="643129" y="1053820"/>
            <a:ext cx="8285480" cy="2948243"/>
          </a:xfrm>
          <a:prstGeom prst="rect">
            <a:avLst/>
          </a:prstGeom>
          <a:ln>
            <a:noFill/>
          </a:ln>
        </p:spPr>
        <p:style>
          <a:lnRef idx="2">
            <a:schemeClr val="dk1"/>
          </a:lnRef>
          <a:fillRef idx="1">
            <a:schemeClr val="lt1"/>
          </a:fillRef>
          <a:effectRef idx="0">
            <a:schemeClr val="dk1"/>
          </a:effectRef>
          <a:fontRef idx="minor">
            <a:schemeClr val="dk1"/>
          </a:fontRef>
        </p:style>
        <p:txBody>
          <a:bodyPr wrap="square" rtlCol="0" anchor="t">
            <a:spAutoFit/>
          </a:bodyPr>
          <a:lstStyle/>
          <a:p>
            <a:pPr marL="285750" indent="-285750">
              <a:lnSpc>
                <a:spcPct val="150000"/>
              </a:lnSpc>
              <a:buFont typeface="Wingdings" panose="05000000000000000000" pitchFamily="2" charset="2"/>
              <a:buChar char="ü"/>
            </a:pPr>
            <a:r>
              <a:rPr lang="zh-CN" altLang="en-US">
                <a:solidFill>
                  <a:srgbClr val="FF0000"/>
                </a:solidFill>
                <a:latin typeface="Times New Roman" panose="02020503050405090304" pitchFamily="18" charset="0"/>
                <a:ea typeface="宋体" pitchFamily="2" charset="-122"/>
              </a:rPr>
              <a:t>数据结构</a:t>
            </a:r>
            <a:r>
              <a:rPr lang="zh-CN" altLang="en-US" dirty="0">
                <a:solidFill>
                  <a:srgbClr val="FF0000"/>
                </a:solidFill>
                <a:latin typeface="Times New Roman" panose="02020503050405090304" pitchFamily="18" charset="0"/>
                <a:ea typeface="宋体" pitchFamily="2" charset="-122"/>
              </a:rPr>
              <a:t>：数据结构是计算机科学的基础，不管设计什么样的计算机系统，数据结构设计都是必不可少的。</a:t>
            </a:r>
            <a:endParaRPr lang="zh-CN" altLang="en-US" dirty="0">
              <a:latin typeface="Times New Roman" panose="02020503050405090304" pitchFamily="18" charset="0"/>
              <a:ea typeface="宋体" pitchFamily="2" charset="-122"/>
            </a:endParaRPr>
          </a:p>
          <a:p>
            <a:pPr marL="285750" indent="-285750">
              <a:lnSpc>
                <a:spcPct val="150000"/>
              </a:lnSpc>
              <a:buFont typeface="Wingdings" panose="05000000000000000000" pitchFamily="2" charset="2"/>
              <a:buChar char="ü"/>
            </a:pPr>
            <a:r>
              <a:rPr lang="zh-CN" altLang="en-US">
                <a:gradFill>
                  <a:gsLst>
                    <a:gs pos="0">
                      <a:srgbClr val="7B32B2"/>
                    </a:gs>
                    <a:gs pos="100000">
                      <a:srgbClr val="401A5D"/>
                    </a:gs>
                  </a:gsLst>
                  <a:lin scaled="0"/>
                </a:gradFill>
                <a:latin typeface="Times New Roman" panose="02020503050405090304" pitchFamily="18" charset="0"/>
                <a:ea typeface="宋体" pitchFamily="2" charset="-122"/>
              </a:rPr>
              <a:t>算法</a:t>
            </a:r>
            <a:r>
              <a:rPr lang="zh-CN" altLang="en-US" dirty="0">
                <a:gradFill>
                  <a:gsLst>
                    <a:gs pos="0">
                      <a:srgbClr val="7B32B2"/>
                    </a:gs>
                    <a:gs pos="100000">
                      <a:srgbClr val="401A5D"/>
                    </a:gs>
                  </a:gsLst>
                  <a:lin scaled="0"/>
                </a:gradFill>
                <a:latin typeface="Times New Roman" panose="02020503050405090304" pitchFamily="18" charset="0"/>
                <a:ea typeface="宋体" pitchFamily="2" charset="-122"/>
              </a:rPr>
              <a:t>原理：对于一个系统来讲，在设计完数据结构的基础上，就需要进行算法设计，所有</a:t>
            </a:r>
            <a:r>
              <a:rPr lang="en-US" altLang="zh-CN" dirty="0">
                <a:gradFill>
                  <a:gsLst>
                    <a:gs pos="0">
                      <a:srgbClr val="7B32B2"/>
                    </a:gs>
                    <a:gs pos="100000">
                      <a:srgbClr val="401A5D"/>
                    </a:gs>
                  </a:gsLst>
                  <a:lin scaled="0"/>
                </a:gradFill>
                <a:latin typeface="Times New Roman" panose="02020503050405090304" pitchFamily="18" charset="0"/>
                <a:ea typeface="宋体" pitchFamily="2" charset="-122"/>
              </a:rPr>
              <a:t>NLP</a:t>
            </a:r>
            <a:r>
              <a:rPr lang="zh-CN" altLang="en-US" dirty="0">
                <a:gradFill>
                  <a:gsLst>
                    <a:gs pos="0">
                      <a:srgbClr val="7B32B2"/>
                    </a:gs>
                    <a:gs pos="100000">
                      <a:srgbClr val="401A5D"/>
                    </a:gs>
                  </a:gsLst>
                  <a:lin scaled="0"/>
                </a:gradFill>
                <a:latin typeface="Times New Roman" panose="02020503050405090304" pitchFamily="18" charset="0"/>
                <a:ea typeface="宋体" pitchFamily="2" charset="-122"/>
              </a:rPr>
              <a:t>应用的机器学习算法和深度学习算法都要遵循算法设计原理。</a:t>
            </a:r>
            <a:endParaRPr lang="zh-CN" altLang="en-US" dirty="0">
              <a:gradFill>
                <a:gsLst>
                  <a:gs pos="0">
                    <a:srgbClr val="7B32B2"/>
                  </a:gs>
                  <a:gs pos="100000">
                    <a:srgbClr val="401A5D"/>
                  </a:gs>
                </a:gsLst>
                <a:lin scaled="0"/>
              </a:gradFill>
              <a:latin typeface="Times New Roman" panose="02020503050405090304" pitchFamily="18" charset="0"/>
              <a:ea typeface="宋体" pitchFamily="2" charset="-122"/>
            </a:endParaRPr>
          </a:p>
          <a:p>
            <a:pPr marL="285750" indent="-285750">
              <a:lnSpc>
                <a:spcPct val="150000"/>
              </a:lnSpc>
              <a:buFont typeface="Wingdings" panose="05000000000000000000" pitchFamily="2" charset="2"/>
              <a:buChar char="ü"/>
            </a:pPr>
            <a:r>
              <a:rPr lang="zh-CN" altLang="en-US">
                <a:latin typeface="Times New Roman" panose="02020503050405090304" pitchFamily="18" charset="0"/>
                <a:ea typeface="宋体" pitchFamily="2" charset="-122"/>
              </a:rPr>
              <a:t>编程</a:t>
            </a:r>
            <a:r>
              <a:rPr lang="zh-CN" altLang="en-US" dirty="0">
                <a:latin typeface="Times New Roman" panose="02020503050405090304" pitchFamily="18" charset="0"/>
                <a:ea typeface="宋体" pitchFamily="2" charset="-122"/>
              </a:rPr>
              <a:t>技术：计算机程序是对算法的实现，是所有</a:t>
            </a:r>
            <a:r>
              <a:rPr lang="en-US" altLang="zh-CN" dirty="0">
                <a:latin typeface="Times New Roman" panose="02020503050405090304" pitchFamily="18" charset="0"/>
                <a:ea typeface="宋体" pitchFamily="2" charset="-122"/>
              </a:rPr>
              <a:t>NLP</a:t>
            </a:r>
            <a:r>
              <a:rPr lang="zh-CN" altLang="en-US" dirty="0">
                <a:latin typeface="Times New Roman" panose="02020503050405090304" pitchFamily="18" charset="0"/>
                <a:ea typeface="宋体" pitchFamily="2" charset="-122"/>
              </a:rPr>
              <a:t>系统的得以实现的根本途径。</a:t>
            </a:r>
            <a:endParaRPr lang="zh-CN" altLang="en-US" dirty="0">
              <a:gradFill>
                <a:gsLst>
                  <a:gs pos="100000">
                    <a:srgbClr val="7C5E29"/>
                  </a:gs>
                  <a:gs pos="0">
                    <a:srgbClr val="CAAF4E"/>
                  </a:gs>
                </a:gsLst>
                <a:lin scaled="1"/>
              </a:gradFill>
              <a:latin typeface="Times New Roman" panose="02020503050405090304" pitchFamily="18" charset="0"/>
              <a:ea typeface="宋体" pitchFamily="2" charset="-122"/>
            </a:endParaRPr>
          </a:p>
        </p:txBody>
      </p:sp>
      <p:sp>
        <p:nvSpPr>
          <p:cNvPr id="7" name="标题 6"/>
          <p:cNvSpPr>
            <a:spLocks noGrp="1"/>
          </p:cNvSpPr>
          <p:nvPr>
            <p:ph type="title"/>
          </p:nvPr>
        </p:nvSpPr>
        <p:spPr>
          <a:xfrm>
            <a:off x="362425" y="29766"/>
            <a:ext cx="8781575" cy="702469"/>
          </a:xfrm>
        </p:spPr>
        <p:txBody>
          <a:bodyPr/>
          <a:lstStyle/>
          <a:p>
            <a:r>
              <a:rPr lang="en-US" altLang="zh-CN" sz="2400" b="1">
                <a:solidFill>
                  <a:srgbClr val="004C41"/>
                </a:solidFill>
                <a:ea typeface="宋体" pitchFamily="2" charset="-122"/>
                <a:cs typeface="+mn-ea"/>
                <a:sym typeface="+mn-lt"/>
              </a:rPr>
              <a:t>2.</a:t>
            </a:r>
            <a:r>
              <a:rPr lang="zh-CN" altLang="en-US" sz="2400" b="1">
                <a:solidFill>
                  <a:srgbClr val="004C41"/>
                </a:solidFill>
                <a:ea typeface="宋体" pitchFamily="2" charset="-122"/>
                <a:cs typeface="+mn-ea"/>
                <a:sym typeface="+mn-lt"/>
              </a:rPr>
              <a:t>计算机知识和技能要求</a:t>
            </a:r>
            <a:endParaRPr lang="zh-CN" altLang="en-US">
              <a:ea typeface="宋体" pitchFamily="2" charset="-122"/>
            </a:endParaRPr>
          </a:p>
        </p:txBody>
      </p:sp>
      <p:sp>
        <p:nvSpPr>
          <p:cNvPr id="2" name="日期占位符 1"/>
          <p:cNvSpPr>
            <a:spLocks noGrp="1"/>
          </p:cNvSpPr>
          <p:nvPr>
            <p:ph type="dt" sz="half" idx="10"/>
          </p:nvPr>
        </p:nvSpPr>
        <p:spPr/>
        <p:txBody>
          <a:bodyPr/>
          <a:lstStyle/>
          <a:p>
            <a:fld id="{A02A09A1-FA31-463B-8655-42877506A6A6}" type="datetime1">
              <a:rPr lang="zh-CN" altLang="en-US" smtClean="0"/>
            </a:fld>
            <a:endParaRPr lang="zh-CN" altLang="en-US"/>
          </a:p>
        </p:txBody>
      </p:sp>
      <p:sp>
        <p:nvSpPr>
          <p:cNvPr id="3" name="灯片编号占位符 2"/>
          <p:cNvSpPr>
            <a:spLocks noGrp="1"/>
          </p:cNvSpPr>
          <p:nvPr>
            <p:ph type="sldNum" sz="quarter" idx="12"/>
          </p:nvPr>
        </p:nvSpPr>
        <p:spPr/>
        <p:txBody>
          <a:bodyPr/>
          <a:lstStyle/>
          <a:p>
            <a:fld id="{82952373-7980-4DA7-9ADE-54D716DB38BB}" type="slidenum">
              <a:rPr lang="zh-CN" altLang="en-US" smtClean="0"/>
            </a:fld>
            <a:endParaRPr lang="zh-CN" altLang="en-US"/>
          </a:p>
        </p:txBody>
      </p:sp>
    </p:spTree>
  </p:cSld>
  <p:clrMapOvr>
    <a:masterClrMapping/>
  </p:clrMapOvr>
  <mc:AlternateContent xmlns:mc="http://schemas.openxmlformats.org/markup-compatibility/2006">
    <mc:Choice xmlns:p14="http://schemas.microsoft.com/office/powerpoint/2010/main" Requires="p14">
      <p:transition p14:dur="0"/>
    </mc:Choice>
    <mc:Fallback>
      <p:transition/>
    </mc:Fallback>
  </mc:AlternateContent>
</p:sld>
</file>

<file path=ppt/slides/slide10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文本框 3" descr="7b0a202020202262756c6c6574223a20227b5c2263617465676f727949645c223a31303030362c5c2274656d706c61746549645c223a32303233313236327d220a7d0a"/>
          <p:cNvSpPr txBox="1"/>
          <p:nvPr/>
        </p:nvSpPr>
        <p:spPr>
          <a:xfrm>
            <a:off x="635963" y="1029970"/>
            <a:ext cx="8208010" cy="1701748"/>
          </a:xfrm>
          <a:prstGeom prst="rect">
            <a:avLst/>
          </a:prstGeom>
          <a:ln>
            <a:noFill/>
          </a:ln>
        </p:spPr>
        <p:style>
          <a:lnRef idx="2">
            <a:schemeClr val="dk1"/>
          </a:lnRef>
          <a:fillRef idx="1">
            <a:schemeClr val="lt1"/>
          </a:fillRef>
          <a:effectRef idx="0">
            <a:schemeClr val="dk1"/>
          </a:effectRef>
          <a:fontRef idx="minor">
            <a:schemeClr val="dk1"/>
          </a:fontRef>
        </p:style>
        <p:txBody>
          <a:bodyPr wrap="square" rtlCol="0" anchor="t">
            <a:spAutoFit/>
          </a:bodyPr>
          <a:lstStyle/>
          <a:p>
            <a:pPr marL="285750" indent="-285750">
              <a:lnSpc>
                <a:spcPct val="150000"/>
              </a:lnSpc>
              <a:buFont typeface="Wingdings" panose="05000000000000000000" pitchFamily="2" charset="2"/>
              <a:buChar char="ü"/>
            </a:pPr>
            <a:r>
              <a:rPr lang="zh-CN" altLang="en-US" b="0">
                <a:solidFill>
                  <a:srgbClr val="FF0000"/>
                </a:solidFill>
                <a:latin typeface="Times New Roman" panose="02020503050405090304" pitchFamily="18" charset="0"/>
                <a:ea typeface="宋体" pitchFamily="2" charset="-122"/>
              </a:rPr>
              <a:t>机器学习</a:t>
            </a:r>
            <a:r>
              <a:rPr lang="zh-CN" altLang="en-US" b="0" dirty="0">
                <a:solidFill>
                  <a:srgbClr val="FF0000"/>
                </a:solidFill>
                <a:latin typeface="Times New Roman" panose="02020503050405090304" pitchFamily="18" charset="0"/>
                <a:ea typeface="宋体" pitchFamily="2" charset="-122"/>
              </a:rPr>
              <a:t>算法：朴素贝叶斯分类算法、原型聚类算法、隐马尔科夫模型、条件随机场模型等。</a:t>
            </a:r>
            <a:endParaRPr lang="zh-CN" altLang="en-US" b="0" dirty="0">
              <a:latin typeface="Times New Roman" panose="02020503050405090304" pitchFamily="18" charset="0"/>
              <a:ea typeface="宋体" pitchFamily="2" charset="-122"/>
            </a:endParaRPr>
          </a:p>
          <a:p>
            <a:pPr marL="285750" indent="-285750">
              <a:lnSpc>
                <a:spcPct val="150000"/>
              </a:lnSpc>
              <a:buFont typeface="Wingdings" panose="05000000000000000000" pitchFamily="2" charset="2"/>
              <a:buChar char="ü"/>
            </a:pPr>
            <a:r>
              <a:rPr lang="zh-CN" altLang="en-US" b="0">
                <a:gradFill>
                  <a:gsLst>
                    <a:gs pos="0">
                      <a:srgbClr val="7B32B2"/>
                    </a:gs>
                    <a:gs pos="100000">
                      <a:srgbClr val="401A5D"/>
                    </a:gs>
                  </a:gsLst>
                  <a:lin scaled="0"/>
                </a:gradFill>
                <a:latin typeface="Times New Roman" panose="02020503050405090304" pitchFamily="18" charset="0"/>
                <a:ea typeface="宋体" pitchFamily="2" charset="-122"/>
              </a:rPr>
              <a:t>深度</a:t>
            </a:r>
            <a:r>
              <a:rPr lang="zh-CN" altLang="en-US" b="0" dirty="0">
                <a:gradFill>
                  <a:gsLst>
                    <a:gs pos="0">
                      <a:srgbClr val="7B32B2"/>
                    </a:gs>
                    <a:gs pos="100000">
                      <a:srgbClr val="401A5D"/>
                    </a:gs>
                  </a:gsLst>
                  <a:lin scaled="0"/>
                </a:gradFill>
                <a:latin typeface="Times New Roman" panose="02020503050405090304" pitchFamily="18" charset="0"/>
                <a:ea typeface="宋体" pitchFamily="2" charset="-122"/>
              </a:rPr>
              <a:t>学习算法</a:t>
            </a:r>
            <a:r>
              <a:rPr lang="en-US" altLang="zh-CN" b="0" dirty="0">
                <a:latin typeface="Times New Roman" panose="02020503050405090304" pitchFamily="18" charset="0"/>
                <a:ea typeface="宋体" pitchFamily="2" charset="-122"/>
              </a:rPr>
              <a:t> </a:t>
            </a:r>
            <a:r>
              <a:rPr lang="zh-CN" altLang="en-US" b="0" dirty="0">
                <a:latin typeface="Times New Roman" panose="02020503050405090304" pitchFamily="18" charset="0"/>
                <a:ea typeface="宋体" pitchFamily="2" charset="-122"/>
              </a:rPr>
              <a:t>：卷积神经网络、循环神经网络、图神经网络、端到端模型、</a:t>
            </a:r>
            <a:r>
              <a:rPr lang="en-US" altLang="zh-CN" b="0" dirty="0">
                <a:latin typeface="Times New Roman" panose="02020503050405090304" pitchFamily="18" charset="0"/>
                <a:ea typeface="宋体" pitchFamily="2" charset="-122"/>
              </a:rPr>
              <a:t>Seq2Seq</a:t>
            </a:r>
            <a:r>
              <a:rPr lang="zh-CN" altLang="en-US" b="0" dirty="0">
                <a:latin typeface="Times New Roman" panose="02020503050405090304" pitchFamily="18" charset="0"/>
                <a:ea typeface="宋体" pitchFamily="2" charset="-122"/>
              </a:rPr>
              <a:t>模型</a:t>
            </a:r>
            <a:r>
              <a:rPr lang="zh-CN" altLang="en-US" b="0">
                <a:latin typeface="Times New Roman" panose="02020503050405090304" pitchFamily="18" charset="0"/>
                <a:ea typeface="宋体" pitchFamily="2" charset="-122"/>
              </a:rPr>
              <a:t>等。</a:t>
            </a:r>
            <a:endParaRPr lang="zh-CN" altLang="en-US" b="0" dirty="0">
              <a:latin typeface="Times New Roman" panose="02020503050405090304" pitchFamily="18" charset="0"/>
              <a:ea typeface="宋体" pitchFamily="2" charset="-122"/>
            </a:endParaRPr>
          </a:p>
        </p:txBody>
      </p:sp>
      <p:sp>
        <p:nvSpPr>
          <p:cNvPr id="7" name="标题 6"/>
          <p:cNvSpPr>
            <a:spLocks noGrp="1"/>
          </p:cNvSpPr>
          <p:nvPr>
            <p:ph type="title"/>
          </p:nvPr>
        </p:nvSpPr>
        <p:spPr>
          <a:xfrm>
            <a:off x="349181" y="9067"/>
            <a:ext cx="8781575" cy="702469"/>
          </a:xfrm>
        </p:spPr>
        <p:txBody>
          <a:bodyPr/>
          <a:lstStyle/>
          <a:p>
            <a:r>
              <a:rPr lang="en-US" altLang="zh-CN" sz="2400" b="1">
                <a:solidFill>
                  <a:srgbClr val="004C41"/>
                </a:solidFill>
                <a:ea typeface="宋体" pitchFamily="2" charset="-122"/>
                <a:cs typeface="+mn-ea"/>
                <a:sym typeface="+mn-lt"/>
              </a:rPr>
              <a:t>3.</a:t>
            </a:r>
            <a:r>
              <a:rPr lang="zh-CN" altLang="en-US" sz="2400" b="1">
                <a:solidFill>
                  <a:srgbClr val="004C41"/>
                </a:solidFill>
                <a:ea typeface="宋体" pitchFamily="2" charset="-122"/>
                <a:cs typeface="+mn-ea"/>
                <a:sym typeface="+mn-lt"/>
              </a:rPr>
              <a:t>人工智能知识和技能要求</a:t>
            </a:r>
            <a:endParaRPr lang="zh-CN" altLang="en-US">
              <a:ea typeface="宋体" pitchFamily="2" charset="-122"/>
            </a:endParaRPr>
          </a:p>
        </p:txBody>
      </p:sp>
      <p:sp>
        <p:nvSpPr>
          <p:cNvPr id="2" name="日期占位符 1"/>
          <p:cNvSpPr>
            <a:spLocks noGrp="1"/>
          </p:cNvSpPr>
          <p:nvPr>
            <p:ph type="dt" sz="half" idx="10"/>
          </p:nvPr>
        </p:nvSpPr>
        <p:spPr/>
        <p:txBody>
          <a:bodyPr/>
          <a:lstStyle/>
          <a:p>
            <a:fld id="{AB582AA3-ED9E-4679-9656-B61C2B8083A8}" type="datetime1">
              <a:rPr lang="zh-CN" altLang="en-US" smtClean="0"/>
            </a:fld>
            <a:endParaRPr lang="zh-CN" altLang="en-US"/>
          </a:p>
        </p:txBody>
      </p:sp>
      <p:sp>
        <p:nvSpPr>
          <p:cNvPr id="3" name="灯片编号占位符 2"/>
          <p:cNvSpPr>
            <a:spLocks noGrp="1"/>
          </p:cNvSpPr>
          <p:nvPr>
            <p:ph type="sldNum" sz="quarter" idx="12"/>
          </p:nvPr>
        </p:nvSpPr>
        <p:spPr/>
        <p:txBody>
          <a:bodyPr/>
          <a:lstStyle/>
          <a:p>
            <a:fld id="{82952373-7980-4DA7-9ADE-54D716DB38BB}" type="slidenum">
              <a:rPr lang="zh-CN" altLang="en-US" smtClean="0"/>
            </a:fld>
            <a:endParaRPr lang="zh-CN" altLang="en-US"/>
          </a:p>
        </p:txBody>
      </p:sp>
    </p:spTree>
  </p:cSld>
  <p:clrMapOvr>
    <a:masterClrMapping/>
  </p:clrMapOvr>
  <mc:AlternateContent xmlns:mc="http://schemas.openxmlformats.org/markup-compatibility/2006">
    <mc:Choice xmlns:p14="http://schemas.microsoft.com/office/powerpoint/2010/main" Requires="p14">
      <p:transition p14:dur="0"/>
    </mc:Choice>
    <mc:Fallback>
      <p:transition/>
    </mc:Fallback>
  </mc:AlternateContent>
</p:sld>
</file>

<file path=ppt/slides/slide10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文本框 3" descr="7b0a202020202262756c6c6574223a20227b5c2263617465676f727949645c223a31303030362c5c2274656d706c61746549645c223a32303233313236327d220a7d0a"/>
          <p:cNvSpPr txBox="1"/>
          <p:nvPr/>
        </p:nvSpPr>
        <p:spPr>
          <a:xfrm>
            <a:off x="534671" y="1045200"/>
            <a:ext cx="8248649" cy="2537874"/>
          </a:xfrm>
          <a:prstGeom prst="rect">
            <a:avLst/>
          </a:prstGeom>
          <a:ln>
            <a:noFill/>
          </a:ln>
        </p:spPr>
        <p:style>
          <a:lnRef idx="2">
            <a:schemeClr val="dk1"/>
          </a:lnRef>
          <a:fillRef idx="1">
            <a:schemeClr val="lt1"/>
          </a:fillRef>
          <a:effectRef idx="0">
            <a:schemeClr val="dk1"/>
          </a:effectRef>
          <a:fontRef idx="minor">
            <a:schemeClr val="dk1"/>
          </a:fontRef>
        </p:style>
        <p:txBody>
          <a:bodyPr wrap="square" rtlCol="0" anchor="t">
            <a:spAutoFit/>
          </a:bodyPr>
          <a:lstStyle/>
          <a:p>
            <a:pPr>
              <a:lnSpc>
                <a:spcPct val="150000"/>
              </a:lnSpc>
            </a:pPr>
            <a:r>
              <a:rPr lang="en-US" altLang="zh-CN" b="0" dirty="0">
                <a:solidFill>
                  <a:srgbClr val="FF0000"/>
                </a:solidFill>
                <a:latin typeface="Times New Roman" panose="02020503050405090304" pitchFamily="18" charset="0"/>
                <a:ea typeface="宋体" pitchFamily="2" charset="-122"/>
              </a:rPr>
              <a:t>      </a:t>
            </a:r>
            <a:r>
              <a:rPr lang="zh-CN" altLang="en-US" b="0" dirty="0">
                <a:solidFill>
                  <a:schemeClr val="tx1"/>
                </a:solidFill>
                <a:latin typeface="Times New Roman" panose="02020503050405090304" pitchFamily="18" charset="0"/>
                <a:ea typeface="宋体" pitchFamily="2" charset="-122"/>
              </a:rPr>
              <a:t>语言学</a:t>
            </a:r>
            <a:r>
              <a:rPr lang="en-US" altLang="zh-CN" b="0" dirty="0" err="1">
                <a:solidFill>
                  <a:schemeClr val="tx1"/>
                </a:solidFill>
                <a:latin typeface="Times New Roman" panose="02020503050405090304" pitchFamily="18" charset="0"/>
                <a:ea typeface="宋体" pitchFamily="2" charset="-122"/>
              </a:rPr>
              <a:t>是以人类语言为研究对象的学科，探索范围包括语言的性质、功能、结构、运用和历史发展，以及其他与语言有关的问题</a:t>
            </a:r>
            <a:r>
              <a:rPr lang="zh-CN" altLang="en-US" b="0" dirty="0">
                <a:solidFill>
                  <a:schemeClr val="tx1"/>
                </a:solidFill>
                <a:latin typeface="Times New Roman" panose="02020503050405090304" pitchFamily="18" charset="0"/>
                <a:ea typeface="宋体" pitchFamily="2" charset="-122"/>
              </a:rPr>
              <a:t>。</a:t>
            </a:r>
            <a:endParaRPr lang="en-US" altLang="zh-CN" b="0" dirty="0">
              <a:solidFill>
                <a:srgbClr val="FF0000"/>
              </a:solidFill>
              <a:latin typeface="Times New Roman" panose="02020503050405090304" pitchFamily="18" charset="0"/>
              <a:ea typeface="宋体" pitchFamily="2" charset="-122"/>
            </a:endParaRPr>
          </a:p>
          <a:p>
            <a:pPr>
              <a:lnSpc>
                <a:spcPct val="150000"/>
              </a:lnSpc>
            </a:pPr>
            <a:r>
              <a:rPr lang="en-US" altLang="zh-CN" b="0" dirty="0">
                <a:solidFill>
                  <a:srgbClr val="FF0000"/>
                </a:solidFill>
                <a:latin typeface="Times New Roman" panose="02020503050405090304" pitchFamily="18" charset="0"/>
                <a:ea typeface="宋体" pitchFamily="2" charset="-122"/>
              </a:rPr>
              <a:t>      </a:t>
            </a:r>
            <a:r>
              <a:rPr lang="zh-CN" altLang="en-US" b="0" dirty="0">
                <a:solidFill>
                  <a:srgbClr val="FF0000"/>
                </a:solidFill>
                <a:latin typeface="Times New Roman" panose="02020503050405090304" pitchFamily="18" charset="0"/>
                <a:ea typeface="宋体" pitchFamily="2" charset="-122"/>
              </a:rPr>
              <a:t>词法分析：将语句序列分为多个独立单词。</a:t>
            </a:r>
            <a:endParaRPr lang="zh-CN" altLang="en-US" b="0" dirty="0">
              <a:latin typeface="Times New Roman" panose="02020503050405090304" pitchFamily="18" charset="0"/>
              <a:ea typeface="宋体" pitchFamily="2" charset="-122"/>
            </a:endParaRPr>
          </a:p>
          <a:p>
            <a:pPr>
              <a:lnSpc>
                <a:spcPct val="150000"/>
              </a:lnSpc>
            </a:pPr>
            <a:r>
              <a:rPr lang="zh-CN" altLang="en-US" b="0" dirty="0">
                <a:latin typeface="Times New Roman" panose="02020503050405090304" pitchFamily="18" charset="0"/>
                <a:ea typeface="宋体" pitchFamily="2" charset="-122"/>
              </a:rPr>
              <a:t> </a:t>
            </a:r>
            <a:r>
              <a:rPr lang="en-US" altLang="zh-CN" b="0" dirty="0">
                <a:latin typeface="Times New Roman" panose="02020503050405090304" pitchFamily="18" charset="0"/>
                <a:ea typeface="宋体" pitchFamily="2" charset="-122"/>
              </a:rPr>
              <a:t>    </a:t>
            </a:r>
            <a:r>
              <a:rPr lang="en-US" altLang="zh-CN" b="0" dirty="0">
                <a:gradFill>
                  <a:gsLst>
                    <a:gs pos="0">
                      <a:srgbClr val="7B32B2"/>
                    </a:gs>
                    <a:gs pos="100000">
                      <a:srgbClr val="401A5D"/>
                    </a:gs>
                  </a:gsLst>
                  <a:lin scaled="0"/>
                </a:gradFill>
                <a:latin typeface="Times New Roman" panose="02020503050405090304" pitchFamily="18" charset="0"/>
                <a:ea typeface="宋体" pitchFamily="2" charset="-122"/>
              </a:rPr>
              <a:t> </a:t>
            </a:r>
            <a:r>
              <a:rPr lang="zh-CN" altLang="en-US" b="0" dirty="0">
                <a:gradFill>
                  <a:gsLst>
                    <a:gs pos="0">
                      <a:srgbClr val="7B32B2"/>
                    </a:gs>
                    <a:gs pos="100000">
                      <a:srgbClr val="401A5D"/>
                    </a:gs>
                  </a:gsLst>
                  <a:lin scaled="0"/>
                </a:gradFill>
                <a:latin typeface="Times New Roman" panose="02020503050405090304" pitchFamily="18" charset="0"/>
                <a:ea typeface="宋体" pitchFamily="2" charset="-122"/>
              </a:rPr>
              <a:t>词性分析</a:t>
            </a:r>
            <a:r>
              <a:rPr lang="en-US" altLang="zh-CN" b="0" dirty="0">
                <a:latin typeface="Times New Roman" panose="02020503050405090304" pitchFamily="18" charset="0"/>
                <a:ea typeface="宋体" pitchFamily="2" charset="-122"/>
              </a:rPr>
              <a:t> </a:t>
            </a:r>
            <a:r>
              <a:rPr lang="zh-CN" altLang="en-US" b="0" dirty="0">
                <a:latin typeface="Times New Roman" panose="02020503050405090304" pitchFamily="18" charset="0"/>
                <a:ea typeface="宋体" pitchFamily="2" charset="-122"/>
              </a:rPr>
              <a:t>：将词标注为名词、动词、形容词等。</a:t>
            </a:r>
            <a:endParaRPr lang="zh-CN" altLang="en-US" b="0" dirty="0">
              <a:latin typeface="Times New Roman" panose="02020503050405090304" pitchFamily="18" charset="0"/>
              <a:ea typeface="宋体" pitchFamily="2" charset="-122"/>
            </a:endParaRPr>
          </a:p>
          <a:p>
            <a:pPr>
              <a:lnSpc>
                <a:spcPct val="150000"/>
              </a:lnSpc>
            </a:pPr>
            <a:r>
              <a:rPr lang="en-US" altLang="zh-CN" b="0" dirty="0">
                <a:solidFill>
                  <a:schemeClr val="accent4">
                    <a:lumMod val="75000"/>
                  </a:schemeClr>
                </a:solidFill>
                <a:latin typeface="Times New Roman" panose="02020503050405090304" pitchFamily="18" charset="0"/>
                <a:ea typeface="宋体" pitchFamily="2" charset="-122"/>
              </a:rPr>
              <a:t>      </a:t>
            </a:r>
            <a:r>
              <a:rPr lang="zh-CN" altLang="en-US" b="0" dirty="0">
                <a:solidFill>
                  <a:schemeClr val="accent4">
                    <a:lumMod val="75000"/>
                  </a:schemeClr>
                </a:solidFill>
                <a:latin typeface="Times New Roman" panose="02020503050405090304" pitchFamily="18" charset="0"/>
                <a:ea typeface="宋体" pitchFamily="2" charset="-122"/>
              </a:rPr>
              <a:t>句法分析：对句子中的词语语法功能进行分析，比如分为主语、谓语、宾语等，并构建词语间的修饰结构。</a:t>
            </a:r>
            <a:endParaRPr lang="zh-CN" altLang="en-US" b="0" dirty="0">
              <a:solidFill>
                <a:schemeClr val="accent4">
                  <a:lumMod val="75000"/>
                </a:schemeClr>
              </a:solidFill>
              <a:latin typeface="Times New Roman" panose="02020503050405090304" pitchFamily="18" charset="0"/>
              <a:ea typeface="宋体" pitchFamily="2" charset="-122"/>
            </a:endParaRPr>
          </a:p>
        </p:txBody>
      </p:sp>
      <p:sp>
        <p:nvSpPr>
          <p:cNvPr id="5" name="标题 4"/>
          <p:cNvSpPr>
            <a:spLocks noGrp="1"/>
          </p:cNvSpPr>
          <p:nvPr>
            <p:ph type="title"/>
          </p:nvPr>
        </p:nvSpPr>
        <p:spPr>
          <a:xfrm>
            <a:off x="362424" y="0"/>
            <a:ext cx="8781575" cy="702469"/>
          </a:xfrm>
        </p:spPr>
        <p:txBody>
          <a:bodyPr/>
          <a:lstStyle/>
          <a:p>
            <a:r>
              <a:rPr lang="en-US" altLang="zh-CN" sz="2400" b="1">
                <a:solidFill>
                  <a:srgbClr val="004C41"/>
                </a:solidFill>
                <a:ea typeface="宋体" pitchFamily="2" charset="-122"/>
                <a:cs typeface="+mn-ea"/>
                <a:sym typeface="+mn-lt"/>
              </a:rPr>
              <a:t>4.</a:t>
            </a:r>
            <a:r>
              <a:rPr lang="zh-CN" altLang="en-US" sz="2400" b="1">
                <a:solidFill>
                  <a:srgbClr val="004C41"/>
                </a:solidFill>
                <a:ea typeface="宋体" pitchFamily="2" charset="-122"/>
                <a:cs typeface="+mn-ea"/>
                <a:sym typeface="+mn-lt"/>
              </a:rPr>
              <a:t>语言学知识和技能要求</a:t>
            </a:r>
            <a:endParaRPr lang="zh-CN" altLang="en-US">
              <a:ea typeface="宋体" pitchFamily="2" charset="-122"/>
            </a:endParaRPr>
          </a:p>
        </p:txBody>
      </p:sp>
      <p:sp>
        <p:nvSpPr>
          <p:cNvPr id="2" name="日期占位符 1"/>
          <p:cNvSpPr>
            <a:spLocks noGrp="1"/>
          </p:cNvSpPr>
          <p:nvPr>
            <p:ph type="dt" sz="half" idx="10"/>
          </p:nvPr>
        </p:nvSpPr>
        <p:spPr/>
        <p:txBody>
          <a:bodyPr/>
          <a:lstStyle/>
          <a:p>
            <a:fld id="{693083C8-2C64-44B5-BC74-5F553FD7E5F9}" type="datetime1">
              <a:rPr lang="zh-CN" altLang="en-US" smtClean="0"/>
            </a:fld>
            <a:endParaRPr lang="zh-CN" altLang="en-US"/>
          </a:p>
        </p:txBody>
      </p:sp>
      <p:sp>
        <p:nvSpPr>
          <p:cNvPr id="3" name="灯片编号占位符 2"/>
          <p:cNvSpPr>
            <a:spLocks noGrp="1"/>
          </p:cNvSpPr>
          <p:nvPr>
            <p:ph type="sldNum" sz="quarter" idx="12"/>
          </p:nvPr>
        </p:nvSpPr>
        <p:spPr/>
        <p:txBody>
          <a:bodyPr/>
          <a:lstStyle/>
          <a:p>
            <a:fld id="{82952373-7980-4DA7-9ADE-54D716DB38BB}" type="slidenum">
              <a:rPr lang="zh-CN" altLang="en-US" smtClean="0"/>
            </a:fld>
            <a:endParaRPr lang="zh-CN" altLang="en-US"/>
          </a:p>
        </p:txBody>
      </p:sp>
    </p:spTree>
  </p:cSld>
  <p:clrMapOvr>
    <a:masterClrMapping/>
  </p:clrMapOvr>
  <mc:AlternateContent xmlns:mc="http://schemas.openxmlformats.org/markup-compatibility/2006">
    <mc:Choice xmlns:p14="http://schemas.microsoft.com/office/powerpoint/2010/main" Requires="p14">
      <p:transition p14:dur="0"/>
    </mc:Choice>
    <mc:Fallback>
      <p:transition/>
    </mc:Fallback>
  </mc:AlternateContent>
</p:sld>
</file>

<file path=ppt/slides/slide10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sz="2400" b="1"/>
              <a:t>顶级国际学术会议</a:t>
            </a:r>
            <a:endParaRPr lang="zh-CN" altLang="en-US"/>
          </a:p>
        </p:txBody>
      </p:sp>
      <p:sp>
        <p:nvSpPr>
          <p:cNvPr id="3" name="日期占位符 2"/>
          <p:cNvSpPr>
            <a:spLocks noGrp="1"/>
          </p:cNvSpPr>
          <p:nvPr>
            <p:ph type="dt" sz="half" idx="10"/>
          </p:nvPr>
        </p:nvSpPr>
        <p:spPr/>
        <p:txBody>
          <a:bodyPr/>
          <a:lstStyle/>
          <a:p>
            <a:fld id="{BEE53C56-44E0-4C8B-B310-B121BD0E1C59}" type="datetime1">
              <a:rPr lang="zh-CN" altLang="en-US" smtClean="0"/>
            </a:fld>
            <a:endParaRPr lang="zh-CN" altLang="en-US"/>
          </a:p>
        </p:txBody>
      </p:sp>
      <p:sp>
        <p:nvSpPr>
          <p:cNvPr id="4" name="灯片编号占位符 3"/>
          <p:cNvSpPr>
            <a:spLocks noGrp="1"/>
          </p:cNvSpPr>
          <p:nvPr>
            <p:ph type="sldNum" sz="quarter" idx="12"/>
          </p:nvPr>
        </p:nvSpPr>
        <p:spPr/>
        <p:txBody>
          <a:bodyPr/>
          <a:lstStyle/>
          <a:p>
            <a:fld id="{82952373-7980-4DA7-9ADE-54D716DB38BB}" type="slidenum">
              <a:rPr lang="zh-CN" altLang="en-US" smtClean="0"/>
            </a:fld>
            <a:endParaRPr lang="zh-CN" altLang="en-US"/>
          </a:p>
        </p:txBody>
      </p:sp>
      <p:sp>
        <p:nvSpPr>
          <p:cNvPr id="10" name="文本框 9"/>
          <p:cNvSpPr txBox="1"/>
          <p:nvPr/>
        </p:nvSpPr>
        <p:spPr>
          <a:xfrm>
            <a:off x="512065" y="1013655"/>
            <a:ext cx="8275320" cy="3578865"/>
          </a:xfrm>
          <a:prstGeom prst="rect">
            <a:avLst/>
          </a:prstGeom>
          <a:noFill/>
        </p:spPr>
        <p:txBody>
          <a:bodyPr wrap="square">
            <a:spAutoFit/>
          </a:bodyPr>
          <a:lstStyle/>
          <a:p>
            <a:pPr marL="285750" indent="-285750">
              <a:lnSpc>
                <a:spcPct val="130000"/>
              </a:lnSpc>
              <a:buClr>
                <a:srgbClr val="0070C0"/>
              </a:buClr>
              <a:buFont typeface="Wingdings" panose="05000000000000000000" pitchFamily="2" charset="2"/>
              <a:buChar char="n"/>
            </a:pPr>
            <a:r>
              <a:rPr lang="en-US" altLang="zh-CN" sz="1600" b="0">
                <a:solidFill>
                  <a:srgbClr val="3333FF"/>
                </a:solidFill>
                <a:latin typeface="+mn-lt"/>
                <a:ea typeface="+mn-ea"/>
              </a:rPr>
              <a:t>ACL (Annual Meeting of the Association for Computational Linguistics)</a:t>
            </a:r>
            <a:r>
              <a:rPr lang="zh-CN" altLang="en-US" sz="1600" b="0" i="0">
                <a:solidFill>
                  <a:srgbClr val="333333"/>
                </a:solidFill>
                <a:effectLst/>
                <a:latin typeface="Arial" panose="020B0604020202090204" pitchFamily="34" charset="0"/>
              </a:rPr>
              <a:t>计算</a:t>
            </a:r>
            <a:r>
              <a:rPr lang="zh-CN" altLang="en-US" sz="1600" b="0" i="0">
                <a:solidFill>
                  <a:srgbClr val="F73131"/>
                </a:solidFill>
                <a:effectLst/>
                <a:latin typeface="Arial" panose="020B0604020202090204" pitchFamily="34" charset="0"/>
              </a:rPr>
              <a:t>语言学</a:t>
            </a:r>
            <a:r>
              <a:rPr lang="zh-CN" altLang="en-US" sz="1600" b="0" i="0">
                <a:solidFill>
                  <a:srgbClr val="333333"/>
                </a:solidFill>
                <a:effectLst/>
                <a:latin typeface="Arial" panose="020B0604020202090204" pitchFamily="34" charset="0"/>
              </a:rPr>
              <a:t>协会年会</a:t>
            </a:r>
            <a:endParaRPr lang="en-US" altLang="zh-CN" sz="1600" b="0">
              <a:solidFill>
                <a:srgbClr val="3333FF"/>
              </a:solidFill>
              <a:latin typeface="+mn-lt"/>
              <a:ea typeface="+mn-ea"/>
            </a:endParaRPr>
          </a:p>
          <a:p>
            <a:pPr>
              <a:lnSpc>
                <a:spcPct val="130000"/>
              </a:lnSpc>
              <a:buClr>
                <a:srgbClr val="0070C0"/>
              </a:buClr>
            </a:pPr>
            <a:r>
              <a:rPr lang="zh-CN" altLang="en-US" sz="1600" b="0">
                <a:latin typeface="+mn-lt"/>
                <a:ea typeface="+mn-ea"/>
              </a:rPr>
              <a:t>涵盖了各种</a:t>
            </a:r>
            <a:r>
              <a:rPr lang="en-US" altLang="zh-CN" sz="1600" b="0">
                <a:latin typeface="+mn-lt"/>
                <a:ea typeface="+mn-ea"/>
              </a:rPr>
              <a:t>NLP</a:t>
            </a:r>
            <a:r>
              <a:rPr lang="zh-CN" altLang="en-US" sz="1600" b="0">
                <a:latin typeface="+mn-lt"/>
                <a:ea typeface="+mn-ea"/>
              </a:rPr>
              <a:t>相关的主题，如语法、语义、机器翻译、问答系统等。</a:t>
            </a:r>
            <a:endParaRPr lang="zh-CN" altLang="en-US" sz="1600" b="0">
              <a:latin typeface="+mn-lt"/>
              <a:ea typeface="+mn-ea"/>
            </a:endParaRPr>
          </a:p>
          <a:p>
            <a:pPr marL="285750" indent="-285750">
              <a:lnSpc>
                <a:spcPct val="130000"/>
              </a:lnSpc>
              <a:buClr>
                <a:srgbClr val="0070C0"/>
              </a:buClr>
              <a:buFont typeface="Wingdings" panose="05000000000000000000" pitchFamily="2" charset="2"/>
              <a:buChar char="n"/>
            </a:pPr>
            <a:r>
              <a:rPr lang="en-US" altLang="zh-CN" sz="1600" b="0">
                <a:solidFill>
                  <a:srgbClr val="3333FF"/>
                </a:solidFill>
                <a:latin typeface="+mn-lt"/>
                <a:ea typeface="+mn-ea"/>
              </a:rPr>
              <a:t>EMNLP (Conference on Empirical Methods in Natural Language Processing)</a:t>
            </a:r>
            <a:r>
              <a:rPr lang="zh-CN" altLang="en-US" sz="1600" b="0" i="0">
                <a:solidFill>
                  <a:srgbClr val="333333"/>
                </a:solidFill>
                <a:effectLst/>
                <a:latin typeface="Arial" panose="020B0604020202090204" pitchFamily="34" charset="0"/>
              </a:rPr>
              <a:t>实证自然语言处理会议，</a:t>
            </a:r>
            <a:r>
              <a:rPr lang="zh-CN" altLang="en-US" sz="1600" b="0">
                <a:latin typeface="+mn-lt"/>
                <a:ea typeface="+mn-ea"/>
              </a:rPr>
              <a:t>主要聚焦于数据驱动的</a:t>
            </a:r>
            <a:r>
              <a:rPr lang="en-US" altLang="zh-CN" sz="1600" b="0">
                <a:latin typeface="+mn-lt"/>
                <a:ea typeface="+mn-ea"/>
              </a:rPr>
              <a:t>NLP</a:t>
            </a:r>
            <a:r>
              <a:rPr lang="zh-CN" altLang="en-US" sz="1600" b="0">
                <a:latin typeface="+mn-lt"/>
                <a:ea typeface="+mn-ea"/>
              </a:rPr>
              <a:t>方法，尤其是机器学习和深度学习在</a:t>
            </a:r>
            <a:r>
              <a:rPr lang="en-US" altLang="zh-CN" sz="1600" b="0">
                <a:latin typeface="+mn-lt"/>
                <a:ea typeface="+mn-ea"/>
              </a:rPr>
              <a:t>NLP</a:t>
            </a:r>
            <a:r>
              <a:rPr lang="zh-CN" altLang="en-US" sz="1600" b="0">
                <a:latin typeface="+mn-lt"/>
                <a:ea typeface="+mn-ea"/>
              </a:rPr>
              <a:t>中的应用。</a:t>
            </a:r>
            <a:endParaRPr lang="zh-CN" altLang="en-US" sz="1600" b="0">
              <a:latin typeface="+mn-lt"/>
              <a:ea typeface="+mn-ea"/>
            </a:endParaRPr>
          </a:p>
          <a:p>
            <a:pPr marL="285750" indent="-285750">
              <a:lnSpc>
                <a:spcPct val="130000"/>
              </a:lnSpc>
              <a:buClr>
                <a:srgbClr val="0070C0"/>
              </a:buClr>
              <a:buFont typeface="Wingdings" panose="05000000000000000000" pitchFamily="2" charset="2"/>
              <a:buChar char="n"/>
            </a:pPr>
            <a:r>
              <a:rPr lang="en-US" altLang="zh-CN" sz="1600" b="0">
                <a:solidFill>
                  <a:srgbClr val="3333FF"/>
                </a:solidFill>
                <a:latin typeface="+mn-lt"/>
                <a:ea typeface="+mn-ea"/>
              </a:rPr>
              <a:t>NAACL (North American Chapter of the Association for Computational Linguistics)</a:t>
            </a:r>
            <a:r>
              <a:rPr lang="zh-CN" altLang="en-US" sz="1600" b="1" i="0">
                <a:solidFill>
                  <a:srgbClr val="262626"/>
                </a:solidFill>
                <a:effectLst/>
                <a:latin typeface="Arial" panose="020B0604020202090204" pitchFamily="34" charset="0"/>
              </a:rPr>
              <a:t>计算语言学协会北美分会</a:t>
            </a:r>
            <a:r>
              <a:rPr lang="zh-CN" altLang="en-US" sz="1600" b="0">
                <a:solidFill>
                  <a:srgbClr val="3333FF"/>
                </a:solidFill>
                <a:latin typeface="+mn-lt"/>
                <a:ea typeface="+mn-ea"/>
              </a:rPr>
              <a:t>，</a:t>
            </a:r>
            <a:r>
              <a:rPr lang="zh-CN" altLang="en-US" sz="1600" b="0">
                <a:latin typeface="+mn-lt"/>
                <a:ea typeface="+mn-ea"/>
              </a:rPr>
              <a:t>也是在</a:t>
            </a:r>
            <a:r>
              <a:rPr lang="en-US" altLang="zh-CN" sz="1600" b="0">
                <a:latin typeface="+mn-lt"/>
                <a:ea typeface="+mn-ea"/>
              </a:rPr>
              <a:t>NLP</a:t>
            </a:r>
            <a:r>
              <a:rPr lang="zh-CN" altLang="en-US" sz="1600" b="0">
                <a:latin typeface="+mn-lt"/>
                <a:ea typeface="+mn-ea"/>
              </a:rPr>
              <a:t>领域具有重要影响力的会议，涵盖了所有</a:t>
            </a:r>
            <a:r>
              <a:rPr lang="en-US" altLang="zh-CN" sz="1600" b="0">
                <a:latin typeface="+mn-lt"/>
                <a:ea typeface="+mn-ea"/>
              </a:rPr>
              <a:t>NLP</a:t>
            </a:r>
            <a:r>
              <a:rPr lang="zh-CN" altLang="en-US" sz="1600" b="0">
                <a:latin typeface="+mn-lt"/>
                <a:ea typeface="+mn-ea"/>
              </a:rPr>
              <a:t>相关的研究方向。</a:t>
            </a:r>
            <a:endParaRPr lang="zh-CN" altLang="en-US" sz="1600" b="0">
              <a:latin typeface="+mn-lt"/>
              <a:ea typeface="+mn-ea"/>
            </a:endParaRPr>
          </a:p>
          <a:p>
            <a:pPr marL="285750" indent="-285750">
              <a:lnSpc>
                <a:spcPct val="130000"/>
              </a:lnSpc>
              <a:buClr>
                <a:srgbClr val="0070C0"/>
              </a:buClr>
              <a:buFont typeface="Wingdings" panose="05000000000000000000" pitchFamily="2" charset="2"/>
              <a:buChar char="n"/>
            </a:pPr>
            <a:r>
              <a:rPr lang="en-US" altLang="zh-CN" sz="1600" b="0">
                <a:solidFill>
                  <a:srgbClr val="3333FF"/>
                </a:solidFill>
                <a:latin typeface="+mn-lt"/>
                <a:ea typeface="+mn-ea"/>
              </a:rPr>
              <a:t>COLING (International Conference on Computational Linguistics)</a:t>
            </a:r>
            <a:r>
              <a:rPr lang="zh-CN" altLang="en-US" sz="1600" b="1" i="0">
                <a:solidFill>
                  <a:srgbClr val="262626"/>
                </a:solidFill>
                <a:effectLst/>
                <a:latin typeface="Arial" panose="020B0604020202090204" pitchFamily="34" charset="0"/>
              </a:rPr>
              <a:t>国际计算语言学会议</a:t>
            </a:r>
            <a:endParaRPr lang="en-US" altLang="zh-CN" sz="1600" b="0">
              <a:solidFill>
                <a:srgbClr val="3333FF"/>
              </a:solidFill>
              <a:latin typeface="+mn-lt"/>
              <a:ea typeface="+mn-ea"/>
            </a:endParaRPr>
          </a:p>
          <a:p>
            <a:pPr>
              <a:lnSpc>
                <a:spcPct val="130000"/>
              </a:lnSpc>
              <a:buClr>
                <a:srgbClr val="0070C0"/>
              </a:buClr>
            </a:pPr>
            <a:r>
              <a:rPr lang="zh-CN" altLang="en-US" sz="1600" b="0">
                <a:latin typeface="+mn-lt"/>
                <a:ea typeface="+mn-ea"/>
              </a:rPr>
              <a:t>每两年举行一次，涵盖了从理论到应用的广泛话题，特别注重语言学的计算方法。</a:t>
            </a:r>
            <a:endParaRPr lang="zh-CN" altLang="en-US" sz="1600" b="0">
              <a:latin typeface="+mn-lt"/>
              <a:ea typeface="+mn-ea"/>
            </a:endParaRPr>
          </a:p>
          <a:p>
            <a:pPr marL="285750" indent="-285750">
              <a:lnSpc>
                <a:spcPct val="130000"/>
              </a:lnSpc>
              <a:buClr>
                <a:srgbClr val="0070C0"/>
              </a:buClr>
              <a:buFont typeface="Wingdings" panose="05000000000000000000" pitchFamily="2" charset="2"/>
              <a:buChar char="n"/>
            </a:pPr>
            <a:r>
              <a:rPr lang="en-US" altLang="zh-CN" sz="1600" b="0">
                <a:solidFill>
                  <a:srgbClr val="3333FF"/>
                </a:solidFill>
                <a:latin typeface="+mn-lt"/>
                <a:ea typeface="+mn-ea"/>
              </a:rPr>
              <a:t>LREC (Language Resources and Evaluation Conference)</a:t>
            </a:r>
            <a:r>
              <a:rPr lang="zh-CN" altLang="en-US" sz="1600" b="1" i="0">
                <a:solidFill>
                  <a:srgbClr val="404040"/>
                </a:solidFill>
                <a:effectLst/>
                <a:latin typeface="Inter"/>
              </a:rPr>
              <a:t>语言资源与评估会议</a:t>
            </a:r>
            <a:endParaRPr lang="en-US" altLang="zh-CN" sz="1600" b="0">
              <a:solidFill>
                <a:srgbClr val="3333FF"/>
              </a:solidFill>
              <a:latin typeface="+mn-lt"/>
              <a:ea typeface="+mn-ea"/>
            </a:endParaRPr>
          </a:p>
          <a:p>
            <a:pPr lvl="1">
              <a:lnSpc>
                <a:spcPct val="130000"/>
              </a:lnSpc>
              <a:buClr>
                <a:srgbClr val="0070C0"/>
              </a:buClr>
            </a:pPr>
            <a:r>
              <a:rPr lang="zh-CN" altLang="en-US" sz="1600" b="0">
                <a:latin typeface="+mn-lt"/>
                <a:ea typeface="+mn-ea"/>
              </a:rPr>
              <a:t>主要集中在语言资源和评估方法上，强调数据集的构建与应用。</a:t>
            </a:r>
            <a:endParaRPr lang="zh-CN" altLang="en-US" sz="1600" b="0">
              <a:latin typeface="+mn-lt"/>
              <a:ea typeface="+mn-ea"/>
            </a:endParaRPr>
          </a:p>
        </p:txBody>
      </p:sp>
    </p:spTree>
  </p:cSld>
  <p:clrMapOvr>
    <a:masterClrMapping/>
  </p:clrMapOvr>
  <mc:AlternateContent xmlns:mc="http://schemas.openxmlformats.org/markup-compatibility/2006">
    <mc:Choice xmlns:p14="http://schemas.microsoft.com/office/powerpoint/2010/main" Requires="p14">
      <p:transition p14:dur="0"/>
    </mc:Choice>
    <mc:Fallback>
      <p:transition/>
    </mc:Fallback>
  </mc:AlternateContent>
</p:sld>
</file>

<file path=ppt/slides/slide10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sz="2400" b="1"/>
              <a:t>顶级国际学术会议</a:t>
            </a:r>
            <a:endParaRPr lang="zh-CN" altLang="en-US"/>
          </a:p>
        </p:txBody>
      </p:sp>
      <p:sp>
        <p:nvSpPr>
          <p:cNvPr id="3" name="日期占位符 2"/>
          <p:cNvSpPr>
            <a:spLocks noGrp="1"/>
          </p:cNvSpPr>
          <p:nvPr>
            <p:ph type="dt" sz="half" idx="10"/>
          </p:nvPr>
        </p:nvSpPr>
        <p:spPr/>
        <p:txBody>
          <a:bodyPr/>
          <a:lstStyle/>
          <a:p>
            <a:fld id="{59EA5E4C-3639-4B8B-822E-E7371B831F99}" type="datetime1">
              <a:rPr lang="zh-CN" altLang="en-US" smtClean="0"/>
            </a:fld>
            <a:endParaRPr lang="zh-CN" altLang="en-US"/>
          </a:p>
        </p:txBody>
      </p:sp>
      <p:sp>
        <p:nvSpPr>
          <p:cNvPr id="4" name="灯片编号占位符 3"/>
          <p:cNvSpPr>
            <a:spLocks noGrp="1"/>
          </p:cNvSpPr>
          <p:nvPr>
            <p:ph type="sldNum" sz="quarter" idx="12"/>
          </p:nvPr>
        </p:nvSpPr>
        <p:spPr/>
        <p:txBody>
          <a:bodyPr/>
          <a:lstStyle/>
          <a:p>
            <a:fld id="{82952373-7980-4DA7-9ADE-54D716DB38BB}" type="slidenum">
              <a:rPr lang="zh-CN" altLang="en-US" smtClean="0"/>
            </a:fld>
            <a:endParaRPr lang="zh-CN" altLang="en-US"/>
          </a:p>
        </p:txBody>
      </p:sp>
      <p:sp>
        <p:nvSpPr>
          <p:cNvPr id="6" name="文本框 5"/>
          <p:cNvSpPr txBox="1"/>
          <p:nvPr/>
        </p:nvSpPr>
        <p:spPr>
          <a:xfrm>
            <a:off x="675564" y="1002090"/>
            <a:ext cx="7765575" cy="3372077"/>
          </a:xfrm>
          <a:prstGeom prst="rect">
            <a:avLst/>
          </a:prstGeom>
          <a:noFill/>
        </p:spPr>
        <p:txBody>
          <a:bodyPr wrap="square">
            <a:spAutoFit/>
          </a:bodyPr>
          <a:lstStyle/>
          <a:p>
            <a:pPr marL="285750" indent="-285750">
              <a:lnSpc>
                <a:spcPct val="150000"/>
              </a:lnSpc>
              <a:buClr>
                <a:srgbClr val="0070C0"/>
              </a:buClr>
              <a:buFont typeface="Wingdings" panose="05000000000000000000" pitchFamily="2" charset="2"/>
              <a:buChar char="n"/>
            </a:pPr>
            <a:r>
              <a:rPr lang="en-US" altLang="zh-CN" sz="1600" b="0">
                <a:solidFill>
                  <a:srgbClr val="3333FF"/>
                </a:solidFill>
                <a:latin typeface="+mn-lt"/>
                <a:ea typeface="+mn-ea"/>
              </a:rPr>
              <a:t>TACL (Transactions of the Association for Computational Linguistics)</a:t>
            </a:r>
            <a:endParaRPr lang="en-US" altLang="zh-CN" sz="1600" b="0">
              <a:solidFill>
                <a:srgbClr val="3333FF"/>
              </a:solidFill>
              <a:latin typeface="+mn-lt"/>
              <a:ea typeface="+mn-ea"/>
            </a:endParaRPr>
          </a:p>
          <a:p>
            <a:pPr lvl="1">
              <a:lnSpc>
                <a:spcPct val="150000"/>
              </a:lnSpc>
              <a:buClr>
                <a:srgbClr val="0070C0"/>
              </a:buClr>
            </a:pPr>
            <a:r>
              <a:rPr lang="en-US" altLang="zh-CN" sz="1600" b="0">
                <a:latin typeface="+mn-lt"/>
                <a:ea typeface="+mn-ea"/>
              </a:rPr>
              <a:t>ACL</a:t>
            </a:r>
            <a:r>
              <a:rPr lang="zh-CN" altLang="en-US" sz="1600" b="0">
                <a:latin typeface="+mn-lt"/>
                <a:ea typeface="+mn-ea"/>
              </a:rPr>
              <a:t>的一个学术期刊，许多学者也认为它是</a:t>
            </a:r>
            <a:r>
              <a:rPr lang="en-US" altLang="zh-CN" sz="1600" b="0">
                <a:latin typeface="+mn-lt"/>
                <a:ea typeface="+mn-ea"/>
              </a:rPr>
              <a:t>NLP</a:t>
            </a:r>
            <a:r>
              <a:rPr lang="zh-CN" altLang="en-US" sz="1600" b="0">
                <a:latin typeface="+mn-lt"/>
                <a:ea typeface="+mn-ea"/>
              </a:rPr>
              <a:t>领域的重要会议之一。</a:t>
            </a:r>
            <a:endParaRPr lang="en-US" altLang="zh-CN" sz="1600" b="0">
              <a:solidFill>
                <a:srgbClr val="3333FF"/>
              </a:solidFill>
              <a:latin typeface="+mn-lt"/>
              <a:ea typeface="+mn-ea"/>
            </a:endParaRPr>
          </a:p>
          <a:p>
            <a:pPr marL="285750" indent="-285750">
              <a:lnSpc>
                <a:spcPct val="150000"/>
              </a:lnSpc>
              <a:buClr>
                <a:srgbClr val="0070C0"/>
              </a:buClr>
              <a:buFont typeface="Wingdings" panose="05000000000000000000" pitchFamily="2" charset="2"/>
              <a:buChar char="n"/>
            </a:pPr>
            <a:r>
              <a:rPr lang="en-US" altLang="zh-CN" sz="1600" b="0">
                <a:solidFill>
                  <a:srgbClr val="3333FF"/>
                </a:solidFill>
                <a:latin typeface="+mn-lt"/>
                <a:ea typeface="+mn-ea"/>
              </a:rPr>
              <a:t>ICLR (International Conference on Learning Representations)</a:t>
            </a:r>
            <a:endParaRPr lang="en-US" altLang="zh-CN" sz="1600" b="0">
              <a:solidFill>
                <a:srgbClr val="3333FF"/>
              </a:solidFill>
              <a:latin typeface="+mn-lt"/>
              <a:ea typeface="+mn-ea"/>
            </a:endParaRPr>
          </a:p>
          <a:p>
            <a:pPr marL="285750" indent="-285750">
              <a:lnSpc>
                <a:spcPct val="150000"/>
              </a:lnSpc>
              <a:buClr>
                <a:srgbClr val="0070C0"/>
              </a:buClr>
              <a:buFont typeface="Wingdings" panose="05000000000000000000" pitchFamily="2" charset="2"/>
              <a:buChar char="n"/>
            </a:pPr>
            <a:r>
              <a:rPr lang="en-US" altLang="zh-CN" sz="1600" b="0">
                <a:solidFill>
                  <a:srgbClr val="3333FF"/>
                </a:solidFill>
                <a:latin typeface="+mn-lt"/>
                <a:ea typeface="+mn-ea"/>
              </a:rPr>
              <a:t>NeurIPS (Conference on Neural Information Processing Systems)</a:t>
            </a:r>
            <a:endParaRPr lang="en-US" altLang="zh-CN" sz="1600" b="0">
              <a:solidFill>
                <a:srgbClr val="3333FF"/>
              </a:solidFill>
              <a:latin typeface="+mn-lt"/>
              <a:ea typeface="+mn-ea"/>
            </a:endParaRPr>
          </a:p>
          <a:p>
            <a:pPr lvl="1">
              <a:lnSpc>
                <a:spcPct val="150000"/>
              </a:lnSpc>
              <a:buClr>
                <a:srgbClr val="0070C0"/>
              </a:buClr>
            </a:pPr>
            <a:r>
              <a:rPr lang="zh-CN" altLang="en-US" sz="1600" b="0">
                <a:latin typeface="+mn-lt"/>
                <a:ea typeface="+mn-ea"/>
              </a:rPr>
              <a:t>一个涵盖人工智能和机器学习广泛主题的顶级会议，</a:t>
            </a:r>
            <a:r>
              <a:rPr lang="en-US" altLang="zh-CN" sz="1600" b="0">
                <a:latin typeface="+mn-lt"/>
                <a:ea typeface="+mn-ea"/>
              </a:rPr>
              <a:t>NLP</a:t>
            </a:r>
            <a:r>
              <a:rPr lang="zh-CN" altLang="en-US" sz="1600" b="0">
                <a:latin typeface="+mn-lt"/>
                <a:ea typeface="+mn-ea"/>
              </a:rPr>
              <a:t>是其中一个重要部分。</a:t>
            </a:r>
            <a:endParaRPr lang="en-US" altLang="zh-CN" sz="1600" b="0">
              <a:latin typeface="+mn-lt"/>
              <a:ea typeface="+mn-ea"/>
            </a:endParaRPr>
          </a:p>
          <a:p>
            <a:pPr marL="266700" lvl="1" indent="-266700">
              <a:lnSpc>
                <a:spcPct val="150000"/>
              </a:lnSpc>
              <a:buClr>
                <a:srgbClr val="0070C0"/>
              </a:buClr>
              <a:buFont typeface="Wingdings" panose="05000000000000000000" pitchFamily="2" charset="2"/>
              <a:buChar char="n"/>
            </a:pPr>
            <a:r>
              <a:rPr lang="en-US" altLang="zh-CN" sz="1600" b="0">
                <a:latin typeface="+mn-lt"/>
                <a:ea typeface="+mn-ea"/>
              </a:rPr>
              <a:t>INTERSPEECH(Conference of the International Speech Communication Association)</a:t>
            </a:r>
            <a:endParaRPr lang="en-US" altLang="zh-CN" sz="1600" b="0">
              <a:latin typeface="+mn-lt"/>
              <a:ea typeface="+mn-ea"/>
            </a:endParaRPr>
          </a:p>
          <a:p>
            <a:pPr marL="266700" lvl="1" indent="-266700">
              <a:lnSpc>
                <a:spcPct val="150000"/>
              </a:lnSpc>
              <a:buClr>
                <a:srgbClr val="0070C0"/>
              </a:buClr>
              <a:buFont typeface="Wingdings" panose="05000000000000000000" pitchFamily="2" charset="2"/>
              <a:buChar char="n"/>
            </a:pPr>
            <a:r>
              <a:rPr lang="en-US" altLang="zh-CN" sz="1600" b="0">
                <a:latin typeface="+mn-lt"/>
                <a:ea typeface="+mn-ea"/>
              </a:rPr>
              <a:t>ICASSP(IEEE International Conference on Acoustics, Speech and Signal Processing)</a:t>
            </a:r>
            <a:endParaRPr lang="en-US" altLang="zh-CN" sz="1600" b="0">
              <a:latin typeface="+mn-lt"/>
              <a:ea typeface="+mn-ea"/>
            </a:endParaRPr>
          </a:p>
          <a:p>
            <a:pPr marL="266700" lvl="1" indent="-266700">
              <a:lnSpc>
                <a:spcPct val="150000"/>
              </a:lnSpc>
              <a:buClr>
                <a:srgbClr val="0070C0"/>
              </a:buClr>
              <a:buFont typeface="Wingdings" panose="05000000000000000000" pitchFamily="2" charset="2"/>
              <a:buChar char="n"/>
            </a:pPr>
            <a:r>
              <a:rPr lang="en-US" altLang="zh-CN" sz="1600" b="0">
                <a:latin typeface="+mn-lt"/>
                <a:ea typeface="+mn-ea"/>
              </a:rPr>
              <a:t>NLPCC (CCF International Conference on Natural Language Processing and Chinese)</a:t>
            </a:r>
            <a:endParaRPr lang="en-US" altLang="zh-CN" sz="1600" b="0">
              <a:latin typeface="+mn-lt"/>
              <a:ea typeface="+mn-ea"/>
            </a:endParaRPr>
          </a:p>
          <a:p>
            <a:pPr marL="266700" lvl="1" indent="-266700">
              <a:lnSpc>
                <a:spcPct val="150000"/>
              </a:lnSpc>
              <a:buClr>
                <a:srgbClr val="0070C0"/>
              </a:buClr>
              <a:buFont typeface="Wingdings" panose="05000000000000000000" pitchFamily="2" charset="2"/>
              <a:buChar char="n"/>
            </a:pPr>
            <a:r>
              <a:rPr lang="en-US" altLang="zh-CN" sz="1600" b="0">
                <a:latin typeface="+mn-lt"/>
                <a:ea typeface="+mn-ea"/>
              </a:rPr>
              <a:t>CoNLL  (ComputingConferenee on Computational Natural language Learning)</a:t>
            </a:r>
            <a:endParaRPr lang="zh-CN" altLang="en-US" sz="1600" b="0">
              <a:latin typeface="+mn-lt"/>
              <a:ea typeface="+mn-ea"/>
            </a:endParaRPr>
          </a:p>
        </p:txBody>
      </p:sp>
    </p:spTree>
  </p:cSld>
  <p:clrMapOvr>
    <a:masterClrMapping/>
  </p:clrMapOvr>
  <mc:AlternateContent xmlns:mc="http://schemas.openxmlformats.org/markup-compatibility/2006">
    <mc:Choice xmlns:p14="http://schemas.microsoft.com/office/powerpoint/2010/main" Requires="p14">
      <p:transition p14:dur="0"/>
    </mc:Choice>
    <mc:Fallback>
      <p:transition/>
    </mc:Fallback>
  </mc:AlternateContent>
</p:sld>
</file>

<file path=ppt/slides/slide10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sz="2400" b="1"/>
              <a:t>顶级国际学术会议</a:t>
            </a:r>
            <a:endParaRPr lang="zh-CN" altLang="en-US"/>
          </a:p>
        </p:txBody>
      </p:sp>
      <p:sp>
        <p:nvSpPr>
          <p:cNvPr id="3" name="日期占位符 2"/>
          <p:cNvSpPr>
            <a:spLocks noGrp="1"/>
          </p:cNvSpPr>
          <p:nvPr>
            <p:ph type="dt" sz="half" idx="10"/>
          </p:nvPr>
        </p:nvSpPr>
        <p:spPr/>
        <p:txBody>
          <a:bodyPr/>
          <a:lstStyle/>
          <a:p>
            <a:fld id="{59EA5E4C-3639-4B8B-822E-E7371B831F99}" type="datetime1">
              <a:rPr lang="zh-CN" altLang="en-US" smtClean="0"/>
            </a:fld>
            <a:endParaRPr lang="zh-CN" altLang="en-US"/>
          </a:p>
        </p:txBody>
      </p:sp>
      <p:sp>
        <p:nvSpPr>
          <p:cNvPr id="4" name="灯片编号占位符 3"/>
          <p:cNvSpPr>
            <a:spLocks noGrp="1"/>
          </p:cNvSpPr>
          <p:nvPr>
            <p:ph type="sldNum" sz="quarter" idx="12"/>
          </p:nvPr>
        </p:nvSpPr>
        <p:spPr/>
        <p:txBody>
          <a:bodyPr/>
          <a:lstStyle/>
          <a:p>
            <a:fld id="{82952373-7980-4DA7-9ADE-54D716DB38BB}" type="slidenum">
              <a:rPr lang="zh-CN" altLang="en-US" smtClean="0"/>
            </a:fld>
            <a:endParaRPr lang="zh-CN" altLang="en-US"/>
          </a:p>
        </p:txBody>
      </p:sp>
      <p:sp>
        <p:nvSpPr>
          <p:cNvPr id="6" name="文本框 5"/>
          <p:cNvSpPr txBox="1"/>
          <p:nvPr/>
        </p:nvSpPr>
        <p:spPr>
          <a:xfrm>
            <a:off x="598796" y="1090768"/>
            <a:ext cx="8088005" cy="2120068"/>
          </a:xfrm>
          <a:prstGeom prst="rect">
            <a:avLst/>
          </a:prstGeom>
          <a:noFill/>
        </p:spPr>
        <p:txBody>
          <a:bodyPr wrap="square">
            <a:spAutoFit/>
          </a:bodyPr>
          <a:lstStyle/>
          <a:p>
            <a:pPr marL="285750" indent="-285750">
              <a:lnSpc>
                <a:spcPct val="150000"/>
              </a:lnSpc>
              <a:buClr>
                <a:srgbClr val="0070C0"/>
              </a:buClr>
              <a:buFont typeface="Wingdings" panose="05000000000000000000" pitchFamily="2" charset="2"/>
              <a:buChar char="n"/>
            </a:pPr>
            <a:r>
              <a:rPr lang="en-US" altLang="zh-CN" b="0">
                <a:latin typeface="+mn-lt"/>
                <a:ea typeface="+mn-ea"/>
              </a:rPr>
              <a:t>EACL (</a:t>
            </a:r>
            <a:r>
              <a:rPr lang="zh-CN" altLang="en-US" b="0">
                <a:latin typeface="+mn-lt"/>
                <a:ea typeface="+mn-ea"/>
              </a:rPr>
              <a:t>Conference ofthe European Chapter of the Association for Computational Linguisties</a:t>
            </a:r>
            <a:r>
              <a:rPr lang="en-US" altLang="zh-CN" b="0">
                <a:latin typeface="+mn-lt"/>
                <a:ea typeface="+mn-ea"/>
              </a:rPr>
              <a:t>)</a:t>
            </a:r>
            <a:endParaRPr lang="en-US" altLang="zh-CN" b="0">
              <a:latin typeface="+mn-lt"/>
              <a:ea typeface="+mn-ea"/>
            </a:endParaRPr>
          </a:p>
          <a:p>
            <a:pPr marL="285750" indent="-285750">
              <a:lnSpc>
                <a:spcPct val="150000"/>
              </a:lnSpc>
              <a:buClr>
                <a:srgbClr val="0070C0"/>
              </a:buClr>
              <a:buFont typeface="Wingdings" panose="05000000000000000000" pitchFamily="2" charset="2"/>
              <a:buChar char="n"/>
            </a:pPr>
            <a:r>
              <a:rPr lang="en-US" altLang="zh-CN" b="0">
                <a:latin typeface="+mn-lt"/>
                <a:ea typeface="+mn-ea"/>
              </a:rPr>
              <a:t>AACL (Conferenee of the Asia-Pacifie Chapter of the Association for Computational Linguisties)</a:t>
            </a:r>
            <a:endParaRPr lang="en-US" altLang="zh-CN" b="0">
              <a:latin typeface="+mn-lt"/>
              <a:ea typeface="+mn-ea"/>
            </a:endParaRPr>
          </a:p>
          <a:p>
            <a:pPr marL="285750" indent="-285750">
              <a:lnSpc>
                <a:spcPct val="150000"/>
              </a:lnSpc>
              <a:buClr>
                <a:srgbClr val="0070C0"/>
              </a:buClr>
              <a:buFont typeface="Wingdings" panose="05000000000000000000" pitchFamily="2" charset="2"/>
              <a:buChar char="n"/>
            </a:pPr>
            <a:r>
              <a:rPr lang="en-US" altLang="zh-CN" b="0">
                <a:latin typeface="+mn-lt"/>
                <a:ea typeface="+mn-ea"/>
              </a:rPr>
              <a:t>IJCNLP (International Joint Conferenee on Natural Language Processing)</a:t>
            </a:r>
            <a:endParaRPr lang="zh-CN" altLang="en-US" b="0">
              <a:latin typeface="+mn-lt"/>
              <a:ea typeface="+mn-ea"/>
            </a:endParaRPr>
          </a:p>
        </p:txBody>
      </p:sp>
    </p:spTree>
  </p:cSld>
  <p:clrMapOvr>
    <a:masterClrMapping/>
  </p:clrMapOvr>
  <mc:AlternateContent xmlns:mc="http://schemas.openxmlformats.org/markup-compatibility/2006">
    <mc:Choice xmlns:p14="http://schemas.microsoft.com/office/powerpoint/2010/main" Requires="p14">
      <p:transition p14:dur="0"/>
    </mc:Choice>
    <mc:Fallback>
      <p:transition/>
    </mc:Fallback>
  </mc:AlternateContent>
</p:sld>
</file>

<file path=ppt/slides/slide10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b="1"/>
              <a:t>顶级国际期刊</a:t>
            </a:r>
            <a:endParaRPr lang="zh-CN" altLang="en-US"/>
          </a:p>
        </p:txBody>
      </p:sp>
      <p:sp>
        <p:nvSpPr>
          <p:cNvPr id="3" name="日期占位符 2"/>
          <p:cNvSpPr>
            <a:spLocks noGrp="1"/>
          </p:cNvSpPr>
          <p:nvPr>
            <p:ph type="dt" sz="half" idx="10"/>
          </p:nvPr>
        </p:nvSpPr>
        <p:spPr/>
        <p:txBody>
          <a:bodyPr/>
          <a:lstStyle/>
          <a:p>
            <a:fld id="{59EA5E4C-3639-4B8B-822E-E7371B831F99}" type="datetime1">
              <a:rPr lang="zh-CN" altLang="en-US" smtClean="0"/>
            </a:fld>
            <a:endParaRPr lang="zh-CN" altLang="en-US"/>
          </a:p>
        </p:txBody>
      </p:sp>
      <p:sp>
        <p:nvSpPr>
          <p:cNvPr id="4" name="灯片编号占位符 3"/>
          <p:cNvSpPr>
            <a:spLocks noGrp="1"/>
          </p:cNvSpPr>
          <p:nvPr>
            <p:ph type="sldNum" sz="quarter" idx="12"/>
          </p:nvPr>
        </p:nvSpPr>
        <p:spPr/>
        <p:txBody>
          <a:bodyPr/>
          <a:lstStyle/>
          <a:p>
            <a:fld id="{82952373-7980-4DA7-9ADE-54D716DB38BB}" type="slidenum">
              <a:rPr lang="zh-CN" altLang="en-US" smtClean="0"/>
            </a:fld>
            <a:endParaRPr lang="zh-CN" altLang="en-US"/>
          </a:p>
        </p:txBody>
      </p:sp>
      <p:sp>
        <p:nvSpPr>
          <p:cNvPr id="6" name="文本框 5"/>
          <p:cNvSpPr txBox="1"/>
          <p:nvPr/>
        </p:nvSpPr>
        <p:spPr>
          <a:xfrm>
            <a:off x="362427" y="830979"/>
            <a:ext cx="8550891" cy="3738909"/>
          </a:xfrm>
          <a:prstGeom prst="rect">
            <a:avLst/>
          </a:prstGeom>
          <a:noFill/>
        </p:spPr>
        <p:txBody>
          <a:bodyPr wrap="square">
            <a:spAutoFit/>
          </a:bodyPr>
          <a:lstStyle/>
          <a:p>
            <a:pPr marL="285750" indent="-285750">
              <a:lnSpc>
                <a:spcPct val="150000"/>
              </a:lnSpc>
              <a:buClr>
                <a:srgbClr val="0070C0"/>
              </a:buClr>
              <a:buFont typeface="Wingdings" panose="05000000000000000000" pitchFamily="2" charset="2"/>
              <a:buChar char="n"/>
            </a:pPr>
            <a:r>
              <a:rPr lang="en-US" altLang="zh-CN" sz="1600" b="0">
                <a:latin typeface="+mn-lt"/>
                <a:ea typeface="+mn-ea"/>
              </a:rPr>
              <a:t>Journal of Machine Learning Research (JMLR)</a:t>
            </a:r>
            <a:endParaRPr lang="en-US" altLang="zh-CN" sz="1600" b="0">
              <a:latin typeface="+mn-lt"/>
              <a:ea typeface="+mn-ea"/>
            </a:endParaRPr>
          </a:p>
          <a:p>
            <a:pPr marL="285750" indent="-285750">
              <a:lnSpc>
                <a:spcPct val="150000"/>
              </a:lnSpc>
              <a:buClr>
                <a:srgbClr val="0070C0"/>
              </a:buClr>
              <a:buFont typeface="Wingdings" panose="05000000000000000000" pitchFamily="2" charset="2"/>
              <a:buChar char="n"/>
            </a:pPr>
            <a:r>
              <a:rPr lang="en-US" altLang="zh-CN" sz="1600" b="0">
                <a:latin typeface="+mn-lt"/>
                <a:ea typeface="+mn-ea"/>
              </a:rPr>
              <a:t>Computational Linguistics</a:t>
            </a:r>
            <a:endParaRPr lang="en-US" altLang="zh-CN" sz="1600" b="0">
              <a:latin typeface="+mn-lt"/>
              <a:ea typeface="+mn-ea"/>
            </a:endParaRPr>
          </a:p>
          <a:p>
            <a:pPr>
              <a:lnSpc>
                <a:spcPct val="150000"/>
              </a:lnSpc>
              <a:buClr>
                <a:srgbClr val="0070C0"/>
              </a:buClr>
            </a:pPr>
            <a:r>
              <a:rPr lang="zh-CN" altLang="en-US" sz="1600" b="0">
                <a:latin typeface="+mn-lt"/>
                <a:ea typeface="+mn-ea"/>
              </a:rPr>
              <a:t>由</a:t>
            </a:r>
            <a:r>
              <a:rPr lang="en-US" altLang="zh-CN" sz="1600" b="0">
                <a:latin typeface="+mn-lt"/>
                <a:ea typeface="+mn-ea"/>
              </a:rPr>
              <a:t>MIT Press</a:t>
            </a:r>
            <a:r>
              <a:rPr lang="zh-CN" altLang="en-US" sz="1600" b="0">
                <a:latin typeface="+mn-lt"/>
                <a:ea typeface="+mn-ea"/>
              </a:rPr>
              <a:t>出版，是</a:t>
            </a:r>
            <a:r>
              <a:rPr lang="en-US" altLang="zh-CN" sz="1600" b="0">
                <a:latin typeface="+mn-lt"/>
                <a:ea typeface="+mn-ea"/>
              </a:rPr>
              <a:t>ACL</a:t>
            </a:r>
            <a:r>
              <a:rPr lang="zh-CN" altLang="en-US" sz="1600" b="0">
                <a:latin typeface="+mn-lt"/>
                <a:ea typeface="+mn-ea"/>
              </a:rPr>
              <a:t>协会的官方期刊，发表计算语言学领域的顶级研究。</a:t>
            </a:r>
            <a:endParaRPr lang="zh-CN" altLang="en-US" sz="1600" b="0">
              <a:latin typeface="+mn-lt"/>
              <a:ea typeface="+mn-ea"/>
            </a:endParaRPr>
          </a:p>
          <a:p>
            <a:pPr marL="285750" indent="-285750">
              <a:lnSpc>
                <a:spcPct val="150000"/>
              </a:lnSpc>
              <a:buClr>
                <a:srgbClr val="0070C0"/>
              </a:buClr>
              <a:buFont typeface="Wingdings" panose="05000000000000000000" pitchFamily="2" charset="2"/>
              <a:buChar char="n"/>
            </a:pPr>
            <a:r>
              <a:rPr lang="en-US" altLang="zh-CN" sz="1600" b="0">
                <a:latin typeface="+mn-lt"/>
                <a:ea typeface="+mn-ea"/>
              </a:rPr>
              <a:t>IEEE Transactions on Neural Networks and Learning Systems</a:t>
            </a:r>
            <a:endParaRPr lang="en-US" altLang="zh-CN" sz="1600" b="0">
              <a:latin typeface="+mn-lt"/>
              <a:ea typeface="+mn-ea"/>
            </a:endParaRPr>
          </a:p>
          <a:p>
            <a:pPr>
              <a:lnSpc>
                <a:spcPct val="150000"/>
              </a:lnSpc>
              <a:buClr>
                <a:srgbClr val="0070C0"/>
              </a:buClr>
            </a:pPr>
            <a:r>
              <a:rPr lang="zh-CN" altLang="en-US" sz="1600" b="0">
                <a:latin typeface="+mn-lt"/>
                <a:ea typeface="+mn-ea"/>
              </a:rPr>
              <a:t>涵盖机器学习和神经网络的应用，许多</a:t>
            </a:r>
            <a:r>
              <a:rPr lang="en-US" altLang="zh-CN" sz="1600" b="0">
                <a:latin typeface="+mn-lt"/>
                <a:ea typeface="+mn-ea"/>
              </a:rPr>
              <a:t>NLP</a:t>
            </a:r>
            <a:r>
              <a:rPr lang="zh-CN" altLang="en-US" sz="1600" b="0">
                <a:latin typeface="+mn-lt"/>
                <a:ea typeface="+mn-ea"/>
              </a:rPr>
              <a:t>相关的研究也发表在此期刊上，尤其是在深度学习领域。</a:t>
            </a:r>
            <a:endParaRPr lang="zh-CN" altLang="en-US" sz="1600" b="0">
              <a:latin typeface="+mn-lt"/>
              <a:ea typeface="+mn-ea"/>
            </a:endParaRPr>
          </a:p>
          <a:p>
            <a:pPr marL="285750" indent="-285750">
              <a:lnSpc>
                <a:spcPct val="150000"/>
              </a:lnSpc>
              <a:buClr>
                <a:srgbClr val="0070C0"/>
              </a:buClr>
              <a:buFont typeface="Wingdings" panose="05000000000000000000" pitchFamily="2" charset="2"/>
              <a:buChar char="n"/>
            </a:pPr>
            <a:r>
              <a:rPr lang="en-US" altLang="zh-CN" sz="1600" b="0">
                <a:latin typeface="+mn-lt"/>
                <a:ea typeface="+mn-ea"/>
              </a:rPr>
              <a:t>Natural Language Engineering (NLE)</a:t>
            </a:r>
            <a:endParaRPr lang="en-US" altLang="zh-CN" sz="1600" b="0">
              <a:latin typeface="+mn-lt"/>
              <a:ea typeface="+mn-ea"/>
            </a:endParaRPr>
          </a:p>
          <a:p>
            <a:pPr>
              <a:lnSpc>
                <a:spcPct val="150000"/>
              </a:lnSpc>
              <a:buClr>
                <a:srgbClr val="0070C0"/>
              </a:buClr>
            </a:pPr>
            <a:r>
              <a:rPr lang="zh-CN" altLang="en-US" sz="1600" b="0">
                <a:latin typeface="+mn-lt"/>
                <a:ea typeface="+mn-ea"/>
              </a:rPr>
              <a:t>一个专注于自然语言工程应用的期刊，涵盖了从语言学到计算模型的多个方面。</a:t>
            </a:r>
            <a:endParaRPr lang="zh-CN" altLang="en-US" sz="1600" b="0">
              <a:latin typeface="+mn-lt"/>
              <a:ea typeface="+mn-ea"/>
            </a:endParaRPr>
          </a:p>
          <a:p>
            <a:pPr marL="285750" indent="-285750">
              <a:lnSpc>
                <a:spcPct val="150000"/>
              </a:lnSpc>
              <a:buClr>
                <a:srgbClr val="0070C0"/>
              </a:buClr>
              <a:buFont typeface="Wingdings" panose="05000000000000000000" pitchFamily="2" charset="2"/>
              <a:buChar char="n"/>
            </a:pPr>
            <a:r>
              <a:rPr lang="en-US" altLang="zh-CN" sz="1600" b="0">
                <a:latin typeface="+mn-lt"/>
                <a:ea typeface="+mn-ea"/>
              </a:rPr>
              <a:t>Information Processing &amp; Management (IPM)</a:t>
            </a:r>
            <a:endParaRPr lang="en-US" altLang="zh-CN" sz="1600" b="0">
              <a:latin typeface="+mn-lt"/>
              <a:ea typeface="+mn-ea"/>
            </a:endParaRPr>
          </a:p>
          <a:p>
            <a:pPr>
              <a:lnSpc>
                <a:spcPct val="150000"/>
              </a:lnSpc>
              <a:buClr>
                <a:srgbClr val="0070C0"/>
              </a:buClr>
            </a:pPr>
            <a:r>
              <a:rPr lang="zh-CN" altLang="en-US" sz="1600" b="0">
                <a:latin typeface="+mn-lt"/>
                <a:ea typeface="+mn-ea"/>
              </a:rPr>
              <a:t>涵盖信息检索、文本挖掘和自然语言处理等领域的研究，重点是技术应用和信息处理方法。</a:t>
            </a:r>
            <a:endParaRPr lang="zh-CN" altLang="en-US" sz="1600" b="0">
              <a:latin typeface="+mn-lt"/>
              <a:ea typeface="+mn-ea"/>
            </a:endParaRPr>
          </a:p>
        </p:txBody>
      </p:sp>
    </p:spTree>
  </p:cSld>
  <p:clrMapOvr>
    <a:masterClrMapping/>
  </p:clrMapOvr>
  <mc:AlternateContent xmlns:mc="http://schemas.openxmlformats.org/markup-compatibility/2006">
    <mc:Choice xmlns:p14="http://schemas.microsoft.com/office/powerpoint/2010/main" Requires="p14">
      <p:transition p14:dur="0"/>
    </mc:Choice>
    <mc:Fallback>
      <p:transition/>
    </mc:Fallback>
  </mc:AlternateContent>
</p:sld>
</file>

<file path=ppt/slides/slide10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标题 2"/>
          <p:cNvSpPr>
            <a:spLocks noGrp="1"/>
          </p:cNvSpPr>
          <p:nvPr>
            <p:ph type="title"/>
          </p:nvPr>
        </p:nvSpPr>
        <p:spPr/>
        <p:txBody>
          <a:bodyPr/>
          <a:lstStyle/>
          <a:p>
            <a:endParaRPr lang="zh-CN" altLang="en-US"/>
          </a:p>
        </p:txBody>
      </p:sp>
      <p:sp>
        <p:nvSpPr>
          <p:cNvPr id="2" name="日期占位符 1"/>
          <p:cNvSpPr>
            <a:spLocks noGrp="1"/>
          </p:cNvSpPr>
          <p:nvPr>
            <p:ph type="dt" sz="half" idx="10"/>
          </p:nvPr>
        </p:nvSpPr>
        <p:spPr/>
        <p:txBody>
          <a:bodyPr/>
          <a:lstStyle/>
          <a:p>
            <a:fld id="{1EA9C6B5-35CF-4733-AF21-023D4256C0AE}" type="datetime1">
              <a:rPr lang="zh-CN" altLang="en-US" smtClean="0"/>
            </a:fld>
            <a:endParaRPr lang="zh-CN" altLang="en-US"/>
          </a:p>
        </p:txBody>
      </p:sp>
      <p:sp>
        <p:nvSpPr>
          <p:cNvPr id="4" name="灯片编号占位符 3"/>
          <p:cNvSpPr>
            <a:spLocks noGrp="1"/>
          </p:cNvSpPr>
          <p:nvPr>
            <p:ph type="sldNum" sz="quarter" idx="12"/>
          </p:nvPr>
        </p:nvSpPr>
        <p:spPr/>
        <p:txBody>
          <a:bodyPr/>
          <a:lstStyle/>
          <a:p>
            <a:fld id="{82952373-7980-4DA7-9ADE-54D716DB38BB}" type="slidenum">
              <a:rPr lang="zh-CN" altLang="en-US" smtClean="0"/>
            </a:fld>
            <a:endParaRPr lang="zh-CN" altLang="en-US"/>
          </a:p>
        </p:txBody>
      </p:sp>
      <p:sp>
        <p:nvSpPr>
          <p:cNvPr id="6" name="object 4"/>
          <p:cNvSpPr txBox="1"/>
          <p:nvPr/>
        </p:nvSpPr>
        <p:spPr>
          <a:xfrm>
            <a:off x="3085069" y="1944014"/>
            <a:ext cx="2973862" cy="1132361"/>
          </a:xfrm>
          <a:prstGeom prst="rect">
            <a:avLst/>
          </a:prstGeom>
        </p:spPr>
        <p:txBody>
          <a:bodyPr vert="horz" wrap="square" lIns="0" tIns="11430" rIns="0" bIns="0" rtlCol="0">
            <a:spAutoFit/>
          </a:bodyPr>
          <a:lstStyle>
            <a:defPPr>
              <a:defRPr lang="zh-CN"/>
            </a:defPPr>
            <a:lvl1pPr algn="l" rtl="0" fontAlgn="base">
              <a:spcBef>
                <a:spcPct val="0"/>
              </a:spcBef>
              <a:spcAft>
                <a:spcPct val="0"/>
              </a:spcAft>
              <a:defRPr b="1" kern="1200">
                <a:solidFill>
                  <a:schemeClr val="tx1"/>
                </a:solidFill>
                <a:latin typeface="Arial" panose="020B0604020202090204" pitchFamily="34" charset="0"/>
                <a:ea typeface="宋体" pitchFamily="2" charset="-122"/>
                <a:cs typeface="+mn-cs"/>
              </a:defRPr>
            </a:lvl1pPr>
            <a:lvl2pPr marL="457200" algn="l" rtl="0" fontAlgn="base">
              <a:spcBef>
                <a:spcPct val="0"/>
              </a:spcBef>
              <a:spcAft>
                <a:spcPct val="0"/>
              </a:spcAft>
              <a:defRPr b="1" kern="1200">
                <a:solidFill>
                  <a:schemeClr val="tx1"/>
                </a:solidFill>
                <a:latin typeface="Arial" panose="020B0604020202090204" pitchFamily="34" charset="0"/>
                <a:ea typeface="宋体" pitchFamily="2" charset="-122"/>
                <a:cs typeface="+mn-cs"/>
              </a:defRPr>
            </a:lvl2pPr>
            <a:lvl3pPr marL="914400" algn="l" rtl="0" fontAlgn="base">
              <a:spcBef>
                <a:spcPct val="0"/>
              </a:spcBef>
              <a:spcAft>
                <a:spcPct val="0"/>
              </a:spcAft>
              <a:defRPr b="1" kern="1200">
                <a:solidFill>
                  <a:schemeClr val="tx1"/>
                </a:solidFill>
                <a:latin typeface="Arial" panose="020B0604020202090204" pitchFamily="34" charset="0"/>
                <a:ea typeface="宋体" pitchFamily="2" charset="-122"/>
                <a:cs typeface="+mn-cs"/>
              </a:defRPr>
            </a:lvl3pPr>
            <a:lvl4pPr marL="1371600" algn="l" rtl="0" fontAlgn="base">
              <a:spcBef>
                <a:spcPct val="0"/>
              </a:spcBef>
              <a:spcAft>
                <a:spcPct val="0"/>
              </a:spcAft>
              <a:defRPr b="1" kern="1200">
                <a:solidFill>
                  <a:schemeClr val="tx1"/>
                </a:solidFill>
                <a:latin typeface="Arial" panose="020B0604020202090204" pitchFamily="34" charset="0"/>
                <a:ea typeface="宋体" pitchFamily="2" charset="-122"/>
                <a:cs typeface="+mn-cs"/>
              </a:defRPr>
            </a:lvl4pPr>
            <a:lvl5pPr marL="1828800" algn="l" rtl="0" fontAlgn="base">
              <a:spcBef>
                <a:spcPct val="0"/>
              </a:spcBef>
              <a:spcAft>
                <a:spcPct val="0"/>
              </a:spcAft>
              <a:defRPr b="1" kern="1200">
                <a:solidFill>
                  <a:schemeClr val="tx1"/>
                </a:solidFill>
                <a:latin typeface="Arial" panose="020B0604020202090204" pitchFamily="34" charset="0"/>
                <a:ea typeface="宋体" pitchFamily="2" charset="-122"/>
                <a:cs typeface="+mn-cs"/>
              </a:defRPr>
            </a:lvl5pPr>
            <a:lvl6pPr marL="2286000" algn="l" defTabSz="914400" rtl="0" eaLnBrk="1" latinLnBrk="0" hangingPunct="1">
              <a:defRPr b="1" kern="1200">
                <a:solidFill>
                  <a:schemeClr val="tx1"/>
                </a:solidFill>
                <a:latin typeface="Arial" panose="020B0604020202090204" pitchFamily="34" charset="0"/>
                <a:ea typeface="宋体" pitchFamily="2" charset="-122"/>
                <a:cs typeface="+mn-cs"/>
              </a:defRPr>
            </a:lvl6pPr>
            <a:lvl7pPr marL="2743200" algn="l" defTabSz="914400" rtl="0" eaLnBrk="1" latinLnBrk="0" hangingPunct="1">
              <a:defRPr b="1" kern="1200">
                <a:solidFill>
                  <a:schemeClr val="tx1"/>
                </a:solidFill>
                <a:latin typeface="Arial" panose="020B0604020202090204" pitchFamily="34" charset="0"/>
                <a:ea typeface="宋体" pitchFamily="2" charset="-122"/>
                <a:cs typeface="+mn-cs"/>
              </a:defRPr>
            </a:lvl7pPr>
            <a:lvl8pPr marL="3200400" algn="l" defTabSz="914400" rtl="0" eaLnBrk="1" latinLnBrk="0" hangingPunct="1">
              <a:defRPr b="1" kern="1200">
                <a:solidFill>
                  <a:schemeClr val="tx1"/>
                </a:solidFill>
                <a:latin typeface="Arial" panose="020B0604020202090204" pitchFamily="34" charset="0"/>
                <a:ea typeface="宋体" pitchFamily="2" charset="-122"/>
                <a:cs typeface="+mn-cs"/>
              </a:defRPr>
            </a:lvl8pPr>
            <a:lvl9pPr marL="3657600" algn="l" defTabSz="914400" rtl="0" eaLnBrk="1" latinLnBrk="0" hangingPunct="1">
              <a:defRPr b="1" kern="1200">
                <a:solidFill>
                  <a:schemeClr val="tx1"/>
                </a:solidFill>
                <a:latin typeface="Arial" panose="020B0604020202090204" pitchFamily="34" charset="0"/>
                <a:ea typeface="宋体" pitchFamily="2" charset="-122"/>
                <a:cs typeface="+mn-cs"/>
              </a:defRPr>
            </a:lvl9pPr>
          </a:lstStyle>
          <a:p>
            <a:pPr marL="12700" algn="ctr">
              <a:spcBef>
                <a:spcPts val="90"/>
              </a:spcBef>
            </a:pPr>
            <a:r>
              <a:rPr lang="en-US" sz="3600" b="0" i="1" spc="105">
                <a:solidFill>
                  <a:srgbClr val="4A63AE"/>
                </a:solidFill>
                <a:latin typeface="Book Antiqua"/>
                <a:cs typeface="Book Antiqua"/>
              </a:rPr>
              <a:t>THE</a:t>
            </a:r>
            <a:r>
              <a:rPr lang="en-US" sz="3600" b="0" i="1" spc="35">
                <a:solidFill>
                  <a:srgbClr val="4A63AE"/>
                </a:solidFill>
                <a:latin typeface="Book Antiqua"/>
                <a:cs typeface="Book Antiqua"/>
              </a:rPr>
              <a:t> </a:t>
            </a:r>
            <a:r>
              <a:rPr lang="en-US" sz="3600" b="0" i="1" spc="75">
                <a:solidFill>
                  <a:srgbClr val="4A63AE"/>
                </a:solidFill>
                <a:latin typeface="Book Antiqua"/>
                <a:cs typeface="Book Antiqua"/>
              </a:rPr>
              <a:t>END</a:t>
            </a:r>
            <a:endParaRPr lang="en-US" sz="3600" b="0" i="1" spc="75">
              <a:solidFill>
                <a:srgbClr val="4A63AE"/>
              </a:solidFill>
              <a:latin typeface="Book Antiqua"/>
              <a:cs typeface="Book Antiqua"/>
            </a:endParaRPr>
          </a:p>
          <a:p>
            <a:pPr marL="12700" algn="ctr">
              <a:spcBef>
                <a:spcPts val="90"/>
              </a:spcBef>
            </a:pPr>
            <a:r>
              <a:rPr lang="en-US" altLang="zh-CN" sz="3600" b="0" i="1" spc="75">
                <a:solidFill>
                  <a:srgbClr val="4A63AE"/>
                </a:solidFill>
                <a:latin typeface="Book Antiqua"/>
                <a:cs typeface="Book Antiqua"/>
              </a:rPr>
              <a:t>Thank You.</a:t>
            </a:r>
            <a:endParaRPr lang="en-US" sz="3600">
              <a:latin typeface="Book Antiqua"/>
              <a:cs typeface="Book Antiqua"/>
            </a:endParaRPr>
          </a:p>
        </p:txBody>
      </p:sp>
      <p:pic>
        <p:nvPicPr>
          <p:cNvPr id="7" name="图片 6"/>
          <p:cNvPicPr>
            <a:picLocks noChangeAspect="1"/>
          </p:cNvPicPr>
          <p:nvPr/>
        </p:nvPicPr>
        <p:blipFill>
          <a:blip r:embed="rId1" cstate="print">
            <a:extLst>
              <a:ext uri="{28A0092B-C50C-407E-A947-70E740481C1C}">
                <a14:useLocalDpi xmlns:a14="http://schemas.microsoft.com/office/drawing/2010/main" val="0"/>
              </a:ext>
            </a:extLst>
          </a:blip>
          <a:stretch>
            <a:fillRect/>
          </a:stretch>
        </p:blipFill>
        <p:spPr>
          <a:xfrm>
            <a:off x="3469214" y="3111810"/>
            <a:ext cx="2456892" cy="1394326"/>
          </a:xfrm>
          <a:prstGeom prst="rect">
            <a:avLst/>
          </a:prstGeom>
        </p:spPr>
      </p:pic>
    </p:spTree>
  </p:cSld>
  <p:clrMapOvr>
    <a:masterClrMapping/>
  </p:clrMapOvr>
  <mc:AlternateContent xmlns:mc="http://schemas.openxmlformats.org/markup-compatibility/2006">
    <mc:Choice xmlns:p14="http://schemas.microsoft.com/office/powerpoint/2010/main" Requires="p14">
      <p:transition p14:dur="0"/>
    </mc:Choice>
    <mc:Fallback>
      <p:transition/>
    </mc:Fallback>
  </mc:AlternateContent>
</p:sld>
</file>

<file path=ppt/tags/tag1.xml><?xml version="1.0" encoding="utf-8"?>
<p:tagLst xmlns:p="http://schemas.openxmlformats.org/presentationml/2006/main">
  <p:tag name="PA" val="v3.0.1"/>
</p:tagLst>
</file>

<file path=ppt/tags/tag2.xml><?xml version="1.0" encoding="utf-8"?>
<p:tagLst xmlns:p="http://schemas.openxmlformats.org/presentationml/2006/main">
  <p:tag name="PA" val="v3.0.1"/>
</p:tagLst>
</file>

<file path=ppt/tags/tag4.xml><?xml version="1.0" encoding="utf-8"?>
<p:tagLst xmlns:p="http://schemas.openxmlformats.org/presentationml/2006/main">
  <p:tag name="ISPRING_PRESENTATION_TITLE" val="0815-2"/>
</p:tagLst>
</file>

<file path=ppt/theme/theme1.xml><?xml version="1.0" encoding="utf-8"?>
<a:theme xmlns:a="http://schemas.openxmlformats.org/drawingml/2006/main" name="演示文稿2">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font">
      <a:majorFont>
        <a:latin typeface="Times New Roman"/>
        <a:ea typeface="宋体"/>
        <a:cs typeface=""/>
      </a:majorFont>
      <a:minorFont>
        <a:latin typeface="Times New Roman"/>
        <a:ea typeface="宋体"/>
        <a:cs typeface=""/>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主题​​">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等线 Light"/>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等线"/>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extLst>
    <a:ext uri="{05A4C25C-085E-4340-85A3-A5531E510DB2}">
      <thm15:themeFamily xmlns:thm15="http://schemas.microsoft.com/office/thememl/2012/main" name="Office Theme" id="{62F939B6-93AF-4DB8-9C6B-D6C7DFDC589F}" vid="{4A3C46E8-61CC-4603-A589-7422A47A8E4A}"/>
    </a:ext>
  </a:extLst>
</a:theme>
</file>

<file path=customXml/item1.xml><?xml version="1.0" encoding="utf-8"?>
<s:customData xmlns="http://www.wps.cn/officeDocument/2013/wpsCustomData" xmlns:s="http://www.wps.cn/officeDocument/2013/wpsCustomData">
  <extobjs>
    <extobj name="ECB019B1-382A-4266-B25C-5B523AA43C14-1">
      <extobjdata type="ECB019B1-382A-4266-B25C-5B523AA43C14" data="ewoJIkZpbGVJZCIgOiAiMTY1NjY0NTQ5OTY5IiwKCSJHcm91cElkIiA6ICIyMDg5MDU0MDMiLAoJIkltYWdlIiA6ICJpVkJPUncwS0dnb0FBQUFOU1VoRVVnQUFCRUVBQUFLcENBWUFBQUJUcGpJQkFBQUFDWEJJV1hNQUFBc1RBQUFMRXdFQW1wd1lBQUFnQUVsRVFWUjRuT3pkZDN3ZFY1azM4Tjl6Wm03WHZlcGRWb2xseDBGeE9pUWtaRGVVQUJ0MldXQnhnTER3QmxoQ2RTQWg3TUt5eTN0aDZTV0JKSlNFTGNBU1NrSXZvU1M4aEpaQWlOT0lpS3RzMmJKczlYN3J6SG5lUHlUWlY3SXNsOGhXOGUvNytlUWphMmJ1ekpGeTc2TXp6NXp6SElDSWlJaUlpSWlJaUlpSWlJaUlpSWlJaUlpSWlJaUlpSWlJaUlpSWlJaUlpSWlJaUlpSWlJaUlpSWlJaUlpSWlJaUlpSWlJaUlpSWlJaUlpSWlJaUlpSWlJaUlpSWlJaUlpSWlJaUlpSWlJaUlpSWlJaUlpSWlJaUlpSWlJaUlpSWlJaUlpSWlJaUlpSWlJaUlpSWlJaUlpSWlJaUlpSWlJaUlpSWlJaUlpSWlJaUlpSWlJaUlpSWlJaUlpSWlJaUlpSWlJaUlpSWlJaUlpSWlJaUlpSWlJaUlpSWlJaUlpSWlJaUlpSWlJaUlpSWlJaUlpSWlJaUlpSWlJaUlpSWlJaUlpSWlJaUlpSWlJaUlpSWlJaUlpSWlJaUlpSWlJaUlpSWlJaUlpSWlJaUlpSWlJaUlpSWlJaUlpSWlJaUlpSWlJaUlpSWlJaUlpSWlJaUlpSWlJaUlpSWlJaUlpSWlJaUlpSWlJaUlpSWlJaUlpSWlJaUlpSWlJaUlpSWlJaUlpSWlJaUlpSWlJaUlpSWlJaUlpSWlJaUlpSWlJaUlpSWlJaUlpSWlJaUlpSWlJaUlpSWlJaUlpSWlJaUlpSWlJaUlpSWlJaUlpSWlJaUlpSWlJaUlpSWlJaUlpSWlJaUlpSWlJaUlpSWlJaUlpSWlJaUlpSWlJaUlpSWlJaUlpSWlJaUlpSWlJaUlpSWlJaUlpSWlJaUlpSWlJaUdqcGtzVnVBQjI3ODYrNUxUQmVNaHcyT2E4b0VndzN1UWFyMUpjNkdGTWo4S3ZVbWtvRnFnRFVHSkU2RVFRV3U4MjBJbmhXc1Ird3ZRTFRLOUEraGUyRG1MMnE2SUV2ZTNMVzduQW5jdU1qb2IyWjdiZmNrbDNzQmhPZERIb2JBbkFyd2lrdlZ1U1pRSk1SWjVVSDFEa3FOYjVvbFFFcUZWSWxLalVLMUVHRU1aa1dnZ2ZGZm9YMkdraXZWZTBEdE04Q2V3WGFJOWJzOFhWc2h6RVQ0d1Bab2N5YWE4R1lURVJFQkNaQmxndHB2am9aS2lrcERqdWFUYWpybnVFWWM2RUNseGd4TFFBaUFGeEFYUkZ4Rk9vQ2sxOUZKU0RDLzgvMDFLbENBWGdBUEFoODZOUlh3Qk9vcHlvWlZlMEU1RUd4M2g4em9vL3BoRGM4RkE1bHVtNjZQZ05BRi9jbklGb1lDc2l1WkhPb3BCaGhOU2Foa2VBWkJ2WkNoYm5FR0dsUlNFU2dMaFF1QUVjRnJnQ09BSzRDQVVBWWsya0JxRUxoNldSYzlrVW12Mkl5T2VJQmtsSDRuV0xsUVlYOW8rVGtNVGpwNGVLTXplRDZyb3d3SmhNUjBTbUtIYkdsVGRyZW1veUZRb2thNC9nWFFNM0Y0anJuaTJvOWdEaEVvbENFbU9TZ3BXQXFTWklUUVVvVjR4RHNoOVdIRlBaQmEvVVBJN2xnOS9aYk5vNEJ3bzQzTFVzS1NOL25LbU1oSkdyOGdIT0J3RndNd2ZtQTFBc1FGMEZVZ1JDVEhMUTBxQXFRVXlBRllCeFc5MFBrSVZWOTBNOW0vaUE2MmwyMmNYQk1oTWtRSWlJNnRiQ2p0a1ExWEhkanBCUlNHM1R4SXNmSWxWQTBLelF1a0NnQWw0a1BXc3BVb1JEMUFVa0pNRzVWdTFUMUJ4RHpuWnpOZHozK3FYZW53S2VRdEl6b2pRMlJrYkNwVlRmMElnTnpwWW8wQXhJSEpBcFJsNGtQV3RwVW9mQWhTSWxpWE5WMlFmUUh4dVMvRXg5TWRlSGRQU21PRENFaW9sTUZPMjFMVE92R2phRjRaRzI1YS8zbktQUXFNWEsyaUZhQTAxcG9tVG80alVhSEZIalNRci9wbSt6UGh2ZG45Ky82Y2pLejJPMGptcysybXhHcWk2MHF6OXJRY3lET1ZZN0syUkNwNExRV1dyNVVCZkNna3pFWnF0OE0rZG1maGNPNzlzdnJ3SmhNUkVRckhqdHdTMGJTbkxzeFdPNkd3aGZCeUQ4Q2NwRUlxbzQwM1dWNkNnS2dIa1FLNmpTb0ZSVmZBWHNTZndoYTRVUlVWTVdCcUFPRkE4QVJFVWRWQXhBRW9DS0hlNzlPamc1QkR0QitWV3p5clhkSDJuTi8rK1NqSTMyNEwrbWQ1QitGYUY2YWhObmZXRk1leWhWZEJPUDhveEZ6RVlBcXlKR211NmlLSXFjaW5rSjlNMVd2UVFHcmdBOFZ4bVJhTUFJVnlHUXNCakFWbDhVQk5BQWdBSUVjL3YwNk5WMUcwQyt3bTlUSEhYbk4vTFppWDJlZkpNR1lURVJFS3hhVElFdEEyNFprTU5oWTFPcTZ6aldpdUFKQVBVVENBcGpaeDZwQ0JiQUt6WWxJV2hYalZ1MW1FZGt0UUkrcTlvbWl6NnJwZy9yOW51T1BHOC9sRUZkYUVBSkVKT1NYSzB5bHNWSUpRYlZhVXdXMVRSQ3oxZ2hLQUEwTEpLeUFtU3NoTXBXNHkyRHkvWHBmenRNdkRHRFBuN3R1dWlsOThuOGlva08xSnhGc2JHeHR0ZGE1QmpCWFdFVzlDTUtBSEJLVEFWVUFWaFU1STBoUDFzUFJ6VkRkRFpnZVZkdW5LbjFxL0Q0ajJtODhPNTcxV1JlSG5ycFFDUEI5allneDVTSk9wVUFyQVZNTmxTcFYyd1RCV29ncEFTUU1hQmlBbVRzaG9xcXFHUkhwRWVoOWdQM0M2T2pXUDYrNkhvekpSRVMwSWpFSnNzaXFiL2hrckU0RDV3ZU1YZ2VSU3lGYUtuTjB0Q2VUSDVwUmtYRnI3WUNJZVZTaGYvUTg4MkRlVDNjNUFTZmorNDduQmZMNXNuekFlNkJyMU1kZDhJQWtuenJTUWhLY2Y0M2JjRnJNamNVRGJqQlU2cnF1dWo2Y2tPT2lSZ0xCOHd6a0lxZyszVEZTcVVBY3dOd0pQY0JDZFV3dE5xbTFueDRjei8rKzQvYjNqSUx6MG1rUjdmOWtkU3dXVDV6dnUrWTZRQzZGU2lsazd1U0hLaklpR0lmYUFWRjUxSXIrMFZGNTBOTmNWOEJLeHFhelhxNDRscStJVDNoLytVdVhmeGZnSlpNY25VY0xSd0haZEEzYzZoamNpWm9LdHlZZWRaMXcwTTM1NlpCalFqV3c3bm1BdVFqQTAwV2swaXJpOHlUMExCUmpVTjBrMW43YUgvWitYL2FlRHNaa0lpSmFjWmdFV1R5eS9qMGZMUW5aOEhORmNUMEVad2trT3Z2SitjRVZON1JmTGU2SDZFL1NlVHdjVk9rZjhVY210djhaS1U0bG9DVmh3d2FucmJJdElvRkFUSHdwRGNVQzV4aDFyMURncndWU0NVRm9kakprZWxTSXdtNVdpOC9sNFAvbzhVKzl1dy9zZE5OSnBvQ01mTDZ4QklIZ2MwWGM2MVhsTEFpaWh6NDVWNFVpQjROK3RiamZFZjJKNStjZTlsTisvN0FUbU9nYTNKNTZOcWNTMEJKdzV3WTRsMTFXR2RGOFVTemlhS2tYQ3A0aktsZkFtTDhHVUdrRUlUMGtHYUlLMVF3RW02SDZPY2Z6ZmxUMGxoMTlMSnBLUkVRckNaTWdpMFBPZU9lSGE2SnUrRlhHbU5jRGFCVklzREFCTWxVL0lROWdDSXBIMVBwM2VLcS85WHYzOXovK3Y1OUtnN1UrYUlscnVPNjZTSmxYVXg0SUJpOHdScTRTNEdLSVZtQ3U5enJVQTdCSFZiL2lXZnVWUjNiL3NRdDMzZVV2WXZQcEZLS0E5Ti9XVk9OSzZGVVE4M29qMHFwQWNHWUNSRldBdkVLR3JOcEg0T3NkNHVaK214MUs5WC94M1QzcEpHTXlMWEY2WTBOazBOWHlRQ2gyZ1RWeUZXQXVCbEFCT2ZTOWpzbGkxbnNVK0FveTJhL2M4K3VkWFZmZUJjWmtJaUphRVpnRU9mbmsvSGQ4YkpVSkJEYUtNUnNncUllS00rT21FTEJRREt0cXU0WDlobnB5ajB5TWRtKzZQWmtHbjhiUU10TjhkVEpjR2l1cWRtTE9YeG5ZVndQbVBJR1V6VkV6eEZkb3IwQituUE84enp5eXUzRUw3cnFTblc0Nm9WUWhRN2VmdGdvUzNHaU1iSUNpZnJMUVpNRk5vYXFGWUZqVnRxdkZOenpQdThmclMzZlhKYnNaazJuWjJabHNEb2NxcERvV0RQeVZ3cndhSXVlcG9FeG0xUXdScUc4VnZhTDZZOGQ2bnlrcTI3NUZybVFpaElpSWxqOG1RVTR1T2YrZE45VVkxMTRQNDF4bGdPcXBxdTRBcGtkL3FBL0ZQbFg5U2xiVDM4b091cDFiL3Z0ZnhzR09OaTF6MWErNUlWWlRXVllmQ0VSZUlvbzNpS0I1OXRMUFV3bkFRWWorTUpYS2YrU0pXLzY1QTN6djB3a3lQUUlrSUpIcjFjaFZCcWhXaUZOd2hFTEZWOUY5c1BpSytybHYrYU1qblJYLzBqL082UUcwM08zL1pIVXNHb25WMjJqZ0pXcmxEUUpweGlGTFA2c0ZNQWpnaDlsVS9pTlZHN2QzaVBDOVQwUkV5eHVUSUNkUjIzVTNsa1ZkZWIwSTNpNlFoa01TSUVCT3JkMWhyZDRLYTc2LzZUTWpQU3hzU2l1TW5MdnhJeFVtRkxqY01lNTFBTm9BQ1IrU0NJSDJLZlMybFBXKzBQN0pmKzRCYnpqcEJCajV6NFl5dFpIWHc3aHZGNkRoa0FRSWtGUG9EdlgxMWhBeTM0L3U2K3dSRmphbEZVUUIyWDl6VFVVb0ZMOWNqSE1kSUcxVGhWTm5KMEw2RkhwYklKdjVRdXh0dTNxWUJDUWlvdVhNT2ZJaHRCRE91dUdUc2FBeEx6VEd2RU1FTFNMaVR1K2JTb0NrQWZ1WTUrdUhzeU5qUDM3c0MrL3RCKzVqSjROV25QMFAvaktWZU5iemRnWFViQldST2hGVUFSS1FxYVRzMU5lb3FMUTRrSUdLczUrOXZmZWhYMllXdWRtMHd1Z25xMlA1VU9LRk1PWWRVR2xCUVV5ZVd2a2xMZERIclBvZmRpZFNQeTdhdUtkZjd1T05INjBzSHdEdzZaK09wMjY0MU95Q0U5eHFIRk9uSWxVeVkwU0lDQlJSUUZwVW5JSHNGYkh0SC92SkNHTXlFUkV0VzB5Q25BU3RHMjhPQllONlVRRHlieEJwRXh5Y0FqQ1ZBQmtIOU5mVyt2K3hWL1EzT3ovM3Z0RkZiakxSQ1RYdyszdHpvYlhQM09zR3dvODdEc29GMGppMWVzeFVJa1JFUklxZ3BrVUN6czdLMWV2MzlEeCtmMzZ4MjAwcnc3YWJFVEt4bW92Z09QOEdTQnVrOElaUEoyT3k0dGNRN3o5S1I4WitFNzVoMytnSEZyWEZSQ2ZXSis5TjVkN3lqTUc5a2FMS3h3RXRCNlJSQktFRG53c1JFVWlSaXJUQU9EdXYreXQzejZmdW1XQk1KaUtpWllsSmtCTnR3NTNPcXRLaE13UEcvTHNZdVZBS2h2NVByUUNUQnZUWEZ2ckI0VXpuUTNzKzg2SDBZamVaNkdRWWZ2UStyeWY4ekw2eVN0UHVHTGNHMEdaQVFnV2ZEeEhSRXNlWUpvbEUyK3ZXTisvYnQya1RweUxRVTZKM3dqSFoxalBGQlA4ZGtBc3hZK2ovNUFnUXFQN2E5KzBIQjdQYkhpcS9mb0l4bVU0Sm43MFAzZ3N1Nk8rckRNZmFqUk9vQWJSNVppSkVSWUFTWTB5VENRYmJQL1ozQS9zKzhHTk9EeU1pb3VYSEhQa1FlaXJPYXVvc0R6bm1UUVp5a2FoRVpvMEF5VUh0NDlaNm4zb292Zk94N2JmY2tsM2s1aEtkWFBjbHZTY2VUVy9MNVhNM1FmVUJDTkpUbncxTWZsWWtDT0FjeDNXdnRmRzFkV0FkSTNxS3hnZFdsMHZBZVJNRUYwRVFLVXlBQ0pBVDZPTVE3MU5EZjluNjJKcHJ3WmhNcDVSbkorSDl1YTl6bTJmek40bmdBVldrcDBaSFlTb3FCMVZ4anVzNDEyYWNGc1prSWlKYWxwZ0VPWUZhTjk0Y0NodTVHQ0xQZzZCNHhuS2dvcjVhdXlQdjZhYzZVeE1QZ1FrUU9sWGRsL1JTZnJoZHJiMVJnWGFJNWdzVElhcUlBZm9zUjh6enpycmhrOUhGYmk0dFgzb3pRbDdBdVJocW5nZWdlT1l5dU9KYjZBN2Z3NmU2OTQ0OHRPWVdKa0RvMVBUc0pMemg3UFoyMy9OdkZMWHRBUEt6RWlFeFgvR3NyQWFmcDErdFprd21JcUpsaDBtUUV5am1laFVRNTlVUTFFckI3M3BxR2RCOVZ2VFczTWpZci9vK254eGZ6SFlTTGJidHQxeWJUYWZISDFEcjNhUldPaUR3cC9kTkpRL0xSZVFxc2FZZWZQSkl4eWtkYUtod3hMd2FJclVRT2ZqM1Q5V3E2RDcxdlZ2ZHdQaXYycEo5ak1sMFNsdHpMYksrUC95QUZYc1QxSFpBRDhia3FRSWg1UXBjTlphSjFTdGpNaEVSTFROTWdwd2dkZGNrbzhFQW5nL0ZoUURDMDl0Vm9WQU1xK3BYYk5yN1FmdC9KWWNXc1psRVMwYjc1NVBqNDZuY0w2enFsd0QwVFk4R0FRQ29CR0Jrdld2TTM1NTJ6Y2NTaTlkS1dxNjZiNnVMWnQzWTg2M0toWUNHRCs1UmhXQVlGbC94YzlrZkpQNnBpekdaQ0VEVjIvckczV3pxRjZyNkpRWDZEbzRHQVFBRVJNeDZ3UDFiM0hZYVl6SVJFUzByVElLY0dGSVdpdGFxeWl0RnBMSndGQWdFZVZWdHoyYjliejF5YTNvL3dDVVhpYVp0L3R5L0R2cGU1cnVxK2ljQUI1WmdGSUVZUlluanlJWjRVZUEwYk5qQW9zNTAxQlFRQjA2dHFMeFNnRXJnNENnUUFmS3F0bDM5M0xjcUJ2YnNGOFprb2dQaWI5ODdDRC8zWFNQNkoxVVVMSXNyQWtpSkZXZkRzRFduNlFZVzJpY2lvdVdEU1pBVG9PMnR5VmdrN1A2dEdGbXZpdEQwOXFsUklJT3E5ZzdmaSs0Q2txeXFUalNURGc5bjk2dmFyd0xhb3ppNDhvQUNMaFJyQTY3NSs3YUdaeFl2WmlOcGVlbjdYR1VzS05HL0ZaSDFpb014ZWVySjlxQmFlMGVwSGQwbFNhNTBRVlJJQUIwTzc5cXYxdjhxQkQyQUZueEcxQVd3RnE3Nzk2TXZhR0JNSmlLaVpZTkprSVVub1ZDaXhoanpjZ0hLQzR1aGlpQ3JhditrV2YvZTlzKy9iV0l4RzBtMFZPMzZjakl6a1RmM1c4VnZBS1FLaTZRS1VBemdaY2EzTFJ3TlFrZERGUkpDcU1ZWXZCeUM4c0ppcUFKa29mWlBCbm92M3RiSG1FdzBoNWJYSVJQUTNQMVEvWTBxVWpPS3BFNFdHSDZaYXFoRjcrUm9FQ0lpV2g2WUJGbGd6VmNuUTQ2cjU2dWlHWXJBOUhZRnJFSUhWUEgxb090MmcwT3VpUTdyeWIwakE1NzRYMU9yZTJYbWFCQmpnTHBRUkM0NnZlVUNya3BBUi9ibDVwQUdvK2NycEZseE1DWUwxRnJGQUZTL1hqeVI2ZVkwR0tMRDI3V3ZjOEFpK3pVVnV4Y0ZNUmtDSTRJNmdYTlIvMWdGWXpJUkVTMExUSUlzc0pLUzRqQlVMb1pvZk1hU3VFQUdWbit0K2R6OUQ5eDBmWHJSR2tpMEhOeVZ6STJuYzQrcXlEMHFPUENFZnVvekZUVnFMakU1cjJnUlcwakx4REFRRnBpTEFZa1hqZ0pSU0VhZ3YvYlZ1MSt1NzJKTUpwcEhXeEs1WURyOXFBTzVSNEdDVVZNaXFvZ3F6Q1VZalRFbUV4SFJzc0FreUFKek5KdUFZeTZBeW9FbklsUEQrU2ZVNkUrUnp2UXZZdk5PYWRGbzlQeDRQUDZzK1k0SkJvTlBtem9tY3BLYVJZZXhmWDl1eEtyOWlhZ09GYTRVSTVDZ1ZUazNvc0ZLSkpPTVlUUXZ6Wm1FQlM0QXBPQXB0U3FnRXhiNjB3d1lrNG1PeHU3Qi9TT2VwejhCTUZTNFVvd0lnZ0RPZFVLbVVwUHNWeElSMGRMSFAxWUxxRzFETWlqaFVKdW8xZ053cDdjTFlHRnR2NWZTaHpmZG51UVR4emtVRnhlL3ZLS2k0cCtlNmpIemFXbHArZGFhTld0K085OHhxMWF0K3NTYU5XdCtHd3dHbTQ1MHZ1Ym01anZXcmwzN3U3bjJ0YmEyL3J5dHJXMzc4YmFWQU55VnpPVjhiVmRnRHdCdmVyTUN4Z2pLVGNnOSsveHVoT2M1QTUzaTlFNEVIWEhiQkZJL1ZjUnhtb1hhL29EdlAxejdwdTVUSlNZSEk1SElxc1Z1QkMxZmJVbms0SHZ0Z04wRFBSaVRBUmlJbER2QndObW9yV05NSmlLaUpjODk4aUYwdElwcXlzTFdlaGREVEtKd0tvd0tzb0E4bERmdUFEanZmRTRORFEwZkNvVkNwL2YzOS8vblV6bm1aSXJGWXVlSFFxSFQ1OW9YQ29XYVFxSFE2c0p0RlJVVmI2NnVybjduZk9kc2IyOWZ0NUJ0WE81Y2E4WlVkWk1ZckFla0dEZ3dKU1lpYWk3eVEyVS9BNUJhM0ZiU1VqV1lhdzBieU1VQ0pBcW53Z0NTRlRVUGlaTWJPQlZxZ2NUajhVdWJtNXUvYWExTnRiZTNuNDJsKzVrSkFNZ1hmRjhKb0crQnIrRUNNMjdnRDFGVlZmVldhNjN0NysvLzR1eDlsWldWYjFmVlhIOS8vKzJIZTMxemMvTWR3V0N3YWV2V3JZZU1QR3h0YmYxNUtCUmEzZDdlM25wY3JWOWtKdXFQd1hjM1FiQWVrNFdxTWZYWmlnRE9SZU9CS0dNeUVSRXRlVXlDTEtCY1JJb0M2andEMEZsVFlUU2owRC9reDNMc0dKd0ViVzF0bStmYUhnd0dHK2ZiRHdDQlFLQUJBTmF1WFh1M3F1Wm03L2M4Yi8rV0xWc3VPNTUyQlFLQmlzTWxUV2h1dzhNam1iS0t4UDBCNE9XcUtFZ3VhaGpRaThUVllpejhUUkt0RU9Gc3RpaHZZcytBWXNaVUdGVmtCUGhEMmdSUGlaZzhOamIyS0FBTmhVS3RkWFYxNysvdTduN1BZcmRwRnFleHNmRy9YTmNOZFhSMHZHcHFtM3ZHR1dmOFAxV2QyTHg1ODJVQU1rMU5UY2VVQU8vczdId3pDaEllMFdqMDNPYm01cS90M2J2My80Nk1qSHo3Y0srcnI2Ky9HWUEzVnhKazFhcFZ0MWhySitaTGdxemtCUGx3SnpLbGRiZ2ZncGREOUdCeVVSRzIwSXRnR1pPSmlHanBZeEprSVVtMkZlS2NCcFhnd1cxUXRUSmljOTZtTFdNdHAwU0hlejdublhmZXZFOWRqN1Ivdm1NR0JnYitxN096ODUrT2xHZzRta1JFTUJoc21XdTdNYWFvb2FIaHM4WEZ4UytZUG1hdXBNcnNmWVVkMkIwN2RteVkzUUZ2YTJ2YnpBVEpvWFo5T1prdHZ2N1RqeHJCb0NOU0Ewd3V3YWdxRG9BYTE3WHJBSERhRWMwcHArRldnWnlHeVpvRjB4U3dJMUM3cVNLKzdWU0p5V1BkM2QzLzJ0VFU5Sldpb3FLTGNSU2pJYWJGNC9GbkhXa2E0ZUU4L1BERGdhTzhqdSs2Ym5GSlNjbExTa3RMZnpnME5QU042dXJxR3lLUnlKbjkvZjIzQWNnQVFIbDUrUnVPNWZxZG5aMXZMN3grTUJoc0RvZkRUMnR1YnY3UzFxMWJIMHluMDd1UDVYd255bkpLa0RjbmQyWDdiejN0VVNjWUdqU0NBekVab282QjFJZ05NQ1lURWRHU3h5VElBZ3FJVXkrS0NBcFhoVkhrb2JvMTY1aHUzSFdsdjRqTld4S3kyZXlXdWJZSGc4RVdFUWtlYnYvUkhKUEw1ZllCd01NUFB5eHo3VzlyYTlzZUNvVldIMjQvQUt4ZXZmckh4Y1hGTDNyaWlTZk95T1Z5YzQ0WU9lMjAwNzVkMkdHZHIvTzZYRHEyUzVpbVJRZUR3SjhWZXBwQVlzQ0JLVEVoVlZsOWhOZlRLU3lncU04REVaR0RVMkZFa1Fld05SQ3czWElsbG4xTVhyZHUzU2JIY1dKSGNhaW9hajRRQ0ZTMXRiVTljYVNEcmJYWko1OTg4bXpmOTFQenhlVTVPS0ZRcUJXVHk2Z2VrZ0NKUnFNWDFOZlhmMnpidG0wYkFBeE5iOSszYjkrMWlVVGk4b2FHaHB0eXVWeHZYVjNkQnozUDY5MjllL2Q3cDQrWkwzWURjS3FycXpmVzFOUjhFRUJnMzc1OTc4TlU4bVRhOFBEdzl3WUdCdjYzdkx6OE5hdFdyZnJhMXExYkwwUGhjcTlQMGFtUUlCZEF1d09aUVVlQ2Z3Yk1hUUNtM25zaUNnMEJ5cGhNUkVSTEhwTWdDMGxScTRBN3M1ZW1IZ3c2RFd4MmtWcTFwQnh1U085MFIyKytJYjlIYzh6SjBOSFI4ZkxDOXN6Vk1aOXZIeDBibXd2bU5PenRNaUk1SE9od0ExQTRFS2xldkpiUlVtZU4xSXFkK1hkT1JUeW9kSTVtc1NKaWNqZ2NQdDBZY3pSSkVBQkhuNWhWMVN3QXBGS3BoNDh4NXRhZWQ5NTUzYjd2SHpLZE1CYUxQYmUxdGZXN2p1TWsxcTFiOS9QTm16ZGZncWthSU9sMGVrOXZiKzh0TlRVMTcxbTdkdTNQUmNUczJyWHJhaFFrU2c0bkhvOWYwdERROFBsSUpISldLcFY2dUtPajR6VzVYTzR2Y3gzYjJkbDViU0tSZUY1UlVkR2xWVlZWNyt6dDdiM3hHSDYyZVFXRHdmcFRJVUZlRzR2bVJpYXdDMFp6RUNsNDc0bWpZRXdtSXFLbGowbVFCU1NxZFNwbTV1OVV4RGRBcis4N1J6WDBtRTZjblR0M3ZzSnhuSG1YdnQyelo4OC85L2IyZml5WHkzV2VySGJSL0VMK29EVmFQS0NBVjVoUkVxaWowSXBGYXhndGViNDFkU0t6a2lCUUh5SzkrWFIyUmNYa2VSS3VnbU1zL25vMDB4SVBKeHFOVHJlanNNQXB5c3ZMcjI1c2JMeGRSQUw1Zkw1N3o1NDkvenI3bU83dTdzL1cxTlQ4czRnNHZiMjlueGdkSGYzcDBWeHp6Wm8xdjFWVnUyL2Z2Zy92MjdmdkE3UFBPOHR3VjFmWHUxdGFXcjVXVzF2Nzc3Mjl2VjlLSkJLWHRMYTJ6cjZXYzdqZmd6RW1Wcml2dmIxOVRUYWIzWDZxSk1qN1JrWnNJRkErWUFSZTRTOUlvWTRBak1sRVJMVGtNUW15Z0N4TXZVRGN3djZtcUhxcWZxOFg4T2ZybEoxU3FxdXIzeHNJQkdZOExSb1pHZmtaZ0o5VlYxZS90NmVuNTZNQTBOcmFlbmNvRkRxdDhMaHNOcnRscmlIR3M1OVV6bGY4OUhoMWRIUThmeUhta0ZkVlZiMjVwS1RraFlYYlhOZXRlYXJuWGFsR1Fnay9LblpRMVBFTEpwcEJBUU5saDVzT1R3UXpsaXNIQUFFOHo5UGVjRDYyb21OeUxCWmJYMWRYZDJNbWs5bTJaOCtldHhidUM0VkNhOWFzV1hQUDRPRGdONGFHaHI2d2tMVXhWSFg2VXpvOXpjUTBORFI4dktxcTZnWmdja3BLUjBmSEd3RU16SHFwdExTMGZBcUFBWUJNSnROeERKZVZYQzYzZmQrK2ZmOTJOQWNQRFEzZGtVZ2tudDNmMzM4TGdERlZIUytjOGpNMVNrT3oyZXpXMmErZGE1OHg1cEJSTHl0WlpUYmtEd2N3cUpnNW5Vd2dCc0xFTkJFUkxYMU1naXdrMVZvQTdvd2JOUkZmVlhyTDhvRVY5ZFR4cWFpb3FQZy9oeHNLbk0xbXQwd25RVUtoMEduSE8yVDRSQXcxdHRZRzU5cCtyRTlONC9INGN4ZW1SYWVHNHVKUjM0NFg5emxtWm4wQkVYRlV3ZVFSSFpZcWFtZVBCQUhnaTJONzA0SFVpb2pKM2QzZC95eHlzQmgzT0J4dXJxNnVmbjlaV2RsclJjUVJrUkNBY2hRa0hXS3gyRGtpNHRiVTFMeW51cnI2M1NNakl6L3M3ZTI5ZFh4OC9QOEJ3TTZkTzE4bElrKzFYb29GVU5iYTJ2cjFSQ0x4QW12dFJGZFgxenNQczhTNU5EWTJmcUcwdFBUVm51Y051SzViWGxaVzlvLzkvZjIzRlJVVm5ibDI3ZG8vSCtsaW9WRG85TVBGNG0zYnRsMDZOamIydThKdG5aMmQvelQ5NzdHeHNkOFZKdExQTys4ODMvZjkzRnpUZ000Nzd6eWRXbXA0d2FkbExwc0UrV2lYcjdFMWZVRGdrTkY1RU1aa0lpSmErcGdFV1VpQ3lTVElUTDZvNlh0ZzRza1YwZUZlU0xPSEF4K3VBenZmc09IREZZMHJmRTFSVWRGbG9WQ29lV0JnNEZzQTB2TzE2WGlHS3ZmMjluNTI5cmJ5OHZMWE9vNVRPdGZ4eTZINDNWTFMzdDd1bjkvMGpIN0J6RVNpS2h3SU9QK2NEa3NFdGRDWmlXa0F2dU5KWDBPc2EwWEU1TjdlM3M4RGs2TTdxcXVyYnlndkw3OWFSSUtwVkdwVGQzZjN2NDJPanY0TW1FeU9BRUFtazlrMU9EaDQxK0RnNFBkS1MwczNWRlZWdmJPa3BPU2xKU1VsTDAybFVnL3YyN2Z2bzBORFEzZmlPQXVHaW9oT2ZRMmZlZWFaRHdXRHdaWlVLdldublR0M3ZqcWJ6VzZiNnpWVlZWWFhWMVJVdkNtYnplN2FzV1BIYzA0Ly9mUk5VNnZZRk9meitleVJDck9HUXFIVFZUV1h5K1YyenJYZjkvMUZXUVZveFNiSW53YmZEcUhmaFhxWVVRY2VEcUNNeVVSRXRPUXhDYktRRkZVUWRRczdCUUw0NnRnQjNINzdzbCtGWUprS25uYmFhWGZsOC9udWdZR0JMNStJQzNSMWRiMXo5cmJpNHVJWHprNkNGQXdUUCs3NTlxZWt1KzZ5M3ZVWERUa0d2c3k0bVZXSDAyRm9QZ0twMHRralFRUytpZzU4NEUzTGYyVVlBQ2FSU0R5L29xTGlUU1VsSlM4R1lOTHA5S1BkM2QwZkdoa1orVTdoY1U5NzJ0TjJBc0RERHovc0FDaHZiVzI5WTJobzZIKzNiTmx5WVNRU2VXWnRiZTE3UzBwSy9tNzE2dFYzWmJQWkxmdjM3Ly9Zd01EQUhaaS92c1loVXFtVUFvQXhKaElNQmxzR0JnYSsxdG5aK2ZyNXp0UGIyL3ZGV0N4MjRmNzkrOStWeVdUMmpJMk4zVmRTVXZMU1JDSngwZWpvNk0rUE5Pcml2UFBPMDF3dXQzTys0OWF0Vy9lSGFEUjZZZUcyK2Vxb1RDZHpub29WbXlDL0VsWnY5WWRnQWpPbUtFTGhxQWhqTWhFUkxYbE1naXdrVlFNeGgyd1czMUh3eHZlNE5UVTF6VFY4R3NDUmh3cVhscGErekhYZGlxbGllWXZLbU1taXVRc3d6UHlVSTQ2cmMzK0VkTmtXRjZRVFQ2RUdPUFF0RW5CRS95K2d5WlBmcEFVVmpVYlBibTF0dlJ1QWpveU0vS2lucCtjejQrUGo5ODF4cURQMVZRSFlvcUtpTTZQUjZQbUpST0x5NHVMaWwzWjBkTHl4bzZQanhiRlk3SnpxNnVyM2w1U1V2S1NwcWVsL01wbk1wb21KaVNOT1JabGx4Z2lTc3JLeVZ6bU80L2IwOUh4c1ltTGlzY084Wm1MbnpwMVhUbitUVHFjM2xaU1V2RFFhalo0OU9qcjY4MW5IemlqMEdvMUdudzRBdnUrUHp0ZW9iRGE3eTNHY0VnQUlCb09yUmVSdy9SOHoreHJIYXlVbnlJTXVWS0dZNC9QRm1FeEVSRXNla3lBTFNJejBBdG9JeUhTSEV3bzQxczJYNFpwclhOeCsrNG91eEhlc2FtdHJQM1EweDVXWGw3L2hlSzlSV1ZsNWpiVTIzZGZYOTdYalBjZVJORFEwZkdiMk50ZDFxMlp2VTFVSEFLeTFmQjhjaXcwYlRGRDhZb2c0TS92WDRnTXl1N2dpVVFIcEJkQ0lnMG1BeWFmVjhNczJYUU1YdHgvYktJZWxKcFZLUGJKNzkrNjNqSStQMzNPRVFxSWhBTERXcGdGZ2ZIejhWd215TVV3QUFDQUFTVVJCVk51MmJUdW5zYkh4MnlVbEpTOWRzMlpONmJadDI1NDlNVEh4YUVkSHg4dUtpb3JPTENrcGVlTnhKRUNBcVJFZjF0clVuajE3M2xKYlcvdkJrcEtTVjVhVWxMeHlkSFQwcHowOVBSOGFHeHU3Zjc0VEJJUEJkVk5mMTh6ZTE5alkrTm1Ta3BLcmZOOGZBK0FGZzhIR3FaL3BnZm5PdVhQbnpsZE8vL3ZNTTgvY0ZRd0dtNERKcVRpVmxaWFh6RDdlR0JNNVhJRnRZMHgwOXI2blVpTmsyU1hJNzRSeHgxQ2MxNExQRlFDSStJQXlKaE1SMFpMSEpNakMyZytST2dDRkJUUWRoYWxzaU1YY3JtTWNWcnpTMWRiV3Z1OEloN2lxNmozeXlDT0J3eDF3cEtIQ1JVVkZsL20rbjIxcmEvdkQwYlFwR0F5MlRKOTNydjN0N2UzbkFaZ3h2N3lxcXVvZFIzTnUxM1dqd01FYkVUbzZiVzF0amszYlNxUHVqTm9PSXZDdG9tZnhXa1pMbmJYWUx5SjFJak5qc2k5T1pmVzZCaGZvV3ZZeHViKy8vN2FqT0N3T0FMN3ZEMDl2U0tmVGU3WnMyZkxYZFhWMTcrM3U3cjZsOE9EeDhmRW54c2ZIanlxdXpXRU1BRVFrTkRBdzhOV0JnWUZ2VlZWVnZhMm1wdVo5aVVUaWJ4S0p4TitNam83ZTA5UFRrNXdyR1ZKY1hQd1A1ZVhsL3dnQTB3bU9RdWwwZWx0RlJVV1o2N3JsQUdDdEhSOFpHZmxoVjFkWDhuZ2E2N3B1MVdIK2hzZzhmMXZtMjNmQWlrMlEvd1dPVitkV3FoRjNWbUZVSHhER1pDSWlXdktZQkZsQUNuUUxjRmJoTmxGMWpFcGxMRkREMy9Vc1J5cU1hb3lKV0d1ZmFrRTdjUnduN0RqT01jMnBucWVEZThoOHA3bm1sYytWbkJHUk9BQ3NYYnYybDhmU2xsUGR5RWpDaWJsYUNUUHpxYU9xV2dQZHYxanRvcVhQQ0xwVjlLeFpJL1FkZ2FrTTV6TXJJaWF2VzdkdWsrTTRzU01jRmdBQTEzVXI1a3J3bHBhV3ZtS3VGeDNuNklhOHRUWnRqSWtBaUFHWTZPM3R2YkczdC9lLzZ1dnIzMTlWVmJVeGtVaGNua2drTHQrN2QrOTdlM3A2UGxidzJ0cW1wcVl2ZXA3WDU3cHVaU0FRT0NSaDBOZlhkMHRmWDk4dG1PeS9PQUN5eDlIR0E3cTd1OS9UM2QzOW51bnZTMHRMcjJwcGFibGplSGo0MngwZEhSdG1IeisxT3N6RW80OCtXblNrYzYvVUJIbFhvc0ZKQ0NvTjFOR0N6NVpWc1JBd0poTVIwWkszSWpxQlM0V0k3Z1ZreHBNY0ZlTkF2WnFnaWZOM2ZXekVkZDNLZkQ3ZjlWUk9jcVJWWGlvcUt0NVlYMTkvcytNNHdkMjdkNytwdXJyNmhtTmRIZVpvdWE1YkJnQ0RnNE5mVjlVWm5kMlNrcEtYTzQ1VHZORFhYQW5LSE45WWNjdk1ySGdsZ0s4aWZZdlZMbHI2VkxGWDVKQVJlSTVWV3hPSVIxZEVUQTZIdzZjYlk0NlVCQUVBaUVqd1pCVFp6T2Z6ZTBLaDBOcFFLTlJRc0xMTHlONjllOS9WMTlmM3BjYkd4czhXRlJWZE1qbzZXamhOTWI1dTNicWZ1SzVic1gzNzlpdFdyMTc5UGNkeHlxZDNIbTUwM3BFY2F5SW5IbzlmRGh4NWVzM1JXS2tKOG9hS3ZCbk5TaGxteDJSUkh3ckdaQ0lpV3ZKV1JDZHdxZkF0ZWgxUkgxSzRPb3c2VnAxS1Z6eitybzlCSkJLcEY1RkFNQmhzT2RabEJvOVNVVXRMeXhkTFMwdGZiYTJkMkxGang1VWpJeVBmcWE2dXZ1RklMMXkzYnQyRGp1TWs1cHM2TTN0ZmUzdjd1bUF3V0EvQTd0cTE2MnJNbWhwVlZGVDBMQ1pCNXBiS2hweFExQ3NYekN4a3FCQmZGZjJMMVM1YStsUzBWOVRNV3NGQ0hJR3BkTUxCRlJHVGoyWkVRbXRyNjkySlJPSnZBQ0Nielc2ZG10WTNjYUxhbE0xbWQ0UkNvYldSU09TTTJjdmI1bks1emR1M2IzOUJLQlJhbmMxbXA1UGNnVFZyMW53M0dvMmUyOXZiZS9QbzZPaFBQYzhiS2t6dW5LUVZVaEtscGFVdkFZRHg4ZkhmbklUckFWaCtDZkxCNGJqamhsR3VtTDM4dFBnQVl6SVJFUzE5SzZJVHVHUlk3Qk5IdkZsYlhSSFUyWXdYblBNMU5LZFFLSFErQUtSU3FjZlM2ZlJEaHp2dWVEcUlaV1ZscjZpdnIvOVVJQkJveUdReW16czdPMTg1ejZvRmM3VnRiZUUxNSt1Y0YrNExCb05yOHZuOFByQTJ6REZ4N1hoQUVXbkUxSkQrZzlRS256clNQTVJpbnpycVNlR3k1YUt1aGRabHMrYVVpTW5SYVBTOFJDTHhRdC8zaDhmR3h1NHRLU2w1ZVV0THkvOU1GUXExUnp6QmNaaVltTmlVU0NUK0pocU5Yamc4UFB6OXVZN0pack03QVpRQkdJeEdvMmNYRlJYOTlkalkyTDFkWFYzdkFnQlZ6VHFPazVqMW1pM1RJenVtUjFSTWo3WTQzUGZIMHU3YTJ0cHJIY2NwU2FWU2o2UlNxY1ArM1RtY1V5VkJuamJwUUZ6aWpaQlpNVm5WcWlwak1oRVJMWGxNZ2l3a1IzZXIyaXhnVktaNjNRb0UxZXJUSUZxRlpISWZrc2tUMHVsY2p1WWI0UkdQeDE4QUFEMDlQUjhmR2hyNnh1R09PNVlPWWpRYXZhQyt2djZUOFhqOE1nQzJyNi92MWoxNzl2d0xaaFU2UFpMSEhudXNaUHJma1VpazBSaFRYTENLZ3BTV2xsNDFORFQwVFFBSEt2MkhRcUcxcnV1V2pZeU0zSDBzMXlKSUlCZ3BGclZ0S2lZOGZUTTd1VGFqNUt6NG5ZdmNQbHJTZERkVXNoQlZUQTNSVTBVUWdxYzVBVnVsU2V5VDVJbEpCQ3dSc2NiR3h2OEdJRDA5UFovWnYzLy9UVzF0YmV0TFMwczMrTDQvc1h2MzdqY0NtSjI0ZjhwR1IwZnZxNjJ0L2JlU2twS1hkSGQzdjNldVkwS2gwR25yMXEzNzg5alkyUGM3T2pwZXRYUG56aXVIaDRkL05kMGVWYzNOczR6dGdvdEVJaGZXMU5UOE93RDA5ZlY5OW5qT2NTb2t5QldRRWVNVXEyaWJxQWtmWEtSY0ZZS2NLQmlUaVlob3lXTVNaQUZsUFd5UHVPZ1MwWHBBSnA4eUtzUTRVaEtFYzBGYkw3YTFBK09MM013bG83ZTM5NUNPWmo2Zjd3RVFLaTB0L1FjQU9qUTA5S3VuZXAyaW9xTG4xTmJXdmpjZWp6OFBBRktwMUVPZG5aMXZUNmZUZjN5S3A0NDNOemYvT0JRS25iWmx5NWJMMCtuMEE5WFYxZStwcjYvL1NFVkZ4VDl0MjdidEZRQjZnY2tSS3dBd09qcktKTWd4YU4xNGN6RGtlT3NGcGdvcXp2UURmUUdzUW51dGVIOVozQmJTVW1ZOWI3c0p1bDBDVTYvVHEzWUp4RUJLeEpvTCtpb3J0d0Y5S3pVbUY3VzJ0bjRuR28yZW5VNm5uOWkvZi8vSEFHUjM3Tmp4d2pWcjF2eStvcUxpNmxBb3RHcnYzcjJ2VGFWUzNRdDU0WW1KaVY5N250Y2ZEb2ZYeFdLeDUwMU1UTnc3KzVoSUpOTG1PRTQ0RkFxZENRQnpqQmd4MXRxVGtxQ0tSQ0xQYUcxdC9iNklCTWZHeG40NU1ERHcxZU01ejZtUUlOOStjMnV3T3VDc3R6QlZLbHE0YkxsVmFLK2I5eG1UaVlob3lUdGtwUXM2ZnE0ZEd4UGdEMUE1TUxKQUJBTFZpTUJlNkVSajBjVnMzMUtSeitlSFBNOGI2T3JxZXVmcy8zcDZlajVhV1ZuNVJ0ZDFxMFpIUis4RmpsaHAvbkRMNTVaV1ZWVzlaZDI2ZFErdFhidjJsL0Y0L0huWmJMWmo1ODZkcjltOGVmTXo1a21BaEZUVlA4eStRczdxMWF1L0dZbEUxbytQai84K25VNXZBb0NlbnA1YlIwWkc3bzdINDVlZGVlYVpEOFppc2JNQVJLdXFxamFxcWo4K1B2Nmp3NXh2d1F1eHJnVEYwVlFZb2hjRGlFdkJuQVlWWkJTNktaZjFCaGV4ZWJURWplYjhNVEg0ZzBJS1JudUpLQ1RpaTF3WU1Za1ZHWk5qc2RnNVo1eHh4djJKUk9MNStYeCszODZkTzErTXFWVlVNcG5Ncm0zYnRqMHJtODF1aThmanoxMnpaczBUbFpXVkd6RnphZmVueXV2djcvODhBRFExTlgwR2s2dkV6QkNOUmk4Q2dGUXE5YWU1VHVDNmJybXFqaTFnbXdBQTVlWGxWd2VEd1ZVQUVBNkhtd0ZFVjY5ZS9lMUFJRkNUeitlN3VycTZyZ2J3Vk90UXhadWJtMys4WnMyYUJ5S1J5RE1Cb0xxNitqMHRMUzFmVzdObXpiMEFEcXg2czl3UzVPVWhHN2FLaXdHSm83QUFHaVFqZ2swU1pFd21JcUtsajBtUUJUVHVsNlVCZXorQThjbmgrcE1FRW9ZakY0ZzFKZk84L0pTeGRldldaejcrK09NVmMrMExoOE5OZFhWMS93RUFBd01EdHhUc0NtRFd5S1Y0UEg1eE1CaHM4cndabmE2eWxwYVdiNTU3N3JuN0dob2FQaCtOUnMvUFpyTmJkdTNhOVliMjl2YlRoNGFHdm9hcER1N1VjT1RwQ3ZlQnNyS3lWNFJDb2FaY0xuZWs0YnhPUzB2TDE0dUxpNjhZSHgvL3cvYnQyMThHSURlMWIyekhqaDB2SGhnWStKOUFJTkFRQ0FST1c3VnExWWNEZ1VETjRPRGcxOVBwOU82cDQ2b0FsQU53WTdIWTJjRmdzTW4zL2FFai92Sk9NVllsSmpEUGdPREF6YW9xRktwcFdIMUE4L2tUVnR5UmxyOW1aMWRhVmU5WDJIRkFEOTdZcW9aRmNZRTZ1cUppY2lnVVd0M1kyUGpGdFd2WFBoU0pSTlpuTXBrbnQyN2QrbGVaVEdabjRYR1pUR1puZTN2NzA0ZUhoNy9wT0U3cHFsV3JibDYvZnYyT21wcWFmdytId3kwTDBaYnU3dTRiYzduY25uQTQzSGI2NmFmL0JFQk53VzRwTGk1K0VRQ01qWTM5YlBacncrSHdhWTdqbEV6VkRWa3daV1ZscjI5cWF2cnY2ZTliV2xxK0J5Q3hkZXZXRjR5UGovOW0rL2J0RjZmVDZhZTBJaGxXZUlJODVPWmpNUElNUUFzU2lLcFFUZnMrSGtqbHhobVRpWWhveWVOMG1BVzAvWlpycyt1disrampJZGYwR2lNMW1Gck5RZ0VqUUUzQU5XYzFYSGZkbnE2YmJrb2Y2VnlucU9xV2xwWWZPNDVUTWpvNit2T2hvYUVEbmNMUzB0SU5MUzB0ZDZocVhsVnpBTlFZVXdRY1VzVi9LQlFLclpzZTF0emYzLy9ab2FHaEgyT09KM3V0cmEwL0M0VkN6VlBmS3FZNm13TURBMStacDQxT1MwdkxIYVdscFZlbVVxbEh0bTdkZWdVT1hXWEI3K3pzZkVOdmIrK1hnc0ZnZldWbDVUdFVOYnQvLy80UFRSOVFWMWYzdHBxYW12Y1h2bWhzYkd4WlBBazhhYTY1Sm1BODkzUnh0UWxxQWdkdUJVVFZLb2J6RmcrMVZ4MWJQUmM2dGNpMXlBNS9Qdk00M0dpdmlOU29UUDNORXhqQTFGZ0V6dHB6WThPZVZkZDNMZHVZSElsRUdtT3gyUE5MUzB0ZkdZL0huNDNKaHh1MnY3Ly9sdDI3ZC84ckRqOEZjNlNqbytOVmlVVGlxdzBORFo4T2g4Tm4xTlhWZmJDdXJ1NkQ2WFQ2eitQajQ3OGRIaDYrWTJ4czdQN2piTnJJamgwN3Jqejk5TlB2aWNWaWYzM09PZWQwREE4UGZ5K1ZTajFTVkZSMGNTUVNXZS83Zm1ad2NQQ25zMytrMnRyYUR3TEErUGo0YjQvejJvY29MeS8vUDAxTlRWOENnSjA3ZDc0NkhvOC91NktpNHBxenpqcnI4WjZlbnMvczJyWHJyYmxjYnVCSTV5bFk5dFlCRU1Ma0NKb1FnRUVBOWtnSjhxYW1waStWbFpXOWRpcEIvcnBBSUZBek1ERHd2N01TNUQ2QWtWZ3MxcmFVRXVSNkd3TDlYdkQwZ0pHbUdVVlJGYXJBc1BHOWg4cjYraGlUaVlob3lXTVNaS0ZsTUdTSzhDQVVheUNJQTVOVFlsUlJKSkRuVjJ2ajc3dUFaZHZoUHBFU2ljVDV3V0N3TlovUDc5dTdkKzgxaGZ0eXVkd1QxdHB4QUVaVkhXT01lSjQzTUQ0K2Z2KytmZnMyRmh5cXUzZnZmb1B2KzZQWmJIYmJmTmNiSFIyOU81RklQQmRUSTZKeXVkemUwZEhSNy9mMDlOdzZ6OHQ4YTIwcWxVcHQycng1OCtVQUR0YzUxWFE2L1VBc0Zuc3pBTzNxNm5wWE5wdmRPcjB6bFVwdHltUXlmeEdSc0twbVU2blVuM2J0MnZYUDg3WDNWTE8rcktYSVdITzVpSlNnNEdtb1FISUcrZ1EwM2N0Q3czUVVoaUR5b0lXdUVVaDhjcE9JeW1STUxvczV2OGN5amNsbFpXVWJtcHViNzV6K1hsV3pRME5EMytydTd2NW9McGM3WkdXU3VZeU9qdjcwTDMvNXk4OUxTa3BlWEZGUjhkWjRQUDZjU0NTeVBoS0pyQjhZR1BqeVUybGZPcDMrdzdadDI1NjFhdFdxLzR4R294ZVVsWlZkVlZaV2R0WDAvcDZlbm84QkdBTVFPUHZzczBjZHh3bFA3N1BXcHZ2Nys3OVFXRUE3RkFxZFBydWc5dEY4MzlmWDk3bWlvcUpMQVppdXJxNGJob2FHdmprME5QUmRhMjJtcXFwcVkzMTkvWWZyNitzL0RBQ3E2bHRyOHdEeXFwb0g0S21xSnlLdWlBUkZKRFQxMVptK2hxcm1Ibm5ra1pxV2xwWXZyT1FFK1lqZldCUUtCaTYzbUJtVEljakI0Z2svYlhwWGVLRmhJaUphSVpnRVdXQkQ0VkFtTFA2REl1N2ZxNkxvUUIwRGtZaW9YZzRYUDJqZGVQTzkyMis1TnJ2SVRWMXlSa2RINzk2K2ZmdmY1ZlA1ZmJsY2JuZmh2b21KaWNjZmZmVFIrTkdjSjVWS2JUcWE0L2JzMmZPMjQybG5aMmZubXdCRUFZd2M2ZGorL3Y0dlpyUFpKOGJHeG41WHVIMTRlUGlIdzhQRFB6eWU2NThTTGt1NlRpNTRoanJ5SWhYRXAzdmJrOVBNTk8yci9mMkVsMWp3ZWdHMDhoUm5iR2JZMkFmaG1MOEh0R2k2am9GQUkycmxjZy9CSCtqTnJmZkt0ZHVYWFV3ZUhCejhYbFZWMVdQNWZIN1h5TWpJVC9yNysrOENNSHdjcDdMRHc4UGZueXBPV2xOZVh2N0NVQ2pVZkxoNkhjZGlZbUxpc2MyYk56ODlHQXcrcmJTMDlBV3U2elk0anBPWW1KajRiVUVCMHZ6WTJOamRrVWhrUFFESjUvTjd1cnU3L3lPYnplN0lack5ibm1vYlBNL2J2My8vL2s4bUVvbm45UGIyZm5wcWM2NnJxK3NkdmIyOXQ1V1hsMThWaThYT2RsMjMzbkdjS0lDQWlFei81eHBqb3BpODZWZFZ6YXBxQmxQZkFNRDQrUGovQXpDMGtoUGttb1E3NWdiT3NOQVhBU2o0VzZ5cWlyUkFmMS91V3Naa0lpSmFGcGJVWE5PVklXbk9mVmZSdW9EcmZCa3E1MGpCa0ZGVlRTdndJeXZtM1pzKy9vN2Q4NTJGNkZSMjdzYVBWQVlpMGZkRDlEVlFTUnhJSmlwOHE3cmRVN3p1a2FLUlB5R1pYUERsUFdsbDBTVE1lRTNyT3Q4NFh4Wmp6bEhJakpnc3dJK3N6YjY3N0UwZGpNa3JtNHZKS1N3bk10a1Z3RkVteUFFZ0hvOC9hM2FDZktrYSsrL1dTdXVaOTZ1WTEwQWtjYkFvcXZwV3NkMzE5WFh4L1p2L0pNbUZYM0taaUlob29iRXc2b0pMMnBFeGI2K3EvUkVFdzRVRlVpRVNNb0pMak5wTDY2NUpyc2hWQ1lpZXFyWU55YUFURGowZDBCZWdZRlVZVmFpS1RxalluL2pqM2c0bVFPaG9TQkkyUDJ6MytvSWZLWFM0c0VDcUVZUVV1QVFTdUxUN3Rqckc1SlhOdzRsTmdBQkFIa2VaQUFHQTVaSUEwVHNSelB2bTZXcWNGOHhjRlVZVndJU2orcFBVV0g0SEV5QkVSTFJjTUFseUFuVGNuaG56WWI0TjFTMFF6VTl2RjhBQVVpNlFxNnFLby9YZ1NCeWlRd1JiSWhVaXVBcEFuVUFPeENnUitGRFpsYlAyenNjM1QzQVpSanBxcFptT01jMWx2cTFXdDJEeVJoVUFvQkJqQk9WR2NGVk13L1hLbUV4MGlOVFlxZ3FCWEFXZ0RsSVFrMVY4cU82QytuYytPYkdETVptSWlKWU5Ka0ZPaUtUTmpvL3NzV3EvQ1dDZ2NEU0lLa0tBWGhCVTUyWG5idnpJbk12RUVwMnFXamNtRTBhZEt3RG5Vb2hFcHJlclFsVjFWQlhmOFgxbkcrN2pLQkE2ZXBLRXRVanRVZEZ2cW1LZ2NEU0lBaUdCWE9DYndNdjIzMXpEbUV4VVlPRG1za1JHSTFjQTVsSUFrWU43VkZWMFZOUitCMDU2MjdNNUNvU0lpSllSSmtGT2tQYlBKeWV5WHU2bmF2VXhrWU5EY0VVZ0FpbFhZMTRmQ0VlZWQvcnJQMzVVeFQ2SlZycm1xNVBoZUxUNEVvSHpGZ0ZxWldaODhsU3h4VmQ4djcxNDlIZ0tQOUlwcnZKdGZSTW1uL21waUgxTVpreUxFRkdSY2pIeSttaFIvSGw5SDY5Z1RDWUNvUC9USEhiRHBaYzRkakltbzJCa0hpQWVGRnQ4TC8vOVJGY1hZeklSRVMwclRJS2NPRHFFMEQ3UDEyK29vbGR4Y05rNEJZd0ltbUhrdW5oRjZLTG1xNVBoK1U1RXRPSWxrMjVKZWNsNlYrVmRSbkFHQ2xhdVVvVkNkRmdWZHc2UFpqcTVMQzRkRHdHME9HUDNxZW8zRk9nVmFPSDd5QWlrR2I2NUxsSmNlcEVtbXhtVDZaU21TYmlqK2VCNkZmZGRFRDBEVXJpYW9DclVEaXR3Snh6cDVMSzRSRVMwM0RBSmNnSjEzWFI5MnFyOFVsVi9DOVdKNldreEloQ29CS0I2cGlpdUx5K0pQZzJYSmJsY01aMmlrdWFDVk1ucW9DczNpT0RwZ0lRTGk2RUNtZ0h3b0NmNW4zVGMvcDdSUlc0c0xXTnlmVmM2NU9HWG92YTNWblhpNExRWUVRQUJDem5UZDUzclIycmRwLzBxeVNYazZkU2tTWml4VlMycklYS0RpSGs2Uk1LRnhWQlZrVkhGZy9sVTlpZWxiK3BnVENZaW9tV0hTWkFUN0xGSFJudDgzOTRLMVVjVm1wdVJDSUdFUmZTWkpoQzRmdjM1UmEzWWNLZXoyTzBsT3JtUzVweDNoaHBGWkNOVW53T2dhR1lDQko0Q1Q2clZXOGN6NGQxQXdXcExSTWNoMHJPMXg0Ti9LMVFmaFNKWG1BZ1JrYkNxUEZQRnZmNzgycld0ZWljWWsrbVVva21ZNGVybVJ2WENHeFh5SEFXS1pxd0dvL0JnOEtTMWVtdWxtTjNDbUV4RVJNc1FPM2duMnE3N3JIUFJDd2ZDanZZSWNMWUE1VEpWWFYwRUFwR2dnYXh5eE5SV3hvYzc0aGVjUGpUNDRJUCtZamViNklSTEp0MExubEhTNnJqQjYwVDFIeUJhTVdNMUdNQ3E2bTZGL2Zod1p1eWU3YmY4UzJveG0wc3J3d2Z1ZzkzNDdPaEFNQmpzVWVCc2daUWZYUEZDQklLZ2lLeXlZbXB0cnFUanc4OGJIUHJBVDhHWVRDdWVKdUdPVmJXMFNpQjhIWXo4QXlBVmhhdkJBTEFxdWhzcUg5ZXNkMC8wMnUyTXlVUkV0Q3d4Q1hJU2pQN2g1MTc0NlJmM0ZEbWhOR0RXUTdSWXBwNnNDQ0FxQ0FtMDJZR3NqYmlsM2FYbnZMaTM3MDkzNXhhNzNVUW5TdlBWeVhDelUzSzJhL1I5QXYwN0NHWWtRQlN3RVBSYTFTL2sxZDcxNUdmZU43U1k3YVdWNWFhZmozcnZlVTY4QjY2VEZpUHJBUlJEcHA5Mml3QUlBZHFzUnRaNlRubjNoMTlvZWo5d2Q0b3htVllzVFRhSFIrdXF6b2Jqdms5Ri9nNDZPd0dpVm9CZXFQMkM2M2wzbGJ4OUIyTXlFUkV0VzdMWURUaUZTTnRiUDFFZGlRYmViQnhjQTBoMTRlb1hVMFAvMHhCdHQ5YS9hVHlWKzhYbXovM3JJRGpVbEZhWTFvMDNKK0pCL3hMWGtYY0o5QmtRaVIzNldkQWhWWHpEcy80bkgvbjBEWndHUXd0T0FlbjdYSE4xSUJoK3M0RmNvNExxbWF0ZnFLb2lMV3JicmRpYjNHenFGL0czN3gzazhIOWFhUVp1TGt1NDRkSkxWTjEzcVpGbmlFaHM5bWNCd0pBcXZoR1d6Q2ZEYjlpNVc0U2ZBeUlpV3I2WUJEbTU1TngzZmFveDZMcnZVOFZMSVNnNzVPWlBOSzlXT3F6cWwzd3Y4OTNoNGV6K1hWOU9aaGF6MFVRTG9TMlpEQVpUa1lxQUJxK3d3RnNtVjRFNVdBUVZPUEFaR0ZYSUwzSzV6QWNlNjlxMEdYZmR4YWtJZEVJb0lNTzN0alE2d2ZEN3JNRkxBWlROY2ZPWGg5b09vL29sMzg5OWR6aThhMy9MNjhDWVRNdWVKaEZNclZwVmtmY2lWNmc0YnhIUk0yWVdRUVdtb3ZLb0FyK3cyZndIZnZucjdadXZ2SXZUdzRpSWFIbGpFdVJrMjdEQk9iZnh3dE5keDl3Z0lsY0FxSnd4RFdEeUp0QUgwS2VLUC9uV3UyTWlZMyszcFNmZGo3dVNISTVOeTg5bFNmZXNDMkpsTG5DaEdQY1ZCbktwUUdzQmNXY2tRQUFMMVdFVmM2L3Y0Uk1QeDRjZVF6THBMV2JUYWVYVERYREduOXQ0dXVkRWJoQXhWMEJST1dzYWdFTGhxNkRQd1A3SnM3akRabE8vcXhqWTB5OUpNQ2JUc3FOSnVEM1ZxOHNjQ1Z3WWRQQUtDN2xVZ05ySlpYQm5KRUNzS29ZRnVEZWZ6MzJpb25mSFk1SUVZeklSRVMxN1RJSXNoZzBibkxPYW50RVlFdWRxRVhrdGdBWkFuRU9laUFNWkNIclU2dTk5Nk5jODlSLzJPeWVHMjVrTW9lWGdtdHNDNndJRGlWaFI3QXdIOWlvb0xoZVJHZ1dpczBkQUNXQUI5RmpnVHMvM3Z2VElwdkd0dUk4SkVEbzVkQU9ja2I5cWF0UlE1R294OGxxb05FRFVtZjFFWEZVellxVEhXdjI5K3ZtdjVSVVBWNWZ2R0pZcm1ReWhwVTl2UTJCdnZqNlJDTVRPVU9OY3BjRGxBR29naU00eEFzb3EwR01VZDNycC9KZktCcmR2WlFLRWlJaFdDaVpCRm84OC9kMmZxSVlOdkZoRjMyYU1XUXNnVkpnSUFTYWZqZ3VRVXVoK2EvVmVVZHh0SGVleDNHaHFiS3c2bTk2VlRHYkJPZXEwUkxSdXZEbFVIRTJGdlZ5d3lBUjBuUVAzQ2xGOXZoaGRCU0F1TXpyYUIrcC9lTmFpVTR4K01aWE4zZFZlbXVsQ01ta1g2VWVnVTVRQ012RzU1bW92R0h5eHFyeE5wbUx5ekVRSUFLaUZJZ1ZnUDRCN3JhOTNRM0tQamZuZVdHUEVwUEc2WFZuV0RhR2xZdHZOcmFIeWtBMWJteXNLQjZMcmZKZ3JMUEI4QVZaQkpUNXI5UmNjV0FaWHRGTVZYMVNidTZ0MFgwZVhKTUdZVEVSRUt3YVRJSXRMbXQrWkxDNHo4V2U1THQ0Tm1ITm5GNG1jcHBOUHlzZWhPZ0l4ZTZINmtFTC9ZSDEvMDBndU9HQ3pxZHhFd3ZFaS9SUCtybUN0ajdwOVBtOGs2WVJJSmcyNnU1M21YSjJUcm9nNThXekljZTE0d0RWdVNUQVlPRnVNWG13RUZ3alFDSmhTQ0lxZ2NBNUo4Q2tVZ2pUc1pERmdCZTdaOU9rYkJzQWJTRm9rQ3Nqd1RjM0ZHZ3M4UzhSNU40QnpEeTBTZWVCb0MyQmNnUkZSN05XcG1PeXFicEtzSGNpSEJuSzVTTkNyOWlNK2NydDg3SVBQRzBrNkVUUUpnMW80Mk5mczlNVFNUaUNVZHdJbUVrZ0hJaVZCNDU0TjRHSkFMeENSUm9HVUtsQUV3Smtqd2FlcVNFTzEzVmovSmhHNUovNm1yUU5NNmhFUjBVckRKTWdTMEhEZGpaRXEwYk5keDd3RndITWhVZ0VnT1B1bUVUZ3dUY2FEU0VwVUozem9nQUJQcXNoMjhXeXZGZlFaU0s5WXAwK1JIOHlwc05OTkM4WVhOVUZqUzlXYVNzZElwWXF0Tk9KVWlxQkpWZGNMVEtVQ1JRS05BaEk0N0h0WWtBY3dwRllmaEc4L096cnNQYmpsdi85bGJCRitKS0pENkkwTmtkRjQrR3dZOXkzVzRybEdwRUtCNEtFM2pjRGsxQUh4QkpyQy8yZnZ6c1BqT3N1NzhYL3ZjMlpHR2tramFhU1JScnNzUjk1aUJ4S0hKUUVLQ1htaGdSSUtoU1Q4aXNrQ2JVTDJSSExLeTBWVHBtOW9LSGdOTGdreDREaGJHNkt3TmV3TndXd0JDbkdhSm81alI3RmxyYmFXMFRhTFpqbm4vdjJoR1RNZWp5ekxrUzNaK242dVM1ZG56am5QT1krTTg2QzVkYzczQnNLMllraUIzWWF0N1NyYXIyb1B1SnpTRDhXQUlWWXdFak81SnRPc0Vkc3l4T1h3R3BaV2lJRUtHMXBoaUZGaFF4b2hjbzZvVmtDa0NFQUJBT2RVLzRZRlNBQXliS245MzdabDM2dWp3Zit1K013ZzEyUWlJam9qc1FneVgxd1VjS3hhN2FsMkFaZVlwbnhjUk40QWlCZUFJOWNIU2VEUFdRb0t4Q0NJUVpFRWtBUTBPZmxET1ovZnBkbW5rMWtKRGxFNEFIVW94QUdCQzlCOHFCeDF4OGZoY1FvVlVVdFZSbTFiZDBQdytBUVNQM21wTU5LRkFITnVhSDdSQUJ6QmlyT3FEYWR4Q2NUOHVBRzhRV1Z5VGM3OVFSSTRuS1dnRWhOb0RLSkpWVWxDa0lRaWFRaVMvSlU2elQ0eG9lb1FnVU5WSFFKeHFNQUZsZnlqczIweXFVTEZndWlvYmR1N0lmcTRZZHMvS2VscjcyTG9MeEVSbmNsWUJKbG4vR3ZYRlZaRkU3Vk90L3Y5aHFGWEFzWlNnWllveEpqcXd5WFJmREo1bzRkTS9uNWNNb3QxR2dKd3dGSnRTeWJqMzUxd1N1ZWVMMzhtQk41cVRmT1lydk1YanBjVTFscmlmTDlBcmdSa3FRSWxJakNtL25CSk5KOU5GdXNnQ01QU0F3cDl3aEczdmpzUkh1bjBmV1l3eE1kZmlJam9UTWNmNE9ZbldYemR2eGFYRnVjM0dvYitqU2crSWlMVkVMaEZrYWNBQ3lJMDc2Z0NreVVRaFcwRElyQkZqTGdBRVZ0MVFOVitLcEd3bjdTTThLdTdOZ1ZHQU9ZajBPbEJBUm4rVjIreHE3aTBNV0U2LzBZTjh5T0dvQm9xYm9qbUFTeUkwSHluT25rM0h1SUFvcmFOaUVBUFFSTDN4a1pDUC9HSER3MHlzNGFJaUJZSy90QTJyMTF1cnJ6andwSTh5MjR5M09ZRm9yaFFiVDNmTUtRTUlnVlF6Yzl1clVzMFYyeUYyallBVVZVQUFoMEg5TGNRZWNhMnJXY1JTN1EvLzJKOG1LMXY2WFQxeE9Vdy8vTEN1aExOejJzU3Aza0IxTGpRQXM0M0JXVUtLUUNRRDhrVk9FazBGOUt0Ym1WQ1ZLT3FHQmJSQTVPUEwwb1QxSGJiTUo2MEprSjNWOXpTMVR2WHN5VWlJanBWK0lQYTZlRHl5ODFsbmpjVk9QS2wwSkhuS0RjTk9WZEUzbVlZK2hZRFVxT1RyWFVOQlV5b21pSmlxc0lVd09CZEl6UmJVdTFzRlJCTEJKYXFXZ0JzUUN3SUxNdXluVHJaVXRTVkduSFFWanN3bW5SOGYvOExJME1zZnRDWjRvbkxZVjc4SmwrQkZoVVZ1dFZSYnJ2TWN4VjRtd3JlQWtpTmlPUkJ4WUNvcVJCVGFQSjFNZ0FBSUFCSlJFRlVvQ1lVSmdRR2VOY0l6UnJWMVBPSGxnQ1dRcXpKcmtWaUNkUlNSVUpGRDRuS253ell2N1hVZmw2Z2Z3bHgvSjBLbWdRaXF1aXlZYStOaklkL1dOL1NIWjNyNzRpSWlPaFU0QTlpcHgrcHVTN2dMc2h6RmVZNThrdnlITHJjRUhPUlFDdWg4S21nUW15cEVjT3VWSWpQZ0hnbWZ6Tko5UG9vWUVNMW9pcURxamhraUgwUUlnTXFNcWkyM2E5MkltYUplYmtoeGdVQ3lWZEZUS0hQVEVqeXR0M3IvcUVkZk02Y3prQUtTRitneHUwcEt5aTBUUzBScDNPNUd2WWlXNlJTMVBCQnRVS0FHbHRRQ1JXZkNEeUFjRTJtV2FDMnFrWWdHQlRna0VBT3FtSUEwRUVSdTkrMnNEOHB5WmZ6TFJrSmgwSmgvNTJIb29QL3Ryalo0WEp0RkpGM1E4UU4xUmdVejRnZHU2MzQwL3ZhbVFkQ1JFUUxBWXNnUkRRckZsMFR5QzhwTDNxL2FSanJBRmswbVkrcUE3WmlmVEFjKzBibi9aOGRudXM1RWhFdFpQc0R5UGRVTFhtL3crRmNCK2dpQUNJcUE0ckVlaVJpM3lpOXNaUHJOQkVSbmZHTXVaNEFFWjBaT3JZSEpxeGs3TGV3OWNkUWpBR0FBR1dHNEdNbGhZN2xDQVFjY3oxSElxS0ZyQ21BQ1dzaStWdFYrOGZBNURxdFFKbW8rVEhEY0MzWEFMaE9FeEhSR1k5RkVDS2FOUys5a0JpeTdPVERDcnNkUUZKVlRLZzBPMkI4WXRtZ3UzS3U1MGRFdE5DOVBMSi95QkQ3WVZWdEI1Q0VxS21HTk51bTh4T0Q1ZlZjcDRtSTZJekhJZ2dSelo0ZGdXUTRHWDNGVm4wYzBDRUFnS0JJSU84dnlEUGZWbmZIUnZjY3o1Q0lhRUc3T0lCa01tSy9BdGlQQXhoS2JTNVM0UDFHZnNIYnVqYldjWjBtSXFJekdvc2dSRFNyMnJjRXhxMTQ5SHMyN09jZ21KREpiaGhWRU9PVEhrZXlEc3dpSWlLYVUyVzN0bzlMMVA2ZTJ2b2NGQk9BR0FKVW1XcDhzcmpBVmFkY3A0bUk2QXpHSWdnUnpUWU5qVnM5cXRnR2FKOENOZ0NYQ003UFU4ZUhHbTc0WXVsY1Q1Q0lhQ0VUUUllRDdUMldiVzJEU0IrZ05nUXVFVGxmVGZORG8vYzFjSjBtSXFJekZvc2dSRFRyR0pKS1JEUy9NU1NWaUlnV0toWkJpT2lrWUVncUVkSDh4cEJVSWlKYWlGZ0VJYUtUNDFnaHFTN0hoUXhKSlNLYVc4Y01TYzNMdjVBaHFVUkVkQ1ppRVlTSVRwby9oNlRpY0VpcUNQd2l4bFVsaU5XQzRYdEVSSFBxenlHcCtITklxc0J2R09aVnhYbDV0UXhKSlNLaU13MkxJRVIwTW1sbzNPcXhrL1oyVWZ1Z0FyYXE1S21CdHpwTjF3Y1dmK1pmaStkNmdrUkVDNWtBV3VKSjlvaHRiMWZnSUtBMmdEeFJlU3Rjamc4TVA3Q1k2elFSRVoxUldBUWhvcE9xWTN0Z3dsYkhyMjJSbndJNkRnQUd0TndBMXJqanNnd1hNU1NWaUdndXliVWRFdzR6L21zQmZnckZlR3ByT1NCclRGdVgvWUlocVVSRWRBWmhFWVNJVHJxWHZDTkRpWmcrQWh2N0FMVlV4WVJJczhOMGZuemxtd3Q4Y3owL0lxS0ZyckJuLzVBVmp6OEMwWDFRV0JBMVZkQU1SOTdIMzF5eGlPczBFUkdkTVZnRUlhS1RMeEJJaG96eGx4VjRRa1ZTNFh2aU1RU1hPZFJ4NGFKckF2bHpPMEVpb29WTkFraU94YTJYb1hnQ2dzUHJORVF1U3poZEYrcURpN2hPRXhIUkdZRkZFQ0k2SlRvMkIwYmpkdXhKcUQ0dm9qRUJEQU9vTmxXdktmVG0xWUhoZTBSRWMyclJIUjJqRWs4OENlanpBR0tBR0FwVUE4WTFZeEd6amlHcFJFUjBKbUFSaEloT0ZRMFB4N3B0NEVFbyt2NGNrbW93SkpXSWFCNFFRSXNMckc3WStpQVVmWWREVW9VaHFVUkVkT1pnRVlTSVRwbU83WUdKWkNUNUsxdkFrRlFpb25sSXJ1MllpQ2RpdndKRFVvbUk2QXpGSWdnUm5WSzdLaU9EREVrbElwcS9LZ1k2QmhtU1NrUkVaeW9XUVlqbzFHSklLaEhSdk1hUVZDSWlPcE94Q0VKRXB4eERVb21JNWplR3BCSVIwWm1LUlJBaW1ndkhEa205amlHcFJFUnppU0dwUkVSMHBtSVJoSWpteExGQ1VnczlqbVpjZnJrNTEzTWtJbHJJcGdwSlZjZ2F3NUJtZlFKY3A0bUk2TFRESWdnUnpabDBTS3JhMko4WmttckMrUGlxbXJjemZJK0lhSTZsUTFJVjl2NTBTQ3FBWmxYbng4T2pUVnluaVlqb3RNTWlDQkhOblVBZ0dUS01sMFgxU1FCQkFCQ1ZJb0ZjWnNCNkswTlNpWWptbGdTUU5PTFd5d0k4Q1dod2NxTVVpWUhMRW1xK2RYK0FJYWxFUkhSNllSR0VpT1pVeCtZN3hwSlc4a2xWZVFGQVhBRkRCTFVPcDF4VDdDdXNCc1AzaUlqbVZPbG94NWlSaUQrcHdBdFF4QUVZcWxJcjRyakdXNnZWREVrbElxTFRDWXNnUkRUWDdLRGg3TFJnVFlidkNSUkFQZ1FYaXNnSG1tLzVpbWV1SjBoRXRKQkpBTFpuSXRGcHdIb1FnajRBS29KOGlGd282dnBBOE5FeXJ0TkVSSFRhWUJHRWlPWmM5NmFXYU1JeWQ2allQNGNpQkFDaVVtN0FXT04yeFpjd0pKV0lhRzVKUzNmVVlUdDJ3TWJQZ2RRNkRTbFhjYXd4bzk0bERFa2xJcUxUQllzZ1JEUXY3QzRkSFloWjhwQXFPaUN3RkhDSXlsS0dwQklSelE4RlMzY1AyR0k5cEtvZFVMRVU2b0RJVW9ha0VoSFI2WVJGRUNLYUh3S0JaRVRsUlZYN0NlaGsrSjRBSG9ha0VoSE5EM0l4a3VLSXZ5alFKd0I3TWlRVjZtRklLaEVSblU1WUJDR2llYU5qOHgxak5rTlNpWWptcmRJRERFa2xJcUxURzRzZ1JEU2ZNQ1NWaUdnZVkwZ3FFUkdkN2xnRUlhSjVoU0dwUkVUekcwTlNpWWpvZE1ZaUNCSE5Pd3hKSlNLYTN4aVNTa1JFcHlzV1FZaG8vamxXU0txUmVBdERVb21JNXRheFFsSnRNZC9Da0ZRaUlwcXZXQVFob25rcFowaXFnUnJUTks3T0x5MnBBc1AzaUlqbVZLNlFWRUJxTE50eGRha2ZWUXhKSlNLaStZaEZFQ0thcjFJaHFYZ1EwSU1RS0JSdWdmRzJQRk12YmY1NGdPRjdSRVJ6S0NzazlTQUFCZUNHeU52RXpMczArQldHcEJJUjBmekRJZ2dSelZ2ZG0xcWlzVmo4bHdyWklZcHdhclBQRUxtcTBPODVpeUdwUkVSelMxcTZvL0VKNDVjQzNRRk1ydE1DOFVIa3F2eUNzck1Za2twRVJQTU5peUJFTksvdGlaY09KSUR0bHRvSElMQUFPRVN3WEFRZk82djhMZVZ6UFQ4aW9vWE81OW96WUNlUzIyMExCNkJpUWRRaGtPVUoyL3hZYU1qUGRacUlpT1lWRmtHSWFIN2JlbjFpTER6eEFnUlBBaGdHQUZFVUM0d1BGK1RMK2MyMzNKSTN4ek1rSWxyUTVIb2tST012aUdFOUNiR0hBVUFGeFdySWh4Tm0wZm12ZnFXWjZ6UVJFYzBiTElJUTBielhlWDlzMU5MWXQyQmJMK0xQSWFtMVRvZDVyY05jWEEyRzd5MFVSVzYzK3dJQXhUbjJWYWIyWlNyemVEenZBT0RLY1h3ZWdNTHBMbGhRVVBCbW44LzM2WXhON3VPZWJRYS8zMzk3VVZIUnUwOWtiSTQ1MWZqOS9zOENjTXpHK1lobVEwbC81NmhweDcrbGloZUJ5WkJVZ2RRNkRNZTFQbWV5bWlHcFJFUTBYN0FJUWtTbmdZQTlOQjd2VkpXSEFCeEtoNlFDZUFkRFVoY090OXU5YXNXS0ZiOHJMQ3g4Uy9ZK244LzNOeXRXclBnZE1nb0RwYVdsNzF5eVpNbXYzVzUzWmRiaGp1WExsei9iM056OEpIRHN2SUtTa3BLL2JtaG91QjhBeXNyS3JqM25uSFBhaTR1TC8ycW1jNit0cmQxVVZsWjJ4VXpINVZKY1hMeW10cmIySHIvZmY5TnNuSTlvTmtnQWRxZ3YzZ25ZRDZuaUVGSWhxWllhNzJCSUtoRVJ6U2NzZ2hEUmFhRjNheUFTY2JpZVZvQWhxWlRtQU9BRDRETU1JMzFYUjNsNm0ybWFIZ0F3RE1PYjNwYjZTZzRORFcwdkxpNit0TDYrZnZQeFhpd2FqZjRzRm91MU56YzMvNkN1cnU3ZVdmMU9zaFFYRjE4NjFkZkV4TVFydG0ySC9INy9QeFlYRjc5L3F1TmNMdGVLa3psSG9tdzFnZDZJeTVDbndaQlVJaUtheDNnckxSR2ROdmFNdUFaV0ZTY2ZkS2k5MmpDTTVkQWpRbEo3WGtOYi8xelBrVTZkZ29LQ2M1Y3ZYLzdIekcyclY2OCttSDNjc21YTC9qZnovYzZkTzJWZ1lHQkxZV0hoaFJVVkZUZUh3K0huZzhIZ3R1bXVGNDFHZS9idTNmdnV1cnE2RFpGSTVNVWNoL2ltT1VYK01ZNkpBb2VMZTJodWJ2N3hkUE14REtPb3VibjVoMVB0SHhnWStHcFhWOWZOMDUySGFEWVZKUGNNeE8zbUIyM0R1ZG93WkRsRUhhS0hRMUo3Z0VOY3A0bUlhRTd4K1V3aU9xMDAzUEJGYjFtaDYxWkRqSnVnOEFsZzI0cDlTY3U2TFdvZGVLWjl5NWJZWE0rUlpsZHRiZTE2djkvZm1yMTkzNzU5SDdJc3l3S0EwdExTOTFWVVZOeTRiOSsrdjdZc3l3YUFvcUtpQzZxcnF6OTM0TUNCYStMeCtGQjYzUGo0K0E5U0wwdFhyVnIxditGdytObjkrL2Qvek9QeGZDRDdHajZmYjQzWDY3M3kxVmRmdlN6SDFFYkd4OGQvazM2emV2VnFQZEh2TWJ0Z3NYcjFhaDBhR25ydzBLRkQvKzlFem5mMjJXZnZaeEdFNXNySWZRMWVkZWJmS21MY0JJZ1BnSzNRZldvbmJodWFrR2VXM05yT2RacUlpT1lNN3dRaG90Tks1LzJ4MFpKVy9aYWhybmRDekxjcjRCSUR0VTR4cjAxZzhXNEFCekQ1TERxZElYcDZlcjQwTUREd2phS2lvamN1V3JUbzhZNk9qaytHUXFIZnhlUHhUZ0FSQU1qTHk2c0RnSkdSa1I4QlNBS0FhWm9PQUloRUlqK1BScVBkT1U0OXNtL2Z2Z3Npa1VndkFDeFpzdVNwcWVhUWExOGtFbm51bFZkZWVWUG10dkh4OFIzRHc4UGZ5dHhtR0VaaFhWM2Qrckd4c1orTmpJeDhOL3M4NmN5UmJKWmxqVTFNVEhTazNwWTFOVFY5SlJLSi9QSFFvVU9ISDhYSnk4dGIydFRVOUVSL2YvKzl3V0R3VVFDSnFiNEhvbE9scEw5emRMeDYwYmNzSS8rZEluZzdBSmRBYWszRGNhM1BHZHV0d0FIaE9rMUVSSE9FUlJBaU9zMEU3S0h4UUtlL0tPOGhFVFJEVUpjWmtycnNrMTk2Yk0rMno0elA5U3hwVmczRTQvR0JhRFJhQ2dDeFdLd3JIbysvTWhzblRoZEFBR0QzN3QzMW1mdnk4dkxldEhqeDR1L20yZ2NBMFdnMG5yMXRZbUppMStEZzROZXl6ck9zcnE1dWZTZ1Urbm4yUGlCM0VXVG56cDBWbUh4RXh2VDVmSitxcWFtNXh6VE5rbmc4ZmlCMWlCTkF3alROWWxVTkwxcTBhRnROVGMzbkR4NDgrTVhCd2NGdjd0eTVrM2Q2TGtDdHJhMy9uMlZadXpkdjN2d0M1ckRJSUFIWXZZRjRwN3ZXOVpDcTJTeUNPbVNFcEE1KzAvY1lQalhJZFpxSWlPWUVnMUdueGxhTVlDdEdtcCttRGtrMVB1RW9kU3htU09yQzRYSzVscnRjcnVWalkyTTdYbnJwcFJVdWw2czV2UzBTaWJ6eTBrc3ZyYkFzcThqbGNpM0haR2dxU2t0TFAxeFJVWEZ6K2l0OXJtZzAycDN4MVZkVlZYWFhGUHU2VTNlV0hGZTJnZHZ0WGc0QUV4TVQ3VFA0MW9hOVh1OWxaNTk5OWtzTkRRMFBURXhNN05xN2QrL3FucDZlejNtOTNqWG5uWGRldExHeGNWc2tFdm5UbmoxNzN0N2UzdjYrWkRJWmJHaG8rTnJLbFN0M2U3M2VqNEdQdkM1RXQ1cW0rWHhyYSt0cnJhMnRkOTl4eHgxdnVYeU8xc09wUWxJVjhnbEgyTFA0aWNzWmtrcEVSSE9ESDJ5bmtHN0Z1R2ZQbnZlRXcrR25NL2Y1Zkw2L2FXaG91SC9uenAxT3BHNjdMaTB0ZmVmaXhZdS91M3YzN3ZxczI2NGR5NWN2ZnphWlRQYTN0N2QvQUlBMTFUVkxTa3IrdXJxNituT0RnNE5mS3lzcnU3YTJ0dllMQnc0Y3VHNXNiR3pLNEx0Y2FtdHJOdzBPRGo0UUNvV2VtY200WElxTGk5ZlUxTlRjQXlDU2VRczIwVnpMRlpJSzBSV21ZVnplWEhWZWJ6dmFCdVo2am5SU0NRQmoxYXBWdTQ5M1FGOWYzMTE5ZlgxZjhQdjl0eFVXRnI0cnZYMWdZT0Rmc28vMSsvMTNGaFFVckk1RUlzOFhGQlNjMTlqWXVHMW9hR2g3S0JUNjFVd25XbHhjZkFrQVdKWjExSjBqVTZtdHJmMnkzKzl2aWNWaSt6bzZPcTRJQm9OdEFPRHorYTVyYUdpNGYySmlZazk1ZWZtMWxtVU5kSGQzZjNac2JPd25ZMk5qUHkwdkwxOVRVMU56VDMxOS9aYmg0ZUgvQWpBMHphWG96TlFFNEI4Tncvakhob2FHdnBhV2x2OFFrZTk3UEo1bkE0RkE4bFJOSW1kSUttUUZDbHlYLzhWZlZQV2k3U0RYYVNJaU91VllCRGwrRGdDbHdPVHozYWx0NVVnVk5iSmFNVTVrakJzY0docmFYbDlmLzVYNit2ck5YVjFkdHh6UHhWS3RHSzlwYm03K1FYOS8vMWU2dTd0dm03WHZKRXR4Y2ZHbFUrM0xiTVVZalVaZkJXQlBjZHlCZUR4KzNCOUdpRjYzcmRjbnhtNzQ0Z3RsaFk1dkE4YU5BSHlHb2xpQWorYTdYTDljZVhuZ2w3dmFBc2Y5b1pOT0gxVlZWWGU0M2U1dGUvZnVmUi93NStKR2V2L3ExYXUxdTd2N3p2NysvdldaMjlLdjkrelpjeEVBVkZkWGY2RzZ1dnB6MmVkM3U5MFgxdFRVM0QwOFBOdzJNVEd4dDZDZzRMeTh2THdWUzVZc2VmckFnUU0zQklQQmI4NWd1cVZlcjNlTnFsck56YzFQZG5SMC9OM3c4UENqMHczcTZlbTVKeGFMN1JrY0hId1FremtmcnJxNnVuV1ZsWlczRGcwTlBYcmd3SUZyS3lzcmI2K3JxL3R5UVVIQm03dTZ1cTZKUnFPZFEwTkRqd3dORFgybm9LQmdHVmdBb1VuVkl0SUNvR1Y4Zkh5d3RiWDFXNnI2M2VMaTRsOEhBaWQzalpUcmtSaTVMLzZDRGNlM0liZ1JnQStDWWtBKzZuWjVmcW1COGw5S1lCZlhhU0lpT3FWWUJEbE9iTVhJVm93MC8zVGVIeHN0dWtQYThzUzRTRXk1VUZXY0VOUTVSYTZkcUN6YUM2QVRETjg3N1pXV2xuNndyS3pzS28vSDh4NEFjTGxjTllPRGcxc3k4akZtVFVGQlFjMVpaNTMxUkRLWkhOaS9mLzlOMWRYVnR3SEEzcjE3MzcxNDhlTEhGaTFhOUkzQ3dzS1ZYVjFkYXpGRlVUalQ0c1dMN3pkTjA5dlIwWEZsU1VuSkI1dWFtaDV4dTkxTGUzdDcvMm1hb1VPRGc0TmJVM002cjdHeGNadmI3WDVqYjI5djRPREJnLzhNQVAzOS9ldmo4ZmpleHNiR2g1WXRXL1p5WDEvZlBZY09IZG9NSUJ5SlJIYSt6citLR1d0dGJiV1IrdTlOVlZWRWpub053TjZ3WWNNUmozcTJ0TFNNcC9hcnFpTEhhd0RRRFJzMmxHZGRyeSs5YjRweENnQWJObXhveUJxWGZpenA4REU1WG1QRGhnMHJzdWI1R3hFcHlqd21kVDBGQUJGUlZWWGJ0ais0ZWZQbXZveHhENGxJODdIK1hsTG51RzNqeG8wdlpNeHpQWUEzaUlqYXRwMCtQd0JvNWpZQUd6ZHUzUGh6SEI4ZmdKdEU1S2J4OGZIUjF0YldOaEg1M3RqWTJDKzJidDBhT2M1enpFaEpmK2RvME5mY0JzTnhFVVF1Qk9BRXBNNDJ6V3RINmlKN0ZlaGtTQ29SRVoxS0xJSmt5VzdGdUd6WnN2OENKbHN4cGxza3pxUVZZMXBIUjhlTlJVVkY3eWdwS1hsdk1CamNscXNWWTM1K2ZqTUFaTzRiSFIxOU9yWHRIVm10R0k5NUM2blA1N3ZhNS9OZG5XdGZyb0xGNjIzRmVDTGppRjYvZ0QwMHVMYkQ3L00vNGxCek1RUzFBTndDNDExNWVmWjdsMzN5UzQ4ekpQWDA1L0Y0L3RMaGNGUUVnOEdIS3lvcWJ1N3M3THd6K3pIRjJicFVZMlBqRHgwT1IvV3JyNzc2WGdDWjYyeDAzNzU5SDIxb2FQaHFSVVhGSFU2bnMzSGZ2bjFyTUZsVXpzV3NyNisvdDdTMDlHUEJZUEEvZ3NIZ0U4RmdzQzJaVEk1VVZWWGQ1WEs1R2pzNk9qNkYxQ09WVTZpb3I2Ly92TS9udTk2eXJHQjdlL3Y3eHNiR2ZwcDV3TWpJeUgvR1lyRnphbXRydDliVzF2NkwzKysvZlhCdzhQNWdNUGhnUm1lWlV5WDF1VjRnSW9jengwU09pQ1k1cW5DVVVWZzQ0dGpNMStsUC8xbXFUbkRjV1ZOL0M4ZTBFcWs3UWpObFg5czBUVmZXL2pjQU9QZFk4MHk5THNrNjlma0FMa29WZFk0YVl4aVRmOFdxK2kyY0FGVTFBVlNxYWtVeW1UeHArUndTZ0gxdzNYaUhNNi8wRVJ1eUdFaXQweUx2RW5HK2QvQkx2c2Z4R1lha0VoSFJxY01pU0JhMllnVEFWb3gwR2puMHlQcUk1NVl2L2JUSU5DOHlGQjhDVUFoUm55RzR5bGxtL0FHWFg3NExiVzFUWnZIUS9OZlYxWFVyQU12dGRsK1FHV1NhVmwxZGZYZDFkZlhkbWR2cTZ1clcxZFhWclp2QlpZcVdMVnYybE52dFByZXJxK3ZXS1RLVjdNN096aHRTaFl6L3UzVHAwbWYyN3QxN0dZREJ6SVB5OC9NWE5UUTBiQ3NxS3JwNGZIejg1eDBkSFo5TTdkS3VycTZiYmR1ZThQdjlyUTZIbzZ5OXZmMmpPYTVUWFZOVGMxdGxaZVZOaG1FVUpSS0pnMzE5ZlFFUjhaU1VsT1E2SGdNREE5c1NpY1JnZVhuNW1xcXFxbitxcXFxNkt4S0ovS21ycSt1NmNEajhQelA0ZXpoaEd6WnN5UDRnTFlGQVFBQmd4NDRkeHRLbFMzTUd0YWFMSUpGSVJDWW1Kc1RuOHlFYWpVb3NGaE92MTR0WUxEYlZPSDhpa1JBQVNDUVNVbGhZaUVRaUljbGtVcHhPcHdCQU1wazhhcXlJTExZczYvQitoOE1oNmZjT2grT0lQelBadHYwMkVYSFl0aTBBWUpxbXBMYUxZUmlIdDNWMGRQUmxqYnRLUkFyVDR3ekRFTnUySlhPOHcrSEE2T2pvRVhlU1dwYlZhaGlHVjFVbGZVem1uK25YeVdReTE5MmlVeGtCOERTQTUxVDFrVTJiTnZYTVlPd0o4OTk1S0JMOGl1ZW5odHU0Q01DSFJGQm9BRDZvWEdWNlBIOTQ0dkxCWFZlMFRaMlpSa1JFTkp0WUJEa2FXekd5RlNNZGgvblNpaEdBdHNkS0Q3M0JHZG91d1BsaXlGS29PRlhrYk1NMnJtaXVPdTllaHFTZTlvNzU0YWkvdi8vZS92Nyt3K3ZkcWxXcmR2ZjM5Mys1djcvL3djeHR4emlGYytuU3BUOHBMQ3g4KzZGRGh6WU9EQXhzT2RiMWVudDdQNnVxWVovUGQzTitmbjd4eE1URTRTS0kwK2tzWDdaczJmT21hWllPRGc1K3ZiT3o4MllBUjZ6ZlBUMDlhMFhFV1ZsWmVYTkpTY2s3czgvZjFOUzAyZXYxWGhFS2hYNnZxbUdQeDNOSlEwUERVZXY1VlBidDIvY1J2OTkvcTJFWTVlRncrS1hqSFhjU2FDQVFPUHdZekk0ZE8zSWV0SDc5K25ET0hkTll2Mzc5Y1hYbnlUSHVoTzVlM0x4NTh3bmxYbTNhdEdrbVJZck02ODNXSTAxREFINW0yL2Ezd3VId2o3WnUzWHJLZjRFaGdHcGUrNkZSYStsMjI1VHpCY1pTQlp5QWNiYmhjbDN4RjM5UmRTOURVb21JNkZSaEVXUUdVaTBXa2RtS01iMHYzWW9SUUpITDVWb2VqOGNIQUF5VmxwWisyT2wwMXFhUFMzY2h5THBieEd4c2JEeWlGZU9KenZGMXRHSzh2THE2K3ZQNStmbkxRNkhRcjNwNmVtNE9oOE12ZXIzZU5Zc1dMZG9lREFZZlBuRGd3Q2YzN05uejl1TGk0a3RyYW1ydWFXaG8rSnJmNzEvYjI5dDdWK3FPRkQ3VHU3RGNhcHJtQmEydHJmc0JQR2JiOWxQZDNkM1B0YzNGWFJkYnIwOVluOXI0dkhqbFNSTjZBeURsQmxBaUJrTlNGd0xMc2dhemk5WHhlSHhnQmdYc3hORFEwTlpJSlBLbm5wNmUxdWtQQi9yNityN1ExOWYzQUk1OFpBYUpSR0tvdTd2N0RzdXloa2RHUnI0LzFmanU3dTdiUjBaR3ZwMnIyOHpCZ3dmWDl2ZjNmejBjRGo5ZFYxZTMyZVB4WEpJcVZoOVRRMFBERjN3KzMvVWpJeVBmR1JrWitRNG0yN09mc2s0Z05LLzBxdXBQUk9UeHpzN09aK1prWGM0aTF5TXgrbzNJODZZV1BxbUtHeUFvQjFEQ2tGUWlJanJWV0FRNVBtekZ5RmFNTkxWNTBZcHgxemZIUmxiY1d2aEV2c3Q4cDRneUpKV21sWm5kTURRMDlEQ0FoMmQ0aXB5L3VSNGFHdHArSEdOMXFqVStHbzEyQWVqSzJqeVk2OWhNdG0xUFpHMktIY2M4Nk16eXVHRVkvN0J1M2JyZllCNnVkOFhkM1NPSC9HYzlrZTl3dmhOZ1NDb1JFYzBORmtHbXdWYU04N29Wb3dCQUlCQ1FYYnQyeWNxVks2VzN0MWVHaDRlbHFxcEt4c2ZIWmZ2MjdVZDhLTGp1dXVzS290R28rUDErUkNJUktTb3FrbWcwS2dCUVVGQWc2V2ZQTjIvZVBKSTU3cFpiYnFrQWdMeThQRG5XTStqWnoxZTN0TFRVVzVZbDZlZkxMY3VTWkRJcCtmbjVSN3hldDI3ZGE1bmpicjMxMWlWT3A5TzBMRXNzeXhLWHk0WDBNK1RwWjlkdDI1Wm9OTG83ODlibTIyKy9mWVZwbWdYcC9lbm4xTlBQanp1ZFR0aTJMWWxFNHVVdFc3YU1wY2V0WGJ0MmxZaVVaRDVubm42dHFvZmZUMHhNN0w3dnZ2dU82b3FVNGFoV2pDTHlYQ0tSK05HOTk5NTdhUHIvU1YrUGdCMGNYcnZmNy9NLzRqQVpra3JIVmxsWmVXTkZSY1h0QUZCVFUvUFB2YjI5ZDJOdTdwb29BZ0FSbWJiVERORjBObXpZY08vMFI4MmR5WkRVMEg2amxDR3BSRVEwZDFnRXljSldqS2ROSzhiRGhhYng4WEUwTkRSZ2ZId2NIbzhISG84SEFGQmVYbTRET0NLb3orUHhoRDBlRDFRVmJyY2JsbVhCNVpyOFpYQXltWVJwbXVsdUFrYm1PSmZMMVE4QXFncUhZL0kvbTFSaEFLWnBUamxPUkRyVHh3UElQQmFHWVNCVjNBQlNCWjAwaDhQeDN3QkswOGNEazUwQTB1UFM3ejBlenlJQUJ6TE8vKzlJZFNGSUg1ZCtuUjR2SW5BNEhCY0IrR1Y2djZwdVVkV0wwc2VtNXBUWmZRQWlndno4L0t0eC9MOHQ5d0c0S2ZWM2RrcGFNVElrOVl6bEJSQjJ1OTBOQUNBaVIveHZPTk5nMUxxNnVuc3JLeXR2SFI0ZWJoc2ZIMyttb2FIaFBxL1grN2ZCWVBEeFNDVHlnbVZaQXlLU1NDYVQ5c2pJeUZNakl5TlB1ZDN1Q3gwT2g1SHFxT0V3RE1OcG1xWXJIbzhmQ0lmRC81dnJPbE1vVzd4NDhkZVR5V1JRVlVNRkJRWG5BY0IwblZ4OFB0K25wenR4Zm43K09UT1lCOUdjWUVncUVSSE5OUlpCc3JBVjQrblJpbEZWTFJIUjFHc0ZnTlQ3OU5kVXJSRkRxUS8wbWpVdTNkdFIwKyt6OUtjT1QrL1g5SG15WG1jN2tEM0g5SFV5cjVrOVNFVDJBUEJrSHBNOVh3Q2EvZGlUcXU0R2tNeHgvaVBtS3lKak9OS0xxbXFteDRtSTJyYWRhNzdIdWd0a1NxZXFGU01Za25wR2FtaG8yT2p6K2E0QkFOdTJJNkZRNklpd3oreGcxRnd5SDJjVUVXTjBkUFJIKy9mdi8xc0F5WEE0L0h4MWRmWG5LaXNyMTVxbW1UK1R1YlczdDc4ZndFeUtJRUdQeDNPeGFacGVZSEl0R3hzYisxbC9mLzh4Ny9xYnFyTVgwZW1HSWFsRVJEVFgyTlhqYUNaU3JSaFhyRmp4dXoxNzlyd25YUVRKZk14bE90bVB6YVFmaDBsMVVpbGF0bXpaRHdvTEM5L1YxZFYxYTdvVFFkWXhBSUNhbXBvdlZsVlYvZDlRS1BUN3pGYU1xMWV2MW9HQmdhOE9EQXlzejJ6RitPcXJyMzRBd09GSFFHcHJhOWY3L2Y3V3NiR3hIN1MzdDM5MDllclZFd01EQTEvdDZ1cEt0NW5NMllveGtVZ2M4L0dXMHRMU0Q1YVhsNi9CNUw4aFBkV3RHR251dGJhMi9nN0FCY2M0WkFUQTB5TFNOamc0K0ovWmp5YWRUQ3MvdGJITTRaWGIweUdwQXRnS3RNZlZ1a1U3UXd4SlBjMFVGUlZkWEZ4Y2ZKRmxXYkZRS1BURGNEajhRbnBmVTFQVG84UER3MjNIQ2lITmNWd2xnSERxSzVOWlVGRGdUeWFUWG9mRDRRTGdVRlVEUjk3aFpXT3lrSmdVa1dRNEhINFJxY0pyWVdIaHViWnREMFNqMGVOdE8ycW16emZWQVdWbFpaL3llcjJYdmZiYWF4K2E3bVF6T1pab3JvMStvNjRNV25pN3draUhwTnFBdGlOcDNWSnkwTVdRVkNJaU9tbDRKOGpSMklyeDlHekZTUFBEbkxkaUJLWUlTUVhxWElaeFZhd21mdzhtUTFMcE5CRUtoWDRSQ29WK2tXdmYvdjM3MXh6UE9iS09tNnExcXBWcVpkNGJqOC84ODljSkZJR252ZVUvR0F4KzgzaXpvV1p5TE5GY215b2tWVXpqcXVIcUtOZHBJaUk2YVZnRW1TRzJZcHpFVm95VVlkNjFZcHdxSkJXS2k1MW0zcnY5YTllMUhWcC9aL1pkQUVSRWRJcGtoNlFLVUt1QTI0WmNMQTd6M2Zxd3YwMnVPc1IxbW9pSVpoMkxJS2NJV3pIU0dXaGV0Mkk4SEpMcU1DNHhGQjhFcEFDQ0NsUDA2aXJMK3VNaEJIWURBWGJrSUNLYUkvNDdEMFdDWC9mODFGUzV4QmI1b0FBRklrWUZiTGs2Tk9INW93WU83WmJBOU1Id1JFUkVNMkZNZndpOVh0bXRHREYzeFNlMllxUlpzMkhEaG52WHJWdjNhOHpEQWtpS3RoK005bXZTMnE2cVhRTFlVSEdxSWVmQWNGMnh0QlZsY3oxQklxS0ZUQUE5Mk5QZWI5bko3YXJhaGNsY0VLY0l6a25DY2NWNGRRM1hhU0lpbW5XOEUrUm9iTVhJVm94MHBtZ0x4S1BYQlhZV2xoUi9UNEcvaDZKTUZLVUc4TkY4S2ZubHlzc0R2MkZJS2hIUjNGa1pRTHgzZldSblFVbng5d0Q4UFlBeUJVcGhHQisxMWZOTERlQTNFZ0RYYVNJaW1qVXNnbVJoSzBhMllxUXp5OTdoWGNNcjh5NTQzSmtuN3pCRTM2SXFUaEZwY0VDdnRlczlyK0xoeTBEcUFBQWdBRWxFUVZUb3g4R0lpT2dVcXY1RDcvRElKVVdQdzVCM2lHRzhCWUJUb0EwS1hCdHRPT3RWNERXdTAwUkVOR3ZZSWpjTFd6R3lGU09kZVNwdURCUlZ1VXYrMW1IZ0xsSFVRcUJRN2JOdCtjYytJOG1RVkNLaU9kYi8xWW9pbDh2N3Q0QnhGMFJxQWFpcTlzR3cvckhVT2NhUVZDSWltalVzZ2hEUlFpQ3JXamJVT1Uxam5haCtZRElrVlJOaTQ5bWtIYi81aFUwVERFa2xJcHBEQ2tqd3EyZlZPVnlPZGJZWUh4Q2dBSkFFVko4MU5YRnpVVzg3UTFLSmlHaFdNQmlWaUJZQ2ZhbHIvSkNkMUcwTVNTVWltbjhFMElNRHJ4MVMyOXJHa0ZRaUlqcVpXQVFob29XaExSQ1Boc2Qyd3BEdnFXQUVBREpDVXQrdzh2S0FhN3BURUJIUnliTXlnSGhrUExMVEFMNEhUSzdUaDBOU0RjOGJOQUN1MDBSRTlMcXhDRUpFQzhiZTRWM0Q4UWw5M0Zic2htaENBU01ka2lyMUh2OWN6NCtJYUtHci9rUHZzRnIyNDJyYnV3RWtBQmdaSWFsY3A0bUk2SFZqRVlTSUZvNjJOcXZmR24vTlVqeWlrSDRBZ0tBQXdNVU9HSmY0MTY0cm5Oc0pFaEV0Yk5JR0syRU52eWFpajBDMVA3VzVBSkNMWTJwY29nLzd1VTRURWRIcndpSUlFUzBvQS9jRndxcjJqd0g4RnRBSUZBSkJoU2w2ZFkxS0l4RGd1a2hFTkljcWJob0lXM0hyeHdMOXJRSVJBQ0ppVklqdHVEb1V5V3ZVQUg5K0pTS2lFOGYvRXlHaWhXYnFrRlExUDdMOEpwZDNyaWRJUkxTUVRSV1NDc0U1dGxuNGtYRmZMZGRwSWlJNllTeUNFTkhDa3hHU2FrTkhnY21RVkFpdWRCYmtyenIvdWdlY2N6MUZJcUtGTERNa1ZSV2pBQUJGcVExY0tTNzNLbjBBWEtlSmlPaUVzQWhDUkF0U09pUVZ3QjRBeWNtUVZEU2FhbDg5bWpmQzhEMGlvam1XRGtrVndSNG9raEFZQUJvdGNWd2ROV3E1VGhNUjBRbGhFWVNJRnFhMk5ndlcrR3RxNjJNQUJnQUFnZ0lEeHY4cGNwbnY4bjlpTGNQM2lJam1rTFRCS3JXR1g3UFZla3hsY3AwV1FRRkUvay9DS0hyWHdYVU1TU1Vpb3BsakVZU0lGcXhkOXdYQ0NTdnhsRUtmQlJDZERFbVZTZ1BHdGI3S0tvYWtFaEhOdFpzR3dyQ1RUNG5LczZxSUFoQUJLbTNGdFU0UFExS0ppR2ptK0g4Y1JMU1FLYndUQnhPMlBtUXJVaUdwY01IQUcxME1TU1VpbW5NQ3FOZTc3MkFpYVQ4a01obVNxb0RMZ1BGR0IwTlNpWWpvQkxBSVFrUUwycTVBSUQ2UmlQMUJvVCt3Z1ZSSXFuZ1pra3BFTkQvSUZZZ25FOGsvcU9JSFNLM1RxdkF5SkpXSWlFNEVpeUJFdE9DMUgzdyttTFNTajRJaHFmTmRrZHZ0dmdCQWNZNTlsYWw5bWNvOEhzODdBTGh5SEo4SFlObzhnWUtDZ2pmN2ZMNVBaMnh5SC9kc00vajkvdHVMaW9yZWZTSmpjOHlweHUvM2Z4YUFZemJPUjNRNnFQcDFleEJxVGE3VERFa2xJcUxYZ1VVUUlxSzJOZ3Z4U0x2YU5rTlM1ekczMjcxcXhZb1Z2eXNzTEh4TDlqNmZ6L2MzSzFhcytCMHlDZ09scGFYdlhMSmt5YS9kYm5kbDF1R081Y3VYUDl2YzNQd2tBUE5ZMXl3cEtmbnJob2FHK3dHZ3JLenMyblBPT2FlOXVMajRyMlk2OTlyYTJrMWxaV1ZYekhSY0xzWEZ4V3RxYTJ2djhmdjlOODNHK1loT0I5SUdxelF4MHM2UVZDSWllcjFZQkNFaUFrTlNUMU1PQUQ0QVBzTXcwaCtBeXRQYlROUDBBSUJoR043MHR0UlhjbWhvYUh0eGNmR2w5ZlgxbTQvM1l0Rm85R2V4V0t5OXVibjVCM1YxZGZmTzZuZVNwYmk0K05LcHZpWW1KbDZ4YlR2azkvdi9zYmk0K1AxVEhlZHl1VmFjekRrU25YSU1TU1Vpb2xuQVcybUppQ1pOaHFTT09SOXlpSnhqQ3BvMUhaSnFtUjlaZnBQcnZsZStpcUc1bmlUOVdVRkJ3Ym5MbHkvL1krYTIxYXRYSDh3K2J0bXlaZitiK1g3bnpwMHlNREN3cGJDdzhNS0tpb3FidytIdzg4RmdjTnQwMTR0R296MTc5KzU5ZDExZDNZWklKUEppamtOODA1d2kveGpIUkFHRTAyK2FtNXQvUE4xOERNTW9hbTV1L3VGVSt3Y0dCcjdhMWRWMTgzVG5JVHBkQ0tEcTNYZHdjR2o1UTA0bnpnR2tPUjJTYWt5R3BONEg5SENkSmlLaVk1SzVuZ0FSMFh6U2ZNczlGWVd1L004WUl0Y0s0QlhBdGhXdkpBMjl5VFZhK094elc2OVB6UFVjRjVyYTJ0cjFmcisvTlh2N3ZuMzdQbVJabGdVQXBhV2w3NnVvcUxoeDM3NTlmMjFabGcwQVJVVkZGMVJYVjMvdXdJRUQxOFRqOGNNZmpNYkh4MytRZWxtNmF0V3EvdzJIdzgvdTM3Ly9ZeDZQNXdQWjEvRDVmR3U4WHUrVnI3NzY2bVU1cGpZeVBqNyttL1NiMWF0WDY0bCtqOWtGaTlXclYrdlEwTkNEaHc0ZCtuOG5jcjZ6eno1N1A0c2dkS2JxKzBwelJiN2I4UmtSdVJhQUZ3cGJnVmVnaVp0S3RmMVp1UjVjcDRtSWFFcThFNFNJS0VQN3dlZURLMnZmL0tqTDRYd2JnRGNwNEJDZzBRRlpNMTRZYmdmUU05ZHpYR2g2ZW5xK05EQXc4STJpb3FJM0xscTA2UEdPam81UGhrS2gzOFhqOFU0QUVRREl5OHVyQTRDUmtaRWZBVWdDZ0dtYURnQ0lSQ0kvajBhajNUbE9QYkp2Mzc0TElwRklMd0FzV2JMa3Fhbm1rR3RmSkJKNTdwVlhYbmxUNXJieDhmRWR3OFBEMzhyY1poaEdZVjFkM2ZxeHNiR2ZqWXlNZkRmN1BPbk1rV3lXWlkxTlRFeDBwTjZXTlRVMWZTVVNpZnp4MEtGRGh4L0Z5Y3ZMVzlyVTFQUkVmMy8vdmNGZzhGR0FILzdvekZmMTYvYmd5SHVXUEFweHZBMktOMEhnZ0tKUkRITk4xRm5YRG5Sem5TWWlvaW14Q0VKRWxLbXR6Y0tOSzl2VjhEd21odEVJb0JvR0NnUjRiNkZoUDFOelhlRDd2VnNEa2JtZTVnSXpFSS9IQjZMUmFDa0F4R0t4cm5nOC9zcHNuRGhkQUFHQTNidDMxMmZ1eTh2TGU5UGl4WXUvbTJzZkFFU2owWGoydG9tSmlWMkRnNE5meXpyUHNycTZ1dldoVU9qbjJmdUEzRVdRblR0M1ZtRHlFUm5UNS9OOXFxYW01aDdUTkV2aThmaUIxQ0ZPQUFuVE5JdFZOYnhvMGFKdE5UVTFuejk0OE9BWEJ3Y0h2N2x6NTA3ZTZVbXpxcVdsNVVyYnRsL2R2SG56L3dDdzUzSXUwZ1pMTHhwcEgzWjVIeE14R3dXb0ZrRUJZTHgzSXU1K3B2ZUJtdS9YWE4vTGRacUlpSEppZ05UVTJJb1JiTVZJQzlPdSt3TGhXRXgvQUZ2L0FPaUVUSzZWZmpXTWF6eHVkejM0S09HODRYSzVscnRjcnVWalkyTTdYbnJwcFJVdWw2czV2UzBTaWJ6eTBrc3ZyYkFzcThqbGNpM0haR2dxU2t0TFAxeFJVWEZ6K2l0OXJtZzAycDN4MVZkVlZYWFhGUHU2VTNlVzlCL1BITjF1OTNJQW1KaVlhSi9CdHpiczlYb3ZPL3ZzczE5cWFHaDRZR0ppWXRmZXZYdFg5L1QwZk03cjlhNDU3N3p6b28yTmpkc2lrY2lmOXV6WjgvYjI5dmIzSlpQSllFTkR3OWRXcmx5NTIrdjFmZ3o4ZDBxelNFUnVORTN6dWRiVzFnTXRMUzMvMnRMUzhyYkxMNy84bU4yVlRxcWJCc0lTUy93QU52NmdpZ2xBREFCK1E4eHJuRlpldmZMZlB4RVJUWUZGa0Ntd0ZlTWt0bUtrQlVvVHhvR0RTZWgyUUhvVnNLRndHWXJWYm9mekl5dnZDSGpuZW9JRUFXQ3VXclZxOS9GK1ZWZFgzd0FBZnIvL3R2cjYraTNwcjF3bjkvdjlkeFlVRkt5T1JDTFBBMEJqWStPMm9xS2lkNTdJUkl1TGl5OEJBTXV5anJwelpDcTF0YlZmYm1wcStnOFJjWFYwZEZ5eGQrL2VkNFhENFJkOVB0OTFUVTFORDhWaXNiM2w1ZVhYMXRYVmZRbUFNVFkyOXBOWFhubmwvQU1IRGx4bEdFWis2dnNxTzVINUVrMmpUa1ErSXlLL3JhK3Y3MmxwYWRsMCsrMjNYM1RkZGRjNVQrVWtCTkJCZS85QndONHVpbDZvMmdCY1VGbnRkT1o5Wk93YmRWeW5pWWdvSnhaQmpoOWJNYklWSXkwZzdWdTJ4TUlSKy9jMjhCU0FVUUFRUWFraHVOSmhGSjE5L2luK2daLytyS3FxNm81VnExWWRTTjNkZ2I2K3ZydDI3dHdwNlM4QTZPN3V2ak43VzlxZVBYc3Uycmx6cC9UMTlmMUxydk83M2U0TGEycHE3aDRlSG00YkhSMzlFUURrNWVXdFdMSmt5ZE5sWldXZm11RjBTNzFlN3hwVnRacWJtNS8wZXIxcmptZFFUMC9QUFoyZG5kZnYyclZyZVRBWWJBUGdxcXVydTdlaG9lR0JvYUdoZjMvNTVaZmYwTjNkZldkbFplV2RTNWN1ZmRydGRqY0EwS0dob1VkZWZQSEY1ZTN0N1g4SnNKc1JuVndpNGhlUjIwM1QvSVhINHpuWTB0SnlYMnRyNjN1dXVlYWEvRk54L1NXM0loYXprcjhYK2ZNNkRVZ3BnQ3N0cStEc1B6MEFydE5FUkhRVVB1SnduTmlLa2EwWWFlRjViZWkvaDg1eHZmVlJjUnB2RTVIelZNVWgwQ1lUNWlmR0N4djJneUdwcDBScGFla0h5OHJLcnZKNFBPOEJBSmZMVlRNNE9MZ2xJeDlqMWhRVUZOU2NkZFpaVHlTVHlZSDkrL2ZmVkYxZGZSc0E3TjI3OTkyTEZ5OStiTkdpUmQ4b0xDeGMyZFhWdFJiSGtZdXdlUEhpKzAzVDlIWjBkRnhaVWxMeXdhYW1wa2ZjYnZmUzN0N2VmNXBtNk5EZzRPRFcxSnpPYTJ4czNPWjJ1OS9ZMjlzYk9Ianc0RDhEUUg5Ly8vcDRQTDYzc2JIeG9XWExscjNjMTlkM3o2RkRoellEQ0VjaWtaMnY4NjlpUmxwYlcyMEFVRldJeUZGZGNsUlZBV0RqeG8xSC9OelIwdEtTVEwvT01TNDlEQnMzYmp6aVVkUFcxdFpZam1rY2RkME5HelljOFdHOHBhWGw4UC8zcGErWHZrYm1PVFp1M09qSkdqZCtqSGtlbm1nb0ZHcll1blhyYU1hNERoSEo5Vmp0a1JkVlBYZmp4bzFkNmZldHJhM1BBNmpQZFd6bUhHemIvdERHalJ1ZnpiamVkMFRrd3FtdWwvNWVSZVRhRFJzMi9EVGpldHNBL09XeHhxbXFUK1NZVDVpVWljZ05BRzRvTHk4ZmIyMXQvWTV0Mjk4MlRmT1o5ZXZYaDQ4MThQWHdsNzgyTkRwNjFxT0E0MjJBY1I1RUhZQTB3VEErc1NoWnQ1OGhxVVJFbEkxRmtDelpyUmlYTFZ2Mlg4QmtLOFowaThTWnRHSk02K2pvdUxHb3FPZ2RKU1VsN3cwR2c5dHl0V0xNejg5dkJvRE1mYU9qbzArbnRyMGpxeFhqd0xHK0Q1L1BkN1hQNTdzNjE3NWNCWXZYMjRyeFJNWVJ6WHR0YlZiOEg5NjAxMkhMWXdEcUFhbFNrVUlBbHhZYStUc1lrbnBxZUR5ZXYzUTRIQlhCWVBEaGlvcUttenM3Tys4TWg4TlBuNHhMTlRZMi90RGhjRlMvK3Vxcjd3V1F1YzVHOSszYjk5R0dob2F2VmxSVTNPRjBPaHYzN2R1M0JwTkY1VnpNK3ZyNmUwdExTejhXREFiL0l4Z01QaEVNQnR1U3llUklWVlhWWFM2WHE3R2pvK05UU0hXeW1VSkZmWDM5NTMwKzMvV1daUVhiMjl2Zk56WTI5dFBNQTBaR1J2NHpGb3VkVTF0YnU3VzJ0dlpmL0g3LzdZT0RnL2NIZzhFSE16ckxuQW9LQUNJQ1ZaWFVoK1hEbjVoVDc0OHFHb25JTVI4VFRaMHZWK3ZoWFBsYlIwNG94emdSS2NoMWplTVlWelRkUEFIQTZ6M3FDWXdTQUtYVHpWVkVqcmd6VjFWTFJhUjhxdU16aWhsSC9Cd25JbDRBVmRQTlUxWHpzczVYSmlJMTA0MDdYcXBxQXFnUWtZcFlMSFpTYzBQa0NsZ0QzeHpkNjdMTEg3TVY5U0tvQWxBb2tFc05oM3NIUTFLSmlDZ2JpeUJaMklvUkFGc3hFaDIyNTh1ZkNiM2g1cnVmY3VRWFhnVG9wUUp4cThDdllsempjYnQzQXRpTEhMK3BwZG5UMWRWMUt3REw3WFpma0Jsa21sWmRYWDEzZFhYMTNabmI2dXJxMXRYVjFhMmJ3V1dLbGkxYjlwVGI3VDYzcTZ2cjFsQW85RXlPWSt6T3pzNGJVb1dNLzd0MDZkSm45dTdkZXhtQXdjeUQ4dlB6RnpVME5Hd3JLaXE2ZUh4OC9PY2RIUjJmVE8zU3JxNnVtMjNibnZENy9hME9oNk9zdmIzOW96bXVVMTFUVTNOYlpXWGxUWVpoRkNVU2lZTjlmWDBCRWZHVWxKVGtPaDREQXdQYkVvbkVZSGw1K1pxcXFxcC9xcXFxdWlzU2lmeXBxNnZydW5BNC9EOHorSHM0SVJzMmJKanVnMjdPVDlFZWorZW9jYnQyN1pyMkU3Zkg0em44bUVOdmIrOVJ4dzhQRCtjOFIyZG5ad0VBMU5YVkhkNFdEb2NQSDF0VGs3c09rS3NJRW9sRWpyckdmZmZkRjhwOG4wZ2tHZ3NLQ2dRQVlySFlVY2VudDkxLy8vMmptZHREb2RDNWxtV1pBRkJjL09jYlNlTHgrT0Z6RkJjWEl5OHY3NGh4bG1WOTJPRndIQzRRSlJLSkk2NlpmbSthNW5EbWR0dTJyM0U2bmZtNXhnQkFNcGtVcDlQNUhjTXczcHE5TDhNb2dKK0x5STlzMi83dXBrMmJnc2M0ZGxiNVBqVVlHdDFTL3BUazR5SlZYQ29pYmhIMUM4eHJuRmJlVGdYMkN0ZHBJaUpLWVJIa2FHekZ5RmFNUkprMEl2MjlCZmFpN1E3RGVJTUNUVkM0REJ3T1NmM2FyazJCVS9iRC9nSmxIV3RuZjMvL3ZmMzkvWWZYdTFXclZ1M3U3Ky8vY245Ly80T1oyNDV4Q3VmU3BVdC9VbGhZK1BaRGh3NXRIQmdZeUJtV210YmIyL3RaVlEzN2ZMNmI4L1B6aXljbUpnNFhRWnhPWi9teVpjdWVOMDJ6ZEhCdzhPdWRuWjAzQXpoaS9lN3A2VmtySXM3S3lzcWJTMHBLamdwYmJXcHEydXoxZXE4SWhVSy9WOVd3eCtPNXBLR2g0YWoxZkNyNzl1MzdpTi92djlVd2pQSndPUHpTOFk0N3lYSitBQTBFQWlmVWFqVVFDQnpyRHBvcHRiVzFUWFhuempHZDZPTWNXN1pzR1R1UmNabVAxTXpFNXMyYlIwN1d1RnlQSUtscVVFUitadHYyRTkzZDNUOXNhMnM3N3ZEZjJTU0FxdTdwSGRGbDJ3WEdHd0J0Z2h3Umt2bzEvRjAzMTJraUlnTEFJc2lNcEVQNE1sc3hwdmVsV3pFQ0tISzVYTXZqOGZnQWdLSFMwdElQTzUzTzJ2UnhBd01EL3daTXRsdk1PTFhaMk5oNFJDdkdFNTNqNjJqRmVIbDFkZlhuOC9Qemw0ZENvVi8xOVBUY0hBNkhYL1I2dldzV0xWcTBQUmdNUG56Z3dJRlA3dG16NSszRnhjV1gxdFRVM05QUTBQQTF2OSsvdHJlMzk2N1VIU244TFF2TmlwYVdsaXR0MjM1MTgrYk4vNFBqeUYwNDJkcTNiSW1kOWVsMXYvY1VHVThad05VQVNrVlFhZ0JYT295aVg1MS8zWFYvZUc3clZ0NFpOVWNzeXhyTUxsYkg0L0dCR1JTd0UwTkRRMXNqa2NpZmVucDZXcWMvSE9qcjYvdENYMS9mQXpqeWtSa2tFb21oN3U3dU95ekxHaDRaR2ZuK1ZPTzd1N3R2SHhrWitYWW9GUHBWOXI2REJ3K3U3ZS92LzNvNEhINjZycTV1czhmanVTUlZyRDZtaG9hR0wvaDh2dXRIUmthK016SXk4aDFNdG1jL29XSUIwVEgwMjdiOVV4RjVmT2ZPblQvYnNXUEh2UGczSnJjaWR2RCs1Ty9kRHRkVG1scW5KME5TOVVyTEt2alZueDdBSDk1MFBlOWdKU0lpRmtHT2x3QXdwdmxONGhINit2cnU2dXZyKzRMZjc3K3RzTER3WGVudDZTSklwc3hXak9rQXZLR2hvZTI1ZmppZXpvbTJZdlQ3L1MyeFdHeGZSMGZIRmFsT0JQRDVmTmMxTkRUY1B6RXhzYWU4dlB4YXk3SUd1cnU3UHpzMk52YVRzYkd4bjVhWGw2K3BxYW01cDc2K2Zzdnc4UEIvZ1owSWFKYUl5STJtYWI2enRiVzFXMVVmQS9DZlhWMWRmMmhyYXp2bUhRRW5FME5Tenp5bWFSNStiR0JvYU9oaEFBL1A4QlE1czVtR2hvYTJIOGRZbldxTmowYWpYUUM2c2pZUDVqbzJrMjNiRTFtYmNvV0hFcDJvSnkzTCtueHBhZW12VHZRT25wT05JYWxFUkhRODJDSjNHbXpGeUZhTU5LZnFST1F6SXZMYit2cjZucGFXbGsyMzMzNzdSZGZOUlh2YXRqWXJubS90aGVoamdBNENnSW9VUW5CcG9aSC96cHJyQWtjRkx0TDhWVmxaZVdORlJjWHRBRkJUVS9QUG1MdGZDaFFCZ0lqTXl3K1ZSR2tiTm16WXNubno1aDN6dFFBQ1RJYWtKb3pSdlFJOHBucTRjSmdPU1gxbjd3TTFYS2VKaUloM2dtUmpLOGI1MzRxUkZpWVI4UU80M1RUTjJ6MGVUN0NscGVWYkl2TGRvYUdoWDIvZnZqMzdOK0FueGJGQ1VvdUxQTS8xQXErQ2o0V2RERjRBNFZRQkZpSnl4QjFCTXcxR3JhdXJ1N2V5c3ZMVzRlSGh0dkh4OFdjYUdocnU4M3E5ZnhzTUJoK1BSQ0l2V0pZMUlDS0paREpwajR5TVBEVXlNdktVMisyKzBPRndHS211Rnc3RE1KeW1hYnJpOGZpQmNEajh2N211TTRXeXhZc1hmejJaVEFaVk5WUlFVSEFlQUV6WHljWG44MzE2dWhQbjUrZWZNNE41RUoyUmpoV1NXaVQ1enlud0trTlNpWWdXTmhaQnNyQVY0L3h2eGRqUzBtS0xpT3BrSDBiRjVBOHpDa3kyTmt6djI3aHg0eEcvOFdsdGJSM0pQQ1pqbkdhTnE4b2ExNVUrQnNCVTE5WU5HellzeXhyM1l1cGx1b0ExMWZYZW5EWHUyY3hqUkVSdDJ6NDhQajNPTUl6TE1zUDZXbHRidjYycTZlL1pudXA3ak1majEyM1pzdVh3djdlV2xwWi9FeEZmNW5HWjg4NzRmcis0WWNPR3d4a0xkOXh4eDUyR1lTd0ZZR2QrUCtrLzAzTzFiZnZybXpadFN2OWRZTzNhdGRmYXRyMHErM2dSeVR6UG9tbGFNcGFKeUEwQWJpZ3ZMeDl2YlczOWptM2IzelpOODVrVERUQThUcmxEVWtYT2N4djY0WE51K09MV0YrLy83UEQwcDZHWmFHaG8yT2p6K2E0QkFOdTJJNkZRNklpd3oreGcxRnd5SDJjVUVXTjBkUFJIKy9mdi8xc0F5WEE0L0h4MWRmWG5LaXNyMTVxbW1UK1R1YlczdDc4ZndFeUtJRUdQeDNPeGFacGVBRkJWYTJ4czdHZjkvZjNmUE5hZ3FUcDdFZEdScGd4SmhaeG53L25oMGZzYXR1TEdUcTdUUkVRTEdJc2dXZGlLY2Y2M1lreDlTQllST2VweHJ2UUg1eWx1TFMvSlBDYlhPT1QrN1ZCZDlyanNjMlFVRGpLdHlySHRlSzUzWWVZeHFuclU5VVRrY0Z2bWpEbThXMFJLcDd1bXkrVzZQV3ZYWHdGWWxHTnVSNHkxYlhzYmdNTkZFTU13M2cvZ29zd3gyWCttWGo4TjRIQVJSRlUvS0NJZk90YTRhUW9nUjBqOVpyNUNSQ3Bpc2RoMGJUcGZ0NXdocVZBdmdDdFI2UGdWQW9FLzRnUTdWMUJ1d1dEdzRXUXkyV2xaVml3VUN2MFFHVVhqNGVIaHgwS2gwQyttQzBFZEhoNStMQnFOdmdnQVhWMWRkd01JSTFVWWprYWpmOWkzYjk4SEFaZ0ZCUVgrWkRMcFRiVVpkYWlxZ1NNZkhiVXhXZUJMaWtneUhBNGYvcmU5WjgrZTgyemJ6cGtUa3VtRkYxNG9TNzAwMCtlYjZ0aElKUExpNk9qbzkxOTc3YlVQVFhmZXNyS3lUM205M3N1bU80N29USmN6SkZYRkM1RXJqVHpYcnpTQVAwcUFvY0ZFUkFzVml5QkhZeXZHZWQ2S2NjT0dEWmtmZENVUUNNaXVYYnRrNWNxVjB0dmJLelUxTmRMUjBYRlVnY1EwemVKb05DcXhXRXdLQ2dva0ZvdEpmbjYrQUVCK2ZyN0U0M0ZKSkJKSGZmcTJiYnN1bVV5SzAra1V5N0xFNFhBYzhTY0FJL1ZudHBXMmJZdHBtbUpabHFSZnA4NHBobUVjZnA5SlZTL01Qc2EyYlVtL3QyMWJWRlU2T3p0RFdVUC94akFNcDIzYmd0U0hObFU5UEFhQW9hb0NvRDlyM0UycVdwZ3FMRW5tR01Nd0pMM2R0dTBqUG1TcTZqcFZmVFR6bU5UNWpjejNwbW0rbURuT3R1MXRJdkxMMURtTnpHdG1uT002QUUwNS9rN1RSZ0g4SE1CcnF2cEk1cDBtcDhKcnI0U0Q1NTVmOU84S2VidkFPRmRWSElDYzVRQStzV3pRZldBUDBEdjlXZWg0aFVLaFg0UkNvVi9rMnJkLy8vN2p5ajdLT2k3N3Y0RTBLOVhLdkRjZW4zbW56eE1vQWs4YjlCc01CcjhaREFhUGVaZklpUnhMZEtiYmZlaTE0T3FhcGY4T01kNE95TG1wa05TemJOdjVpY0h5K2dOQUY5ZHBJcUlGNnZoLzNickF1TjN1QzFhc1dQRzdQWHYydkNmOU9NenExYXMxM2ZVbGZkenExYXUxdTd2N3p2NysvdldaMjdLUHE2NnUva0oxZGZYbmR1N2NLZVhsNVZlNTNlN1YzZDNkUi94R1B2T1lIRk9xUU1adlAxZXZYcTBEQXdOZmpVUWlmNXF1RlNNQUtTb3Erb3RRS1BTcjlMaXVycTZiVTk5bnZXRVl5OUt0R0NzcksyK2JTU3ZHakxubWdaMElhSmEwdHJiK0VzQVJSVHRWRFlySXoyemJmcUs3dS91SGJXMXRNLytVT291YWJ3a1VGN3FLL3Q0VVl5MGdmZ2dVcWwycTl0b0IyL2hoOTZhV3FSNWZJeUtpVTJEb0s4M0ZodHY0ZXhGekxRQS9KbSt1N0xKaHI0Mk1oMzlZMzlMTmRacUlhQUhpblNDbkNGc3hFcDJRZnR1MmZ5b2lqKy9jdWZObk8zYnNtRGUzTDdkdkNZeXZ1dVh1NzBtZSsySkR6SGNMNEZaSUZjVDRwTWVSZkFGQU94aStSMFEwWjhwdWJSOGYvVXJ6OXpUZnVGaEUzZzBSdDBDclREVStXVnpnZWtHQmRvYWtFaEV0UEd5UmV3cXdGU1BSakQxcFdkYkZIbytuZXRPbVRWZHQzTGp4Ui9PcEFKS2lvWEdyUnhYYkFPM1R5V3dIbHdqT3oxUEhoeHB1K09LVStTeEVSSFR5Q2FERHdmWWV5N2EyUWFRUFVCc0NsNGljcjZiNW9kSDdHcmhPRXhFdFFMd1Q1R2hzeGNoV2pEVEhObXpZY015c25QbWlZM3RnWXRWdC8vSmIwNUgvWTRoOEhFQ0pBR1dHNEdNbGhZN2ZNQ1NWaUdodU5RVXdjV2h6OHJkbW9mbGpTYTNUQ3BTSm1oOFR3L1ViaHFRU0VTMDhMSUprWVN0R3RtSWttb21YWGtnTXZmRTh4OE9HNlhpcndIampaRWdxbWgwd0dKSktSRFFQdkR5eWYyaDEwZEtIYlRYZUtpSnZoS2hEUlpwVkdKSktSTFFRTVJnMVMxRlIwY1hGeGNVWHBWc3hoc1BoRjlMN21wcWFIaDBlSG02YkpvUTArN2hLVExaaURHY2RkcUt0R0JVQUNnc0x6N1Z0ZXlBYWpmWWM1N2MyYlN2R2RIdkZtYlJpUEo1amljNTBERWtsSXByZkdKSktSRVJwTElJUUViMStzdXFXdXhjNzh0ejNIZzVKVmNRVStzeUVKRy9idmU0ZkdKSktSRFNIRkpEUnJ6UXYxbnpIdmVtUVZLakdvSGhHN05odHhaL2V4NUJVSXFJRmdzR29SRVN2SDBOU2lZam1NWWFrRWhGUkdvc2dSRVN6b0dON1lNSkt4bjRMVzM4TXhSZ0FaSVNrTGtjZ3dBd21JcUk1MUJUQWhEV1IvSzJxL1dOZ2NwMU9oNlFhaG11NUJwaVZSMFMwRUxBSVFrUTBTMTU2SVRGazJjbUhGWFk3Z0tTcW1GQnBkc0Q0eElxUmtvcTVuaDhSMFVMMzhzaitJVVBzaDFXMUhVQVNvcVlhMG15YnprOUVxaHU1VGhNUkxRQXNnaEFSelpZZGdXUTRHWDNGVm4wYzBDRUFnS0JJeEhpZnk2RVhMTG9tTUtPT1VFUkVOTHN1RGlDWmpOaXZBUGJqQUlaU200c2dlRjljOGk3UUJ4ZHhuU1lpT3NPeENFSkVOSXZhdHdUR3JYajBlemJ3SEFRVEFoZ0NyVEpWcnluMDV0V0JnZFJFUkhPcTdQOW43ODdqMjdxcnZQRi96dmZlcTEzZWw5aHhuS1hPMnJRazdwWTBYUUpObVRMVFFtRnc0WUZDVTVnblRFdVRObkczL0NDREhvYW5NNFVtS1ExbHlReDBnMW1hQWpQRHdFQ25nSitTcENGTTBuUkw2elIxdk1XT04zbVZaRXU2OS96K2tKUXFyaGZaalJmWjUvMTZ1WTZsdXh5NVgxOUpSOS92T1Z0TzlsTEkramV5Y0FTTWZvQVVnRG1BMnRnVDFFcFlydE5DQ0RHalNSSkVDQ0hPcjFpUlZKaFBFL01aQml4bXNyTlNWeGlhN2NaRkQveDl4bFFIS0lRUXN4a0JuT21Obm1aWVR3TTRBN0FGd0U1RVY4Q20zOWo1ZzBWeW5SWkNpQmxNa2lCQ0NIR2UxVDdwNjQ4RytVV0w4QnVBZXdGQWdYTVZjS3N6VEV1eFhvcWtDaUhFVktMYmEvdkRrWUVYQWZ3R2pONzRyYmtBM2FwWnZQVDNVaVJWQ0NGbUxFbUNDQ0hFQkhpaklOZ2VHZUJuWUtFR1lKT1pOQkNWNlpyeDJRc3ZjK1ZOZFh4Q0NESGI1YmZWdHB2aDhETWdyZ0hEQkxIR2hETG85czllbHI5QXJ0TkNDREZEU1JKRUNDRW1nczhYN1ZPOXh4bDRsb25peGZmSXF3ZzM2YXl2bFNLcFFnZ3h0Y2lIYUUvWVBBN0dzeUNjdlU2RDZLYUlZVnNyUlZLRkVHSm1raVNJRUVKTWtOcEhmZDFoYStBNU1MOU14QU1FS0FVVVNaRlVJWVNZSGhac3JlMm1jT1E1Z0Y4R01BQ1FZcUJJaXFRS0ljVE1KVWtRSVlTWU9Cem9IR2kwZ0NmQWFKWWlxVUlJTWIwUXdCa3VzeEVXUHdGR3N4UkpGVUtJbVUrU0lFSUlNWUZpUlZLalVpUlZDQ0dtS1NtU0tvUVFzNHNrUVlRUVlvSkprZFR6eHVOME90Y0FHT3FUMllMNGZjbHl2Rjd2VlFCc1EyeHZCK0FlN1lRdWwrdXl2THk4djA2NnlabHl0RWtLQ3d2djhYZzhIeHJQdmtQRVZGeFlXTGdka0RkbVFwd3ZVaVJWQ0NGbUQwbUNDQ0hFUkpNaXFlZUYwK2xjdVh6NThwZmNidmZsZysvTHk4djd4UExseTE5Q1VtSWdLeXZybXNXTEYvL0I2WFFXRE5wY1g3WnMyY0d5c3JMbkFHZ2puVE16TS9OanBhV2wzd09Bbkp5YzJ5KzY2S0tUR1JrWmZ6SFcyT2ZPbmJzN0p5Zm5sckh1TjVTTWpLdDRQT2dBQUNBQVNVUkJWSXhiNTg2ZCsxQmhZZUdYejhmeGhCQlNKRlVJSVdZVCtSUkpDQ0VtUWUyanZtNzMxcjk3emtiMmE0bXdIaUFIQVVYRXZOSGpkYjBLb0FZQVQzR1k2VVlIa0FVQVNxbkVySTVjQUNZQWFKcm1qZCtYRGFBL2FiLzJqbzZPSitmTm0vZll2SG56SG0xb2FOaWN5c2xDb2REekF3TURHOHZLeXY2enRiWDFzY2JHeHJ2UDJ5TVpKQ01qNDRiaDd1dnY3My9Mc3F5K3dzTENyNFpDb2JjQldNTnNWeGNPaDkrY3FCaUZtR2tXYkszdDdubjhndWZZYmx3TDBIcUFIQXd1QXRURzdyRCtLZ00xSk5kcElZUkllNUlFRVVLSXljR0J6b0ZHUGMvK2hHSXNaY0o4TU5sWjBSV0dIWCt4YU5QZlAxV3o5OEh1cVE0eW5iaGNybFhMbGkzN1UvSnQ1ZVhsWndadnQzVHAwbGVUZno1NjlDaTF0Ylh0Y2J2ZGEvUHo4KzhLQkFJdisvMytINDEydmxBb2RQckVpUk1mS2lrcDJSa01CbDhiWXBQUnBzdzdSdGdtQkNDUStLR3NyT3kvUm90SEtlVXBLeXY3NVhEM3Q3VzFQZDdRMEhEWGFNY1JRc1FRd093eUc3c2oraE1nV2dyaStZZ1hTV1hTL3FMekI0dWV3cGRxNURvdGhCQnBUdHArQ1NIRUpMcnd6bS9Pc2JuMXJ4SGpNd0I1Q1loYXhDOUhMZXZPMStyL2VBejc5cGxUSGVOME0zZnUzRWNLQ3dzckI5OWVVMU56czJtYUpnQmtaV1Y5SkQ4Ly84NmFtcHFQbWFacEFZREg0MWxUVkZUMGxicTZ1bzNoY0xnanNWOXZiKzkveHYrWnRYTGx5bGNEZ2NEQlU2ZE9mZHJyOWQ0NCtCeDVlWG0zWm1kbmYrcnR0OSsrYVlqUXVucDdlL2NuZmlndkx4LzNKOFNERXhibDVlWGMwZEh4UkV0THk5ZkhjN3dWSzFhY2tpU0lFT1BUK3ZpQ09UYWI4MnZNK0F3cGVBa1VaZWFYZ2ZDZG1abnZIS05iSU5kcElZUklZeklUUkFnaEp0RWJCY0gybFg3dk00YWhyaVNGRmN6UWlXbUpCdlhabGNYckdsL0h2cGFwam5HNk9YMzY5TU50YlczLzZQRjRQckJnd1lKL3FhMnQvVUpmWDk5TDRYQzRIa0FRQU94MmV3a0FkSFYxL1FwQUZBQTBUZE1CSUJnTS9qWVVDalVPY2VpdW1wcWFOY0Znc0FrQUZpOWUvSXZoWWhqcXZtQXdlT1N0dDk2Nk5QbTIzdDdlcXM3T3puOU52azBwNVM0cEtYbWtwNmZuK2E2dXJwOFBQazZpNXNoZ3BtbjI5UGYzMThaL3pGbTRjT0Zqd1dEd1R5MHRMZDlPYkdPMzI1Y3NYTGp3MmRiVzFtLzcvZjRmQTRnTTl4aUVFS25KYjZ0dDkrZGY4QXdaeHBYRWFnVVQ2eUJhd3BieDJVRDN3a2JnbEZ5bmhSQWlqVWtTUkFnaEpwUFBGKzI3Wi9meExMYWVKYVl0QU9VVDRDWFFUUXBtMVlLTnZ1ZHJuL1QxajM2Z1dhVXRIQTYzaFVLaExBQVlHQmhvQ0lmRGI1MlBBeWNTSUFEdzVwdHZ6a3UrejI2M1g3cG8wYUtmRDNVZkFJUkNvZkRnMi9yNys5OW9iMi8vL3FEakxDMHBLWG1rcjYvdnQ0UHZBNFpPZ2h3OWVqUWZzU1V5V2w1ZTNoZUxpNHNmMGpRdE14d08xOFUzTVFCRU5FM0xZT2JBZ2dVTGZsUmNYUHkxTTJmTy9GMTdlL3NQang0OUtqTTlSVnJadG0zYnB3QTBORFEwL0hIZkZNK0lJeCtpbmJ2TjQyVFRud1dzTFFEbEErd2xoWnNpbGxaMXlyZmcrWVcrV3JsT0N5RkVtcEx1TU1PVFZveVFWb3hDVElUYVI3ZjJXR2IwT1daNkJVQ1lBVVdFdWJwQkd6UHkzRVdRcFlvcHM5bHN5MncyMjdLZW5wNnExMTkvZmJuTlppdEwzQllNQnQ5Ni9mWFhsNXVtNmJIWmJNc1FLNXFLckt5c2orZm41OStWK0VvY0t4UUtOU1o5TmMrWk0yZkhNUGMxeG1lV3RLWVNvOVBwWEFZQS9mMzlKOGZ3MERxenM3TnZXckZpeGV1bHBhVS82Ty92ZitQRWlSUGxwMCtmL2twMmR2YXRxMWV2RHMyZlAvOUh3V0R3ZjZxcnE5ZWRQSG55STlGbzFGOWFXdnI5Q3krODhNM3M3T3hQUThhUlNDTkVkQnNSSFpnM2I5N3BiZHUyN2I3bm5ucytWRkZSTWRScnFrbVIxVjNib3lMaDV4aDRCWXd3QU1WTWM0bjBqZGx6dVlqbDcwc0lJZEtXSkVHR0lhMFlZNlFWb3hBVHd2SXJvOTZFK1FRWXpTQXdBQWNJYTRub3hyTE5qM21uT3NBMFFBQzBsU3RYdnBucVYxRlIwUjBBVUZoWWVQZThlZlAySkw2R09uaGhZZUY5THBlclBCZ012Z3dBOCtmUC81SEg0N2xtUElGbVpHUmNCd0NtYWI1bjVzaHc1czZkKzgyRkN4ZitNeEhaYW10cmJ6bHg0c1MxZ1VEZ3RieTh2RTBMRnk1OGFtQmc0RVJ1YnU3dEpTVWxEd05RUFQwOXYzN3JyYmN1cWF1cis3eFN5aEYvWERuamlWZUlxVVJFaFVSMGo2WnB2NTAzYjE1TFpXWGxEN1p1M1hyRHhvMGJKN1ZGTGZsZ2Vmc2o5UXJtRXlBMEEyQWlPRUMwbHRoMm8vL0hPWEtkRmtLSU5DV2Y3cWRPV2pGS0swWWh6cHZHM2R0QzNudDJWMm02OVZ0aVZRSEFTMHk1aXRTdFRsdjRJQ29xcEVqcU1PYk1tYlBWNlhUKzZNU0pFeDhCZ09ibTVoM056YzNmU054ZlhsN09qWTJOOTdXMnRqNlNmRnZpMzlYVjFlc0JvS2lvNkJ0RlJVVmZHWHg4cDlPNXRyaTQrRzg3T3p2MzlmZjNuM0M1WEt2dGR2dnl4WXNYdjFCWFYzZUgzKy8vNFJqQ3pjck96cjZWbWMyeXNyTG5hbXRyLzZxenMvUEhvKzEwK3ZUcGh3WUdCcXJiMjl1ZlFLek9oNjJrcE9SYkJRVUZXem82T241Y1YxZDNlMEZCd1QwbEpTWGZkTGxjbHpVME5Hd01oVUwxSFIwZHozUjBkUHpNNVhJdEJkQXh5bW1tZzFRL1RUK242R3hGUmNXSUh5b2tERjVXc1g3OWVuM0praVdqbm5QdjNyM1I1SFA2ZkQ2OW82TmoxSFBtNXVaR2ZEN2YyZWRKbjgrbjE5YldqdnBhYThHQ0JWR2Z6eGROL0Z4UlVhRmxaMmZiUjl2UGJyZWJlL2JzR1VqZUx6OC9mOVJacE5GbzFOcTdkMjh3K2JiTm16Y1BOZlAxUGZiczJkT1QvUE1ERHp5UW1jcCtEei84OERsZFZlNjQ0NDdzUVpzWWcvY2hvaXdBbTVSU20zSnljdm9xS3l0L3lzeS9aT2JmN3Q2OTI1L0tlZDhQMnRZWUN2eGdlVldFOEZzb3hLN1RvRndtL1ZZdGxIMlFuL1ZMa1ZRaGhFaERrZ1JKa2JSaWxGYU1RcHh2YjJaMXQ2M296bmpLcm5DWkZFa2RYbFpXMWtkemNuSSs3L1Y2cndjQW04MVczTjdldmllcFBzWjU0M0s1aWkrNDRJSm5vOUZvMjZsVHA3NWNWRlIwTndDY09ISGlRNHNXTGZySmdnVUwvdEh0ZGwvWTBOQndMNFpKQ2lkYnRHalI5elJOeTY2dHJmMVVabWJtUnhjdVhQaU0wK2xjMHRUVTlEZWo3TnJSM3Q2K054N1Q2dm56NS8vSTZYUitvS21weVhmbXpKbi9Bd0N0cmEyUGhNUGhFL1BuejM5cTZkS2x4NXVibXg5cWFXbDVGRUFnR0F3ZWZaKy9pakdwckt4TXBUTU83OXk1ODV3WnFKV1ZsYVArRG9mYXI3UzBORHJjeHNrZWVPQ0JyT1EzMytYbDVXOFQwWUxSOXR1NmRldjYzYnQzLzcvRXo3Mjl2ZnRzTnR2Tm8rM1gyOXU3RWNCVGlaOTdlbnErbFp1YmUwOEsrKzBHc0MzeGMybHA2YTBBbmh4dFB3Qy9CM0IyK1d0SlNjbFZTcW1xRlBZN0JXQlI0b2NISG5nZ014cU5kcVd3SDJQUUxPTHg3dWR5dWNhVXhDQWlENERiaU9nMkFBUDMzbnZ2ZjFpV3RjOHdqT2NISjFqT0o5ZVNOOXM2VHk1NWlsaGRScEFpcVVJSU1STklFbVNRd2EwWWx5NWQrdDlBckJWam9rWGlXRm94SnRUVzF0N3A4WGl1eXN6TS9MRGY3Ly9SVUswWUhRNUhHUUFrMzlmZDNmMUMvTGFyQnJWaWJCdnBjZVRsNWQyV2w1ZDMyMUQzRFpXd2VMK3RHTWV6bnhDem5zOFhEZDZ6K3pXYkZFa2RrZGZyL1ROZDEvUDlmdi9UK2ZuNWQ5WFgxOThYQ0FSZW1JaFR6WjgvLzVlNnJoZTkvZmJiSHdhUWZKME4xZFRVZkxLMHRQVHgvUHo4cllaaHpLK3BxYmtWc2FUeVVMUjU4K1o5T3lzcjY5Tit2LytmL1g3L3MzNi9mMTgwR3UyYU0yZk9EcHZOTnIrMnR2YUxpSGV5R1ViK3ZIbnp2cGFYbC9jbDB6VDlKMCtlL0VoUFQ4OXZramZvNnVyNmo0R0JnWXZtenAyN2QrN2N1Ziszc0xEd252YjI5dS81L2Y0bmtqckxUSWJ4dGdjZTc2Zm9LU1ZCQmlPaUNJQlJseVVwcGM1NVBNd2NJYUpSL3hhWitaekhRMFFSSWdvT3QzM3k4UWZkRkVYU2h4VWpPQ2NtcFpRSm9EZUYvYzQ1ZG1kbko3eGU3M2dUQ1ozajNHOXdFc1NEb2V1cXZRY1JFVFBuTUhPaFVtcENYOHZTQnhIdGZDTDhHa1h0VWlSVkNDRm1DQ25xOUY3NU5wc3RkNlJXakhsNWVYOWRXbHI2dmFOSGp4cUl2eERMeXNxNmVkR2lSVDkvODgwMzV3M1RpaEV1bDZzNDBZa2dlV3AyS2dhM1lpd3ZMK2Z4dG1JY25BUXBMeS9uMXRiV2J6YzJOaVkrclJwVEs4Ynk4bktXbVNCQ2pKdTYrTzZIRjJ1NmJROFJya0hzVFVBL3dMK093cXg4OVpIN2FqSCtONWd6aFFiQWREcWRhNVl2WC81U2RYWDE5WWtreUZpdXBZT1h6U1NXdzhRN3FYaVdMbDM2bjI2Mys5cUdob1l0YlcxdGU0YllCZ0JRWEZ6OGQzUG16SG13cjYvdjBJa1RKMjRDMEo2SXBhMnQ3ZkcydHJaSFNrdExmK1R4ZUQ3WTI5djcyN2ZmZnZ0R0pMMVpUU1RiZTNwNi92UGt5Wk9mTEM4djd4OTBEUzBxTGk2K3U2Q2c0TXRLS1U4a0VqblQzTnpzaTBRaUl5NXZ5Y3JLK21odWJ1NnRpRDIzY3pBWS9KK0dob1pOZ1VEZ1dLcS9JeUdtU21WbDVhOEFmR1M0KzVrNUNLQ0ttZitkbVo5OTlORkhVNW1CY2w2d0Q2cTNZT0ZpMDdEdklkQTFJTmlZMFUvZ1h3T2h5c3ovWFZkTGNwMFdRb2kwSVROQjNrdGFNVW9yUmlFbWsrVlhSbjBPekNkMDFoWkRvUlFjTDVJS3VyRnM4Mk5QbmR5enBXZjB3OHhvSTg0V2FHMXQvWFpyYSt2WjY5M0tsU3ZmYkcxdC9XWnJhK3NUeWJlTmNBaGp5WklsdjNhNzNldGFXbHAySlJJZ3cybHFhdHJPeklHOHZMeTdIQTVIUm45L2YvdlpBeGxHN3RLbFMxL1dOQzJydmIzOUgrcnI2Ky9Db0prSHAwK2Z2cGVJaklLQ2dyc3lNelBmVTJ4MTRjS0ZqMlpuWjkvUzE5ZDNpSmtEWHEvM3V0TFMwdmRjejRkVFUxUHpsNFdGaFZ1VVVybUJRT0QxVlBjVFlocnFCZkJiQU0vMTlmWDlmSEFkazhsQ1BsaThLMUxmWStoUE1PbUxBWlFTd1FIUVdySnNOL3AvblBNVWJ2WFA5dXUwRUVLa0RVbUNqRUc4eFNLU1d6RW03a3UwWWdUZ3NkbHN5OExoY0J1QWpxeXNySThiaGpFM3NWMWJXOXQzZ0ZpN3hhUkRhL1BuenorbkZlTjRZM3dmclJncmlvcUt2dVp3T0piMTlmVzllUHIwNmJzQ2djQnIyZG5adHk1WXNPQkp2OS8vZEYxZDNSZXFxNnZYWldSazNGQmNYUHhRYVducDl3c0xDKzl0YW1yYUVaK1JJcCtDaUdtdnNyTHlLaUt5MWRYVjdkKzNiMS9LM1RvbWtoUkpmWDlNMDJ3Zm5Ld09oOE50WTBoZ1J6bzZPdllHZzhIL09YMzZkT1hvbXdQTnpjM2ZhRzV1L2dIT1hUS0RTQ1RTMGRqWXVOVTB6YzZ1cnE1L0gyNy94c2JHZTdxNnVuN2ExOWYzNHVEN3pwdzVjMjlyYStzL0JBS0JGMHBLU2g3MWVyM1h4WlBWSXlvdExmMUdYbDdlbDdxNnVuN1cxZFgxTThUYXM0OXIyWWdRVTRXWi9RRCttNGllQzRmRHYwZ3UvRHFWcEVpcUVFTE1ISklFU1EwQlVLTjhrbmlPeExUcndzTEN1OTF1OTdXSjJ4TkprR1RKclJnVEJmQTZPanFlSE9yRjhXakcyNHF4c0xCdzI4REFRRTF0YmUwdGZyOS9Id0RrNWVWdEtpMHQvVjUvZjM5MWJtN3U3YVpwdGpVMk5tN3Y2ZW41ZFU5UHoyOXljM052TFM0dWZtamV2SGw3T2pzNy94dnAwWWxBekhMTS9FRUFYeTh0TGUzZXRtM2JQbWIrS1lEL3QzdjM3dUZxTzB5S2tZdWtycElpcVJOQTA3U3o5UWM2T2pxZUJ2RDBHQTh4WkcybWpvNk9KMVBZbDRlN3hvZENvUVlBRFlOdWJoOXEyMlNXWlEydVN6QXQzandLa1FvaStwVmxXZC9KeU1oNFBybFR6blF5VXBIVTF1NkNScUJWcnROQ0NKRUcxT2liekc1ejVzelp1bkxseXJyRUxKRG01dVlkUjQ4ZXBjUVhBRFEyTnQ0MytMYUU2dXJxOVVlUEhxWG01dWIvTzlUeGsxc3hkbmQzL3dvQUVxMFljM0p5dmpqR2NNOXB4WmlkblgxcktqdWRQbjM2b2ZyNitpKzk4Y1lieStJSkVGdEpTY20zUzB0TGY5RFIwZkZQeDQ4ZnY3aXhzZkcrZ29LQys1WXNXZktDMCtrc0JjQWRIUjNQdlBiYWE4dE9uano1WjVBRWlFZy9tVVQwVjBxcC8xSkt0VlpXVmo2OWJkdTJqOTU1NTUyZUtZbkc1NHNHbVY1anRwNUY3Sk5ReEl1azNraGtMeS9idkhuVWRwa2lkUVVGQlhmbTUrZmZBd0RGeGNYL0IxUDNvWUFIQUlnb2xTNHBRc3hZanp6eXlIZDI3ZHIxcSttYUFBRmlSVkpKRDc5RzRHY0JLMTdZbGIya2NLUEIzdkszSHl1VDY3UVFRcVFCbVFreWlMUmluUDZ0R0lXWUFCNEFueU9penptZHpsQmxaZVV2QU93elRmT0Z5U3krVi92bzFwNkw3Mzc0T2RKczF4TGpHZ1pzcEREWElPMzJDQmE5Q2FBT3MzUFpXVGFBUUR3QkN5STZaOHA1VVZIUjN4WVZGZjF0OG0wbEpTWGZLaWtwK2RaUUJ5c3BLZmwyUVVIQmxzN096bjI5dmIyL0t5MHQvVzUyZHZabi9INy92d1NEd1ZkTTAyd2pva2cwR3JXNnVycCswZFhWOVF1bjA3bFcxM1hGekJvQVhTbGxhSnBtQzRmRGRZRkE0TldoempPTW5FV0xGdjFETkJyMU0zT2Z5K1ZhRFFDamRYTEp5OHY3NjlFTzdIQTRMaHBESEVLSWNjaXFxKzNwTFZqNG5HbllyeVhHTlNEWUFKcXJLLzMyUEdQZ1RRYnFwRWlxRUVKTWI1SUVHVVJhTVU3L1ZveVZsWlVXTTRPSUdBQ1ltUUdjL1RuTzJybHpwMzNRZm9uZjM5bnRrdmVOLzVOMzdkcmxIYlJmOHB0Z1RqNTMwckY0NTg2ZGVjbjdiZHUyclRVcFJnRGdRVEZ5ZkwrNXlmdFZWbFkySk4wUEltTExzakQ0V0x0MjdWbzQ2SHp2Sk1jMVFwekxCcDN2amNHL2kwSDdKK0pjUGVoOFI1Si9iNG5iay8rL0VCSHYzTGx6emFEekhVeU9hZkQvdjhUajNiVnIxeldEOXZ0OThtTkwzaWM1M3AwN2QxNC9LTTdmSk1kSlJCZGdaRTRBdHdDNFJkTzA4TFp0Mi82TGlQNjF2Ny8vK2NjZmYzeWlaenhaN2FGUVE3Nm1QNjBwV2dLaWVXQTRBVnhsMS9pR3NzLzYvdW5rVDN5enJ2aGVhV25wcnJ5OHZJMEFZRmxXc0srdjc1eGluNE1Mb3c0bGVUa2pFYW51N3U1Zm5UcDE2ak1Bb29GQTRPV2lvcUt2RkJRVTNLdHBtbU1zc1owOGVmTFBBWXdsQ2VMM2VyMGYxRFF0RzRpMVZPM3A2WG0rdGJYMWh5UHRORlJSYXlIRTVDTWZyQ2JmUUlOamp1MXAwbWtKZ0hrQW5DYXJxMGl6MytCL0xPZWZzRVdLcEFvaHhIUW1TWkJCR2hvYXRpRGVpakUvUC84OUxWL0grb25qTUR4TGx5NzloZFBwWE5YUTBMQ2xyNi92ZDBOc1k5WFgxOThSVDJROHVHVEprdDhsdDJKTWNEZ2NDNUpiTWRiVzFuNGhmaGMzTkRUY1pWbFdmMkZoWWFXdTZ6a25UNTc4NUJEbkdiSVZJeEY1TXpNemg5b2ViVzF0UDRwRUl1MjV1Ym0zenBrejUyL216Sm16WXhKYk1SSmliMlFSZTQ5TklLS2hsblVObmpsREFON3o1b2FJQnY5N3FQMHloOXRucFBNUlVYN1NEMFB0TTl6NVNwSnZpTCs1SHpWT0lsbzBuamdCckJocSswRS9EM1crOGhIT005THZjKzFJY2NZZjcxRDdyUjl1bjVIT1IwUWZIaW5PVVJBUlpUTnprY3ZsTXNaemdMRnEydXNMZXU5NitIY3VoNjFLTVQ3QnNWa3FlWXJvOCs1Qzd4OVJVZkhxYkN1UzZ2ZjduNDVHby9XbWFRNzA5Zlg5RWtsSjQ4N096cC8wOWZYOWZyUWlxSjJkblQ4SmhVS3ZBVUJEUThQZkFnZ2duaGdPaFVKL3JLbXArU2dBemVWeUZVYWowV3hkMTIwQWRHWldPSGZwcUlYWU5TaEtSTkZBSVBCYTRvN3E2dXJWbG1VTldTY2syU3V2dkpJVC82ZVdPTjV3MndhRHdkZTZ1N3YvL1oxMzNybDV0T1BtNU9SOE1UczcrNmJSdGhOQ3ZEL0Z2cVpnWU0vUzMwVjFybUxRSndCNENKUUhvczg3WERsLzVHZjlyMHFSVkNHRW1MNGtDZkplMG9weGVyZGk1SjA3ZDJwRDNFNEE0UFA1NkkwMzNoanEzUzdYMTlmYkw3endRblIwZEJBQTlQYjJVaUFRb0pLU1dNNGhFQWhRY1hIeGUvYlROQzBEQUVLaEVBSEF3TUFBWldkbkkvSHY1Ty9KK3dISUI0QndPRXdBNFBGNEVJbEVDTURaNzBQRmFWblcyU1JJTkJvOXU1MWhHQVFBcG1rTytmZ1NTWkRFL1lsOWRWMGZjVDhBeXhQM2Fab1d5eVJZRm1tYVJvbmJMY3Q2eitOajV2TEVmWVpobkxQTkVOc254N2ttY1gvaXUxTHE3TStHWVNBU2lRd1Y1N1dKN1prNThkZ3crRmhEN1BmaHhQMjZyc00wemM4UzBlZUhpUStJRlpQOEF6UHZ0eXpyRjQ4Kyt1aWtML2VxRG1lMXJYUUVuOVRadWtRcHRRd01uUWpMaVBEcEMzSXZQLzBPOXJWT2RreFRxYSt2Ny9kOWZYMi9IK3ErVTZkT3BWVDdhTkIydy8zK3pIZ3I4Nlp3ZU95Tmc4YVJCQjcxVFpMZjcvK2gzKzhmY1piSWVMWVZRcncvTGx0MVcxZWs3RWxXeGlWSzBUSVE2OFMwTEdKcG4rN3JLRHdOdE15cTY3UVFRcVNUY1gwME9oczRuYzQxeTVjdmY2bTZ1dnI2eEhLWTh2SnlUblI5U1d4WFhsN09qWTJOOTdXMnRqNlNmTnZnN1lxS2lyNVJWRlQwbGFOSGoxSnVidTdublU1bmVXTmo0ejNKNTB6ZVpvaVE4cEgwNldkNWVUbTN0YlU5SGd3Ry8yZTBWb3dBeU9QeFhOM1gxL2RpWXIrR2hvYTc0bzl6bmxKcWFhSVZZMEZCd2QxamFjV1lGS3NkMG9sQXBJRnQyN2J0SUtLdko5L0d6Q0VpcWdMd3M5N2UzbjE3OSs3dG5wcm8zbFY2eDk5bDU3aHRXeFNwTDRPUlI0QmxNV3FpcG5sM3lLejczY2xwMGpaU0NDRm1xNjd2bG1hejRkaENwTDRNVUI0QWk4RTFiRVh1N3VpbjN5M2VjbEt1MDBJSU1RM0pUSkJKSXEwWWhaaGVtTGtQd08rSTZEbWwxTThlZWVTUndGVEhsS3orZXdQZG1aWDhyNHB0MTRDMGRWSWtWUWdocHBmTTF2cnUzcUlGLzJvcXh6VkVXQWZBUnFDNW1oUkpGVUtJYVUxYTVFNENhY1VveExSeWhKbHY4ZnY5K2J0Mjdmcll6cDA3bjVsdUNaQVluOVhSRzY1bnBxY0F0SURBZzRxa2VrYzdnaEJDaUlsRFBsaDl6ZUY2d0hxS0dTMklKVHlTaTZUS2RWb0lJYVlobVFueVh0S0tVVm94aWhsczE2NWR2NXJxR0ZMVnROY1g5TjYvNXdXWEZiMU9NVDR1UlZLRkVHSjZLZlkxQlFNL1hQcEMyT0xyQVBvNHBFaXFFRUpNZTVJRUdVUmFNVW9yUmlHbWsrb3VXOXZLak9nVE9sdmxVaVJWQ0NHbUgxZTB1aTFzbFQxaEthTmNpcVFLSWNUMEo0VlJCL0Y0UEIvTXlNaFluMmpGR0FnRVhrbmN0M0Rod2g5M2RuYnVHNlVJNmVEdENoQnJ4VGg0dXYxNFd6RXlBTGpkN2xXV1piV0ZRcUhUS1Q2MFVWc3hKdG9yanFVVll5cmJDaUhlSHltU0tvUVEwNXNVU1JWQ2lQUWhTUkFoaEpqMmZPcWlTdHNTQTdiSFFkbzZBRFlRUW1EOE1oakYvVzg5dWxXS3BBb2h4QlJpSDFSdjBZSWxwbkk4VGtTeDZ6UVFVckIrYVVZRzdzKzZvMWFLcEFvaHh1MnJYLzNxWGwzWHYrN3orUnFuT3BhWlFBcWpDaUhFdERkeWtkU2xYM2pZTTlVUkNpSEViRFpha2RUMkgrYkpkVm9JOFg1c0dCZ1lXTE4xNjFiblZBY3lFMGdTUkFnaDBrRFRYbDh3cU50ZVlLQ0tPTDY4anBDcmdUNXI1S2lGcUtqUXBqaEVJWVNZMVlwOVRVR2JvaGNBcmtKOEdiUWk1SkxDWjdVQjc4Sm5LeURYYVNIRWVCWHJ1djRGdDl0ZEFsbk44YjVKRWtRSUlkSkVkWmV0TFFJOFlUTHFRRERCTUppd1FsbjZMV1Z6VnVlOHU2VlBsV3pkNVlROFNRb2h4S1J5UmF2YkVJMCtZVEhxaU1sa3dHQ29GY3BtdStYcXErZWN2VTZ6RDRwM2xUaFpydE5DaU5UWUFGeGltdWJISDN6d3dheXBEaWJkU1JKRUNDSFN4ZDR2UmJvNitWVW02K2RnN2dJQUJXVHFDcDkwMkd5ckZtejBPUXJ2L1paNzVUM09wZm5FRlF2dTJaMDUxU0VMSWNSc1FsOUNwQy9VL3lyQitqa2pkcDBHa0FuUUo1MDI3NnBUdmdVTy9sYWh1Mi91NHFVOVhsY0ZubGdnMTJraHhLaUlpQURrYUpyMkdVM1RMdHkwYVpNeDFUR2xNMG1DQ0NGRUdtbjhZVTlYT0d3OXk4QWJJSTR3b0VBb01VQmZ6TWh6ZjJBTzArY00zZlo5MHRUZFh1clBHZjJJUWdnaHpxZVNuc2F1Z1dqMFdZRGZBQkFCb0FBcXNUVDlpemw1eGdjNk03TStGeVh0K3d6dDd0YVFUYTdUUW9pVU1MTUdZQkdBeitYbjV4ZE1kVHpwVEpJZ1FnaVJWbnlXdjdQbGxHbWF6NERqUlZJQkp5bTZRYmUwNzJxazdTRGlOY3dvakdvdUYyU3F0UkJDVENyeXdVSmYzeWtGZmdaNHQwaXFBbTVnbS81ZEl0cEJUR3NZS0hUWlRKY3NpUkZDcElKaTNFcXBHd0JjczJuVEp0ZFV4NVN1SkFraWhCQnBwdVdaUjRJV3FlY1o5RWNBL1FRb01HVkE0V0lBUlFTeUVhQlUxTXJFZXA4VTRoTkNpRWxXZUY5TE1CS09QZy9tUHpKVFAwQUtoQXdRTGlhaUloRFpGRUZGZ013cW54Uk1GVUtrVERGeklSRnR6TXJLbWdkSm9vNkxKRUdFRUNMTmxHMSt6TVljdGhPYnJZaE50UVlSaUloMG9zU1RJV3VHanF5eWl6cmt4YlVRUWt5MngyRFRBVHRNYmlYaVNPeEdJaERwQUJFQU1KT21tU3FySkVlU0lFS0lNYkVCS0RjTTR5KzNidDJhUGRYQnBDTkpnZ2doUlBxZzBqditMdHRqSDdqQlVMWnZRYWxQRU1NejlKWkV5ckk4L2ZwQ3VjNExJY1FrWVlEcXZsdWEzZXRjZWdNYnRtK1JyajRCREhlZFptSkZIa2UwUks3VFFvaVV4WmZGWkFINGxNdmxXaUZGVXNkT24rb0FoQkJDcEtha1lwY2oyOGtmSnRBV0lsd0VrQnMwZERLYm1EVUx5TWtjNk5FYUp6dFFJWVNZcFJwM2xUZ3lEY2VIV2RFV1dMaUlHVzRRRFpmazBDeFFUb2w5UUdhQ0NDSEdoSmsxSWxySXpKL0x6ODgvQmVEMFZNZVVUaVR6TElRUWFhSngzN2IrVURDMG45bjZkd0Nud0FneVlBMjFMWk1pMXBRN0ZIWElpMnNoaEpna0pkc2ErNk85d2YwYzVYOEhXYWNBQkFFZThqcE5JRkpFN2hyZEs5ZHBJY1NZRENxU3V2N2VlKzkxVDNWTTZVU1NJRUlJa1Q3NHhQZS8ydVFQUnY0aFF0aGlnZjhOd0JsbVJKakJnelpWeE1odzUyVElkVjRJSVNZSkFaeTdyYkVwMHhQNkIwMlpXeGpXdnhGd0JrQUU0SE91MHd4V3hKeVJhMGJsT2kyRUdBL0Z6SVVBYmpjTVl6N2t2WDNLNUJjbGhCRHBoZXUvdDczenRlNjNEZzZ3OVZYTHRCNnlZQjBEdVBlY1dTRU1EUlpuRDBTQzhnbWpFRUpNSWdLWVBsdmY2WW1jUElpQjhGZE54a1BNMWpFR2VzK1pGY0xRTEtac3BjbU1QU0hFdU5tVVVoOGdvci9jdm4yN0ZFbE5rU1JCaEJBaUhlM2RHM2x6NTczMWZaSGVaOWlNM2dYZ3h3QWFHUnhtQm9OQXJPQjJFTXQxWGdnaHBnQjlDWkdzdTA3VmM2amxHUlcxN2xKay9SaU1Sb0REQUhOc1BqdmNaSmx5blJaQ2pBc1JFVE5uSzZVK0JXQ2xGRWxOalZ4MGhSQWlmZkhKUGI2ZVYxNE9IZTB6OFJDYjFnNHd2MFJBSjJKOTQzTUdsQ1VGc0lVUVlvb1F3TGxiL0QxSFcwNGNqWVFERDVGcDdtQUxMeEhReWN4RXhEbjl0ckJjcDRVUTc0Y0NNRi9UdE51eXNySUtwenFZZENCSkVDR0VTSGRWdnVpSjNkdE9OemIwL2l3QWE0dkoxait5eVhVRXR0dERjcDBYUW9pcDlrRWZvbmwzTko0ZU9OUDVNNDcyYjJITCtrZUdWY2RNZG1YWjVUb3RoQmkzZUpGVUZ4RnRNQXpqV2ltU09qcTU2QW9oeEF6UnRzL1hWLzNJNFRlaTBmNWRwc0lEWlBKUlMwVWpVeDJYRUVLSW1BSmZXOThMdnovMXhnQ0ZkK2xrUG1EQk9ob05tSEtkRmtLOFg0cVpDeUJGVWxNaXZ4d2hoSmhSOXBtdmYvc3JMVDN0UGY4ZERJZDN2ZDUwckgycUl4SkNDUEd1Vy9iQkxQemZwMW82R3FQL3JROEVkaFVjT0NYWGFTSEUrV0Fqb2xXYXBsVklrZFNSMFZRSElJUVFRZ2doaEJCQ2lLSHQyTEdEUjk4S1lHYVRtYXVKYUhOMWRmWCtmZnYyaFNjNnRuUWtNMEdFRUVJSUlZUVFRb2owcDVSU3BRQnVYN0praVJSSkhZWWtRWVFRUWdnaGhCQkNpRFJIUkFUQUJlQ0R6SHlkRkVrZG1pUkJoQkJDQ0NHRUVFS0ltVUVSVVQ0UjNhWnAyZ0xJZS83M2tGK0lFRUlJSVlRUVFnZ3hRekN6MnhwSk53QUFJQUJKUkVGVVFVUVg2YnArUzJWbFpjNVV4elBkU0JKRUNDR0VFRUlJSVlTWUllTExZcklBZk5McGRGNWNVVkZobStxWXBoTkpnZ2doaEJCQ0NDR0VFRFBMMlNLcGl4WXRtZ1BwREh1V0pFR0VFRUlJSVlRUVFvZ1pKTGxJcWxMcStqdnZ2Rk9LcE1icFV4M0FUTEpqeDQ0Zk12UEhBT1RFQjkxWStLUFI2RmY3K3ZwK3NtZlBucDZKaUM5Wk9zVXFoQkJDQ0NHRUVHTE1GQkhsYTVwMlcxWlcxcDhxS2lyZTJMZHZuem5WUVUwMW1RbHlIcG1tK1Rnekh3RXd3TXc4bG4yWjJVdEV0M2s4bmd0OVB0K0VKNmZTS1ZZaGhCQkNDQ0dFRUdNWEw1SjZvVkxxbHJLeU1pbVNDa21DbkZkTlRVM0htZmt4WnE0QllJMXhkMTBwdFVMVHREdjYrL3RMTU1GcnR0SXBWaUdFRUVJSUlZUVFZMGRFeE15WkFENUpSS3Q4UHQrc0w1SXFTWkR6Nk1rbm4reTNMT3NnZ0NjQW5NRVlrZ3NVNHlhaURicXUvK1hXclZ1ekp5eFFwRmVzUWdnaGhCQkNDQ0hHVFFFb1VVcmQzdHZiVzRSWi9pRzJOdFVCekRUNzkrOGZ1T2FhYXhvQXpBTndBUUQ3R0dwdUVBQW5NNWZvdXY3bXFsV3JHZzRmUGp4aGE3YlNLVlloaEJCQ0NDR0VtSTJ1dmZaYTMvdlpQLzRodGs1RWVicXVONnhacytiRWdRTUh3dWNwdkxRalNaQUpvR2xhc0xTMHRKR1pMeWFpSWdCYXFza0ZaaWFsbEJkQW5sTHFmNjYvL25wL1ZWWFZtR3Ayek5SWWhSQkNDQ0dFRUdLMmViOUprRGdDWUdmbVBHWitxYmk0dVAzNDhlT3o4cjJiTEllWkFGVlZWZEcydHJialJQUTRNOWRpakV0Tm1ObEpSR3NOdzlnWUNBUUtKaTdTOUlwVkNDR0VFRUlJSWNUNEpJcWtHb2J4cWRsY0pGVm1na3lRSTBlT1JDNi8vUEpXWGRjZFNxa1ZpUFZvVG1tR1JYeTZrb09JU29pbzdxS0xMcXI1MDUvK05HSFRsZElwVmlHRUVFSUlJWVNZVGM3VFRCREVaL3pibUhrT2dGZG5hMGtEbVFreWdYYnUzTmxobXVhUG1mbDN6TnczeGxhMGlwbm5FdEVkbVptWkU5NktOcDFpRlVJSUlZUVFRZ2d4TGtvcFZhTHIrdTF1dDN0V0ZrbVZtU0FUVE5mMTN1TGk0am9pV2g2dnVhR1BvZmlvSXFKc3BWUk9KQko1WmNPR0RaMFRXWE1qbldJVlFnZ2hoQkJDaU5uZ2ZNMEVBYzZXTk5DWk9ZZUlUcTlhdGVyRTRjT0hCODdYOGRPQnpBU1pZRlZWVmRFelo4NjhacHJtSTh6OEZvQm9xdnNtdGFLOVh0ZjFPd0FVWXdJemRla1VxeEJDQ0NHRUVFS0lzWXQvMEoxSFJKOTN1OTBYVkZSVXpLckpFYlBxd1U2Vlk4ZU9SVmV2WHQzcWNEaDZpZWdEekp4SlJLa21vQWlBQThDOGFEVGFkL25sbDU5NDZhV1hnaEtyRUVJSUlZUVFRc3g4NTNNbVNCSUZ3S05wV3RqdGRoODdlUEJnWUFMT01TMUpFbVNTSEQ1OGVPRHl5eTl2MGpUTmlDODNjU1AxbVJMRXpHNGlXcWpyZXNQYXRXdnJKckt2Y3pyRktvUVFRZ2doaEJBejJVUWtRWktMcEdxYTlzcHNLcElxU1pCSmRQRGd3ZURsbDE5ZXErdDZFWUJGQUJ4anFMbEJSSlFCWUNFUm5iamdnZ3VhamgwN2x2SnlsWmtjcXhCQ0NDR0VFRUxNVkJNMEV3UUFTQ25sVkVwNTdIYjdvUmRmZkxGN2dzNHpyVWdTWkpLVmxKVDA1ZWZuMXdCWUFxQUVnSkZLY2lGZXdFWUJ5Q0dpWW8vSDg5cDExMTNYVmxWVlpVbXNRZ2doaEJCQ0NERXpUVlFTSkZFa2xZaHlMY3RxV2JWcTFadXpvVWlxdERLZFpQdjI3VE1yS2lxcXk4cktIbEZLNVJGUk9UT1BKYm5nQUxCVzA3U3RnVURnNndEZUFUQWh5WVYwaWxVSU1UN3hsdGFPdnI0K2w5UHBMSXhHbzR1VlVtVUFMaUNpQlVUa3RTd3JqNGpzekh6MmI1K0lvZ0RhaUNoZ1dWWWRFWjFrNWhOS3FST21hWjZKUnFQQnJxNnUvcjE3OTBhbTdNR0pXY25uODZudTdtNDdBS2ZkYnM5U1NpMVVTaTBpb2lYTVhLYVV5ck1zSzVPWnZUajN3eUFMUUI4UmRSTlJCelBYQUhnYndOdlJhTFNHaURydGRuc0lRTC9QNTVQbk1qR3BaRndMSVNaSy9IMWJMaEhkNm5hN0QxWlVWQnpidDIvZmpGNFdJOTA3cHNpZGQ5N3B5Y3JLdXBHSWRpaWxsbUJzQ1NtTG1UdE0wM3pHTk0zZDMvem1OMDhEbUxCMnRPa1VxeEJpZEQ2Znp3YkFFUXdHUFlaaGxCSFJGVVMwRnNCeUFHNW10Z0d3RVpFQlFER3pOamo1eWN3Z29pZ3pNNEFJRVlVQmhBRUVFWHVCZllpWkQ0YkQ0Uk5FMUJzTUJ2djM3Tmt6NHo5WkVGT2pvcUpDbXo5L3ZzTXdEQmNSRldxYWRxbGxXZXNBckFLUXA1U3lBVWg4YWN5c0lkYmEvZXd4WWtNWkZoRlp6R3dDQ0JOUm1KbkRBTHFZK1dVaU9rUkVoMEtoVUxQSDR3a2k5c1pSbG51S0NTSGpXZ2lSc0dQSGpnbDkvOFRNVEVUZHBtaytBZURoaHg1NnFHVWl6emZWSkFreWhSNTg4TUZzVGRNcUFEeEFSUE9KYUN6TGt5eG1iZ0x3bUdWWlR6LzAwRU90bU1Ea1FqckZLb1I0ci9YcjErdXJWcTN5dU4zdVRNdXlMbEpLWFFGZ3JWSnFJVE5uRUpFTHNlNU83NnQxZWp3cE1nQWdRRVM5ek54Z1dkWWhaajRZaVVSZTBYVzl5Ky8zOThrTUVYRWUwSjEzM3VsMnU5MGVoOE14bjVuWEFMZ1N3SVVBY2dCNEFEZ0J2Q2VKTnhieE1XMFJVWWlaQTBUVURlQjFaajdFekFjaWtVZ3RnTjV2ZnZPYkFjaHNSL0greWJnV1FyekhSQ2RCQUlDWlRXWStaVmxXWlhOejgvTlBQdmxrLzBTZmM2cElFbVJxMGZidDIvTTBUZHRJUkhjaFZuY2o1VGNnOFl4K1BZRGR1cTcvczgvbjY4REVKUmZTS1ZZaFJGeEZSWVZXVWxLUzZmRjRsbHVXOVFraVdrZEVSZkVwMHk3RVpueE15SE5CL0ZPRkNJQWdNL2N4YzZ0UzZxQnBtdi9Cek1kT25qenBuK25UTGNXRW9IdnZ2ZGRsR01aY3BkU05SSFFkTXk5UlNtVXdzeHZ4Wk41RWptc0EvZkdsWUQwQWFnRDhOaHFOL2pJWUROYnQyYk9uRi9MOEpzWk94clVRWWxpVGxBUkpYQWQremN5VjMvakdOMm94US8vdUpRa3k5ZWorKys4dk1neGpzMUpxSTRBQ2pERzV3TXp2TVBPM1FxSFF6M2J2M3QySkNVeUVwRkdzUXN4MnRIbnpacS9YNjEwRTRCYWwxSTBBNWdGd0E5QW42b1gwY09JSkVaT1pBd0RPTVBOdkFQd2tFQWljZVBUUlIzc2duelNLRkd6ZHV0V3BsQ3B3T3AxL3pzeTNFTkZ5QUprQTdKTTlwb0d6THhqREFIcVkrUlNBbjFxVzlXK1JTT1QwSTQ4OEVvUTh4NGtVeUxnV1FveG1NcElnd05uWGF5Mm1hVDdVMjl2NzFKNDllM29tNDd5VFRaSWcwd005K09DRDgzVmR2eC9BTFVTVWpSU1RDL0VucWlnenYyTloxaU4ydS8yblBwK3ZTMklWWXZiYXRHbVRxNkNnb0lpWlB3N2dMNGxvTVJGbERsWGJZN0lsVGNIdVplWTZadjZaWlZuUDJlMzJlcC9QRjRDOHVCWkQyTHg1czkzcGRPYmE3ZllQV1piMXY0am9Bd0R5TUlFem1jWWk4ZndHd0EvZ0xXYitsNEdCZ2QrWXBubG05Kzdkb1NrT1QweFRNcTZGRUttYXJDUUlBREJ6aEpsZk5rM3p6bmZlZVdkR0ZrbVZGcm5UeElZTkczb2lrY2dKcFZRSkVaVXljMHJaLy9nMmlvaXlpR2hwSkJKcFdMMTZkZU5FdGpaS3AxaUZtRTAyYmRwazNIREREVVV1bCt0bUFOc0JmRndwdFFpQWg0aW1QQUVDeEs0RFJLU1kyUTRnajRndVZrcXRqVWFqK2hWWFhORjJ5U1dYaEE0ZlBqempubXpGK0ZSVVZHZzMzM3h6Z2MxbXU5WXdqQWVJNlBNQVZnTElKcUpKbjlFMG5QaTQxZ0M0aWFpSWlDN1RkYjNjTUF6cm1tdXU2VmkrZkhuL2tTTkhaTGFUQUNEaldnZ3hkaFBWSW5jWWlvaThSQVN2MTN2MDRNR0RmWk40N2traFNaQnBvcXFxaW91S2lyb3lNelBmMWpSdElZQzVTUEdUZ0VSeVFTbVZwWlJhcXBScUtpOHZuN0RrUWpyRktzUnNjZSs5OTdyZGJ2Y2FUZE8rU2tTZlUwb3RCNUE1bGhmVXpMRnBHQllBRTRBSlFoUjA5bnZ5bHhuL3NrRHZXY2VTeXRrU3lSQUFMaUlxVWtwZG91djZLcnZkM25YSkpaZTBIanAwU0s0SnM5ekdqUnNkcGFXbEs1VlMyelZOK3hLQWNpTEtJYUtVV3JVRDcwNHJNZ0dZQkVRSmlCQVFVYkh2NGNUUFNmZEY0OXRhRk5zL2NhSlVUaGlQUzJkbUQ0QjVTcWsxQUphNFhLNHpWMXh4UmNmQmd3ZWxJUEFzZHo3R2RXSmtLMWpReUlST0pneUt3cWFpTUNnQ0cwVmhVN0h2QmtWaGtBa05VV2hrUVpFVlAwTHFJMXZHdFJCVGJ6S1RJUEhYYURZaUtsUktIYi91dXV0cXE2cXFabFRIS0VtQ1RDUEhqeC9uNHVMaXpweWNuSGVZZVRFUkZTSEZ0ZnRFUk15c0FPUXFwWmJxdXQ1MDhjVVhOL3pwVDM4S3ovWlloWmpoNk1FSEg4eTIyKzAzRU5GWEtWYjROQmRBU2krb0U0bVBLSUFvRTRLczBNazZPaXdiV2l3Ym1pMDdtaXc3bWswN1Rsc09ORmwydEZnMnRMQU43WmFCYmt0SGdEVU1nTUFjZXptZGVPTkpHRDBoRW85UlkyWVBFYzFqNWxVMm15MTQ5ZFZYTi83aEQzOEl2cS9makVoYjk5OS92OWZqOFZ5dDYvclhpR2dERVJVU2tRMHB2R05qdkR1bUl3UUVOYUROQmpUWmdYb0g4STZMY01KTmVNZXQ4SmFMVU8wbXZPMG0xTGtJdFU3Q2FUdlFZU1AwYUVDL092ZUVxYjV0akwrQU5BQjRBU3dDc0ZMWGRmK2xsMTU2NXRDaFF6TzIycjRZMmZzWjE0bVJyY0dFamFMd2FDRVUyZjBvZGJSaG9mTU1scnZyc2RKVGoyWHVCcXowbk1KS1R5MldleHBRNW1yR1lsY1RTaDJ0eUxOMUk4dm9nMU1MZy9uZDQ2YWFFSkZ4TGNUVW1lU1pJRURzZ3VBa0ltODRIRDYwZi8vK3praysvNFNTSk1nMGMvejRjZk82NjY1clorWUdabDVLUkFVWVEzSUJzZWxMdVVTMHdHYXoxYXhZc2FMNXlKRWpFNUtoVDZkWWhaaWg2TDc3N2l1MDJXeWZaZVp0UkhRaFlrOVlJOWJwU1U1OFJKalF4eHBhTFJzYVREc2EySWwydHFHTGRmUkNSd2c2K3FFaERJVkkvQ3NNaFFGbzZJZUdBRFQwc0FFL0cyaGpHN29zSFFOUVlQQTV4WUpHUzRqRWs2TjYvSnB3TVFEOXlpdXZQSFg5OWRmM1ZsVlZTWjJRMllNcUt5dnpiRGJiemJxdVAwQkVseUkyRlgva01SMy9pc1puZC9ScVFKTVRxSFlEcjNzSk5XNkZKanVoelU3b01naDlCaUdvRWZvMXdrRDhLNmdSQWpyUW94UDhCcUhWVG1oMEV1cWRoQTRER0ZDQVlvQVk0UGhZSm96NjdwVVFteWs1QjhBcVhkY0hycjc2NnZwNGdrL0c5ZXd4cm5FZG02L0IwQ2tLTzBXUXFmZWgxTkdLbFo1YWxHZThnNlh1UnBRNjJsQms3MFNPMFl0TVBRaVBGb0piRDhPbFJlRFV3dkJvSVhqMUVMS01QaFRZdWpIWDNvR0Z6bFlzY3A1QnZxMGJUaFdHeVFRR3haUFlLU1ZFWkZ3TE1jbW1JQWtDWnRZUVc2YlhldVdWVjc1NTRNQ0JHVE5MVjVJZzAxQlZWVlYwMmJKbFp6d2VUMjE4bHNWWWt3c2FFZVVUMFdLUHgxTzdjdVhLbG9tYVpaRk9zUW94azFSVVZHZ2YvZWhIUysxMis1ZUo2SzhRKzFSdXhOa2ZpZVJIQklRZVMwT0xaVWU5NlVBVE85REJCb0xRRVlHQ0NRVUxLdjVpZU9RdlByc2tSaUVLUWo4VWV0aEFPeHZvdEF5RW9JRkIwQ25wYU1ORW1GaC9Ua1FaUkxSTUtaWGYzOS8vem9VWFh0Z3Q2ODVuQmZXVnIzeWwyRENNTHhEUkZpSmFpbEc2WXlTU0gyRUN1blNnemdtODZRYU9ld24xVG9WMkd5R2dFeUtLWUdvRVN4RllVV3dRRGpta0NVeXg3VXhGaUJLaFh3TjZERUtMblZEdklyVGFnR0E4SWFKenJETDRTTW1ReEhPZFVpcWJpRllDOEs1YnQrNVVVVkZSOS9IangrVU40OHczNW5HZEdOazJpaUJiNzhVRnJtWmM3RDJGVlJrMUtIT2RRYUd0QzE0OUJJZUt3cWFaMEpVRlRURVVBV2VIZC93cmNadEdnSzRZaHJKZ295aGMyZ0N5alQ3TXRmdHhnZXNNNXRqOGNHdjlzSmdRWlEzbTJUVDIwR0hLdUJaaWNvMG5DWkpVakw0UFFEY3pkd0VJRWxFNFBpdC94SHB4OGZzYzhXVXhmOVEwcmFXMnRuWkd2QjZUSk1nMGRlVElrY2l5WmN1YTMwZHlRU2VpUWdBWDJXeTJsa3N2dmJScG90YllwMU9zUXN3RUZSVVZ0dm56NXkrejJXd1BFbEVGTXhmUkNMVS9rbWQrOUZnS0RhWUQ5WllUL3FURXg3bEpqL0dLN1cvRjY0VU1RRU1mNi9DempnQXI2R0RvWkwzNzBucjRVeW5FV3ZsZW9PdjZRcGZMVlh2ZGRkZTF6N1QxcU9KZDY5ZXYxMis5OWRZeXBkUTJBSjhEVUVvajFFaElKRDhpQlBUb3dBazM4R29Hb2NHcDBHa1FRam9oR2s5Nm5FMTRqRWRTWXNSVWhMQUNlblZDbTQzUTVDU0VGR0EzMzAyR0pIWjV6MkhlbmYyWVFVUkxORTJibDVtWldiTjY5ZXBPS1FROGM0MTFYQ2RHdGtFbXN2UUFWbnBxY1ZubTI3akFlUVo1Umc4OCtrQTg2Y0Zua3gzamtVaVFhTVN3S1JNT0ZVR21FY0FjV3lmbU8xdmgwZ2JRYjlwR1RZYkl1QlppOG93MUNaTFUzYW1PbVg5aW11WjNBWHpIc3F4ZkFLaEdiT1p3VGdwTDhnaXgxMlRXbkRselpreVJWRW1DVEdQSnlRVUFTd0FVWUpTTVhVSWlRdzhnWHltMVF0ZjFuc3N2djd6aHBaZGVtcENXWnVrVXF4RHB6T2Z6MlhKemN5L1RORzBIRWYxWmZQbklrTmR5anY4bkNpREFDcWN0QjJvdEZ6cGhuRTE4cERTaGYxemVUWWhFUVFoQ1F4Y2I2R2NGQXd5TmtpWmREL05CSXdBbmdGSUF5MDNUckwvdXV1dWFKQkV5ODZ4ZnYxNWZzMmJOUlVxcHJ3RzRpWWdLUmhyVGpGaWgwMTROZU1jSkhNc2dORG9VK2d4Q05IbW14MFJJU29nTUtLQXpQa01rb2dDSENXaWpKRVBpTnp1WmVZR21hVXZzZG52am9rV0xtbzhkT3liamVvWVp5N2hPckNEUkVZVlhDMks1cXdHWFoxWmpvYk1GR1VZUU5oVkxmTHlmZk41STZPeE1FUXRPRlVhZTBZTmlSd2ZzS29wZ1BCbGlqYnhNUnNhMUVCTnNIRE5Cb2dDT1c1YjFVREFZL0tmMjl2Ylg5K3paMDZUcit1bXNyS3czYkRiYm53QmtBVmlBMkd5UG9mKzRZMlpja1ZSSmdreHpSNDRjaVZ4KytlVm5pS2laaUM0a29qekVzdTRwMTkwQWtFdEVLelJOQzExOTlkVzFFMVZzTUoxaUZTSWRWVlJVYUZsWldTc0EvSTFTYWoxaTNWK0dYRlBPSE92eUVtSkNrK1ZBbmVsRUJ4c1lnQmF2MWpGQmJ4S0hGRnMyRXdVaEFCMmRyQ01LZ2tIV3U4dGtoZ2duZmwxSXJEc3ZpMGFqYjZ4WXNhSkZsc2JNSEQ2ZlR4VVZGUzFXU24xTktiV0JpTElBREQybUVSdlRRUVhVT29GWE1naDFMb1ZlUFphVW1MQjNpTU1oZ2tXRWtCWXJwTnJxSUZoZ09FM0E0QkhUaXdUQURxQ0ltUmU0M2U3WE4yelkwRnBWVlNYamVvWVl5N2hPMVAzd3FCREtuRTI0SXFzYWkxMU55TklEc0NucmZjMzRHS3ZFdFZnakN5NXRBUG0yYmhUYi9WQmdCRTA3d3F4amhKRXQ0MXFJQ1RUR0pJZ0ZvTVd5ckc5MGRuYis1M2UrODUyMlJGS3l0cmJXT256NDhJQ21hZTBGQlFYVmhtRXNCakNmWWtXUGgwT0lGMGxWU2gycXFxcEsreUtwa2dSSkF3Y1BIb3hjZWVXVlRaWmxOU3VsbGxHczg4T1lrZ3RFbEVWRUs0aUlyNzc2NnBvLy9PRVBFektWS1oxaUZTTE4wRTAzM1ZSaUdNWjlBRzVBTEFFeTdQSVhFMEEzYTNqSGRLR0ZiUWdoOFVuZVpMNUxISXppTlVrVStsaERyNlhEUmhiczhTVXlJeVJDZENMSzB6UXQzekNNVjRxTGl6dGx6Zm1NUUt0WHJ5NjIyKzJWU3FrYkVmdEVhdGdFaUFuQXJ3UEhNb0MzM2JFQ3A5R3pSUkFtTSt3azhYZU5KaEdDOFdSSWx3RjRvb0REd3JEcHh2aTROb2dvWHltVkhRcUZYamw0OEdBWHBLamtUSkR5dUFZWUNoYnlqVzVja2ZrV0x2VFVJOWZvaFYyWlVHcnlraCtESldxSjZHVEJvL2Vqd05hRkhMMFh2YVliL2FaOTJPY1NHZGRDVEp3eEprRkNBUDRMd0E5MzdkclZNdFFHdGJXMTF0S2xTM3U5WG05SUtiVU9RQVpHZURabFpvMkljcUxSYU9lNmRldU83OSsvUDYwN1Fra1NKRTBjT0hBZ1hGNWUzcWlVYWhwdmNnRkFCaEV0SXlMbmxWZGVlWExEaGcwOUU5RjFJWjFpRlNKZGJOKytQVi9YOVUxRTlHa2l5aHRwQmtnRVFJZGw0SlRwUWpmMCtKcnVxVTZBSkx5N1RDWldNMFNEVGd3SFdkQXdZaUxFQURCSDB6UkhabWJtNndjT0hPaVozTGpGK1ZaWldabm5kRHB2VjBwOURyRWxsTU1tUUNJQVdtekEwUXhDazBOaFFKdmk1TWRnOFdSSWxJQStuZEJwRUZ3V3cyWEdYbWdObHdpSmYvSldURVMyYTYrOTluVkorcWUvVk1kMXJQWkhGRVgyRHF6TnFNWjhSeHRjZWhqYUZDWS9Ca3NrUTJ4a0lzTUlJYy9vUWNDeUkyRGFZUTR6c21WY0N6RXhVazJDeEd1QmRBSjR1S2VuNTlXUjZ2TWNPM1lzdW5idDJtNU4weTRpb2tXSXZkWWFFaEVSTTlzQjVBTTR2R0hEaGpQcFBOTkxraUJwNVBEaHd3UEp5UVVBT1VpeDdnWUF4TjgwZVFFc1ZrcmxSeUtSNnFLaW9xNkorRVExbldJVllycmJ2SGx6aHRQcC9BU0FMd01vR1dwZE9TT1JBQ0djc1d5b05WMElRRDhQeFU0blNpeW1NQlI2T2Zad25DcjJzaHBEdkxlTnY3QjJFTkU4cFZSdzNicDExZnYzNzVmbGNtbnEvdnZ2OTlwc3RwdVZVbHNRS3hZNWJBMlFBUUlhbk1ETG1ZUjJlOUxTbCttSVlrdS9RaHJndHhGMGkrR0pBb2xGQkVQdVFlUWtvbmtBdWk2OTlOSzNEeDA2SlBXdzBsU3E0eHBnT0NpTWhZNHpXSk5aalNLN0g0Wm1UdWRoRFFXR1crdEh2cTBIVWRiUUYzVWl3c09PYkJuWFFweG5ZNWdKd3N6Y1pGblducDA3ZDdhT3RuRjVlVGs1SEk3RlJIUUpZclhZUmtKRTVGRktVWDkvLzVFREJ3NzBwaGpUdENOSmtEU1RTQzRZaHRGSVJBdUlLQjhwZG1LSkl3QXVBSXMwVFN2T3lNZzRlZjMxMTNkV1ZWV2Q5eXJlNlJTckVOUFZ4bzBiSGJtNXVkY1MwWFlpV2t4RSt1QnRFZ21RZmhBYVRUc2FMUWRDWnorbG02YXZxZ0VrNG91Q0VHQU5FVlp3a1FrRFBHUWlCQUF4czV1WkZ4QlIvZHExYStzT0hEZ2dMYlhUek1hTkd4MGVqK2RxWGRjZkFMQnNxREVOeE1aMVVBRnZ1NERYdmJIbEw5WmsxLzBZRDRwVmVlalhZb1ZUV1FIZXlMdDFRb2JlQXg0QWkreDJlLzNLbFN2cnBGVjgra2wxWEFNTWwrckhjbmNkTHNrOGlWeWo5MnpSMCtrczhhZm5WTEZhSVFwQVY4U05NQnNZb1VhSWpHc2h6cE14SkVIQ1JQUmFOQnA5THBWWnMrdldyVk9HWVJRUjBRY1Ird0I2V0VrenZRb0J2SG5aWlplZE9uVG9VRm9XU1pVa1NCbzZmUGp3d01VWFg5emdjcmxxQUpRaE5pMXBUTWtGSW5JZ1ZnUm5zV21hamZIMmsrZjl5U21kWWhWaXV2SDVmTHJiN2I2WWlIWVEwV3JFaW9TKzkyOG5uZ0NwalRwd2hoMFlHSFlDL25RVmE2a2JoSVorVnZER0V5SERkWTFSU21VQVdLaHAycHNmK3RDSFRrdGlOSDFVVkZSb2MrZk92Y2d3aks4UjBhVVlaa3duRWlESDNjQmJIa0t2TWMyV3Y0d212andtcklCT1BkWkpKanNLMkVaSWhCQlJKak12Y0xsYzFUS3UwMHVxNHpxUkFGbmxmUWNYZTJ1UlpRU250UGJIV0NXV3g5aFZGRGxHTHh4YUJCMFI3NGlKRUJuWFFwd2ZZMGlDUkFDOEhJMUcveXVWZHJhWFhYYVpacmZiNXdINGN5TEtTT0g0Qk1DcGFWcVdZUmdIWDN6eHhiUXNranJNT2tVeDNYMzN1OS90Q3dRQ2Z6Qk5jenN6dndpZ043NEdMRldLbVRPSmFMMVM2dTlOMDd4eCsvYnR1WmlBbDVqcEZLc1EwMGtnRU1nRGNHZDhpdUtRN2N1WWdUQ0EwNllkcld4SGVOSTd2NXd2c1JraEhXeWczblJnZ0FsRFhTWGlhMUlOQUN1STZLNW9ORG9YNmZtQVo2WEZpeGZuMld5Mkw4ZmZLQTQ5cGhGYkFuUFNHU3VBR3RDbjhmS1gwVkJzUmtpdGkzRENUUWlxb1N0RUpoV1V2SWlJN2dKUURCblhhU09WY1EwdzdCVEdNbGM5VnJqcjRkVkRhWlhYUzBZRXVMVUJMSEdkeGtwM0hWeXFIME9OYkJuWFFreSsrREs4QXRNMFIrcjJjdGJBd0lCR1JBV0lyZHhNbFEzQUpaWmwzZnpnZ3c5bWpTZk9xU1l6UWRMWW9VT0hvcXRYcjI1MU9wM0hpYWdRc1NKVWRxVDRCSk5VYkxDQW1WY1JFY1dubC9maFBGZnlUcWRZaFpnT2ZENmZnNGoraklqK2lvZ0toeXFFeWh4ckF0OWkyZEJncGVNTWtNRmlCVlA3b1dMcno5WFF4VktUWGxobk0zUFQyclZyMzVKbE1kUGY1czJiN1RhYjdWcE4wLzU2MkRHTjJFZFk5YzdZRXBoZUk0MFRJQW54Z3FtOU9zRmhNaktpUXhkTFRYcWV5NHBFSXJWcjFxeXBQbmp3WUdUeUF4WmprY3E0VGhSQlhlZzRnMHN5VDhabWdLVC9zSVpCSmpLTkFJS1dIZDBSOTVERlVtVmNDM0YrakdFbUNNVS9iUDdwZ1FNSDJrZmJlTU9HRFM1TjAyNEVjQVVSalZZVEpIYUNlSkZVSXNwbjVyUXNraW96UWRMY25qMTdCbHBhV282RncrRy9CZkFMQUg3RWVrT25KUEhrcEpTNlFDbTEyVzYzMzdkOSsvWWxtelp0U2lsN09GTmpGV0tLVVNnVUtpQ2lUd09ZZ3lHdTFjeXhQNTVPMWxGdk90Q2Y5Z21RQkVJWUNrMldFKzJXZ1NndzdJd1F4QW91ZndwQUNlVDViTnB6T3AyNW1xWjlEc09OYWNTU2VxMjJXQUtrWnlZa1FCS0lFTkNBTjcwS3pmYlk0eHh1UmdnUjVTcWxQbU1ZaHN4eVNnT2pqV3VBb2NGQ29hMEQ1Umx2SThzSXpLUmhEYThXd21ydk95aHh0RU9ub1VlMmpHc2hKZzh6RXhGbDZMcStldXZXcmFNV09nV1F5Y3dYWS9TaXFJTnBBTW8wVGJzdEVva1VqaXZZS1NRelFXYUFJMGVPV0laaCtPZk9uZnQ2ZkMzWGZDSnlZV3l6TEJRQUR6TXZWa3BkNEhBNGFpKzc3TEtPODEzc0pwMWlGV0txYk5xMHllVjJ1eittbFBwZlJKU05RWDhmSFAvcVlZVWEwNGsrRExzZU8wM0Zsc2IweHd1bE9zZzZXNVF2R1RNcmlsVXBiNy9ra2t0ZVAzVG9VRnIzckovSnRtN2Q2blM1WEg4QjRQTkVsSU1oeHJRRndLL0gydUMyMjlPa0NPcVl4R3FEOU9tRTdBakRhUTFkdXBpWmxWTEtBNkJsMWFwVnh3OGZQand3QmNHS0ZJdzJybU1sY2kza0d0MVltMW1OSWxzbmRKcitSVkRIeXE0aXlOQ0Q2QWhuSUdBNmh1eEtKdU5haVBjbjFaa2c4YVNqaHRoN3BRTUhEeDdzR203YmUrKzkxNjNyK3NlVVVwOGE2dlZtQ3VjeGlLaVFtZDlldm54NXpaRWpSOUptbHBja1FXYUkydHBhYS8vKy9aMVhYbm5sNi9HQnZ4Q0FHL0V4bXVKaENMRXNZS2xTYXFXbWFXMVhYWFZWeS83OSs4L3JFMVU2eFNyRUZLRHJyNzkrdnE3ci94OWlkUy9ldTBhVGdSQUlOYVlMbld5YjBEYTRSTUNjTEM5dSsrQmx1T3NqVitIalYxeUVYSzhMcC8zZENJWW5kZ1ZLQklRQktHUlFGTFloQ3FYR3J4YzJBUG1HWWV5Zk0yZE9xN1RSbnBabzNicDF4WnFtUGFpVVdvblkxUGozQ0NqZ21CZG9kaXBFMDdWWXdrZ285cDkrRFFpcC81KzlOdyt3b3p6UGZIL3ZWMVZuN2IzVjJvVWtoSVFRbTFqRlpvc0JuTVFrazgwbW50d3N4cGtNZDJ5UE0rWWFNek40bkt1WnNHU0FBUnhzN0NFM2NXTEhUaHdTTzNFU083NFRHeGtrQkFLeENyRnAzN2VXZWo5TFZYM3YvSEZPaTViVTYrbHU5VG10Ny9lSFNkUjk2cnpuOUZOVjMvZlV1MEJiRVpLRE5Fb3RweGtueWd2U1o1NTc3cm1qdUxMUGFtUlV1cTR6T1ZZMXZNUEM5Q0VTeGs0N0ErVEUxQml2UU1ia09SUTJrYmNKQml1TGNicDJPQ3BuRE9Vd3FLb25JbzFCRUxUZmNNTU4yNTk5OXRtK1UzK25YTXAzY1JBRWR6SHNSS3RoRVZWTmlVaHpFQVRQclYrLy9sZ0Z4NWdTbkFreXZkQjE2OVoxZnZDREgzeExWZlBBNG5LMmhSbXR1VENnZG5PMmlGem1lVjcrbW11dTJmdWhEMzJvZCszYXRSTjVzNnFsV0IyT004YmRkOTlkNy92K2I0cklMd01OcDU0UEovcUF4RWtPYXBKb2todWhacE1KUG5ydHBmemNaUmN3cDdtQnBteWFCVE9hVVlXdEI0OVNqQ2FyMFgvcE00VVlmSlI2VS82a3AzOVVFWkdNaVBSa3M5blhObXpZY05xTjNqRzEzSFhYWGRsME92MVJZOHl2cVdyVGFacW1wT21kYVhpdlRpaDQwNmdNNWxTazlIbnpSa2hacFRrY3ZEOElwWHRoMXZmOTdpdXV1T0wxNTU5L1BuZW1RM1VNejBpNkJzVW5Za2w2UHhmVjd5TGpoUk1rYTBHOEZDVHFNTmsydkptWEVTejVNSWtMZjV2a2l2K0w1TVczazdqa2Qwa3MranRxQUFBZ0FFbEVRVlJkOVI5Slh2cnZDUzc0TlpMbjMwWml5Uy9nTGJnUnYvbGNKS2dEalVHOGt2YnMrSzdqSW1CUTBsNlJuRTNRSGpZTTJoOEVwMnVIbzJMR1lvS1VyMGRwRVZrT3hOZGZmLzNlVzI2NUpicjQ0b3RsNWNxVnlSdHZ2TEd4cnE3dUttUE1QU0p5RFVNMmRCNFZIdEJrak9tODhzb3IzNnlWODlxWklOT1FaNTk5dHVlR0cyNTRCOWdITENtNzd0NFl6UVhQR05NaUlwY1lZMmJFY2J4bjVjcVZuUnMzYnB6UUhVOHR4ZXB3VERacjFxd3hVUlNkNTNuZWY2SjBQcHgyalZZZ3A0YWRjWm8rZkNiN2NYbHJRNGJmdmVVYUZzeG9JdkE5Zk0rUVRTWm9yYyt3NFoxZGRQWk41cjFPc0VDb1FxT0VKQWRKSSs4M1ExVzF6ZmY5NXkrNDRJSURtelp0cXFubVhOTWNXYjE2OVNJUitjL0ErWU05YVZLZzI0UFhHb1RPaEtCVlpJRFVCUWx1bkwrRUI2Ni9sZjkwNVUyYzM5ekcxczUyT2d1NXloOWhpMkNsWklUTUxyeGZGblB5cjV3dytadVR5ZVQ2V2JObUhYSlpUbFhGaUxvR3FQZDZXZFg0RHEySmJyenhkaTB5UGhKa01YVnpDQmFzSm5IQngwaXUrQTJDeFIvQ24zazVYdE5DVEhZV0p0V0lTV1FSRXlER3cvaHBKRkdIcEdmZzFjL0ZhNzBBZjk1MUJBdHZ4cHR4SVpLb1I2TWNhdU9TTWFLVlhUNUZ3SmVZbEZka1gyRUdPWnRpbUNhcFR0Y094eGdaaXdrQ0lDSkdWZXRGNUNMUDh5NncxczVMSnBNejYrdnJyL0o5LzllQU8wVGtjaUF6RGdPa3Z5d21vYXF6Z2lCNHNWYldZYzRFbWFhc1c3ZXViK1hLbFR0VHFkVGJxcnJBR05NR28yOGNNS0QzUnIySUxBTXVUaVFTUjY2Ly92cWpFMTF5VWt1eE9oeVR5ZFZYWDEwWEJNSHRJdkpob0c2d0xKQVlPR0NUSE5ZRWRoTExZQUNNQ0xPYjZ2bjVLMWJRa0VrTitJbGdyZkxzbHUwYzZlNGR0SEhwUkJJamVBSU5KaDUwV2d3Z3hwZ1VVRFRHYkhUWklOWERwejcxcWJwTUp2UHJRMlkyQWFIQXRqVHN5aGpDS2lxRGFVZ2srZERDOC9tOWxSOWdSZXRzR3BJcDVtWWJhUWlTYk90c3A2dVlIMGN1ZjJsaVRFS2h0Y2lnZHFhcUNwQlcxZTUwT3YxeXJUeGRPeHNZU2RlbGFUQWhGMlQyY0Y1MlAwa1RWNTRGSWdZU0RmZ3pMeUZZK3Fza0wvbzRpWVUzNGJVdXgyUm5Jc2tHSk1nZ1hnSXhQaGdmeEN2WHFVanA5Y1pIakYvNm5iSXBZbExObUlaejhHZXR4SnQ3SFY3OWZMQWhHdlpDSEZKcHBVb2dNVVVOT0ZKc0lob2tHOFRwMnVHb2pMR2FJRkF5UWtRa1N5bmovaXJnUThBdHdCV1VSbFlueDJPQTlGTnV4cG9GVERhYmZlblpaNS90SHU4eEp4dG5na3hqTm03Y1dManBwcHYyaFdHNDJSalRTbWtzN2VuVy9QRDAxM3JOQTY0eXhzaDExMTIzTndpQzNwMDdkMDZZeTFkTHNUb2NrOFdIUHZTaEdYRWNmMDVFbGc3MXhMeFhEYnZpTkxrek1BMUdqRENqb1k1YkxsbEdmVHI1L3I4TDlCVkRudDY4bFNPZHZlaWt1aUNDQWtVMU5FbElhdWhzRUU5Vk02cjZnL1hyMTdkUFlrQ09NWERqalRlMitMNy9XZUFDRVRtdFo0SUNYVDY4MmxCZDQzQWJFa2x1V2JDTVQ2Kzhudk9iMjBqNkFaNFkwbjdBT1EzTk5DVlRiTzA0V3JrUkltQUZja2FZbFZjeTl2U3hJdjI2RnBHa01lWUg2OWF0T3o3K1QrYVlDRWJTdGFBMCtxVXNrS2FndCtKeHVPS25NQTNua0ZoK0c4bUxmcHRnN3RWNGRYTkttUjBtS0JrY0ZkMEhTdWFJbUFBSjBwaFVLMTd6RXZ6WlZ5Q3BKalIzRk1LK01aZkppSUFSUzhZcnNML1FTbCtjTHZlc0d2ZzdUdGNPUnlWVVlvS1U2Yy9BeW9oSXZZalVpVWhLUkVhZGVUL2lHNVFJUkdSbXJUUkpkU2JJTkdmdDJyWFJMYmZjY2pnTXc5Yzh6MHNDQzFSMVRFMUl5Ny9ubDB0T0xqYkdMRnl3WU1IZVZhdFdkVXprclBkYWl0WGhtR2p1dU9PT0lKbE1YbTZNK1RqUU9sUXZrUDAyU2JzR0U1WUZJZ0xKd0NmaGwyNEhkb0NoSVNLMDFtZFBNMEdnWklMODVJMzNPTnpaYzVJSmt2QTlFcjZQSUNjZGE3elk4bWR0bEdqUWJKRHlVd2hqakhuNTVwdHYzcjUyN1ZvM0xXcUt1ZTIyMjd6WnMyZXZFSkYvQjdRTmxnVlNGSGczQzN2VGhyaEtwc0VNTkVDV05zM0FOOTZKc0VTRWxPZXpzTDZGZWZXTjdPdyt6dkY4WDRWYUYrTHlSMjRMSVJpa1NTcWxIZ3FlcW02NDdMTExkcnN5ejZsbkpGMkRrcENRaStwMnNqaHppSVJVMGd4VmtHUVQvc0tiU0YxNkI4R0NEMkt5c3hFL1djcnltTkFUcFd5SWVBa2syWWpYdkFSdnhzVmdRMnp1TUVSakg3cmxTNHlxY0xEWVRLU0RsbTA2WFRzY1kyUWNKc2laNGtTVDFHdzIrL3d6enp4empDcHVmdXhNa0xPQXRXdlgyblhyMWgzL3dBYys4S2ExdHBkU1NsUWpZMjlDYWlpbDZKK3JxaXM5eit0ZXRXclZvZWVlZTI3Q1VzOXJLVmFIWXlLNStlYWJzNTduZlVSRWJwVFMyT2lUVUtEWEduYllOSVVKeWdJeElyUTExSEhEOHNWY3NuQU9TZCtuTzE4Z2pFdnIwYkdZSU1ZSU14dnF1V3JwQXE0NGR6NzFtUlJkdVR5RmFDSzhpRkkyU0VncEd5UXBldHFUMWZKNXJ5SnlLQXpERjlhdFcrZFNyS2VZVzIrOU5lUDcvaThDSHlxbnlaNkVBaDArdk40ZzlQalZrUVdTOUh4V3oxL0NmN3pzQXl4cmJqdkpBT2xIUkVqNUFmUHJHbG5jMk1MT3JtTzA1L3VJeDlwTG9ad05VdkNFbVFXbExoNHlHOFI2bnJmUDg3eE42OWF0YzJPZ3A1aVJkQzBvelg0UFZ6VytTNFBmVjBFV2lDRHBHU1NXL1FySkMzOExyMlVaa3NpT0krdGo5TytMR01SUFl0SXo4R2FzQU9PalBYdlJzSS9SN21WSzJTQkt5aXR3SU45S1Q1eEdUMUcyMDdYRE1YWnF3QVNCVXBaWGs3VzIrNFliYnRoY3pXc3haNEtjUGVpenp6N2JmZlhWVjcvamVkNSs0RnhqVEpPcSttTk1oUkpWVFlySWJHUE1sYjd2WjYrNzdycmRLMWFzNko3QUpqaTFGS3ZETVNHc1hyMjYyUmp6U1VwanlrNUxyNDZCd3phZ2ZZSjZnWGpHY0U1Yk01KzQ2U3IrOVpVWGNkVjVDN2o4M1BrQTdENXluRUlZamRvRUFXVnVjeU8vYzh2Vi9OSlZGM1BWZVF1NGJQRThNZ21mdmNjNjZTdUVFL0Fvb0dTRUpFUnBNQkhlNEIvZnFLb3h4dnpUTTg4ODB6SHV0M1NNaTlXclZ6Y1pZKzRRa1VISGgwWUN1OUt3cDBwRzRub2lKRHlmNitZczR2cDVpMmxJcERCRDNISUVTSGcrc3pMMUxHcHNaWDlQSjBkeXZVUjJyRWFJb0FJWkN6UEt2VUZPUlZYRldodGJhMyswZnYzNnpqRi9NTWVFTXBLdWZZbFlrdG5Qa3ZSQkVtUHVCU0pJZGhhSkMzK0x4TEpmd2RUUEJUUHFGbWtUaElEeGtFUVcwM1F1SnRsQTNMRWR3dEsxZnRTSEVLVXZUbkc0MkVROGlMS2RyaDJPc1ZFTEpvaUluTmg3cWVwTEsxYXMyRit0ZXk1bmdweGxiTml3b2UvYWE2L2RZWXpaQXN3MHhzd0F4dFI3bzF6MzVRT05JbktCNTNuTHM5bnNrWnR1dXVuWTJyVnJKNndSYVMzRjZuQ01oOXR1dTgyYk1XUEcrY2FZLzF0RVpuS0t4bFVoVW1Gdm5LSVgvN1NuYW1QRjl3eExacmZ5YjI5ZXhiWG5MNks1UGtNNkVkQ1FUakczdFlIdEI5czUyTm1OcW83S0JFa0dQajk3MlhJK2ZQbHlaamJXa1U0RTFLZVRuTlBXVEdNNnpaNmpIWFRuQ3hQU1FGV0FHUktXR2ttZWZpVXdJdUpaYTlmZmZQUE5lOWF1WGV0U3JLZUlOV3ZXR0d2dFloSDVKS1V4NWllSnRyOFU1dTBzSEVzSVdtblRoQWxBS0pYQW5OYzBnNzZveU83dTR5U014K0xHRmpKK2dxRzhkd0VDejJOV3BvNXpHMXZaM1hXY1hkMlZlVytpd29LQ2toaThKTVlyRzZNL3VlV1dXL2F2WGJ1MktoZVVad01qNlJxVXBJUmNVcmVEdG1RWG5obmpSUy9WUXVxaTN5SngzaTlnTW0zbDBwY3BRa3lwaVdyZGZDUklFeDk3cDlRblpEUXZwZCsyRm5ibVoxUFVRWTBjcDJ1SFl3elVnZ2xTUm9DTU1TWUlndURGOWV2WGQwMTFRSVBoVEpDemtQWHIxeGZyNnVyMno1bzE2MlZLbTRiNVkrMjlVVVpVTlFPY0Exd1Z4M0ZpOWVyVis1Y3ZYOTQ3VWE1ZkxjWHFjRlRLcmJmZW1nbUM0QmRFNUdlQnVsTi8zajhXZDQrbUtUSytsR2pQbEF5UTM3bnBhcTVhZWc3WlZQTEUwMjRSd1loaDM3Rk8zdDEvaERDT1IyV0NwQUtmV3krL2dQUG56VHpSVzBSRVNDVUM1clUwTXJPeGp0MUhPK2pzeTQzYkNMRUlMY00zU0ZWZ3o5R2pSMTk1NmFXWFhJcjFGSEhaWlplbGdpRDRHUkg1MTVRbWQ1M1dENlRiaHpmcmhadzNkYVV3QWpTbk12enFlWmZ3cVV1dUkrVUhiR2sveE9iMmcvaGlXRFFLSThRM0hzMnBEUE95RGZ6dDFqZkdISU9XZTRQTXl5dVpJVXBpUk1RYVkzWVVDb1UzMXE5Zjd3ejhLV0lrWFF0S2c5L0xaUTNieUhxRk1jbGFnZ3pCd2x0SVh2QXhUSGJXMUJvZ0o0S1NVblBXN0J5MGNCemJ1UlBpNHVoZUNoZ3NPL016NlkzVG5IcmZjcnAyT01aR3JaZ2cvUStnUmFUTkdMTjExYXBWMjZ1eEwrTjRwNVk3YXBRZi92Q0hoV1F5K1hZWWh2OHppcUw3VlhVemtOY3hqbmtvTHdBeXdBb1IrU3p3NEl3Wk16NjRaczJhSmlZb2Y3T1dZblU0S2tGVjB5SnlUZG5nT3cwTGRPRVRqYk1NUmdSbU45WHo4WDkxRlZlZXQ0QnNNbmxTdXI4cUZLT1l6dDRjOFJqUytoWG83TXNUUnZGSkpvY1JvU0dUNHJybGkvbU5EMXpPck1hNmNlNTFoUmloVTMyR1NmRklpY2kxRFEwTjllTjVKOGU0U1J0anJtT1FVYzlRS3U5cUQ2Qm9wdDRBK1pVbEYvRnZMMXpGWlRQbjhZa1ZWL0dyNTExTVpDM2ZmSHNUZi8zT3F4ek85UXpiK0ZTQWpCOXd6WnhGRlFjU0dUaWNLSlVJRFlhcXBvQWhyeEdPTThhd3V2YXd6RXdjSjJYQ3NjbmFlSmltODBndS95Z21PN3M2REpCK3hHRFNNd2lXZmdTdlpYbHBCTzlvWGlhUU1ERnprOGNJWlBEZVVFN1hEc2UweGFqcVRPQVRRUkFzcEFvOUI3ZnhPMFBjZGRkZGl6T1p6Q2ZpT1A2d01lWVNJREhWTVoxS3Y2Y3d0Z1NMd1YrdnFoVWZaNnp2TmQ3WFQzYXNEc2RJNkNrVFdVNzZHUkNxOEY2VTVxQW1pY2R4SDZsUEovbm90WmZ3MFd0WDBseVhQczBBNlNzVzJmamVicjcybytmWWM3UURCSmJPYWVPQjMvaDU1clkwbkhTc285MjlmT0ZiUDJEejdvTVlFUzViUEpkUC90ejFMSm5kU3VENUoyMEFyQ3JIZTNMODFicFgrUHVOYjlDVnEveUJuNkMwVW1TRjMwdlNuRHA4Y2ZqdjBuSG1VTlVUMTliQk5GMFEyTmdJMnpLR2FJZ0dMNVBKUUFQa2R5NWN4VG4xVFJncFRUUTYwTnZGbjIxNWtlOXVmUVBmR0g1citSWDgydmtybVptdUc3SkhpQUpoSExQd1QrK3RLQjVqbFFVNTVib09KV3NIWDV5Tjk3N25HRC9ENmJwVUNsUGtBODF2Y0VGbUx3bHY5TlY0a213Z2VjbnZramovbzBpeWdlcGJuaXNhOWxKNDU3c1VYL3RqTkg5c1ZLK0tyR0Y3YmhZL09iYVNYbnQ2TmdnNFhUdHFtL0lEMllLcWJ2WTg3NS9pT1A3aisrNjdiOTlrdk5jWHYvakZxcDIwTWhoYUd0dlhIc2Z4SDZucUV3ODg4RUQ3Vk1jMGtLcHpaYVlqbi8zc1orY2trOG5mdGRiK29vZ3NVdFVxc3ZoTEROdzQ5Ti9reDVob2NlSUcxdis2U280eEdtb3BWb2RqdEF5NUFGUUlGYnJVSng3SHd0ajNET2ZQbmNuTmx5eWpLWnNhMUFCNWFlc2V2cm4ySmZZZDZ4elR5TTh3anRtODV4RGYvT2ttdGg5c0o0eWkwekpDbXJJcFBuejVjbFlzbUUzZ1YzNEpWS0FIanlJeWFHbk40SnNUeDFSZ3pOQkxqSUtCb3draG1vSlZ5R0FHQ0VCSElVZG5NYy9zYkQyM2p5RWpSSUZjRkxMeDBPNktZN0lDN1FraFp3WnZQZW51VDlYRGNMcE9taUt6RWgzNFptenRpRXpkUFB4NTF5SkJIZFZuZ0FBSTRxZEp6TDhlMDdCZzFLL3l4RElqMFVuYUt6Q1lzcDJ1SGRNRVgwUVdXV3QvVVZWLzkvT2YvL3pzcVE2b0dpZzNTVzAyeG54TVZTKys0NDQ3VG1za1BaVTRFMlNTdWZQT085UDE5ZlVmTU1iOHFvaGNLaUl6UktvcHo3SEV3STNEd1A5V1lpNE0zSUJVY295eHZFZTF4K3B3akphaE1wSXMwS3RldVJkSTVUUm5NL3pLcW91WjE5S0lHZERMVHhYeVljaW1iWHY1ODZkZjVMMERSNG5pc2JmSjZTc1VlZjdkWGZ4L1AzNkJ0L2NkSHNRSU1jeHRhZVFqMTF4Q1cwTjJIQlVRUW9TaDIzcTRaajdWelZDYWppbU54czE1NDU5eU5GYUdNa0QyOVhieUoyOXU1UHZiMzZRdkRKbGIxemlvRVhLd3I1dDRvQkVQRktPSXQ0OGQ0c2szbmg5SFlFSm80RmlDUVV1OW5MRlhQUXlsYTRPbE5lZ21Zd3BqVm5XdzhDWk1aallNWTdCTU9XS1E5QXlDK1I4Y3cyc2daVUxhZ2s3OFFhN1lUdGVPV21kQS80c1pJbktwTWVZamlVVGkranZ2dkRNOTFiRlZDVVpFRnZxK2YzdGJXMXRWbVVOVmZMV2RIalEyTnJaYWF6K3Fxa3VuT3BiUk1MQThaRHhaRWtObFdreGt4a1V0eGVwd2pNUlFpOEgrcHFpbDVXTmxDOGJBOTFpeFlCWXJGc3dpR1p4Y3FoTEZNVnNQSE9VYmEwc0dTQmhYUGxDbHIxQmswN2E5L05uVEw3TG5XQ2RXMzEvMGlrRFM5N2xnL2l3dVhEQ2JwRCs2dXZMQlVLQVByendxZUpDZnUvTjJ5aGx1YzZOU2Fvb2FuMkVQWkRnRDVGdHZ2OHlodm02dW1yV0FUSkRBRXpuTkNQbnp0MTdpVDkvY3lQNmVUbUxWRXdiSWxtT0grTklyejdMaHdNNXh4V2NGdXYxU2sxUkhkVEtjcmoyeE5QcTkrTWFPMmVTVjV2UEJUMUtkV1NEOUNIaEpUTXZ5c2J3Q1Q1VG1vQmRQM0xBdXgvUkdWWVZTMzhHUFpES1ptVk1kVHpYUTM0OVJSRzVXMVp2dnV1dXVxdW4vNDB5UVNTYWZ6MThFZkxBYXN6K0c0dFRzaUg3R20ya3hHZFJTckE3SFVBeVhoYVJBSG8vVHUxK01ublFpNE1vbEMyakluRndHWTFYcDZNdnhkeHMzcysxZys3Z01rSDV5eFpBM2RoL2duMTkraTQ3ZS9FblpJQ0tRVFNXNDZyeHp5S1lxYjR1a0NEbjFocHcwNDg3bHFXZTRYa3NXNlBFNG81azhJeGtnN2JsZWZtUDU1U3h0bW9GZmZocC9xaEVTcStWdjNudU5QOXZ5SXZ0N09zbEhJVnVPSGVLeFY1NWgvWUdkOUlTam01b3hGQ2UrbDJIazY3UTl0UXluYTBHcDgzS1lDcFJ0R3VZam8ydzRPcFdJOFpENnVXTjZqY0ZTNy9YaHlURE5oWjJ1SGRPQWNsYUlCOXhvcmIxMHF1T3BJZ3d3VTBRKzdubmVJcXJFZjZpS0lLWXp2dSt2QW1aTWRSeVZjT3JHclAvL3J6VFRvdDlvR0hpTWljNEtxWVZZSFk3QkdEb1RSQVprZ2xSR1czMldTeGZOSlJXY3ZNZ3VSakV2YmQzRHBtMTd5SWNUTjcyc0oxL2dKNXUzc21YUEFZclJ5Vk1Ca3I3UEpRdm5NTE94OHVFdENoU0cyV3E0YzdXNktXMzJaZGpOL2tReW1BR2lxdXp0ZWQ4QStjMExybUJGeXl3U25uK1MzVGpRQ1BuSWVaY0E4TGRiWCtkUDN0ekkrdjA3ZUxSc2dQU08wd0NCa3ZreDB2Zml0RjI5R0NtTngvV2tBaE1rTXd1dGhXZGxZakNaV1dONmlSR2wzczloaHZsZW5LNGQwNHcyei9PdW5Pb2dxZ2xWRFVUa1l0LzNmKzF6bi90Y3kxVEhBODRFT1JOY0tTSTErejBQekpBWTJCVjlQQ1VucC9iMG1FZ2pwRlppZFRoT1piaE1rQ0ptWEprZ2x5K1pUMHRkNXJSZUlMbHlINCtPM3R5UVdSV1ZvQXJ0WGIwOCs5Wk91dk9GVTdKQmhLWnNtc3NXejZ2OCtFQ2t3OWRTdUhOMWFobk9oRmFCbkYvNjcyUXpxQUVDN09nNnhwKzgrUUpIaHpGQStqblZDRkhncjk1OWhTOXUrR2ZXN2Q4eElRWklmN1RoRUkxUiszRzZubHFHMDdWQnFmTktWK3N4WThPcUxvUTVDUjFieHFDZ0pDUWM5bnR4dW5aTU16eFZYVG5WUVZRVDViS1lKdUNqNlhUNmt0dHV1MjNLcDZUVzdPYThobGc0MVFGTUpCUFJmMk5naHNWazl0Nm9wVmdkWnpmV0R2L2tVRlVxV1ZhZllObmN0dE42Z2FncTdkMTl2TFAvQ0lWVHNqWGUvNlhoRjZmRFRaQXBSQkd2N3RqSGtjNmUwM3FESkh5UEpiTmJ4L3c1VG5wdmh0NHN1dFRxNnNlS2pNdllHdzBDdEF4aWdHenZPTXFmdkxtUnJtS2UzMXgrK2JBR1NEK2VDSE95RGZ6NitaZHg3ZXlGRk9PWVhWM0h5VVVUbDBHbGxQcWtPRjNYS2pwc3RzTncyTzY5cUIzaU9seE4yQmpiZTJqTUwvTWxaaWhsTzEwN3Boc2lJc2FZUlZNZFJ4VmlqREhuQUorNDhNSUxwN3hKcWpOQkpwODVVeDNBUkREUlBUTUdIcXQvM054a1pJUk0xUEg2bWVoWUhRNFlvWWtrTU42bGNWdERIYjUzOHVXK0dNZHNPM1NVN2x4K3lDd1FSZWtyaElSeGZOTHZxRUlZeFJUQ2FPaW4vUW9kdlgyOGQrQUloZkRrVCtBWnc4ekd1bkY5cG1pWTU0ckQxZTA3emd3amFibzR6R1ovUXQ0ZmFNdlU4ZXZuWDhidlhuVE5TUWJJbjI1NWtWd1U4dkVMcnVUQzF0a2pHaUQ5TVljMlpuOVBGenU2amhIYWVGTGlMdzZUQ2VKMFBmVU05LzJMUUNBaE1renZpNkd3WGJ2UmVLSXlpaVlQMVJqYnZYZE1yeEVnWVNLR3N2S2RyaDNURVZVZFc5M1lXY0NBSnFrM3huRjg2MVRINDB5UVNhYmNLWGphY0dvajB2SGN1QVptV2t3R3RSU3I0K3htSkcwT05RVmx0TXlveitDZE1uclJXc3ZScnQ1aHgrR3FsdnA3dkhmZ0NIM0ZJcXFsZitzckZ0bXk1eURIZTNMRFpvUEVWam5VMFhQYWV4Z2p0TlJseHZHSmh2OCtYS1BqcVdka1RVL2lld016TTNYODV2bVg4OXNYWE1uOHVzYlRESkRiVjR6TkFNbEhJWnNPN2VWTHJ6N0xPOGVQRUkyUXZWVnA0TVBkWVp5dXA1NWhUUkFVWHlxN1d0dU9iVWhjWUhLdHdmR2lhSmpESG41bFRLOFNLZlVGR2VwN2NicDJURlBjSG50d2pLcTJxdXEvbWVwQXFyOFZkWTBqSWdlQnFtZ0FNOUZZYThkMTh4cG9LQXpzM3pFWk44TmFpdFZ4OXRHdno2R29xTVo4QUMxMUdUeHo4dkZqcTNUbENzUjIrR1AzNW90ODc0VTNDRHlQWlhQYlVJVXRldy95bmZXdjB0R2JHL2Exc2JVYzcra2pQbVhENklrWnB3a3lmTXp1M0p4NlJ0YjA1SERDQUZsK0JiOSsvbVhNempaZ1ZTZkVBSG4wbFdmWWRIZ3ZoWGlTeWhaR09NMmRycWVlNFhTdENIR0Z5ZzUzcjhWYnNKb2cxUVFtR0UrSWs0ZTEySjc5UlBzMmpPbGxxaVAzdVhHNmRrdzNST1RvVk1kUWpXaHBROVVIYkp6cVdKd0pNdm5zQWxaTWRSQVR3YWszS21OTXhaa1JBM3Qxbk5wOGRDS29wVmdkanVFUXhuK2hUaVVDWkpEdFhoVEhJNTRYWVJ6eitxNEQ3RDdTUVVNNmlWV2xPMStnc3pjL3FwRzZrZFhURjhBQ3lXQjhuMnE0b2NIT3BLeHVCRWhvNmI4VCtkeTdwZzJRTW9FZE9zL0o2YnE2VVlXaURiQXF3NDZESGZTMXZRZUpkLzBZcjJFUkp0UENTTmx1Wng1RncyN2l2YzlnK3c2TzhaVlF0UDZRR1kxTzE0N3BocXFxaU95WjZqaXFFUkVKcmJWdlJGSDB6YW1PeFprZ2s0eUl2QXI4SE5WM1J4c1QvUnVsVTUrQ2pQV20xWCtjL3B1ZU1SUC9QTENXWW5VNFJvT0lJaU04VFJ1T3JseWVoTzlqR0dnTUNuV3BKTWFNZkY2RVVjeVJyaDZPZHZjQWpIcVNqSWlRVFFhWVU4NDlWYVU3VnhqOUJ4aUU0VXlRZ2RPaEhOV0pVU2dwZW1MK1J0UEJBQkhBMTZHL0VWZU9XZTBJVml0YkoyaVVJOXp6VTd3Rk4yS1NkZUFscUo1bG8wSmNKRHE2aFhEbnY2REYzakVmSVZLUG9UNlAwN1ZqR3FLcSt2cFVCMUdGV0ZVOVlxMzlzemlPdDA5MU1HNVhOOG1vNmd1cTJqM1ZjVlRLcVRlbmZpT2dFa1BoMUVrdEU5MWpvNVppZFRnR01sS3Bsai9zTEpTUmFlOCt2U1RGaU5EV2tNVWZnN25YM3hOa3RIakcwSlJObjJhQ3hMSGxhRmZQNkE5MENnSjRGYi9hY1NZWVR0T2lrSWhMeHQ2RXZCZTFiNEQwdjdQdmJqTlZ6WEM2VmlCbmc4cDZPS25GOWh3Z2ZPdGJSQjA3MERpaWF2cURXRXZjdFpmd3JiL0VkdTBhODRoY1JRaXRQK25Ub0J5T0txTFRXdnZTVkFkUlRmU1h3YWpxLzdiV1B2M3d3dy8zVFhWTXpnU1paS0lvZWwxVjF6RzVmZUFtaFlFWkZRT3BOS05pWUdiRlpKUy9RRzNFNm5DY3luQW1tMEhKWU1kMXNUN1czWHVhQ1JKNEhvdG50cEJKVHQ2bzlsVENaL244V2FRVEo5ZTRXK0Q0Q1AxRWhrT0FwTVJEVGh0d2pmYW1udUUxRGZYeHhCaFpneGtncXNxZTd1TjgvYTBYeVVYRkdqRkFTdGt4MlZqTFdUS240elE5OVF5bmE2dUdyaWhUY1RZSWNZRm8vd3VFVzc1ZG1zQml4MmQrang4RmpiRjlod2pmL1J1aWd5K2pVWDdNUjdFcWRNZHA0aUhtQkRoZE82WUw1WTIrQlo0MXhteWE2bmlxQ1JHSnJiVzdWZlVieDQ4ZlAwQVZ1THpPQkpsa29pZzZvcXJmQlhaT2RTeGpZZUJOZnJ3WkZaTnRJdFJTckE3SFlBeFh1aUZBU2lwdHQxZGl4K0hqRktPVG45NTV4akNycVlHRmJjMEUvc1RuVmZpZVlXRmJNL05iRy9HOWs0OGZ4VEc3am5SVWZHeEJTV01acXBKbllEYVhZMm9ZN3ZzWG9HNll6ZjVvR2N3QThVVEl4eEViRHV3aU1CNmZXSEYxVFJnZ1VGcVFOVVJEbTBOTzAxUFBjSDhEaTlBVlpTcHVqZ3FneFI3QzNUOGhmT2V2c1YyN0lRNlptcjJDb25HTTdkNUhZZk9mVTl6MkE3VFFXZEdSTElhdUtEdms5K0owN1poT3FPbzJFZm5lc1dQSERreDFMTldDbHVpMDF2NmxxcjcrNUpOUGhsTWRFemdUWk5KNStPR0grNnkxUDFIVkg2cnFObFh0cFlxelFvYTZHVldhVVhIcS96MlJUMmhyS1ZhSFl5U0cxRE9RRmx2T2VxaHNzZmp5OXIzMEZjS1RTbGxFSUp0S2NNTUZpMmxJSnlzNjduQmtrd2x1V0Y0NjlzRFRTQlZ5eFpDWHRsWGVNNncwYUQ0ZWNtcU9PM2VubnVIK0JrYkxtLzNLSlEzQXJFejlDUU5rVnFhZU1JN3BDWXNrUFo5YkYxM0FaeTY5Z1l0bWpONEE2UXVMdkhSb3o1UVlJRkQ2WHVwakxYMHZqcXBrT0YzSGF1aU1zOFJxeGxRMmVES0s1anNvdnZkOWNwdStSSFQ0VmJUWUEzb21sNDJLUm5uaXptMFVYdjBhNGJaL1FuUHRWSEt5S3FWTWtJNG9RMXhwaG96RFVmMVlWZTBTa2ZlQWY3VFdQdjNFRTA5VVh2TTcvU2lxNnF2QWR4OTQ0SUhqVXgxTVArNktOUG5vSC83aEgrNnkxbjVOUkg2a3FrZTBDbTN2VS90ZzlETWVRK0ZVSnRMOHFKVllIWTZ4TUpnbURaQVZXKzRMVWhuYkQ3VnpzS09MeUo2Y0RaTHdQYTQ2YndHTFo3WVFlQk9YRGVKN2hpV3pXMW0xYk9GcDVUYVJqZG5iM3NtdUk4Y3FQTHJpWWNtT2tCMVRoWmZaczRyKzYvUmdmd2NQYUFvaFlXRThMc2luTHIzK2hBSFNHeGI1Mzd2ZjRkdHZ2OHpCM2k3cUUwbmFNblVFeGh1VkFkSlRMUERzdnUwOHVPbnBLVEZBMEZJL2tLWWlnNW9ncnRGdmRUQ2NyaTJHWThWNmNuRmluTGtiaWhZNmlQYytTLzc1UDZUNDN0K2p4VzRtUHlORXdZYll2aU5FdTM1TTRZV0hDSGYrR00xM1ZQN2VDZ1gxYVM4MkVPdnA5eGluYThjMHdhcnFQbFg5WWFGUStNcDk5OTIzZTZvRHFpS3NpQnhSMVQ5dGIyL2ZTUlVsQXJqcE1HY0d2Zi8rK3pjRG41N3FRQVpCMXF4WjAxZ29GRzR3eG54R1JLNFNrVVlxTU1qS0k2RnkxdHBkSXZMTlFxSHdOL2w4ZnZmamp6OCt2akVRdFJtcnd6RnE3cm5ubm90RTVEc2lzcHhUOVN3UW9EUktURjY5aXBydTllYUx2TFpqSDB0bXRkS1FTWi9JekRCaW1ORlF4NjJYcitCQVJ6ZjcyenZIdmN3V2daa05kZnpTMVJjeHA3a0JJKzkvSEZYSUZ5TmUzcjYzNHVrd0FtU0pTY3JnMzBUNTNONG5Jci8xQjMvd0Iyc3JlaFBIdUxuNzdydlBENExncjBYa1FnYXA4RWhhYUMwcTNiNFFWN2dIK3RpeWxXU0RCTVU0NHNkNzN1UExyNjNqZUNISDd1N2pmR0xGVlp6VDBJSnZ6TEJuVEw4QnNtNy9EdjdvMVdkNXMvMFFvUjFiNDhlSndDZzBGNVZzUFBnTURSR3gxdHFkd01mdXZmZGUxM0J2aWhoSjEzbWI1SEN4a2FhZ2w0U01UMGNhNVltUGI0VjMveFp2OXBYNGlUcVFpUzVkTEhXN1ZsdUVZaDlSeHphaXJkOG4ydjg4dHU4STJQRmxyY2NxSEMwMDBHUFRnelpHZGJwMk9LWXYvYzFRZ1I5RlVmVE1rMDgrT2VYTlVBZmlUSkN6bU50dXU4MWJ0bXpaN0RBTVArWjUzdTNBZVVDS01jNWxLMjg2WXNLbFMzQUFBQ0FBU1VSQlZPQzR0WGFkaUh3dGp1Tk5EejMwMERFbTZORkZMY1hxY0l5VlJDSnhPSTdqdDFSMU1aQWUrTFBTSkJTbDBZUWNqUk1WV2VpNU1PU1pMZHU1YnZsaTZ0SkpQT252blFQSndPZWE4eGR5cUtPTDcyM2N6Skd1bm9wVHVVV2dyYUdPajF4N0NWY3RXVUF5OEU4cWhZbXRaVzk3Qit2ZjJrRnZvVmpSZXhpVVpna0pSQm5zQVdKNUJ2MTdRUkRzck94VE9DYUNPSTdiazhua3E2cTZCTWdPL0ZuL0tOaFpCV1ZmU29ncnpFbHRTSlRLdUhyQ0l0L2QrZ2JiT3RzSjQ1anZiZHRNTGdyNWR4ZGZ3N2tOTFFSRGxNTlVpd0VDcGQzMHJLS1NHR0pFcnFxR0l2SzJxaDQ2MDdFNTNtYzRYWU1RNFhHZzBNTGk5Q0VTWmdLMEpBYkp6c1lrRzBBbUtubGJ3VnBVUTRpS2FMR0wrT2htb3IzUEVSMTZHZTA3aElZNUptSkpGT0Z4b05oQzBRWU1wbXluYTRkaitpSWlzYXJ1VU5WdmRIUjBWTjA1N2t5UXM1UTc3N3d6blV3bWw0dklwNEdmQldZRG5vd3hMN0hzOHVXc3RUdEY1QytLeGVLRVoxVFVVcXdPUjRYMHFlb0dFVm5OS1NZSWxGSkRHb253c1lRSVkvVCtzRmJaZTZ5VG4yN1p4cXltZWhwUHlnWVJtckpwZnY3S0M0bFYrY2ROV3pqU2VmbzBtWkh3akdGbVk1WmZ2ZVlTZm1ibCtUUmxNeWVOeGxXRm5ueUJmM245WGZhMGQyQnRKUXRzTFJ0QzBYRHBYM2xqekF1ZG5aMWRGYnlCWTRLb3I2L3ZDOE53ZzRqOExLZHRGa3ViL3BsRkNCVHlxZ3pxYUkwU1ZTVVhoWGhpVUtOMEZuTDgwODYzNkNvVytQY1hYOHVGcmJOSStzRkpaMDAxR1NBbytCYmFpZ3c1SXJlY3ViaWh0N2UzKzh3RzV4aklTTHFPMVhDZzBFckJCbVMwT0I1WkF5QkJCbS9PS2lSUnovRFgvYkt4RVplbmJnM01HT2tmV0tHbGFTOGFGN0Y5N1dqbkR1TDJMYVcrSTkzNzBXSlhlZnJMeER3UFVvWFEraHdvdEJBTlVnb0RUdGNPeDNTbHZPZnFBUDZ5cjY5dmM3VTBReDJJTTBIT1B1U3puLzFzWXpLWi9GZWU1LzBIRWJrY2FHQ01KU1ZsY2F1SUhBTitHa1hSa3lJeTBSa1Z0UlNyd3pFZThtVVRwRXRWVzA4MStFb2pZWlVzRVhuTW9HbkZJOUdiTC9MMEcxdTUvTno1WEhMT0hBTGZQOGtJbWRHUTVaZFhYVXhiUXgzZmYvRk5kaDg5VG0raE9LSlo0UmxETnBWZzhjd1dmdm5xaTFpMWJDRk5tVFRHbkd5QUZLT0lOL2NjWk4xYk8rak5WNVlGSWtDR21Jem9vQmVCOHJuZUc4ZnhoaWlLZWl0NkU4ZUU4T2FiYnhhV0xsMjYwUmpUcWFvekI5TjBKaTZWZ1BSNmdoM0haakhoZWF4c20wdGRrQ0FmUjd4MTdCRHQrVDZlM3J1Vm5yREEvM1A1YWxhMnpTVXdwWTFZVlJrZ2xLWWROVVNsWnJIRDZWcFZOL1QxOVRsZFR5RWo2Vm9SZW15S284VUc2djBjZ1l5ai9OMzRlTTFMQ2VaZmovaVpZWDVSSVM0U2QrMGoydjBUd0NMSlJ2cXZrbUpEdE5pTmhyMW92Z1BidFF2Ym4rMFI1VXZHeVNUbzN5SjBSRms2bzdwQmg3dzdYVHNjMDVvaThGSWN4OTk3OU5GSEt4OEhPSWs0RStUc1F1NjY2NjYyZERyOXE5YmFUNHJJTWxWTlZwaFJFYW5xUHVBdjR6aitSbTl2NzQ0SnpxaW9wVmdkam5HeFpzMmE2TzY3Nzk0WkJNRTJFWmtIbkRTdVJRUjhsQ1lUMDJHaGtwYU5WcFY5eHpwNTZyblhhS25Mc0xDdCtVUlpESlNNa0phNkRMZGN1b3dMNXMvaW1TM2IyUERPTGc0Yzc2SVFSc1RXWXN0MU1rWUV6eGhTQ1ovNXJVMThjTVc1WEhQK0l1WTAxWk5LQktkbGdNVFdzdnRvQjA4OTl4cjdqM2VkT001WU1TaU5FdUVQVVFvRHhPWG1aRnZjT1Q2MVBQWFVVL0U5OTl5ekQzZ1RXTUFnWlY0Qk1MT29IRW9KNC9sajFTZFNmUEtTNndodHpMRjhqZ2RlL0RIUDd0OU9iMWprNWNQNytOdXRyN080b1lVWjZXelZHU0R3Zm1uUVVLVXdJaEtxNnZaaXNiaTlHcCttblUyTXBHc1FJaTFsUDh4UEg4V3ZxSXRUNlRpU2FzVmYraXVZdXJsZ2huajJveFlOZTRtT2JpRjg4eHRFUjE0dkdScml2UzhtMWRKMEdiVmdvMUwvanpPZytVZzk5dWRiS2VyZ3BUQk8xdzdIdE1VQ2gxWDF6OXJiMjNkVFJjMVFCK0pNa0xPRU5XdldtRnd1Tno4SWd0OEJma3RFRmdCK2hhWkNuNnErcGFwZlVkVWZQZkRBQTRlWVFJSFhVcXdPeDBTUnkrVjZFb25FY3lKeUJhZVlJRkI2UXR3c1JmYVRKS3FnSkFhZ0dNVzh2SDB2MzMzK0RYN2pnNWN6cTZuK0pNUENpSkJKSkZneXU1VlpUZlg4N01ybDdEalV6dGFEUnpuUzFVdFhMZzhLZGVra2JRMVp6cC9ieHVKWnJUUm0wbVNTQVViTWFlTndyYlVjN09qaU8rdGZZZlB1ZzRSUnBZdHZ4VWRwTmlIZTBLTng4OWJhRjBXa3M4STNjVXdnVVJUMWljaEdFZmtnZzVSNWVRcHo4dkJlRmdxbThwSVlUNFFaNlZKbFFzTHp5UVFCdmhqd1lGRkRNemZQWDBwZGtLeEtBd1JWRWhabUY1Umc2RHRUWGxVM3hISHNkRjBGaktUclNEMzJGbWR3WWJ5TGxBa3JrTFVnNldhQ3BiOUVNUDg2eEU5eit2VmV3Y2JZZkR2UjdtY292dk1VOXZnMk5NNVgrS2ttRmxYSXh3Rjc4cTBVN1pCYkRhZHJoMk9hMFovaFphMzlRUzZYVzFkdHpWQUg0a3lRczRBMWE5YjRoVUxodkNBSWZrOUVma2xWWjRtTXJjVjRXZFFXT0M0aVQ4ZHgvSlU0amw5KzhNRUhlNWpBa3BKYWl0WGhtRWhhVzF2emhVSmhvK2Q1UFVEem9PVUR4akxERnRtbktlSVQvem8yZXZJRm50NzhIazNaRkw5d3hZVzBOV1pQTWk5RXdCTkRZeVpGUXpyRnpNWTZManQzUG1FY255aU5NVWJ3alNFWitBUytkNUtSMGs5L0JzaWhqbTYrOThJYnJIOTdKNzJGeXAvM0c1UVdpdFFQTVJxM3YrY1BzSzY5dmQybFZsY0JIUjBkK2JhMnR1ZUFMbFZ0T1ZYVEJtaU1ZVUZlNmZPRTBGQ0pwRS9DRjhPQ3VpWXViSjFOTmtodys0cXJXRFg3SEJLZVY0VUdTTWtJbXB0VFdzTkJSbzF3VWkrckZ4b2JHNnQyTVhrMk1aS3VGYUVqckdON2JqWjEzazZTSmhxYkVaS294MS8wY3lUUC93Z20zWHBLUTFRdFpYT0VmZGpPblJUZi9TN1IzblhZM0pFemt0MHhHbFFoVk1PdWZCdEh3NmJoU21HY3JoMk9hWWFJeE5iYUhhcjZ6Y2JHeHFwcmhqcVFpWjYxNWFneWJyLzk5bFI5ZmYybHdPK0x5TStMU0ZzbHBrSTViWEVQOENmQVk0bEVZdk45OTkyWE8xdGpkVGdtbXJWcjE4YlhYMzk5d2ZPOER3RnpUdFcrU0duVDZLTWNVNStReW5lTStUQms5NUVPdW5JRjVqVFhVNWRLWUl3NWJhRXVBcjVYTWp2U2lZQk1Na0VtbVNDZENFZ0dQcjVuR0N4QnE3OEh5STVEN2Z6Rk15L3prODFiNmVqdHEzanFEQ2hKbE1WZWpqcGpNWU4vYkt1cXU0R3ZQUGJZWS9zcmZTZkh4TEZwMHlaNzdiWFhoaUp5bzRqTVAwM1RsQlloeVJnT0pZVzh4NWl5UWU2NjRzYlQvaTN3UEM1c25jM1BManlmbjF1MG5PWE5NOGtFQ1hyRFluVVpJQUFvZFRGYzNLMjBSSU12eU1yZDliZXE2bGZ2dmZmZXFsNVFuaTJNcEdzUVlneTVPR0JlNmhnWnJ6RFVOZXMweEVzUm5MT2F4RVcvamRkd0RoaVBFMk5zNHdJVU9vbmEzeUhjOWs4VXQvd0Y4Y0dYMEh4SHFkU2xTbENnSzhyd1V0Y3kycVAzZTVNTXhPbmE0Umc3cTFldlhqUFZNUXhIMmR3OHBxcFBxdW8vMzN2dnZWVnRjTHBNa0duTTNYZmZYZS83L2czVzJzK0p5TlVpa3FXQ3BxSWkwbXV0M1J6SDhaZHp1ZHkvZk9sTFh6ckNCSmVVMUZLc0RzY2swcW1xUHhXUkMxUjEwR3lRckltWnBVWDJXSy9jRzJUc1JvZ3F0UGYwOHFOWDMrWndaemNmdTM0bDU4MXBLNWtoY3JvWk1wYmp4dGJTa3kvdzF0NUQvTlc2VWdsTVg3RTRMZ1BFb0xTT2tBVWlJamxWZmFaWUxCN0daWHhWRTkzQTA4Q2xRelg5Yll4aFVVN3A5WVhDT0xOQlBCSGEwdThQN2JDcTlJUUZudDIzbmNkZlc4K1dhakZBdE5RTFpFRk9tVEY4RmtpZmlQd1VhRC9ERVRxR1oxaGRLMEpIVk0vV3ZyazArSDJrUjFzV0U2VHhGOTZNVno4UFZRdHhDSEdJelhjUUgzNlphTTg2NHFPYjBmeHhOT3dEclFJdEQ2QTBFY1pqUjI0MlI0YlBBbkc2ZGppbUVlWHp1aUFpRzQweDM3My8vdnVyc2hucVFKd0pNajJSLy9KZi9rdUxpUHc4OEI5RTVDSWd4ZGlYbGxaRWpsbHJmd3g4dWF1cjY5VW5ubmlpNXl5TzFlR1lWTFp2Mzk2elpNbVN2L004NzhNaTBzQXAxMmlSY2hORlUrU29UZEE5amt1NEtuVG5Dcnp3M203MkhPMWc5WVZMK0ZjWG5jZmNsa1pTQ1IvZmVLTTJRMVFoaW1QNmlpRjdqaDdueDYrL3gzUHY3R1QvOGE1eDlBQjVueVNXMlY2QllPaUdxS3FxaCtJNC9sNWRYVjNWMzNqUEpqS1pURyt4V1B3SFZmMUZFV21rMUEvMUJBSWtGQmIxS1h2VHdwR0VWalQ5YUNoQ0c3TisvMDRlZmVWWjNqMSttSENNbzU4bkQ2VXVoQ1Y5U3NvT2VjT3p3SUU0anIvWDN0N3VSajVYRVNQcEdvU2lCcnpYTzVkRnFZUE1TWFVNMmN2b0pHeUU3VHRjbXVRUzViSGRlNG1QdmttOGJ4MjJjeGRhNkNwbGhGU3B6OXVmQmZKMjczeHlOc0VReW5hNmRqaW1IMnF0UGFpcWY1YlA1L2RTclJlcEFVemNTc05STGNqblAvLzVXYWxVNnJlQmZ3c3NVdFZnTEUxRnkwOVZZMVU5QUh5alVDajhlV2RuNTg1SjZONWRTN0U2SEdlRXozNzJzMDNaYlBiM1JPUXp3T2xQR0xVMEhXWjNuR0szVFkyckxLWWZJMEkybFdCZVN5T3JWNXpMeXNYem1OZmFSRG9SNEhzR3p4aU15QWtEUXJYMGhEMjJsakNLeVlVaE93OGRZOVAydlR6M3prNE9IdSttdDFBWVIvYkhpVStMaHpKZjhpenk4aVFHTVVIS1R4KzZnYTliYXgrNC8vNzdYV3AxbGZHWnozeW1vYUdoNGQrTHlPZUF0dE9mbWtNbzhFNEdYbTB3WXk2THFUa1VBcXVzNkxGYzNBMnBRYWJDbEhYZHBhcGZ0ZFkrOHNBRER4eVppbEFkUXpPU3JrRUpKT1RDN0U1V05iNUwxaXRNYjFrcjVLM1BhOTNuc3FscktYbE5jcXF5bmE0ZGpzcjU0aGUvV0pYR1Fua3YxcTJxM3l3V2kvYy8rT0NETlZHUzdESkJwaGZ5aFM5OFlhNkkvRHZnNDZxNlFFUzhzUXhWS2QrZ2l0YmFiZGJhTDhkeC9QY1BQZlRRUVNhK3BLU1dZblU0emhoTlRVMWR1Vnp1ZTBFUS9JeUlYQVVrQnY1OFlEWkloL1U1VGxBV2ZPV3JhNnRLZDY3QXV3ZU9zUDk0Rjk5L2FRdnpXNXRZdVhndTU4NXFaVVo5bGhuMVdlb3pTUVRvN010enJLZVBJNTA5dkxQL0NHL3NQc0MrWTUzMDVJcjBGWW9WajhBOUdVVlE2b2lZWllyRFpZSDA5d0w1NjBRaTRWS3JxNURISDMrODUrNjc3LzU3My9kdk5jWTBjYXFtZ1VEaG5Ed2NTSll5UXVMK0gwdzNGSXdxclVVNHR3K1NRNHpGQldKZ2V4aUczOXU0Y2VQeE14cWpZMVNNcEdzUVFnM1lucHZMZ3VRUkZxVVBFeGc3TFkwUVZZaFVPRnhzNHAyKytSUjB5Q3dRcDJ1SFkvb1JxK28yVmYyTFRDWnplS3FER1MzT0JKa21yRm16eG9SaHVFQkUvcU9JM0thcXB6VldISWtCSTJWZmkrUDRrVUtoOFBTamp6NTZuQWxPYWFxbFdCMk9NODJhTld2czNYZmZ2Vk5WLzBaRWxwUW5KSjI4bWhSSVkxbm81U2pHWmx4bE1RT3hWdW5xeTlQVmwrZkE4UzVlM0xwN1FvNWJLV2tzNTVnOFdZa0hYVTczWjRFWVk3N2YxOWYzN24zMzNSZWQ2UmdkbzhKYWEvZXE2bmRFWkduNW1uL2FuN1MvU1dqT0U0NG1GSXRNT3lORVVCcER1S1RiMGhnTi92SDZuNVlEZnh1RzRkYTFhOWM2WFZjbm85SjFkNXptcGE1bHBMMGljNUxIOFJqUzBLMUpTdVA0aEdOaFBadTZsbkk4ckIrMHBNM3AydUdZZnBTelFJNVphNzk5N05peGQ3NzYxYS9XekhrOXBzYVRqdXJrdHR0dTh3cUZ3bmtpOGprUitUZkEzTEdhQ3BTeUp6cEY1RitzdGZkRVVmVFBqejc2NkRFbTJGU29wVmdkanFuaXdRY2Y3Q2tXaS84UXgvRWJRUEhVbnd2bDhhSW1acUdYSTAzTTlKSy9rc0N5d09ScE1TRytERmtkRWFucTFqaU9uOXE5ZTdkN3FsakZQUHp3dzMxaEdQNnpxcjRLbkRZcnVWL1RNMEs0OUlSQk1KMDBEYWlTamVEaUhzdnNZdWtwMUJCNzRjaGErMVlZaHQ5dmJHeDBQVzZxbUpGMFhWS3g0VWpZeEthdVpSd0w2NmRkcXFvcWRFVXBYdTVleXI1Q0t6RWVReWpiNmRyaG1FYjBOME5WMWVmak9QNjdyMzcxcXpWMVhqc1RwTWE1OGNZYi9jV0xGeThMZ3VBZUVma1lNSXN4L0YyMVJLeXFSMVQxcitNNC9xL0paSExEd3c4LzNIczJ4K3B3VERIYTJkbDVvUHlFOFVqNVJuTVNJcVZOMUF3VE1zL2tTV0NaSGthSTRxUE1sUUl6VFpIRUVBWkkrZWxESi9DZE9JNTNQUFhVVTlVMUpzRnhLaHJIOFVGVi9Tc1JPY3dnWll0Q1NkT3pDN0NpMjVLTllBSWF5MVFIcXFSaldONWpXWkF2TllNZEpndWtRMFQrQnRpOVpzMmE2Ylpubm02TXFHc1FJbnoyRm1id2F2ZTVkRWZwNlNScit1SWtyM2VmeTQ3Y0xJcERsTUU0WFRzYzB4SlYxZjJxK3FlcFZLb21tcUVPWkt4UDRCMVZ4QjEzM0JFc1hicjA0aUFJN2dGdUJWb1lvNmxBcVk1ckQvQy9ST1NyNzc3NzdyWW5ubmhpd2xPWmFpbFdoNk1hMkxScFUzVDExVmNmU1NRU0Z3RUxnZE9hQm91VVRxSzBzVVJxNk1PVVNnaHF0b2FnMUFpMWpTSUwvVHpwSWZxQWxBMlFnclgyeFRBTXYxUnV3bFZUTjkremtlZWZmejY2OHNvcjI0TWdPQjlZRENRR0c1bnJBWFVScUVCSElFUkNiVGRLVlNWaFM1TmdsdmRDZG9ocE1QMVAxWUFOeFdMeGp4NTg4TUVEWnpoU1J3V01SdGNneEhqMHhHa00wQkowRTBoYzY3SW1ad1BlN2wzQUc3Mkw2YlZwaGpGQW5LNGRqbkd5ZXZYcU5WTWRRei85NWNnaTh0ZkZZdkU3dFRBUzkxUmNUNUFhNWNNZi9uQ3lwYVhsSXQvMy95dHdJOURBMkUyRlVGWGZVOVhId2pEOHg0Y2VlbWlJcHhoblQ2d09SeFdoUFQwOUJ6T1p6SmRWZFo2SVhEN1k5Q1FSU0tteXdNdFRpSVZqbXFEa0ROYmE2cnBrZ0RRVGNvNlhKeTFETnhBVWtkaGF1dzE0UEpQSjdNQmRDMnFHM3Q3ZXc1bE01cXVxdXRBWWM2V3FEbXFFcEJXVzlTbzVEM2FraGJ5bnRXbUVsQTJRYzNMS0JiMUszZkFHU0t5cVcwWGtLMGVPSE5tRE0vWnFodEhvR29RK20rTE4zb1ZrdkR4TE0vdHJkbUpNdndHeXZXODJyL1djUzA4OHJBSGlkTzF3VEQ4aVZYMFArUGFMTDc1NGRLcURxUVNYQ1ZLRDNINzc3YWtsUzVhczhuMy92NHZJQjRFR0VSbXJxWkJYMWRlQi85YlgxL2ZEUng1NXBKMUp1REhWVXF3T1I3V3hhZE1tZTlGRkZ4MU5wVkxIZ1V0RnBHWFE4MGNnUUttWG1GaUZQSWE0cGpKQ0ZCOUxHeUdML1R6MUpzWU0zUlBUcXVvQmErMGoxdHAvdXZmZWUzdk9iS3lPOGJCcDB5YTdhdFdxZHQvM2p3RXJqVEhOREdLSzkwK01hUzZXdkk5dVR3aE4rU2MxSSt0U0NjeVNQdVdpYnFVeFpyaUIxbFpWOXdML3M3ZTM5NGRmKzlyWG5LNXJpTkhxR29TaUJyU0hqYWdLalg0dkNWTzJyV3RBMThyN0pUQnY5eTdnNWU2bGRFUlpkR2hsTzEwN0hCTkV0V1NDbExOeDI2MjFYNG5qK01mZit0YTNjbE1kVXlVNEU2VEd1UDMyMjFQejVzMjcyaGp6K3lKeUxaQWRyQnY1VVBSUFZSR1JGNnkxLzcxWUxQNzBrVWNlNlQ3YlkzVTRxcFVYWDN5eGVNTU5OeHdRRVRYR1hBalVjY3BxVThyL0U2RFVTWVFCY21xSVR2eGFOYSt1UzAxUTUwcUJoWDZlT3JFakdTRHRxdnJudVZ6dW13OC8vUENSTXh1cll5SjQ3cm5ud2l1dnZQS2c3L3NGRWJsWVJPb1o1RTh1bEhwbk5JV1Fza3FYTHhScndRalIwdi9VUmJDaXg3SzhEeHBHTUVCRTVLaXEvcW1xZnZ1aGh4NXlvNTVya05IcUdvU0NCaHdMNjhuSENScURQcEltcE5xcnZsUkxLWGRkVVlaWHVwZXd1WGN4WGZId0JvalR0Y014Y1ZTRENkTC9jRnBFbmhhUnJ6end3QU1IcHpxbVNuRW1TQTN4bWM5OEp0bmEybnExaVB5L0luSU5rS25BVk9oVjFmVnhITitieitjM1BQTElJMzFuZTZ3T1I3V3pidDI2L0xYWFhydmI4N3ptOGlqRzlHQWxCUDNOVWpNbUpvRWxwNGF3YW8yUVVqSlhpcGdGcHNBOHIwQkdkRWdEcEh4TjZBSCtJWTdqTHozODhNTXVyYnFHZWY3NTUvTWYrTUFIZGdOMUlySU1HRFNmdmo4anBDR0Mra2pwQ1lTOG9UU0NzOW9rRGFCZ1ZHa0tZV1czNWR5K1VnK1FvYmFKNVNkcVhkYmE3OFp4L0pVSEhuaGdIMDdYTmN0b2RRMUNxRDRkVVIyZFlaWkd2NWVVVjhSVTZmaGNWWWpWMEI0MnNMSHJmTjdybTFmdUFUSzRzcDJ1SFk2SnB4cE1FRXFuOTE3Z2djN096bGMzYnR4WXM3MFozWFNZR3VHT08rNElzdG5zUlo3bi9XY1JXVVZscGtLWGlQd1krUDJlbnA3bkgzMzAwVWxKWDZxbFdCMk9Ha0V6bWN6K09JNmZBSjRHZWdhYkdBTWxJeVNKTXNzcmNwNlhvNUVJcjVURVRQV3NRVXY5UCtxSldPTGxtR2VHYm9JSzd6OTVBRGFxNnBkVHFkUk9YQitRV2tmdnYvLytRM0VjL3pIdy82dHE5NUNhQnBJSzgvTndWWWRsYmg2U1ZrczdzK3FSTktnU1dHVm1FYTdxdEN6TWxYcWJESFh6SzMvZW5LcXVpNkxvaVczYnR1M0M2YnJXR2JXdVN4a2hDWGJtWi9GTXgwWHN6czBrRnlmb2wzWTFvQXBXSVc5OTloVmFXTmV4Z20xOWM4blpGRU1wMituYTRaaWU5SnVid0hldHRTOCsvdmpqZzR3RnJ4MWNKa2dOY01jZGR3U05qWTBYSnhLSkw0cklha3BQR01ieXJNQUNuY0FQb3lqNnc2MWJ0NzcrOWE5L3ZYaTJ4K3B3MUJKcjE2N1ZXMjY1cFRPTzQxM0FCU0l5Qy9BSE83LzZwOGFreE5Jb0VVYWdxS1hKTWFXMTlWUTlhbFFNU2hMTExDbXl5TXZSSWhIQkVHTnc0Y1NDdWdpOGFhMjlkLy8rL1M4Kzl0aGo3cG93UFZEZjk3dm16NSsvd3hpelZFVG1ETmI4RjBxS05VQW1ocmFpa3JSSzNwUW14OWorZXJDcGtIVzU5TVczVUIvQzBsN0xKZDFLV3dpRER3c3R2K3o5Q1VldnhuRjhienFkZnNWTk81czJqRnJYSUZnTXZYR0tROFZtY2paQnhpdmdTNHlSa204d0Zaa2gvZjVpYUQwNndpeGJlczloVTlkU0RoV2JpUWdZemdCeHVuWTRKb2NxeUFTSmdNMXhIRCs0ZGV2VzdWdTJiS2tTdTdZeW5BbFM1ZlNiQ3NsazhvdkFUVUI5QmFiQ01lQWZyYlgvWThPR0RXLys0QWMvQ00vMldCMk9XbVR0MnJYMjVwdHZQaHJIOFc3Z1hCRnBZNURSdVZCYU9BdVFFS1hCUkRSS3FVTklLZUdhTTJ5R0tJS1NRSmxCeUNJdngyeFRKR01zM3NnR1NGNVZONnZxLyt6dTduNzZ5U2VmN0QxRFFUdk9BRHQzN3JRclY2NDhsa3dtOTFwckY0bEltNGdNdXN2cWIvV2JWR2dKWVU1QkNSVHlSb2o3elpBenVXTlV4Vk9vaStIY1B1V3lidVdjUE5UYjB1SnFwQXdRYSsycnFucC9LcFZhdDJiTm12eVpDOXd4Mll4RjF5QW9RdDRtT0JvMnNEYy9nNklHWkx4Q2VZeXVubEdQVHhWQ05YUkZhZDd0VzhBTG5jdlprWnREdDgxaWgxRzIwN1hETWJsTXBRbFNQcitQcXVxWGUzcDZudjc2MTc5ZTgrZTJNMEdxbUlrd0ZWVDFxTFgyMi9sOC9yRWRPM2E4ODRNZi9DQSsyMk4xT0dxWnRXdlhSbGRlZWVXQklBaTJpTWdjWUxhSUpCbHMwMWcyR0R3Z0tVcWpSTlFUWVZXSVRqSkRHT3psNDZSMFpJTVNvRFFSc2NqTE1jOHJVRzhzZ1ZEcS96RzhBZElEYkJDUlAranE2bnI2OGNjZjc1cmdJQjFWd01hTkcrT2JicnJwUUJpR204dFROZWFKeUtENTl2MUdpQWVrTGJRV1lWWmVFU0R2Q1NxQVRtTFBFQVZSeGRmUys1L1RwMXpjclp5Ymc4WVlBb1p0Z0FxbFpwRmR3RS9qT0w2M3ZGRjAvYTZtSVdQUmRiK3lZeno2YklvanhTYjJGMXBRaExSWExCa2hxcFBXUExWVTlsTHFVOUliSjlpV204dExYY3Q0THplZmpyaXVuUDB4ckxLZHJoMk9TV2FxVEpCK2d4UDRjUnpIWDMza2tVY09UVVVjRTQwelFhcVVHMis4MFYrNmRPbkZpVVRpOTZrOHErS29xdjZGdGZiTDJXeDIyeE5QUERFcE5abTFGS3ZETVIxNC92bm5vOW16Wng5cWJHeDh3eGlUQVJZd1RPOGRLUnNPSHBBMmxtWVRVUzh4UWJsTVc4c0wyL0ViSXU4Ykh6NUtocGhXQ1pudjVWbmdGV2d3TVlrUnpJOHlGaml1cWo4eXh0enIrLzZMRHo3NG9Nc0FtY2FzWGJzMnV1V1dXdzczOVBTODd2dCtJQ0lMVkxVT2tLSEtZNFJ5STJBTGJVV1lWVlF5TVFpQ0xmLzhoTkUzbnAyaktrYkJWMGpaVWhiSzRqNWxSWTl5WGc1YW9sSjJ5bkJieFBJaXN2OWU5OTBvaXY1SE9wMSt4VDBwbjk2TVZkZjl5bzd3U2lVeWhSYjJGVnJvaTFPb0NCNzJoS1lObFdlSWxLdTRpRlVvV3ArOFRYQWtiT1M5M3JtODByMkVkL29XMEI0MVVOUUV3eW5iNmRyaE9ITk1ZU2FJRlpGZDF0b0hlbnA2WHEvbFpxZ0RxY0llMUk0MWE5YVlRcUd3elBPOC95WWlQNk9xalpXWUN0YmFiOGR4L0hncWxkcTVaczJhU1RFVmFpbFdoMk82Y2R0dHQzbExsaXhaNFB2KzdTTHljVldkRDNnam5ZUDlvdzRqaFFpaFZ6MDZOT0M0OWNuaFljdWJTRDNSUTZTZi9zT2ViSmRJZVVpaVFVa1IweWdSVFNlTUZzVVRMU1ZSajNCbEdMQ2dQcXlxM3duRDhNbU5HemUrdDNidDJtbHh3M1dNQ3ZPRkwzeGhEdkFSNEpNaWNpNURsSHdOcEY4NG9VQm9vTWZBNFNRY1NnakhFcVhSdWxaS3YyTUJwS3h0T2ZrZ0FpWFRvL3dqbzZYcE5NMUZaVlpSYVN1V0p0VWtiT25maHl0N09YSFlrcTdqY2tmOWI4UngvT2ZidG0zYjlkUlRUN2xzeDdPSGluUmQ2cU5rQ1NRaVlTTHF2RDdtSm80eE45bE9XN0tUcEFueHBQUTdnbUpFVDR4TVAzRzExdjYrdlZLK3RndFdEUVhyMHg3V3M2L1F5c0ZDQzUxUkhRVU5DSzJQSFNtZkNhZHJoK05NODhVdmZ2R005K0FvbitlZHdQL0s1L09QUFB6d3c0ZlBkQXlUaFQvVkFUaE9ROEl3WEdDTXVSTzRHV2lvb0t5a1hWVy9YU3dXdjV6TlppZlRWS2lsV0IyT2FVZDVzYm5yODUvLy9OZDgzejlralBtMGlDeFIxZVJ3NTJKL2lZd25rRkFsSlJGTlJNdzNRazROM1ZveVEvSldLT0FSSThTbkdDSmVlY0pMa3BpMEtDbUp5VXBNVml5K2xDckhSMk44OUZPKzBZYkFIdUNQb3lqNnkwd21zM2Z0MnJYdW1uQjJZZSs3Nzc3OW4vNzBwNy9WMU5SMHlGcDdwekhtSWxVZGRzcFlmNG1NcDVDTVN3MVVXeUk0cjAvSkdhVTlnRzVmNlBHaHh4T0tSaW1ZL3FhcTd4OGpHWmZNald5czFKZkg4amFIa0MzL3V6OUs0Nk9mc3E0THFyb04rS1BlM3Q1L2VPeXh4dzdocG1XY2JWU2s2MUxqVkkrQ2VoVGlCRDF4aXZhd2tiZjdGcEEyQmRvU25UVDd2ZFQ3ZmRUN2ZTUWxJdVVWM2pkREtKblp1VGhCVVFPNm95UmRVUjBkVVlhanhRWjY0elJGOVlsMGRNWkhQMDdYRHNkWlE2U3FXNHd4ZjdscjE2NzJxUTVtSW5HWklOV0YzSFBQUGJNOXovczk0T1BBTE1ZMnh0aXFhb2VxL2syeFdIdzRtODF1bTB3RHBJWmlkVGltTzNMbm5YYzJwMUtwRzQweG54U1JTNEZtUnBFVk1wRCtESkgrTEJDci9TdmFVek5DM3I5NUdMUlUzbklpRzJSc2xRZjlUeE9CTG12dFc2cjZ4MkVZL3ZEaGh4OCtRdlVNUUhWTUFaLzYxS2ZxV2xwYXJoYVIvNkNxMXdDdGpPcnArZnYwbHc3RVVHcWVDbGpUci9IVDZTK3pNVm95VkV6WjlCajk5ckQ4dmlWZFIwQUhzQ21PNDYva2NybDFqejMyV09jUWIrMDRTNWdJWGZjcjI4ZnlmOWk3OS9nNHl6SnY0TC83ZWVhUW1XUW1rMlNTU1NhVE5LbHAwMko1bFNvS3ErdXUrSzdpcmdkMExicHNWd3J1V3hVS2xnU1hWWmRsZGtHT1RROUVpMVFwV1BIVUlxZ0lDZ0t5aUtMaUZoV1Vua2h6VGp1VE9TU1o4OHp6M084Zm1hblQ2ZVJVazZaSmZ0L1BoMDg3OTNNZnJwa09iZWFhKzdsdVZXaFFoUTVGNk5sVGxISi9hLytabmkyK3Fra0ZHaFJvdWdJTmF2Wld5T2t2eS9jMTBmdzUwenRCc3FjOUhaZFNlbE9wMUxmdXZQUE9zVE81L2x4akV1UXMwdDdlN3JSYXJWY0N1RXBLNlJGQ3pLUm1peTZsSEFId3cxUXFkY2ZSbzBjUHplV1dkUmxBYWdBQUlBQkpSRUZVeElVVUs5RlNjZDExMTFtTVJtT2p3V0Q0Z0JEaVk5a3QxellBeWd4M2FjMjU3QS9URWtCRTEvVmVJY1REVXNydmhjUGhycDA3ZDBiQkg2Z0p3THAxNjB5dmU5M3IzRUtJZHltS2Nwa1E0bHdBRGt4d1BQUjh5MHZxamVpNmZrQUk4VkFxbFhyTTcvZjNQZkRBQTZ5VFFBRDR2aWFpbVR1VFNaQzhZcWcvU2lRUy83NWx5NVp1TExLZnk4NjZ2MmlYcWh0dXVLSGNhRFIrQk1BTkdELzZjdHBKaFd5bWJrUksrY04wT24xblYxZlhnYmxNS2l5a1dJbVdJTEY1OCtaeXE5VzZYQWl4VGdqeFFRQU5RZ2dyWnJaYmE4N2svbkdWVWg2VFVqNm1hZHAzSXBISVFaL1BGK2JmQjFTRXVPcXFxMHJMeTh2ZGlxTDhQWUNQQ2lGV0FyQmpocnVkNWtwZVBac3hLV1czRU9LaGREcjl3MUFvMUx0cjE2NVJMTElmSG1sVzhIMU5STk4yaHBNZ0dvQWpBSzQxR0F6UGVyM2UxSmxhKzB5Wjk3OWdhWHhyWkhsNStjV0tvdHdvaEZpZFBVdCtXckpKaFRFcDVUTzZydi9YTDMvNXkxZm1zb2pnUW9xVmFDbGJ0MjZkMnRMU1VpbWxQRmRWMVk4SklkNE5vQnFBR2ZPd015UnY1MGNTUUJEQS8yUXltVzlvbXZhNzB0TFNZYS9YeTc4TGFDcmltbXV1c2Rsc3RrWUEveWlFdUVRSTBRU2dGUFAwRFhydUczSWhSRXhLT1NTbGZDU2RUaitpS01yaGtwS1NFZDdtU2RQQTl6VVJUZWxNSlVHeS8vK0hkVjNmS2FYY2NkdHR0L25QeExwbkdwTWc4MnpEaGcwbGJyZjdyNFVRL3kyRU9BK0FhYnIvNEdYZnBCRWh4RFBwZFBxTHdXRHdkN3QyN1VvelZpTEtXYmR1bmFtNXVka3BoRGpmWURCY0F1QUNJVVNWRU1JaXBTekJISDdqbVBjdFlrSUlFZGQxUFF6Z0pRQ1BaREtaWDFnc2xtT0w4ZHNGbW5QS2RkZGQ1ekNiemE5VFZmVVNBQmNKSVJveC9xR3hCRFA0dCtsMFpCUDZhUUFKS1dWY1Nqa2doUGdmVGRNZWlVUWlCMTUrK2VVUUUveDBHdmkrSnFJSm5jR2RJQ2xkMTM4bHBiem04T0hEZjF5c08zU1pCSmxIR3pkdU5GWlhWNzhKd0MyS29sd29wYlRNTUtrUUIvQ01FT0svRHh3NDhQdDkrL2JOMlllSmhSUXJFWjFxdzRZTkpkWFYxUTRwWlkzSlpIb2pnTDhTUXJ4RkNGR1h2VldtUkVvNXcrSjhwOHE3ZHp3aGhJanB1dTREOEZzaHhLOHltY3h2ZEYwL0hnNkh3N3QyN1lxRFc2bnBMN0J1M1RyVjQvR1VtODFtaHhCaWxhSW9Gd0o0cTZJb3JWSktHOFkvT0pvQmlML2tmWjM5Y0NpbGxHa2hSRnhLR1FYUUJlQ1htcWI5UmxYVmx6Vk5Dd1lDZ1ZFbTkra3Z4ZmMxRVJWekpwSWcyWi9oanVtNi9oL2hjSGp2enAwN0kzTzk1bnpoRWJuelIzRTRITXNCWEMrRWVNdHBKQlZTVXNvL0NDRTZ3dUh3SCtZNHFiQ1FZaVdpSXJMRjY0NEI4RzNjdVBGSVZWWFZqNldVRlFET3lTWTJMMVFVcFJualAyQWJwSlJHalA4YmthdjVNMzd3d0xqY0RnOWdmTXUwbHYxQk9nMGdxZXQ2dnhEaTE1bE01bGZwZFByM1pyTTVFQXFGb2p0MzdveUJSeWpTTE1sK094VUVFTHptbW1zR1NrdExYNUJTMmhSRldhWW95bHNWUmJsQTA3UTNLSXBpejNzLzUvNFRRZ2hJS1ZXUi9TU1lmUjhEZno1UUpnTWdMWVJJNjdvZUVVSWMwSFg5QlNubEM2bFVxa3ZUdEpIeTh2S1kxK3RsWVVpYU5YeGZFOUY4eUg1bWkwa3BueEZDUEowdFVyOW9jU2ZJL0JDZi8vem5hNFVRL3lhRStHY2hSQldtV2JBdzcxdldnMUxLbTBLaDBCTnpuS1ZiU0xFUzBReHQyTENocEttcHlacElKT3dtazZsWjA3UVZBRjRueGsrV2VaMlVzaExqOTZXWFl2eWtHUUVna3YwdkF5QXNoT2lSVWg3U05PMDFWVlVQSjVQSm83cXVqK2k2SHQyMmJWc0MzUEZCWjVEWDZ6VUVBZ0dyeFdJcFV4VEZwU2hLSzdMdmFTSEVjaW5sTWlHRU1mdEIwWm10YlpXUlVnNW5mODBJSWZxeWhTQzdwSlNIQVJ3RWNEd2FqWTdGWXJFb3Z4bW5NNDN2YTZLbGJhNTNna2dwTlNubFFTSEVOUWFENGZuRmZyc3lreUR6WVBQbXpZNnlzckovQWRBdWhHakFERTVzeUw1Qit3RGNwbW5hdnR0dnZ6MDBaNEZpWWNWS1JFUkVSRVMwMk14bEVpUzdheXlrNi9xWEVvbEVaMGRIeC9CY3JYVzI0TzB3WjlpR0RSdEtMQmJMMjZXVS95cUVxTWZNanF6VUFReExLUitJeFdLUGJ0KytQVHhIWVFKWVdMRVNFUkVSRVJIUnpHUnZqL3RESnBQWmE3UFpndk1kejVuQUpNZ1p0RzdkT3RYdGRwOGpoTmdzeHMrQ1Y2Y2NsSlc5dFdRRXdNT0tvdXpadm4zN2NjemhGdk9GRkNzUkVSRVJFUkhObUM2bDlPdTYvb0NtYWQxTDVRaHNKa0hPSExGOCtmSjZSVkUyQVhnVEFQTU1pNHRHQVR5ZFRxZS8zTlhWMVl1NUxTNjRrR0lsSWlJaUlpS2lHY2dyaHZwVFhkZC90bVhMbHRoOHgzU21NQWx5aHJTM3QxY1pqY2JMaFJEdkFXREhOT3V4Wk4rY1NTSEVpNWxNWm1zb0ZEbzAxK2MxTDZSWWlZaUlpSWlJYUdhRUVKcXU2OTFTeWoyaFVHZ0lTMmpuUHBNZ1o4RDExMTlmYWpLWkxnYndMMUpLbHhCaUpxZXJaQUM4S3FYY0dnZ0Vmai9YbGJzWFVxeEVSRVJFUkVRME03bnlCYnF1ZnhmQUg1YmE1elltUWViWXhvMGJqYXFxbmllRXVGb0lzUXd6cUsyQjhmZm5nSzdybmJxdS8zelhybDF6dWtWcEljVktSRVJFUkVSRXB5VWxwZndkZ0lkdnUrMjJKWGVDSjVNZ2MwdHhPQnpMVFNiVFpnQnJwSlRHYVpiV3lHWG5RbExLN3dvaGZuTEhIWGVNem1ta0N5dFdJaUlpSWlJaW1qbGRDT0hYZFgxM0lCRG94aEtzM3ppVEkwOXBab1RYNjYwcEtTbjVmMUxLZHdDd3pyQzRhRnhLK1h3eW1keGpNcG5tK25TVmhSUXJFUkVSRVJFUnpaQWNGNU5TUHBISlpKNWJxcnYzbVFTWkl6ZmNjSU05blU1L1dFcjVqd0FxTWJQWFdwTlNIcFJTZHRwc3RpTnpmVlRSUW9xVmlJaUlpSWlJWms0SW9RSG9rbEx1Q1lmRHgrYzdudm5DMjJIbXdJWU5HMHBVVmYwckFKK1VVbnFFRURPcHJhRURPQTVnbDZacHYvVjZ2YW01aVhMY1FvcVZpSWlJaUlpSVppNjdneitzNi9xMzR2SDRLMHV0R0dvK0prRm0yYnAxNjlUYTJ0clZRb2pOUW9nVm1FRngwVnlWWGlubHZuUTYvYU03Nzd4elRtdHJMS1JZaVlpSWlJaUk2TFNsaEJBdlNpbC9zRzNidHZCOEJ6T2ZtQVNaWFdMNTh1WDFCb1BoYWdCdkFWQXl3OW9hU1NubGI2U1U5MW10MWtITWNSMlFCUlFyRVJFUkVSRVJuUjRkZ0UvWDlhOEhBb0ZlTE1GaXFQbVlCSmxGWHErM0twVksvUXVBaTRVUWRnRFRPMTRGNC9kbjZicittcTdyZDBjaWtjT2RuWjF6K3NaY1NMRVNFUkVSRVJIUnpHVy93STdxdXY1NFBCNS9mcWtXUTgzSHdxaXpTTk8waTFSVi9XY0F0Wmo1YXhzQnNDZVJTUHlxczdNek9mdlJuV3doeFVwRVJFUkVSRVF6SjRUUXBKUkhwWlRmS0M4dlg3TEZVUE5OKzl0L0lpSWlJaUlpSWpxemJyenh4dE1xUFpEZEJUS3M2L3BkdXE1LzdmYmJidy9OY21nTEVuZUNFQkVSRVJFUkVTMGl1VHFPUW9qZktJcnkvZHR2djMxSkYwUE54NW9nUkVSRVJFUkVSSXVMMUhYOW1KVHlnVVFpMFE4ZVpIRUNkNElRRVJFUkVSRVJMUkpTU2ltRWlDaUs4cGltYWIvY3RtMWJmTDVqT3B0d0p3Z1JFUkVSRVJIUjRxSHB1djRhZ0FldFZxdHZ2b001MnpBSlFrUkVSRVJFUkxRSVpIZUJCS1dVRDBhajBRUGJ0Mi9QekhkTVp4dmVEa05FUkVSRVJFUzB3T1dLb1VvcGY2VnAyZyszYjk4K010OHhuWTI0RTRTSWlJZ1dqNzNyVlBpckxmRHZqTUVMZmI3RElTSWlPb09rbEhJUXdPNlNraElXUTUwQWQ0SVFFUkhSWWlCdzM3L1p5b092UDY5S3FkcGc5M2dkOHgwUUVSSFJtWkxkQlRJbWhIZzBsVXI5MnV2MUp1WTdwck1WZDRJUUVSSFJ3bmJ2Um1ObHBycFdUYXVYQ0NFL0poUWxLR094N3dNSXpuZG9SRVJFWjBoR1Nua1l3TGRlZlBIRjRma081bXpHSkFnUkVSRXRWQUwzZTh1cmt2cWJEQWJsU2lua080U0VRNWZpWjBxcGxiZkNFQkhSa3BEZEJSS1VVajZvYWRyQlo1OTlsc1ZRSjhFa0NCRVJFUzA4ZDE5akxqZVhld3hKL1ZLRFVQNEprTTBDd2dvaEUwSWlMUFNVTnQ4aEVoRVJ6YlZzQWlRaGhIZytuVTcvNks2NzdocWQ3NWpPZGt5Q0VCRVIwY0xoaFdJcmE2ODBsMWorU3BIcUp5RHdGZ0JPSVlRS1FFZ0lIVkpHWTZya1RoQWlJbG9LSklCQkljVDlpVVNDeFZDbmdVa1FJaUlpV2hpMlhtZXB0SlkwcXpDdUYxTDVzQUFhSVZBaUFIR2lqNVM2bEFncVlUTjNnaEFSMGFJbXBaUkNpRkZkMXgvSlpESy83ZXpzVE01M1RBc0JreUJFUkVSMHRoUDJyM2tyVEpwMk1hQmNvUUJ2aEVDRkFOUlRlMEtIb28rcHBid2Rob2lJRnIyTWxQS2dwbW5mZWUyMTExZ01kWnFZQkNFaUlxS3oyOWJyU2t3Wi9UMEtsR3VnaU5kRG9sUUFTckd1QWtJSHhKZ2E1dTB3UkVTMGVHVjNnUVIwWFg4d0dvMGUzcmR2SDVQLzAxVDBCd2dpSWlLaXMwYmJ0a1JjVTM2bUNmbWdrUHFmcE1DWUJJb21PYVNVdXRRUkhvNkgrY01nRVJFdFN0bGlxSEVwNVhPYXBqM2UyZGs1TnQ4eExTUk1naEFSRWRIWlRrYXY5aDZYeWRBM01rSmVBNGtmQW9nVzd5cDBLUkJCSld1Q0VCSFJvcVVMSWZvQjNCK05SZ2ZBWXFnendpUUlFUkVSTFFReWVHM25hRHlxOVVQS0V3a09DVWdKNkRMM0E2Q0FwdXN5aUdBVmt5QkVSTFRvWkhlQmpFa3BIMGtrRXZ0WkRIWG1XQk9FaUlpSUZvYTdyekZiekthM1F1QnRrTEpVQ2lFaGtRRDBZU21FRFZMWUlLQkxnellHM015YUlFUkV0QmhscEpSL1VoVGwyejA5UFlINURtWWhZaEtFaUlpSUZnTGhNSmJXcVpCWENDazhRZ2hGU2lTbHdQTzZwdHd0RkhtaEJENmtTQ21NR1QwQ2IvR2FJVVJFUkF0VmRoZklzSzdyZTlMcGRCZUxvWjRlSmtHSWlJam83SGZmdjVVWlVxWVBBZUo4Q0pSa0M2UDZwSzdmTnp5YStCK2J3L29yTmFNL1pUVElDK09hR0pudmNJbUlpR1pUcmhncWdQOUpwOU5QYnRteUpUTGZNUzFVVElJUUVSSFIyVzN2T3RVUk1MY29FSmNLd0FrQWtJaEs2SS9yVW5zZU45dzVOZ2FNNGQ2Tnp6dGk3cGNpSStyb1BFZE1SRVEwMjNRQWZRRHVMeXNyWXpIVXZ3Q1RJRVJFUkhSV3MvVyt2c0pVaHZWQ3dVb0FCa2hvRXZKb1dwZmZDSzB5SGovUjhaTzcwbUVnUEgrUkVoRVJ6YjdzTHBCUlhkY2ZrbEsrZE1zdHQ2VG1PNmFGakVrUUlpSWlPbnZ0OVpyTUlmMnRnSGdmSU1vQlFBQmhYY3J2YVBISXEzam50c3g4aDBoRVJEU1hoQkJwWGRkZkJyRDN5SkVqd2ZtT1o2SGpFYmxFUkVSMHRoSU9YN3BPZ1hLbEVNSWpBRlVBS1NueGUxM1R2ejg2dW8yN1BvaUlhTkdUVXZxbGxGOFBoOE1zaGpvTHVCT0VpSWlJems1ZjlwWWFEWGcvZ0xjQzQ4VlFKYVJmRi9ydWdOL1F3eE5naUlob2lmaTVvaWcvMjdselozUytBMWtNeEh3SFFFUkVSSFNLdmV0VVIyRFYvekVKOFdWRlVkNGtBU09rak9wQ2ZGY1Q4QWIvbjdkL3ZrTWtJaUtpaFllM3d4QVJFZEZaeDliNytncVRVTmNMUldrZFQ0QkFrMUljVGFmU2U0TDY0UEdwWnlBaUlpSTZGWk1nUkVSRWRIYlo2eldaYmZwYkllVDdBT1NLb1k1SWFIczE2SC9FSjNlbDV6bENJaUlpV3FDWUJDRWlJcUt6eVVURlVIK25wVElQanczZkZwcnZBSW1JaUdqaFltRlVJaUlpT250TVVndzFHRFIzc3hncUVSRVIvU1c0RTRTSWlJak9EbnZYcVE1Rld5R2tmcGtpVUExQVFNcVloSGhDVjlUbjRQWEc1anRFSWlJaVd0aVlCQ0VpSXFLekFvdWhFaEVSMFZ4akVvU0lpSWptMzE2dnlXQmxNVlFpSWlLYVcweUNFQkVSMFh3VGxmNjB5NkNJand1QXhWQ0ppSWhvenJBd0toRVJFYzB2NzFXbGlxcjhneEQ0S3doUklnRWRFc09hQUl1aEVoRVIwYXhpRW9TSWlJam16N3AxYWtWTnpYSUYrbnBGaUJvSkNBQlJLZVJQOVhUbTUvQitrY1ZRaVlpSWFOYndkaGlpcGEzTVlyRmNBTUJlNUZwTjlscStTcHZOOW5ZQXBpTDl6UUJLcDFyUWFyV2U3M1E2UDVYWFpKbDJ0SGxjTHRmbXNyS3lpMDVuYkpHWTNDNlg2M05nWXBqb2pMUDlUWXZEWk1CbFFsVldTY0FJUUllVXZicVVlNElHLzdINWpvK0lpSWdXRnlaQmlKWXdpOFd5WnZYcTFTK1VscGErcGZDYTArbjg4T3JWcTE5QVhtTEE0WEM4WThXS0ZUKzNXQ3cxQmQwTnExYXQrbVZMUzh0REFOVEoxaXd2TC85Z1kyUGpQUUJRV1ZsNXhibm5ubnZFYnJmL3cweGpyNit2MzFaWldYbnBUTWNWWTdmYjE5ZlgxOS9xY3JtdW5vMzVpR2lhdkY2VDBXQStYMHBjQWduSGVLTWNrVkovS0lub3l5eUdTa1JFUkxPTjMzb1NVVDRETVA1QlJGR1UzSzZPS2dBYUFLaXFhc3RlcXdDUXlCczNIQWdFSG1ob2FMaTdvYUZoZTE5ZjN6WFRXU3dlanorWlRDWTN0TFMwL01qbjg5M2QzOS8vbVZsN0pnWHNkdnZGRTExTEpCSUhkRjJQdUZ5dS80akg0NGVCNHZVSEVvbEVUeXFWZW5XdVlpUmFZa1JsZGRxbEN1TUdBZGtnSUZRQUtRMzRRenlEdlpGaFczQytBeVFpSXFMRmgwa1FJanJCYXJXK2NkV3FWUy9tdDYxZHUvYVU3ZWl0cmExL3lIKzhmLzkrNGZmN08wdExTeStzcnE3ZUZJMUdYd29HZzd1bldpOGVqdzhjT25Ub0lvL0gweEdMeFY0dTBzVTV4UlFsay9TSkE0am1IclMwdFB4NHFuZ1VSU2xyYVdsNWJLTHJmci8veTMxOWZadW1tb2VJcGlGWERCWHliWG5GVVAwNjVBT1JlTHdiM2kwc2hrcEVSRVN6amtrUW9pV292cjUraTh2bGFzODlibTF0L1NrQWRIVjFYWEw0OE9IM0E0REQ0WGh2ZFhYMVZWMWRYUi9VTkUwSGdMS3lzZ3ZxNnVxKzBOUFRzeUdWU2dVSzUrM3U3cjZxckt6czdlWGw1ZThPQm9PN2JUYmIrd3I3bEpTVXRBQkEvcldSa1pHbnNtMXZIeHNiZXo3WHZuYnRXdjlrejhQcGRGN3VkRG92TDNhdFdNSWlFQWpjZi96NDhmK2ViTTZKbkhQT09VZFBaeHdSRlRGWk1WU1ovQmsrdTRYRlVJbUlpR2hPTUFsQ3RBUU5EQXpjNGZmN3YxWldWdmFHcHFhbTczUjNkMThaaVVSZVNLVlN2UUJpQUdBMm16MEFFQTZISHdlUUFRQlZWUTBBRUl2Rm5vN0g0LzFGcGc1M2RYVmRFSXZGQmdGZ3hZb1ZqMDRVUTdGcnNWanNmdzhjT1BEbS9MYXhzYkZuUTZIUWQvUGJGRVVwOVhnOFcwWkhSNThNaDhPUEZNNlRxemxTU05PMDBVUWkwWjE5V05uYzNIeDNMQlo3OGZqeDR6dHlmY3htODhybTV1YTlQcDl2UnpBWWZCQUFheElRemJKY01WUUlaWldVZWNWUUlmZUVFQm9DSU9jN1JpSWlJbHFjbUFRaFdwcjhxVlRLSDQvSEhRQ1FUQ2I3VXFuVWdkbVlPSmNBQVlCWFgzMjFJZithMld4KzgvTGx5eDhwZGcwQTR2RjRxckF0a1VqOGNYaDQrQ3NGODdSNlBKNHRrVWprNmNKclFQRWt5UDc5KzZzeGZvdU02blE2UCtGMnUyOVZWYlU4bFVyMVpMc1lBYVJWVmJWTEthTk5UVTI3M1c3M1RjZU9IYnR0ZUhqNHZ2Mzc5NHZwdlFKRU5DbXYxMlEwNEh3cGNZbEFRVEZVRVdNeFZDSWlJcHBUVElJUTBVbE1KdE1xQUJnZEhYMzJsVmRlV1cweW1WcHkxMkt4MklGWFhubGxOWUF5azhtMEtwVksrUUVFSEE3SGg0eEdZMzJ1bjkvdi94SUFGT3dXVVpjdFczWmo3c0VFTzBtbXhXS3hyQUtBUkNKeFpBYkRRaFVWRmV2cTZ1cHVLaWtwV1JXSlJKNGJHQmpZRkkxR1g2Nm9xRmpmMU5UMFFEQVkzTlBUMDNQbHdZTUgzMmEzMnk5MnU5MjNOalkyZnNYbGNsMC9PRGg0WTNaSENyK2hKanA5TElaS1JFUkU4NHBKRUNMS0VRQ1VOV3ZXVFB2MGs2R2hvUnVIaG9adWNibGNueWt0TGYyYlhIc3VDWkxQNVhKOTFtcTFybzNGWWk5WnJkYnpsaTFidGpzUUNEd1FpVVNlbTJtZ2RydjlYUUNnYWRvcE8wY21VbDlmZjZmTDVXcExKcE5kM2QzZGx3YUR3WDBBNEhRNk56WTJOdDZUU0NRT1ZsVlZYYUZwbXIrL3YvOXpvNk9qUHhrZEhYMmlxcXBxdmR2dHZyV2hvYUV6RkFyOUZNQXB0VkNJYUpydXV0N0tZcWhFUkVRMG41Z0VJU0xVMXRaZVo3RllkaDg2ZE9pOXdKK1RHN25yYTlldWxmMzkvWi8xK1h4Yjh0dHl2ejk0OE9EZkFrQmRYZDB0ZFhWMVh5aWMzMkt4WE9oMnUyOE9oVUw3RW9uRUlhdlZlcDdaYkY2OVlzV0twM3A2ZWo0ZERBYnZtMEc0am9xS2l2VlNTcTJscGVXaDd1N3VmdzJGUWc5T05XaGdZT0RXWkRKNWNIaDQrSDZNMS9rd2VUeWV1MnBxYXE0TkJBSVA5dlQwWEZGVFU3UFo0L0hjYWJWYXorL3I2OXNRajhkN0E0SEFOd0tCd01OV3E3VVZUSURRV2FxdHJlMmpBUHI2K3ZwK3ZXL2ZQbTIrNHluSzYxVXF5bExOQ2dTTG9SSVJFZEc4VWVZN0FDSTY4eHdPeHdlV0wxLyswTXFWSzU4QUFKUEo1QjRlSHU3TXE0OHhhNnhXcTd1bHBXVnZKcFB4SHoxNjlPcGMrNkZEaHk0YUdSbjVVVk5UMDljYUdocTJZcHAvSHkxZnZ2d2VWVlVyZW5wNkxndUh3dzgxTnpkL3crMTJUK2ZFbDhEdzhQQXVBR21yMVhyZTZ0V3JmMTFUVTNQTjRPQ2d0NmVuNTE4QVpIdyszNWF1cnE1TExCYkxlYTJ0clg5eXVWeWZCMkFGRUkzRll2dFA1L2tUblFsQ2lNdUZFTDlvYUdnWWFHdHIyN1o1OCthTDFxMWJaNXJ2dVBMWlBYQVlGT00vQ1lGVkVubkZVQ1dMb1JJUkVkR1p3NTBnUkV1UXpXWjdqOEZncUE0R2czdXFxNnMzOWZiMmZqWWFqVDQxRjBzdFc3YnNNWVBCVUhmNDhPRjNBOGcvOGpiZTFkWDFrY2JHeGk5WFYxZGZaelFhbDNWMWRhM0hlUEhTWXRTR2hvWWREb2ZqWThGZzhOdkJZSEJ2TUJqY2w4bGt3clcxdFRlYVRLWmwzZDNkbjBEMkpKc0pWRGMwTk56a2REby9xV2xhOE1pUkkrOGRIUjE5SXI5RE9CeitZVEtaUExlK3ZuNVhmWDM5RjEwdTErYmg0ZUY3Z3NIZy9Ya255eENkbFlRUUxnQ2JWVlhkM05EUUVHNXZiOStyNi9vam9WRG8yUWNlZUNBeGI0RjUxNWtNeWN5YkZhUGhnNEFvQndBQk9hSkxQSlFVVVJaREpTSWlvak9HU1JDaUphaXZyKzlhQUpyRllybWd1cnA2VStIMXVycTZtK3ZxNm03T2IvTjRQSGQ1UEo2N1pyQk1XV3RyNjZNV2krV05mWDE5MTBZaWtXZUs5TkY3ZTNzL25VMWsvUHZLbFN1Zk9YVG8wUHNCRE9kM0tpa3BhV3BzYk54ZFZsYjJ6ckd4c2FlN3U3dXZ6RjZTZlgxOW0zUmRUN2hjcm5hRHdWQjU1TWlSanhSWnA4N3RkbittcHFibWFrVlJ5dExwOUxHaG9TR3ZFTUpXWGw1ZXJELzhmdi91ZERvOVhGVlZ0YjYydHZZL2EydHJiNHpGWXIvdDYrdmJHSTFHZnplRDE0Rm9YZ2doSEFBMktvcXlzYkt5TXRMZTN2NDlBTitQeCtOUDdkeTVNM0ltWTZteXI2dzJHQXlYUTJLWkVGQUJwSFVkcjZSMThiMnhuL1dHem1Rc1JFUkV0TFF4Q1VLME5FMWFNOERuOCszdytYd25qcDVkczJiTnF6NmY3MDZmejNkL2Z0c2tVeGhYcmx6NWs5TFMwcmNkUDM1OHE5L3Y3NXhzdmNIQndjOUpLYU5PcDNOVFNVbUpQWkZJbkVpQ0dJM0dxdGJXMXBkVVZYVU1EdzkvdGJlM2R4T0Frd3FpRGd3TVhDK0VNTmJVMUd3cUx5OS9SK0g4emMzTjJ5c3FLaTZOUkNLL2tsSkdiVGJidXhvYkcwODVXbmNpWFYxZC8raHl1YTVWRktVcUdvMitNdDF4MDlYZTNxNERnSlFTUW9oVGJnbVFVa29BMkxwMTYwbC9aN2UxdFozWTlWSmtYRzRZdG03ZGV0SnRFZTN0N2NWMjI1eXk3dGpZV04ydVhidEc4dGI3RTRCbGhldmwxc25OSVlSNGIwZEh4L041NDc0cGhQaUhpZGJNalJkQ1hOWFIwZkh0dkhHM0NpRStWUkJmNGE4QThKV09qbzRUSnc5ZGQ5MTFIeE5DM0QyTk9IL1IwZEh4ajduR3paczNYNmlxNmtNVHhabWJRd2pSMjlIUjhWZTV0bXV1dWNadU1wbitXS3gvamhCQ1NpbGxSMGRIVTM1N1cxdmIwY0kvTzVrWGFHNXNSMGRIUzM1YmUzdjdrWUl4ZFVKTWZJcXpFS0lNd09VQUxpOHBLVWxlZi8zMVA5UjFmWi9SYUh6eWpqdnVHSmx3NEd5NDYvcFNZVkgvSHREL0drS3hqditoSXlDbC92V1FESFRoYksxaFFrUkVSSXNTa3lCRWRBcE4wNFpUcWRTQi9MWlVLdVV2Ykp0RU9oQUk3SXJGWXI4ZEdCaG9uODZBb2FHaFc0YUdodTdGeWJmTUlKMU9CL3I3KzYvVE5DMFVEb2QvTU5INC92Nyt6ZUZ3K0h2RlRwczVkdXpZOVQ2Zjc2dlJhUFFwajhlejNXYXp2V3YvL3YzVlU4WFUyTmg0aTlQcC9HUTRISDQ0SEE0L0RNQ015VyszT1YyNUQrV1FVb3JzaDlrVG4yaXo3Y1UrV0t1VFRUclJPQUFsMHdtcW9xS2lzTWtpaExBV1c2ZEFZWDJYVWdEbEU2MlRHeStsTkJhMFd3R2NFa1FoS1dWaFRCWWh4Q2wvdmtYaVBDa21SVkZLQUxnbld5czd4MG0zbFJnTUJnTUF6eFF4QXFlK2R4UWhSTk5VY1VvcEM1TUVBc0RySmhzekdUR2VrYW1VVXJvVVJabmJud084WHFXeVhHc1NVcXdYQXE1c01kU1lGSGdtcmVsUFk5UE82Snl1VDBSRVJGU0FTUkFpbWpXcXFwN1ljUkFJQlBZQTJEUERLZnpGR2dPQndBUFRHQ3NuT200M0hvLzNBZWdyYUI0dTFqZWZydXVGTlJTUzA0aGp4am82T2laTlppQXZJWkxQWnJPZE11NlBmL3pqbEorR2UzdDd6Ym5mMTliV250Si9iR3hNQUVCaERZbDBPcjNxMkxGakNnQjRQT09mK2FQUjZJbnhidmVKL01GSjQ2U1UvNVJORkFBQTR2SDRLV3NtazBrQjRLVFRRV3cyMjcvSDQvR2JzdGR5ZlpCS3BZVGRia2NxbFJJQVlMRllUbG92azhsOHkyUXlQVnE0UnE0L0FKU1ZsU0VlajU5VWg2S3ZyKzhYVFUxTmRYblA5NVE0TTVtTUtDa3BPU21ac1czYnR0QjExMTEzU2hJa2s4bE05V2VoQTJqS1BkQTA3WlQrQm9OQmFKcDJ5aTRmSWNUeS9IRkNpTjFDaUwvQkJLU1VNUURQU2ltZkFyQjMyN1p0QTFQRU5pdnNIamhVVGJsTUFjNlJFRVlBdWk3UnIwbjk2K0ZoSTR1aEVoRVIwUm5ISkFnUnpZcWFtcHFycXF1ck53T0EyKzMrcjhIQndac3hON3NtcGxJR0FFSUlmUjdXbml0RlB5aDZ2ZDdUZW83Nzl1MUxUZDNyVkoyZG5hZVZCTnEyYmR0RXhXNG41ZlY2RXloSXFFeEhOczRaeDVwOVhZN05kQndBZWJwSmhZNk9qdE02a1duTGxpMUg4eCszdDdjWE8xNTJETURUQUI2S1JDS1A3TnExNjh3ZVFYdFNNVlE0QUVCSWpBTDZRNmxVK25mdzNuWmE3ME1pSWlLaXZ3U1RJRVJMVXdXQXFNVmlhUVFBSWNSSjIrMW5XaGpWNC9Ic3FLbXB1VFlVQ3UwYkd4dDdwckd4Y1dkRlJjVmx3V0R3TzdGWTdQZWFwdm1GRU9sTUpxT0h3K0ZIdytId294YUw1VUtEd2FCSUtWVUFCa1ZSaktxcW1sS3BWRTgwR3YzRERKNUw1ZkxseTcrYXlXU0NVc3FJMVdvOUR3Q21Pc25GNlhSK2FyTHJBRkJTVW5MdURPSWdtbmRTeWlDQW53b2hIa3FsVW8rZWJ1SnFOaFF0aGlybHl4bGQyUnY1K1pIZ2ZNVkZSRVJFU3h1VElFUkxVR05qNDFhbjA3a0JBSFJkajBVaWtaT0tmUllXUmkwbXZ6Q3FFRUlaR1JsNS9PalJvNWNCeUVTajBaZnE2dXErVUZOVGM3MnFxdE9xUDVGejVNaVJ2d2N3a3lSSTBHYXp2Vk5WMVFwZ3ZIN0M2T2pva3o2Zjc3N0pCalUyTnQ0ems3aUl6bVpDaU1kMVhmK1MzVzUvMHV2MXpzY09ySk94R0NvUkVSR2RwYVpmU1kySUZvMnlzckozMnUzMnY5VTBMUm1KUkI2TFJxTy96MTFyYm01K01CUUs3WnVzQ0dtUmZqVUFvdG4vOHFsV3E5V1Z5V1FxREFhRENZQkJTcW5nNU1LWk9zWnJIR1NFRUpsb05Qb3lzcmQvbEphV3ZsSFhkWDg4SHAvdXJRWnFicjZKT2xSV1ZuNmlvcUxpL2ErOTl0b2xVMDAyazc1RWxPWDFLcFZ1YmJVcWxaMnF3QVhaV2lBeENYdy9sVXAvSWJ6cGk3MWdMUkFpSWlLYUoweUNFQkVSMGF5eGY4MWJhZFprdXdKc2hCQlZHQytHZWtTVCtqWEJZOHIvd090bExSQWlJaUthTjd3ZGhvaUlpR2FIZDUzSmtOSGZwQ2dLaTZFU0VSSFJXWWxKRUNJaUlwb1Z6cXJYT3hVaFB3NHBsd2toV0F5VmlJaUl6anBNZ2hEUEkwVnBBQUFnQUVsRVFWUVJFZEZmN2w2dlZlamF1NFZRL3hvQWk2RVNFUkhSV1VtWnVnc1JFUkhSSkx4ZXBWSW1teFJGL2JnQWFnRUlTTVIxSVgrZWh2b01ydDVaV0RTWmlJaUlhRjV3SndnUkVSSDlSY3ByRXVVR21EOEtnVFVTTUFIUWRjaCtUZGZ1RDZkSGhzRFRZSWlJaU9nc3dTUUlFUkVSbmI1N054cU5pdUVOUW9vUEFhZ1liNVJqa1BLUmxFenN4N1dkeVhtTmo0aUlpQ2dQYjRjaElpS2kwK1pNdWFzVjNYQWxwR3dXZ0FxSmpKVDRVeHJ5MjVGbmVnTHpIUjhSRVJGUlBpWkJpSWlJNlBUYzY3VUtnL1p1SWZBT0NERmVEQlV5QU1nOTRaRWtpNkVTRVJIUldZZEpFQ0lpSXBxNUNZdWg0cmxrU244U045d1ptZThRaVlpSWlBb3hDVUpFUkVRek5sNE0xVlMwR09xSUhCa0VpNkVTRVJIUldZaUZVWW1JaUdobVdBeVZpSWlJRmlqdUJDRWlJcUlaWVRGVUlpSWlXcWlZQkNFaUlxTHBZekZVSWlJaVdzQ1lCQ0VpSXFMcFlURlVJaUlpV3VDWUJDRWlJcUpwY1pTSDdVYkYvR0VJK1hvV1F5VWlJcUtGaUlWUmlZaUlhR3IzYmpRYU5kdTVnRndIS1NvaEFBQmprSUxGVUltSWlHakI0RTRRSWlJaW1sS3B5VjJsR0pRTmdHZ1NBaXFBak5SeE1KWEIza2dWaTZFU0VSSFJ3c0FrQ0JFUkVVMXU2M1dXa29UK2Q1QzRDRUNaQkFDSm9CVGFneU02anVCU0ZrTWxJaUtpaFlGSkVDSWlJcHFZRjRxdHBMUlJRSHdjRUhWaXZCaHFRa0ovUHFXcGorTmE3OWg4aDBoRVJFUTBYVXlDRUMxdFpSYUw1UUlBOWlMWGFyTFg4bFhhYkxhM1k3d2dZaUV6Z05LcEZyUmFyZWM3bmM1UDVUVlpwaDF0SHBmTHRibXNyT3lpMHhsYkpDYTN5K1g2SEZnbmllZ1VqdkxOOWhMVitCRkZ3ZitCZ0VsS0tTRXdxQVAzajJRQ0EyQXhWQ0lpSWxwQW1BUWhXc0lzRnN1YTFhdFh2MUJhV3ZxV3dtdE9wL1BEcTFldmZnRjVpUUdIdy9HT0ZTdFcvTnhpc2RRVWREZXNXclhxbHkwdExROEJVQ2Riczd5OC9JT05qWTMzQUVCbFplVVY1NTU3N2hHNzNmNFBNNDI5dnI1K1cyVmw1YVV6SFZlTTNXNWZYMTlmZjZ2TDVicDZOdVlqV2pUdTNXZzBtbTNuS2tLL1ZFQlVBZ0NFR0pXNmZDUWV6L3lXeFZDSmlJaG9vZUczbmtTVXp3REFBUUNLb3VSMmRWUUIwQUJBVlZWYjlsb0ZnRVRldU9GQUlQQkFRMFBEM1EwTkRkdjcrdnF1bWM1aThYajh5V1F5dWFHbHBlVkhQcC92N3Y3Ky9zL00yak1wWUxmYkw1N29XaUtST0tEcmVzVGxjdjFIUEI0L0RFQ2ZvRjlQS3BWNmRhNWlKRHJibEpyY1ZVcGFic2dWUTVYWllxaTZybjhuNmo0OFBOL3hFUkVSRWMwVWt5QkVkSUxWYW4zanFsV3JYc3h2Vzd0MjdiSENmcTJ0clgvSWY3eC8vMzdoOS9zN1MwdExMNnl1cnQ0VWpVWmZDZ2FEdTZkYUx4NlBEeHc2ZE9naWo4ZlRFWXZGWGk3U3hUbkZGQ1dUOUlrRGlPWWV0TFMwL0hpcWVCUkZLV3RwYVhsc291dCt2Ly9MZlgxOW02YWFoMmhSeUJWRFZjUkZFQ2NYUXgzT3FJZFpESldJaUlnV0lpWkJpSmFnK3ZyNkxTNlhxejMzdUxXMTlhY0EwTlhWZGNuaHc0ZmZEd0FPaCtPOTFkWFZWM1YxZFgxUTB6UWRBTXJLeWk2b3E2djdRazlQejRaVUtuWEtrWmpkM2QxWGxaV1Z2YjI4dlB6ZHdXQnd0ODFtZTE5aG41S1NraFlBeUw4Mk1qTHlWTGJ0N1dOalk4L24ydGV1WGV1ZjdIazRuYzdMblU3bjVjV3VGVXRZQkFLQis0OGZQLzdmazgwNWtYUE9PZWZvNll3aldwQ0tGRU9WTElaS1JFUkVpd0NUSUVSTDBNREF3QjErdi85clpXVmxiMmhxYXZwT2QzZjNsWkZJNUlWVUt0VUxJQVlBWnJQWkF3RGhjUGh4QUJrQVVGWFZBQUN4V096cGVEemVYMlRxY0ZkWDF3V3hXR3dRQUZhc1dQSG9SREVVdXhhTHhmNzN3SUVEYjg1dkd4c2JlellVQ24wM3YwMVJsRktQeDdObGRIVDB5WEE0L0VqaFBMbWFJNFUwVFJ0TkpCTGQyWWVWemMzTmQ4ZGlzUmVQSHorK0k5ZkhiRGF2Ykc1dTN1dnorWFlFZzhFSEFhUW5lZzVFaTVXamZMUGRxQm8vSXFEbkZVTVZnN3BrTVZRaUlpSmEySmdFSVZxYS9LbFV5aCtQeHgwQWtFd20rMUtwMUlIWm1EaVhBQUdBVjE5OXRTSC9tdGxzZnZQeTVjc2ZLWFlOQU9MeGVLcXdMWkZJL0hGNGVQZ3JCZk8wZWp5ZUxaRkk1T25DYTBEeEpNaisvZnVyTVg2TGpPcDBPai9oZHJ0dlZWVzFQSlZLOVdTN0dBR2tWVlcxU3ltalRVMU51OTF1OTAzSGpoMjdiWGg0K0w3OSsvZUw2YjBDUkF2Y3ZSdU5SbTI4R0Nwa1FUSFVST2EzMk14aXFFUkVSTFJ3TVFsQ1JDY3htVXlyQUdCMGRQVFpWMTU1WmJYSlpHckpYWXZGWWdkZWVlV1YxUURLVENiVHFsUXE1UWNRY0RnY0h6SWFqZlc1Zm42Ly8wc0FVTEJiUkYyMmJObU51UWNUN0NTWkZvdkZzZ29BRW9uRWtSa01DMVZVVkt5cnE2dTdxYVNrWkZVa0VubHVZR0JnVXpRYWZibWlvbUo5VTFQVEE4RmdjRTlQVDgrVkJ3OGVmSnZkYnIvWTdYYmYydGpZK0JXWHkzWDk0T0RnamRrZEtmd0duRTVMVzF2YlIzVmRQN3g5Ky9iZllZTGl1MmVEMGt4NWxXSlVOckFZS2hFUkVTMUdUSUlRVVk0QW9LeFpzMmJhcDU4TURRM2RPRFEwZEl2TDVmcE1hV25wMytUYWMwbVFmQzZYNjdOV3EzVnRMQlo3eVdxMW5yZHMyYkxkZ1VEZ2dVZ2s4dHhNQTdYYjdlOENBRTNUVHRrNU1wSDYrdm83WFM1WFd6S1o3T3J1N3I0MEdBenVBd0NuMDdteHNiSHhua1FpY2JDcXF1b0tUZFA4L2YzOW54c2RIZjNKNk9qb0UxVlZWZXZkYnZldERRME5uYUZRNktjQVRxbUZRalFkUW9pclZGVjlSM3Q3ZTcrVThwc0FmdGpYMS9mcmZmdk9vZ0tqOTN0TExBbnRid0h4VGlCYkRCVUlTZ0VXUXlVaUlxSkZnVWtRSWtKdGJlMTFGb3RsOTZGRGg5NEwvRG01a2J1K2R1MWEyZC9mLzFtZno3Y2x2eTMzKzRNSEQvNHRBTlRWMWQxU1YxZjNoY0w1TFJiTGhXNjMrK1pRS0xRdmtVZ2NzbHF0NTVuTjV0VXJWcXg0cXFlbjU5UEJZUEMrR1lUcnFLaW9XQytsMUZwYVdoN3E3dTcrMTFBbzlPQlVnd1lHQm01TkpwTUhoNGVINzhkNG5RK1R4K081cTZhbTV0cEFJUEJnVDAvUEZUVTFOWnM5SHMrZFZxdjEvTDYrdmczeGVMdzNFQWg4SXhBSVBHeTFXbHZCQkFqTkRvOFE0Z1lBTnpRME5CeHZhMnY3dHE3clA0akZZci9ZdFd2WGZOYWdFZlpZd3FNWXpKY0xvQTRuaXFIS0YxSko3Y2U0OWhZV1F5VWlJcUlGVDVudkFJam96SE00SEI5WXZuejVReXRYcm53Q0FFd21rM3Q0ZUxnenJ6N0dyTEZhcmU2V2xwYTltVXpHZi9UbzBhdHo3WWNPSGJwb1pHVGtSMDFOVFY5cmFHallpbW4rZmJSOCtmSjdWRld0Nk9ucHVTd2NEai9VM056OERiZmJQWjBUWHdMRHc4TzdBS1N0VnV0NXExZXYvblZOVGMwMWc0T0QzcDZlbm44QmtQSDVmRnU2dXJvdXNWZ3M1N1cydHY3SjVYSjlIb0FWUURRV2krMC9uZWRQTkJraGhFc0lzVmxWMVovWmJMWmpiVzF0Tzl2YjIvOXV3NFlOSldjNmxvcDdiN0NiRFNVZkVVS2NKd0d6bEZJQ2NrZ1gydjBqTmdPTG9SSVJFZEdpd0owZ1JFdVF6V1o3ajhGZ3FBNEdnM3VxcTZzMzlmYjJmallhalQ0MUYwc3RXN2JzTVlQQlVIZjQ4T0YzQThnLzhqYmUxZFgxa2NiR3hpOVhWMWRmWnpRYWwzVjFkYTNIZVBIU1l0U0dob1lkRG9malk4Rmc4TnZCWUhCdk1CamNsOGxrd3JXMXRUZWFUS1psM2QzZG4wRDJKSnNKVkRjME5OemtkRG8vcVdsYThNaVJJKzhkSFIxOUlyOURPQnorWVRLWlBMZSt2bjVYZlgzOUYxMHUxK2JoNGVGN2dzSGcvWGtueTh5Njl2WjJIUURHRCtFUXAzellIUDlBQ216ZHV0VlFNSzVZa2NyQzhiS2pvOE9TMzlEVzFoYk4vVDYzWG5hSmsrYll1bldycldDOThBUlA0YVE1dG03ZFdsRXdMcEFYMXluUEx4ZERNcGxzNmV6c0hNMGJkeENBZmFyMTB1bjBXem83TzAvVW1XbHJhM3RCQ09HWmFqMWQxeis2ZGV2V1grV3Q5MjBBYnoxbHNZSVhSMUdVVDI3WnN1WEUvek50YlcwN2hSRC90ekMrZ2lrYWhKaTB2bTZsRU9MVEFENWRWVlUxMXQ3ZS9yQ3U2OTlUVmZXWkxWdTJSQ2NiK0JmemVnM1F0VFVRK3FXQXFJSVFnQkJqdW81SDR4bkRiN0RSbTVqVDlZbUlpSWpPRUNaQmlKYWd2cjYrYXdGb0ZvdmxndXJxNmsyRjErdnE2bTZ1cTZ1N09iL040L0hjNWZGNDdwckJNbVd0cmEyUFdpeVdOL2IxOVYwYmlVU2VLZEpINyszdC9YUTJrZkh2SzFldWZPYlFvVVB2QjNCUzhjV1NrcEtteHNiRzNXVmxaZThjR3h0N3VydTcrOHJzSmRuWDE3ZEoxL1dFeStWcU54Z01sVWVPSFBsSWtYWHEzRzczWjJwcWFxNVdGS1VzblU0Zkd4b2E4Z29oYk9YbDVjWDZ3Ky8zNzA2bjA4TlZWVlhyYTJ0ci83TzJ0dmJHV0N6MjI3Nit2bzNSYVBSM00zZ2Rwa3NDZ0JBQ1VrcVIvYkI4NGhOejluR3hZcHFtS1NjdStBQ2ZuYzlhcEczS2NRREtKMXNyRzMreGNaVlR4QWdBc0ZxdG9xQzlSZ2pobUd3OUFEQ1pUR3JCcFZvQW5sTUdGS3duaENoOC9Xb0JORSswVG82dTY0V3ZueHZBaW9uV0t6YkhaS1NVS29CcUlVUjFNcGtzZkc2enJyUTY2alNxcFpkRHl0ZEJDQlZBQmxJZTFxWDRWdFFQRmtNbElpS2lSWU5KRUtLbGFkTGloajZmYjRmUDV6dHg5T3lhTld0ZTlmbDhkL3A4dnZ2ejJ5YVp3cmh5NWNxZmxKYVd2dTM0OGVOYi9YNS81MlRyRFE0T2ZrNUtHWFU2blp0S1NrcnNpVVRpeEljdW85RlkxZHJhK3BLcXFvN2g0ZUd2OXZiMmJnSndVa0hVZ1lHQjY0VVF4cHFhbWszbDVlWHZLSnkvdWJsNWUwVkZ4YVdSU09SWFVzcW96V1o3VjJOajR5bEg2MDZrcTZ2ckgxMHUxN1dLb2xSRm85RlhwanR1SmpvNk9xYjZvRnYwRTdUTlpqUG1majg0T0hoS24xQW9WSFJjYjIrdkZRQThuai9uQ2FMUjZJbSticmU3YUJDcXFwN1lsUkdQeDArWk81bE1GbDB2Rm90VnBsSXBBUUIyKzU4M2RoUzIzWGJiYmFQNTQ0UVFLNFFRQ2dDazArbFQ1czYxK2YzKy9GMUcwRFR0QWtWUlR2azNMcFBKRk03aEw3aitNWVBCY09KV0ZFM1RUdXB2TUJnRUFJeU5qUjNQYjA4a0VwOHltODNYRjY2WFA5NW9OSDRUd1BtRmZmS01BSGhhMS9XZlpqS1o3M1YyZHZvbjZUdDdzc1ZRQmZUL0M2R1VBUUNrREVGb0QrcEsraUM4ZDB5MnU0cUlpSWhvUVdFU2hJaE9vV25hY0NxVk9wRGZsa3FsL0lWdGswZ0hBb0Zkc1Zqc3R3TURBKzNUR1RBME5IVEwwTkRRdlNqNFVKcE9wd1A5L2YzWGFab1dDb2ZEUDVob2ZIOS8vK1p3T1B5OVlxZk5IRHQyN0hxZnovZlZhRFQ2bE1majJXNnoyZDYxZi8vKzZxbGlhbXhzdk1YcGRINHlIQTQvSEE2SEh3Wmd4dVMzMjh5bG92VVl2Rjd2YWNXemI5KytpVzQ3bXRTZGQ5NTVXc1V4Nzdubm50RHBqT3ZvNkRpdFhRZzdkdXc0UG5XdjJSdTNjK2ZPWTFQMWFXOXZQK1UxbDFJR2hSQlA2cnErdDcrLy83RjkrL1pOKzhTaldaSlhERlZraTZIS3BBUitsWlQ0MGNnbjd4aWRjZ1lpSWlLaUJZUkpFQ0thTmFxcW5yaTFJQkFJN0FHd1o0WlRGUDNtT3hBSVBEQ05zWEtpNDNiajhYZ2ZnTDZDNWlrL1hPdTZYbGdIb1ZqOURhS1o4dW02L29RUTRqdjc5KzkvOHRsbm41MjNuUllWOTk1Z042RGtJMExnUEFtWXgrOFRFb09hMUhlUG1Ga01sWWlJaUJZZkprR0lhRmJVMU5SY1ZWMWR2UmtBM0c3M2Z3ME9EdDZNK2RrMVVRWUFRb2hpOVRPSTV0TkRtcWJkNUhBNG52TjZ2ZlAvL3B5a0dHcENVMzZOSzFnTWxZaUlpQllmSmtHSWxxWUtBRkdMeGRJSUFFS0lrMnFFekxRd3FzZmoyVkZUVTNOdEtCVGFOelkyOWt4alkrUE9pb3FLeTRMQjRIZGlzZGp2TlUzekN5SFNtVXhHRDRmRGo0YkQ0VWN0RnN1RkJvTkJ5UmFBTkNpS1lsUlYxWlJLcFhxaTBlZ2ZadkJjS3BjdlgvN1ZUQ1lUbEZKR3JGYnJlUUF3MVVrdVRxZnpVMU5OWEZKU2N1NE00aUNhVkVkSHg2UzFjYzQwRmtNbElpS2lwWWhKRUtJbHFMR3hjYXZUNmR3QUFMcXV4eUtSeUVuRlBnc0xveGFUWHhoVkNLR01qSXc4ZnZUbzBjc0FaS0xSNkV0MWRYVmZxS21wdVY1VjFaSkpwam5Ga1NOSC9oN0FUSklnUVp2TjlrNVZWU3NBUUVxcGpZNk9QdW56K2U2YmJGQmpZK005TTRtTGFGRmhNVlFpSWlKYW9wZ0VJVnFDZ3NIZ25rd20wNnRwV2pJU2lUeUd2Rm9jb1ZEb201Rkk1R2RURlVFTmhVTGZqTWZqTHdOQVgxL2Z6UUNpeU43K0VvL0hmOTNWMWZVQkFLclZhblZsTXBrS2c4RmdBbUNRVWlvQWxMeXBkQUJTQ0pFUlFtU2kwZWpMdVFzSER4NDhUOWYxS1UvSStQM3ZmNTg3ZmxYTnpUZFIzMWdzOXZMSXlNZ1BYbnZ0dFV1bW1yZXlzdklURlJVVjc1K3FIOUVDSThwVG1YcEZVVmtNbFlpSWlKYWNva2NaRWhFUjBlSlVjZnNONWNZSzgwWUIwUVloWE5saXFOMFpxYmNGek1vVHJBVkNSRVJFaXhsM2doQVJFUzBWWHE5QnFkQldTWWlQQ2NDWmJZM29rc1ZRaVlpSWFHbFFwdTVDUkVSRWkwR1pLMUtwU09YakFtSzhHS3FFcGtPOHBndnQyeXlHU2tSRVJFc0JkNElRRVJFdEJkNE5KVlpZL3hwQ3ZFY0FOZ0NBUUVqbzJyY3lvZlFoZUc5bU1WUWlJaUphOUpnRUlTSWlXdnhFZVoyblhrQzVRa0RXUXdnQnlLVFV4VzhTa0Q4WS9kenQ0ZmtPa0lpSWlPaE1ZQktFaUlob2thdTQvUWE3RWNxSEFma21LWVI1dkJncWp1bklQREFhaS9aamtoT1ZpSWlJaUJZVEprR0lpSWdXc3dtS29VcUl4NkxwMUMvUnRpMCtyL0VSRVJFUm5VRXNqRXBFUkxTSVRWUU1OYVBod1ZqQTZwdnYrSWlJaUlqT0pPNEVJU0lpV3F3bUtZYXFqYVFQd25zN2k2RVNFUkhSa3NJa0NCRVIwZUxFWXFoRVJFUkVCWmdFSVNJaVdvUllESldJaUlqb1ZLd0pRa1JFdE5oNHZRYWx3clJLQ3VXallERlVJaUlpb2hPWUJDRWlJbHBreWx5UlNnWEtlZ0hKWXFoRVJFUkVlWGc3REJFUjBXSnk5elZtTTZ4dkV3SVhDeW5zRUdBeFZDSWlJcUlzN2dRaElpSmFQSVREV0ZxbkttS0RrS0plQ0NnQ1NFTEhieEtRUHhoaE1WUWlJaUphNHJnVGhJaUlhTEc0MjJzektQcUhBSEUrQkVva29FUENyMHR0ejJpY3hWQ0ppSWlJdUJPRWlJaG9NZGk3VG5XYXNGSVZ5c2VFeUJaRGxZaEs2SS9yMEgvQllxaEVSRVJFM0FsQ1JFUzBLSlJGV2lvRnNCN0FDZ0FHU0dnUzhtaGFsOThJclRJZW4rLzRpSWlJaU00R1RJSVFFUkV0ZEhkZll6YW56VzhUQ3Y0ZVVwWkRDQUF5TEtYOGxpN1RmOEk3YjJZeFZDSWlJaUx3ZGhnaUlxS0ZicndZS3VRVlFzSWpoRkFna2RLRmVER1JUdjlneEhmN3lId0hTRVJFUkhTMllCS0VhR2tyczFnc0Z3Q3dGN2xXazcyV3I5Sm1zNzBkZ0tsSWZ6T0EwcWtXdEZxdDV6dWR6ay9sTlZtbUhXMGVsOHUxdWF5czdLTFRHVnNrSnJmTDVmb2N1RHVPRnFLN3ZUYURZanE1R0NyZ2c1NysrbGdnMEFzdjlQa09rWWlJaU9oc3dTUUkwUkptc1ZqV3JGNjkrb1hTMHRLM0ZGNXpPcDBmWHIxNjlRdklTd3c0SEk1M3JGaXg0dWNXaTZXbW9MdGgxYXBWdjJ4cGFYa0lnRHJabXVYbDVSOXNiR3k4QndBcUt5dXZPUGZjYzQvWTdmWi9tR25zOWZYMTJ5b3JLeStkNmJoaTdIYjcrdnI2K2x0ZEx0ZlZzekVmMFJreldURlVpZWZoM1JXYjV3aUppSWlJemlyODFwT0k4aGtBT0FCQVVaVGNybzRxQUJvQXFLcHF5MTZyQUpESUd6Y2NDQVFlYUdob3VMdWhvV0Y3WDEvZk5kTlpMQjZQUDVsTUpqZTB0TFQ4eU9mejNkM2YzLytaV1hzbUJleDIrOFVUWFVza0VnZDBYWSs0WEs3L2lNZmpoNEhpMzV3bkVvbWVWQ3IxNmx6RlNEUlRMSVpLUkVSRU5ETk1naERSQ1ZhcjlZMnJWcTE2TWI5dDdkcTF4d3I3dGJhMi9pSC84Zjc5KzRYZjcrOHNMUzI5c0xxNmVsTTBHbjBwR0F6dW5tcTllRHcrY09qUW9ZczhIazlITEJaN3VVZ1g1eFJUbEV6U0p3NGdtbnZRMHRMeTQ2bmlVUlNscktXbDViR0pydnY5L2kvMzlmVnRtbW9lb2pPQ3hWQ0ppSWlJWm94SkVLSWxxTDYrZm92TDVXclBQVzV0YmYwcEFIUjFkVjF5K1BEaDl3T0F3K0Y0YjNWMTlWVmRYVjBmMURSTkI0Q3lzcklMNnVycXZ0RFQwN01obFVvRkN1ZnQ3dTYrcXF5czdPM2w1ZVh2RGdhRHUyMDIyL3NLKzVTVWxMUUFRUDYxa1pHUnA3SnRieDhiRzNzKzE3NTI3VnIvWk0vRDZYUmU3blE2THk5MnJWakNJaEFJM0gvOCtQSC9ubXpPaVp4enpqbEhUMmNjMFJ3UkRzVmVPMTRNVlhpRUVJcVVTT3BDdkpoSXBYNHdGbUF4VkNJaUlxSmltQVFoV29JR0JnYnU4UHY5WHlzckszdERVMVBUZDdxN3U2K01SQ0l2cEZLcFhnQXhBRENielI0QUNJZkRqd1BJQUlDcXFnWUFpTVZpVDhmajhmNGlVNGU3dXJvdWlNVmlnd0N3WXNXS1J5ZUtvZGkxV0N6MnZ3Y09ISGh6ZnR2WTJOaXpvVkRvdS9sdGlxS1VlanllTGFPam8wK0d3K0ZIQ3VmSjFSd3BwR25hYUNLUjZNNCtyR3h1YnI0N0ZvdTllUHo0OFIyNVBtYXplV1Z6Yy9OZW44KzNJeGdNUGdnZ1BkRnpvTVdsdmIzOW56Uk5lM1g3OXUyL0J5RG5PNTVKM2ZGdlpVYURlZ21BTjdNWUtoRVJFZEgwTVFsQ3REVDVVNm1VUHg2UE93QWdtVXoycFZLcEE3TXhjUzRCQWdDdnZ2cHFRLzQxczluODV1WExsejlTN0JvQXhPUHhWR0ZiSXBINDQvRHc4RmNLNW1uMWVEeGJJcEhJMDRYWGdPSkprUDM3OTFkai9CWVoxZWwwZnNMdGR0K3FxbXA1S3BYcXlYWXhBa2lycW1xWFVrYWJtcHAydTkzdW00NGRPM2JiOFBEd2ZmdjM3eGZUZXdWb0FidFdWZFVMMnR2Ymp3TDRwcTdyai9iMzkvL3Z2bjM3dFBrTzdDUjcxNm1PZ0xsRlFQbW9JdUNVQUl1aEVoRVJFVTBUa3lCRWRCS1R5YlFLQUVaSFI1OTk1WlZYVnB0TXBwYmN0VmdzZHVDVlYxNVpEYURNWkRLdFNxVlNmZ0FCaDhQeElhUFJXSi9yNS9mN3Z3UUFCYnRGMUdYTGx0MlllekRCVHBKcHNWZ3Nxd0Fna1VnY21jR3dVRVZGeGJxNnVycWJTa3BLVmtVaWtlY0dCZ1kyUmFQUmx5c3FLdFkzTlRVOUVBd0c5L1QwOUZ4NThPREJ0OW50OW92ZGJ2ZXRqWTJOWDNHNVhOY1BEZzdlbU4yUmNuYnZFS0RaMEF6Z1B4UkYrWS9HeHNhaHRyYTJid3NoZm1DejJYN3A5WHJudmM2R3JmZjFGYVl5ckJjS1dpVmdoSVFtSmJyVGtzVlFpWWlJaUtiQ0pBZ1I1UWdBeXBvMWE2Wjkrc25RME5DTlEwTkR0N2hjcnMrVWxwYitUYTQ5bHdUSjUzSzVQbXUxV3RmR1lyR1hyRmJyZWN1V0xkc2RDQVFlaUVRaXo4MDBVTHZkL2k0QTBEVHRsSjBqRTZtdnI3L1Q1WEsxSlpQSnJ1N3U3a3VEd2VBK0FIQTZuUnNiR3h2dlNTUVNCNnVxcXE3UU5NM2YzOS8vdWRIUjBaK01qbzQrVVZWVnRkN3RkdC9hME5EUUdRcUZmZ3JnbEZvb3RLalZDU0hhQUxTTmpZME50N2UzZjFkSytZamRidis1MSt1ZDl2dHYxdXoxbXN3aC9hMkFlQjhneWdGQUFDTTZ0TDJhTWZJcTNybHQzcE0wUkVSRVJHY3pKa0dJQ0xXMXRkZFpMSmJkaHc0ZGVpL3c1K1JHN3ZyYXRXdGxmMy8vWjMwKzM1Yjh0dHp2RHg0OCtMY0FVRmRYZDB0ZFhkMFhDdWUzV0N3WHV0M3VtME9oMEw1RUluSElhcldlWnphYlY2OVlzZUtwbnA2ZVR3ZUR3ZnRtRUs2am9xSml2WlJTYTJscGVhaTd1L3RmUTZIUWcxTU5HaGdZdURXWlRCNGNIaDYrSCtOMVBrd2VqK2V1bXBxYWF3T0J3SU05UFQxWDFOVFViUFo0UEhkYXJkYnorL3I2TnNUajhkNUFJUENOUUNEd3NOVnFiY1VjSmtEYTI5dDFBSkJTUWdoeHltNFRLYVVFZ0sxYnR4b0t4aVh6dXhYN1ZVb3B0MjdkV3BvL3JxMnRiUXpBaWJXa2xMSmdYU21seE5hdFd5c0sxaHZPbjFzSUlYVjl2UHlFRUNJWHB0eTZkV3R0d2JpREFPejVjeGRiTDUxT1g5RFoyWGxpbDFCYlc5dVBBWnlUSDJkaDNBQ2dhZHBsTzNicytIWGVlZzhDZUV1UjErU2syS1dVbisvbzZQZytwc2NKNEdvaHhOVmpZMk1qN2UzdCs0UVEzeDhkSGYzWnJsMW41QllVNGZDbDZ4U2o4VW9oNEJHQUNpQXBKWDZucFRJUGp4N2JGajRETVJBUkVSRXRhRXlDRUMxQkRvZmpBNVdWbFIrMzJXeC9Cd0FtazhrOVBEemNtVmNmWTlaWXJWYjM2MTczdXIyWlRNWi85T2pScSt2cTZqNERBSWNPSGJwbytmTGwzMnhxYXZwYWFXbnA2L3Y2K3E0SHBpN211SHo1OG50VVZhM283dTcrYUhsNStRZWFtNXUvWWJGWVZnNE9EdjduRkVNRHc4UER1N0l4bmJkczJiTGRGb3ZsRFlPRGc5NWp4NDc5RndENGZMNHRxVlRxMExKbHk3N2UydHI2cDZHaG9WdVBIeisrSFVBMEZvdnQvd3RmaXFua1BwaGpQQjhoZ1BIZE9jaTFvL2pyWTVydTNQbUVFR1VGajZjMURrRFZTUjNHa3hsVHpRTXBaWTBRd2pGWlB5RUVUQ2FUV3RCV0M2Qnhvbkc1eHdhRHdWd3dYVDJBRlVXRHlZdGRTbW1mck04a1kxVUFOVkxLNmt3bW8wNDVZRFo4MlZ0cU5PRDlBTjRLakJkRGxaQitYZWk3ZzBGek40dWhFaEVSRVUyTlNSQ2lKY2htczczSFlEQlVCNFBCUGRYVjFadDZlM3MvRzQxR241cUxwWll0Vy9hWXdXQ29PM3o0OExzQjVCOTVHKy9xNnZwSVkyUGpsNnVycTY4ekdvM0x1cnE2MW1POGVHa3hha05Ed3c2SHcvR3hZREQ0N1dBd3VEY1lETzdMWkRMaDJ0cmFHMDBtMDdMdTd1NVBJSHVTelFTcUd4b2Fibkk2blovVU5DMTQ1TWlSOTQ2T2pqNlIzeUVjRHY4d21VeWVXMTlmdjZ1K3Z2NkxMcGRyOC9EdzhEM0JZUEQrdkpObFpsMUhSOGRVSDZTTFpoZHNOcHNSQUFZSEJ3VUFoRUtoRS8xcWEyc0ZBSXlOaloweU5qOEpFb3ZGQkFDVWxaVUpBSWpINHdJQWtzbmtLZVBDNFhBVkFOanRkcVJTS1pIN05YYzlsVXFKc3JLeXdtRklwOU1yeldhelNLZlRJdnRZbEphVzVxNEpBTWhrTXVMNDhlTW4xYlRJWkRJWHA5TnBVMGxKQ1RSTkV3QlFVbEtDVENZamNvOE5Cb01ZSGg0ZXloK1hUQ2IvMldnMFduT1A4L3ZtSHB2TlpzVGo4WlBHVFNFTTRDbGQxNThHc0hmYnRtM0JHWXo5eSt4ZHB6b0MyZ29oeFdXS29sUkxRRURLcUJUaUNWMVJuNFBYeTJLb1JFUkVSTlBBSkFqUkV0VFgxM2N0QU0xaXNWeFFYVjI5cWZCNlhWM2R6WFYxZFRmbnQzazhucnM4SHM5ZE0xaW1yTFcxOVZHTHhmTEd2cjYrYXlPUnlETkYrdWk5dmIyZnppWXkvbjNseXBYUEhEcDA2UDBBaHZNN2xaU1VORFUyTnU0dUt5dDc1OWpZMk5QZDNkMVhaaS9KdnI2K1RicXVKMXd1Vjd2QllLZzhjdVRJUjRxc1UrZDJ1ejlUVTFOenRhSW9aZWwwK3RqUTBKQlhDR0VyTHk4djFoOSt2MzkzT3AwZXJxcXFXbDliVy91ZnRiVzFOOFppc2QvMjlmVnRqRWFqdjV2QjZ6QmJpaFprUGQxQ25WdTJiSW1lenJqNzdydnZ0RDc0ZDNaMitxZnVkYW9kTzNhY1ZxSFBMMzNwUzROVDk1cVdBSUFuZFYzL2JqUWFmWHpYcmwzemNtUnk4V0tvNG1nNm5kNFROdnBaREpXSWlJaG9tcGdFSVZxYUpqM3kwK2Z6N2ZENWZDZU9ubDJ6WnMyclBwL3ZUcC9QZDM5KzJ5UlRHRmV1WFBtVDB0TFN0eDAvZm55cjMrL3ZuR3k5d2NIQnowa3BvMDZuYzFOSlNZazlrVWljU0lJWWpjYXExdGJXbDFSVmRRd1AvLy8yN2owOHpyck1HL2ozL2ozUHpHUm1Nc2trazVta2FaS21wWlRhU2dYazBJS3NyTGllajJoeHdjT0M3b0lpQ0t6SWVuamZkOGRYZDExRlJBNnJGSFVYMlJlV2JkRmRWNUZsUGRVRkxLQ3dzclMxMEFOTm1qWnBra2t5eVp4bm51ZCsvMGhTY2s1TDIwemFmRC9YQlMzUGFlNXdOZWsxOTl5Lzc2LzNPKzN0N2RjQ0dCZEl1WC8vL3B0RXhCT0x4YTZ0cnE3K280blBYN3AwNlRkcmFtb3VUYVZTVDZwcU9oUUtYZHpTMGpKcGE5M3A3Tm16NTMzMTlmV2ZNc1pFMHVuMDFzTzlqMnB0SVF3QUFDQUFTVVJCVkU1WUIxVDFQMFRrd2ZiMjlsK1dmWXZjbWNKUTRXN0QxZVZwekJBUkVSR2RpTmdFSWFKSkhNZnBMUlFLTzhZZUt4UUtQUk9QemFDWVNDVHV5V1F5djl1L2YvK25EK2VHenM3T0wzZDJkbTdBK0NVektCYUxpWTZPamhzZHgra2ZHQmo0MFhUM2QzUjAzREF3TVBDRHFYYWI2ZXJxdXFtN3Uvczc2WFQ2NTAxTlRkOE1oVUlYUC92c3M5SFphbXBwYWZseVhWM2QxUU1EQXo4Y0dCajRJUUFmWmw1dVF5ZTJCNDB4Tjk5eXl5MlBZLzVzaFR4akdPcFEzMWY2eTEwZ0VSRVIwWW1FVFJBaU9tWXN5em9VMHBsSUpPNERjTjhSUG1MS0pST0pST0xldzdoWHA5dHVONXZON2dPd2I4TGgzcW11SGN0MTNkeUVRL2twTDZTVHdxMjMzbnA3dVd1WWhHR29SRVJFUk1lVUtYY0JSSFJ5aU1WaTEwU2owUnNBb0xHeDhZc29YNU8xRWdCRWhHOE82Y1MyY2IwVk5zNnBvdTdsUmhERmNCaHFSc0V3VkNJaUlxSlhpcE1nUkF0VERZQzAzKzl2QVFBUkdaZDVjS1RCcUUxTlRiZkhZckZQOWZmM2J4b2FHdnBsUzB2THQycHFhaTd2Nit0N01KUEpQT2M0VG8rSUZFdWxranN3TVBEamdZR0JIL3Y5L25XMmJadVJyVVp0WTR6SHNpeHZvVkJvUzZmVC8zTUVYMHZ0c21YTHZsTXFsZnBVTlJVSUJNNEVnTmwyY3FtcnEvdjRiQSt1cUtnNC9RanFJRHFtUXUwdE5kNUs4eUV4d2pCVUlpSWlvbU9FVFJDaUJhaWxwZVViZFhWMVZ3Q0E2N3FaVkNvMUx1eHpZakRxVk1ZR280cUlTU2FUUDMzcHBaY3VCMUJLcDlQL3ZXalJvaS9FWXJHYkxNdXFPSkxhZHUzYTlUWUFSOUlFNlF1RlFuOXNXVllOQUtpcU16ZzQrSi9kM2QzZm0rbW1scGFXYng5SlhVUnpLaDczZWlweE5nUnZCOEF3VkNJaUlxSmpoRTBRb2dXb3I2L3Z2bEtwMU80NFRqNlZTajJNTVZrYy9mMzk5NmRTcVYvTkZvTGEzOTkvZnphYmZSNEE5dTNiOXlVQWFZeUVobWF6MmFmMjdObnpMZ0JXSUJDb0w1VktOYlp0ZXdIWXFtb3dmaW1lQzBCRnBDUWlwWFE2L2Z6b2lSZGVlT0ZNMTNWbjNWcjF1ZWVlcXgzNXJUWDZ2T211eldReXp5ZVR5Ui90M3IzN1BiTTl0N2EyOW1NMU5UWHZuTzA2b21OTWFxUEZla3M4VndpMFdTRERZYWhnR0NvUkVSSFIwWkp5RjBCRVJFUmp4Sytwckd1SWZNaUkrWUtJTkFJQUZKMGx4LzFDSXAxNUNKLzVlcnJNRlJJUkVSR2RzQmlNU2tSRU5GK3NYMi9WeEdMTERPUkRSaVNHNFE4ck1pcjZNOWZLL3dxZitUckRVSW1JaUlpT0FwZkRFQkVSelJPaDF5OFBlMjFjRGpFclZlRUI0RUsxM1lYZTE0LytUc3l3MUl1SWlJaUlac2NtQ0JFUjBYd1FqM3M5TnM1UnhYc0VDQThmMUtTcSsxQmVNczh6REpXSWlJam82SEU1REJFUlVmbU5oS0ZpSkF3VmxnQkZGL2lmVEFrYmh6cERmZVV1a0lpSWlPaGt3RWtRSWlLaWNvdGZFelNXZWJ0QUw0QkloUUl1RkQwdTlONVVOcnNYOGErNzVTNlJpSWlJNkdUQVNSQWlJcUp5bWlrTUZReERKU0lpSWpxV09BbENSRVJVUmd4REpTSWlJcG83YklJUUVSR1ZDOE5RaVlpSWlPWVVsOE1RRVJHVkI4TlFpWWlJaU9ZWUowR0lpSWpLNFphYkFzWXliemZBK1F4REpTSWlJcG9iYklJUUVSSE50WGpjMUZZN3JhTG1NaEhVNjlnd1ZHVVlLaEVSRWRIeHd1VXdSRVJFYzZ5cUNXRkx6ZVVHV0tVWURrTjFYWFE0anZOUERFTWxJaUlpT243WUJDRWlJcHBMOGZWZU8xODYyNGk4R3lKaEFCREZJTVI5S0Y5TU1neVZpSWlJNkRqaWNoZ2lJcUk1RktsYUViVnQrOCtnV0NJQ0MwRFJWWDIrNUpxTnFjZTZHSVpLUkVSRWRCeXhDVUpFUkRSWGJya3BLSDdyYllCN0ljUUVGQUFVQ1ZYMysvMmEySU5ObTV4eWwwaEVSRVIwTW1NVGhJaUlhQzRjQ2tPVkQ0MFBROFV2aTQ3N0MxejdyWFM1U3lRaUlpSTYyVEVUaElpSWFBNk1EME9WNFRCVVJVZkpkYjgvME90aEdDb1JFUkhSSE9Ba0NCRVIwZkUyR29icXNkOE40T1V3VkxnUEZRckYzeVArbFVLWkt5UWlJaUphRU5nRUlTSWlPczVtRGtQZHhUQlVJaUlpb2puQ0pnZ1JFZEh4eERCVUlpSWlvbm1EVFJBaUlxTGpoV0dvUkVSRVJQTUtnMUdKaUlpT2s2cW1KTU5RaVlpSWlPWVJUb0lRRVJFZER4dXU4bmhLb1RPTkVZYWhFaEVSRWMwVG5BUWhJaUk2RHVvS2pWRkw1QXFvTGhIQUVxRG9LcmFXSElhaEVoRVJFWlVMSjBHSXFIemljWU5GQnlwQ1E2RUFBdjZJMTVpVkFsMWtMSW1LSWdvWE1UV21VYUgxeHRVb2pLa1N3Q3AzMlhUaVVvV3J3Q0JFZTBYUkRaWDlLdWlHY1hzY1Izc3NXRjJpZURGZHpCOU01WXNaTEduTDRkSlhFRnk2SVI0UTEzbVRpSFVoZ01ESW1wZUVLN2l2WDhFd1ZDSWlJcUl5a1hJWFFFUUxURHh1STRxS1NvT0FIODVpTlhxdUVmc0NxSjR1UUMwZ0hrQXRBRFpFaG45VjJJQmFFTEdFUDdmb0tPaHdCb2NMb0FSVkIwQkpCQ1dGT01QSFVJSmdFTkRub2U1VEpXQkxycFJyUzFkSUdxV0JISzYrcHpqcmk4VGpwcllodjlJanZydEVjTDRDWGlpeXJ1aFBDbm5uczhucnZyd1h6QUloSWlJaUtndE9naERSM0lqSHZaWDFxYkRINDV4cU9YSytxRmtuWXEweWdqQ0FJQ0IrQ014d2syTkNuME1PL1l2b3FJejg0YklBV0JBWmUzejBONnFBQzBncnhMclloaVlycmNDTGdhSzd4ZFhZYjdJYlB2K0hUSDZvRDUrNk16L2RhMVRIY3RVMmZCK0E0TlVLZUFHNExyVERjWjEvVEdyeUFOZ0FJU0lpSWlvYnZxc2dvdU1ySHJjclcvSTEvb0x2SElGK0FDSnJSVkFESUFpZ1FwaE5SUFBZOE9TSTVxR1NCalRwUW40djRqN2dhdWszdlowN0U0aHZHaDl1dXVFcVQ1MkpYV0NwZlFlQVZ3R3dBRTI2cm03SWF1WWJxVTk4dmJzc1h3Z1JFUkVSQWVBa0NCRWRMK3ZYVzFYcm1xcXRJRlpaanU5eUVieFJnRVVRQk5qNG9CUEZ5R1JTQlFRVkNxazFRQU5nemhUeFBCYXJQL1dCekIyZmV6YlY1K3RIUEY0Q2hzTlFqUmNmQlhTcGlGaXFLQ213dlFqOTU5UXYyeExsL25xSWlJaUlGanBPZ2hEUnNTYTQ0N3BRMkJNK3hTdldaU0o0cXdxYVJSRVNtYjc1b1lCQzRVQlFBT0FBNm9pS28xQUhJbzRBREpLa1kwWVZGcUNXaUJnb0xCMmUyTEFoNGdGZ3o1UTlvNEFMMVF3RVhYRGxrWUxsYk9vdkZyY2lYU3BFSy8zcmpXWEZBVFJqZUhITlFZWEd1d2R5RCtDdnZqWTBWMThmRVJFUkVVMk5UUkFpT25iaU1QNzZMeXdLR3V0eUFUNWdnR1VRRXhyWjBXWFN6eHNGVklDaXF1WUFaQURkcnpEYlhiamRBdTJGMFI3WFJjSXRhYThsMGlOcXN4RkNSMDAxYjlSajE3aGlSVzNYallxWXFBcHE0V3E5QUt2RW9BbVFJQlFWRUhpbmE0Z29SbmFhVWV4elhmbUJhN0piUE9MN25FRFdNUXlWaUlpSWFIN2ljaGdpT2phdXVzb1Rpc1dXVlZqV3RVYmwzUkEwWUlwUDFJY25QdFNCU0ZyVlRRSFlCY1dUSlRGUEZ0WFo1dVJLZzhiV2t1MXhTLzBEVGducFhnZG9MWTB1TnlBNkp0YXZ0OURRWUtQRlo5YzRsdTE0L1paamloN2I2d1l0eDE1aFc5WTZRTllKOURTSWhBQUVGZkRJdUF4VkdBRFZnRllhNDE1ajFQcytRSnBVR0laS1JFUkVORjl4RW9TSWp0NDNidlRYaHFwZlk3dTRTZUJlQkppYWlVdGZScGE3dUJBZEFtUzNxdnNUUjB1UE9lcnVkajM1d2NHTzZnemk4VnladmdLaWw4WGozbXBmTGxnSWFLakNtR2JiNTNtZHFMeERCQ3VoQ0UvZXFsbmhDbHhSVVFnTUZJQzZnNjdpYm9haEVoRVJFYzB2YklJUTBkRVFiUGlycW9qNkxqSmliaFRCV1FJRUp3U2ZxcW9xZ0JRVTdhN2czK0c2RHhXMHVEZHA5YVZ3OVQzRmNoVlBOS3Y0UlRhcXo2aXNyUTQzV2tYblhRSnJQVVNYaVVwb2RFdG5IVjNZQllVSW9DcXFjSGNWcFBnWEF3OXNlUUtiTjNPS2lZaUlpR2llWUJPRWlGNHBDZDMxdVZxL2JhOFhZejRCeUFvQXZyR2ZrSTlNZitRQTdRVHdVemZ2YnN3VnJEOE1QYld0SDVzMk1kK0RUaVFtZkZ1OFNuM09LVjdMdkIrUWR4dEJDd0Evb01QVEh6TGNDQUZFQWJlNzZMamZOcVhDZDNxdisxb251QnlHaUlpSWFGNnd5bDBBRVoyZ052eFZkZGg0UGdDeGJoQ1JGWUx4QVpMRE8yZ2dxYUsvS2hyblM5bGlidVBBODRtZGhhL2Ntc0wyN1h4RFNDY2F6VDI2T1pjUDFIZWJ4ZFcvQjh6dkxKRktFU3hTMVlBTWQwQ0dMeFFJMVBndHlISVkyelh2K09NZGhZYzNwOHRaUEJFUkVSRU5ZeE9FaUk3Y04yNzBSenlCaXkxamJoYmdOQm5lVm5UMFRhQ09iQ0hhbzlDSGltN3BxLzM1d2Q4VnI3c3RpV2VlY2N0Wk50RlIyNzVkQzQ4OG5zbWRHenRnZVdyLzI3S01pbUFKSUpVNkhBb2lSZ0FSR0loVWlrR3JjYlV6KytZMUwrR1JwL1BsTHArSWlJaG9vV01UaElpT3pGVlhlV29iYTgreUxPdC9HWkhYakcyQTZQRElmd21xN1M3Y3U0dXVkZmZBTDNmc3hxMy95TndQT3JsczN1N2sxLzdYUU1CMzduYlhzdnVNeWxLQlZBdUdRMU5GQkNPL2hrUjBXZEQyN1VpZi9ZYjl6QWNoSWlJaUtpODJRWWpvOE1YakpyVENlNnJYOHZ3dkVid09RRURHTlVDMDZLcHNnN3BmemVRR053MWQrOVVEdUhRN3B6L281TFFabW5ua2laVDNiZXQyaXBqZEJycFVSS0lRR2QwYVdoUXdBZ2xEVFZPRjM5bWFQZmNOM2RpOG1kOFRSRVJFUkdWaVpyK0VpQWdBSVA2cTRxSUs5VnhyQks4ZjJRWG0wQklZS0VxdXlqWlgzUzkyRHhSK2xMN2g5bTRJd3lEcHBLZkphLzZ1UDlIVjliT2lxNTl6Z2FjQjVFZW1vaUNBUUZBaG91ZFpIcmsrV2xOYWlqai83aVVpSWlJcUYwNkNFTkhodWVPNnFyQS9jS1VsNWlNQTZrVmVmaU9uZ0F0b080eDgxVUh1MGR3TlgwMldzVktpdWJmNW1XTHU0dGYyZUMyNzJ4Snpoa0FqSW1LQTBVYUllQVRTcUxiQWVNOS9ydkRJNDVseWwweEVSRVMwRUxFSlFrU3oyN2plcXM0c1dtVmI1bk1DTEJlUlF6ODdSa05RWGNqZG1VeGgwK0MxZjlkWHpsS0p5dWJSSjB1NU41NTFNR2g3c2lLeUJwQ3E0V2lRa1VZSVVHR0FCc2RyL3piLzJ1aCtiTjdPYmFLSmlJaUk1aGhIY29sb1ZsVWRUZFUrMjNPWmdWbUc4UTBRRlVWU0JmOVdkSE1QcEsvLzIyNkFTMkJvQWJ2eG04bTBrL3MzMThVREFIcUdwNlNHQ1dCVXBOR3J1RHdRV1YxWHhpcUppSWlJRml3MlFZaG9adkc0YlZWVXJoYVJ0MEFRbXBBRGtuTkZIeXM2eGI4ZitPWHVmY3dBSVlLbWUyN3BMaFNkZjFEUlJ3R2s5ZVhHb0FBSUdPQ05BYXQwTnVKWFZKU3hUaUlpSXFJRmlVMFFJcHBSWlcyK3hyS3N5eUJvbGpGTDZGUlZBZTBzdXM2Ry91TFFUbXpheE5GK0lnQ0l3MDMyMlcwbDE3MWJWVitDNHREM2hnQUdpcGhsckEvVzFMVEd5bGttRVJFUjBVTEVKZ2dSVFM4ZTkzcTh2bk1NOEVZb1FoaTNIYTZrSVBKd3diR2Z4YWZ1ekplNVVxTDVKUjR2dVZuckQ2NjZQd0IwUU1jdUV4UDRWT1FDeSt0ZWlBM3hRQm1ySkNJaUlscHcyQVFob21sVjFxZkNIdWdIQkZnMGRqY1lLQnhWdEJYeXpyK2tlOUJieGhLSjVxMkJaSHpRTFJWK0lJSWRBaFJIand0Z2pDQmlDUzRMRjR2UmN0WklSRVJFdE5Dd0NVSkVVNHZIYlkveHJZREJXZ2dPZlZxdGdBb3c1RUwvdFNTbEhZakhTK1VzYzc2TFJxUFgxdFhWZlJ4QXd4U25hK2U2bnVtMHRyYmV2MkxGaXNlbk9yZDgrZkpIVjY5ZXZXdXVhenJoeGVIMnlWQ2I0K3BHQlJKanAwRVU4S21ZTXl6Yk9vUFpJRVJFUkVSenh5NTNBVVEwUDBXanFGQlk2MFJSTzI0S0JDaTV3SXNsdUQ4Yyt2V3VnYklWT0k4RUFvSFhoc1BoZHcwTURQd2trOG44ZHV5NVJZc1d4VzNiam1ReW1hY3ltVXpYNlBGb05IcHRZMlBqLyszbzZMZ3hrVWg4ZjdiWFdMSmt5WGVQVmIybFVxbDcvLzc5bng5N0xCZ012dGJuODUwMjFmVStuMitKeitjN1pleXh1cnE2ajlmWDE5OHcwK3RzMjdadDVkRlhlNEw3NUxmU2hUcys4MU52aGYvdEJxWUdRQVZ3YU12Y0trdmsvRkRkb3NlSGdGeDVDeVVpSWlKYUdOZ0VJYUlwWlEwQ2ZqSHJvQWhPT0pVQjNJZlZMYll6REhWWU5CcjlaQ1FTdWRJWUU1alFCS216YlRzQ3dNMWtNbjhZZTQrcUZnRDRseXhaY204NEhGNi9lL2Z1andMb251NDFJcEhJeDQ1VnZmbDhmdmZFSnNpUjhuZzhkZE0xVFdnY1RlYTFLK2JEdjBKd0JnQWZSckoxUk9CVFY5WlpsaThFSUZIV0tvbUlpSWdXQ0RaQmlHaXk5ZXN0Rzg1aVVXc1ZCTDdSd3dxb1FvZFVuVjhuZjkrWEttZUo4MGd3SEE2L0g0RDI5UFJzR0h1aXNySnlOUURrOC9tZG1QQkpmMjl2N3ozWmJQYXAxdGJXamRYVjFXOWZzMmJOODIxdGJSOU9KcFAvT2QwTDVmUDVGNDUydXVLc3M4NGF0NDF4VTFQVDdkWFYxVy8yZXIxTEFXRDE2dFU3SnQ0ejhkellHbmJ2M3IwK21VdytOUGI2MWF0WDcyQ0RaSXgwWmJZWXhCYXY3ZmFwU2xSRVJnT0dQY1pncWVXVWxtSERWZnR4OVQzRjJSNUZSRVJFUkVlSG1TQkVOTmtiVi90c0krZUtJQ3hqZms0SVVCUlhkeFp0dE9FZXZtRURnTHE2dXNzdHl3b05EZzQrbXMvbngrVm1CQUtCY3dBZ2xVbzlQZFc5NlhUNnVXM2J0cDA3T0RqNGlHVlp0YVZTYWM0bmE3eGU3MktmejNlYWlIZ0J3T2Z6blRieG40bm41cnJHRTE0ODdoWWwxUVUxV3lGeXFCa21nQ2dRRW1NdUNHY2FKMDVjRVJFUkVkRnh3RWtRSXBva1ZNejdqZGQzQVlES3NjZFZrWE5Gbm5MaEdTcFRhZk5PWFYzZEp3Q2d1N3Y3em9ubmdzSGdPUUNReVdTZW11RVJ5VjI3ZHIwakZBcXRTNmZUVDh6MFdyWnROeHpMYkJBQTJMTm56L3VCbDZjM25uMzJXWmw0elV6bjZQQ2szTXBNQmR3dGxtVXVBbDRPR2haRmhhV3kxdlVXN3dYQWpCMGlJaUtpNDR4TkVDS2F6T3VMcU9ycEluSm8xd29GRklLMGxtVExZRDZSTG1kNTgwa2dFRGdUQUpZdlgvN3dkTmMwTnpmZjFkemNmTmVSUERlVHlUeTNZOGVPTThZZXN5eXIrbGhtZzlBYzZrSE9qVHBQV1VhR1ZLUnVKQmdWS3ZCQ1pKV3RwZ1hBdmpKWFNVUkVSSFRTWXhPRWlDYnhpdnNxbzFLTHNVdm1GSTRMOTBDaDZQNEIxOStaTDE5MTgwcytuMzlocXVNaTR2ZDZ2UzJxV2lnVUNpOGQ2WE9udW1lNlRKQm9OSHB0cVZUcTcrL3Z2MysyY3l0WHJ2eDlvVkJvUDlKNnBoT0x4VDRlRG9mZk12YVliZHRUYlFlOHNNWGpwZHlkTis4MVl1K3hnTVVZRGtnZFhSSVRWSkVWQUdhY0JDSWlJaUtpbzhjbUNCRk5Zb0FtaUhoR1A2MEdBQWdLb21aN1JhQTBPRmpHMnVhYjZZSktHeG9hUHRQWTJQaTFSQ0p4YjN0Nys5WEhzNGJtNXVZNzgvbjhDMU0xUVNhZW16aGRNdEhFNE5UWmhFS2hpNCtzMm9YTFd3cGt4SU50TURnSGVEbHdXQlMyRVRTV3NUUWlJaUtpQllOTkVDS2FSQnlKd1V6NitlQUE2TTdtdFZTT21rNDBOVFUxSHdLQVJDTHg5OGZ5dVJVVkZjdnE2K3NuYlc4N1UxN0lWT2ZhMnRxdUF1Qk92TGE3dS92MmljY2lrY2hITE11cW1lclozQjNtOEExNFVZb2F0eE5xU21QYWkxQ29CUWluWjRpSWlJam1BSnNnUkRTVkJpaHNqSS9CZEJST3IrMXgyUVNaUldWbDVhdjlmdjhhVlhWYVcxczNIc205TTIyQnE2b3FJckdwY2tGbXlndVo2bHhiVzl2SE1VVVRwS09qNDRhSng2cXJxOTh5c1FtaXFxTi9PbzVvY21SQnN3KzRjQnQ2WVREK2UwakVncUsrVEZVUkVSRVJMU2hzZ2hEUlpDSU5rUEUvSDBUaHdFaFAvNERESnNnc3d1SHdod0ZBUkt4alBCSGhaTFBaSnlmdTBuTFdXV2ZwZEhraE01MDdHc1lZR3dCRVpNNjM5VDFoNVgyTzJtNFBaUHdraUFBV0JKd0VJU0lpSXBvRGJJSVEwV1NDZWdEVzJFTUtPSzVyRWtoWDhrM3Z6RUsxdGJVZmMxMDMzZC9mdnpFU2lWeTVjK2ZPQzRhR2huNHozUTExZFhWWHQ3UzAzSjFLcFI2YjVoSWJBRnozK0UvaE5EVTFmWFBTaTl0MmJPSXhWYlZHYWlvZTc1cE9HbjNQTzI3RGhUMldqSjhFVWNCU3NBbENSRVJFTkJmWUJDR2lTUVJva0lrL0h3U09XeXoyQWg1T2dzeGcwYUpGMTl1MkhlbnU3cjY5cDZmbjI1Rkk1TXE2dXJycloyaUNWTlRYMTM4V0FMcTZ1djUybW11OEk3L21qbm5CRThSaXNlc1A1enJidGdNQTRMcHU5dmhXZEJLSmIzYUtkNjFMZUR6V3VFa1FxRnFBY0RrTUVSRVIwUnhnRTRTSUpoRm92U3Bza1hIcGphNkJKQkNQc3dreXZlcFlMUFpwVlMzMTl2YmVscy9uMi9yNyt6ZlYxTlJjMnRQVGMzY3FsZnJWeEJzV0wxNzhOejZmcjNWd2NQQ1J3Y0hCLzVqcW9ZRkFJRHp5NjNuVDdkN2k4L2xPTzlKelc3ZHVmVldoVU5neDl0akVwVGJBMUVHbkloSUNnQlVyVnZ4aXF0ZWtLYW5IZFRLUUNWa3NJaUpBc0V3MUVSRVJFUzBvYklJUTBTU3VLLzFpVUFmQUhEb29NTENsQ2h2WFc3aDBFNWZFVEdIeDRzVTNXNVlWVGlRUzM4dmxjbTBBME5uWmVYTlZWZFU3VzF0Yjc5MjZkZXQ1QUxwR3J3K0h3Kyt0cjYrL3dYR2NvWTZPams5TTkxd1JpUUpBUHAvZk05cElDWWZENzdjc3F6cVJTSHh2OUxxcXFxcTNBVENEZzRNL09aeDZDNFhDd0N2N1NnSGJ0bXNCb0srdjd3RlZIVGNOTWxyYkszMzJ5Y3p4ZXowZW5SQTVyRkJWRk1wVUVoRVJFZEdDd2lZSUVVMWlvSjBLQ1FQd0hEcW9zRVNzS0xvYWJBeHZsMHRqK1AzK2MyT3gyTTJPNHlUYjJ0b09iV0dieStYMjd0Ky8vN3FXbHBidnJGeTU4cWM3ZHV6NEV3Q0p5c3JLMTdlMnR0NFBBSHYyN0xsOHRHa3lGWS9IMHdvQWc0T0RQOTIzYjk5MUFGQlpXZms2eTdLcTI5cmEvbnowdXBxYW1qOWR1blRwUDZmVDZTZDdlM3NuYlpkYlZWWDExbEFvOU1iOSsvZC9ldlRZeXBVcm43WXNxOHJyOVM0RmhxYytKdDQzOGR5MmJkdFdlcjNleFFEY3ZYdjNYZ0ZnWEM3SWFHMkg4Yjl0WWRtNDN2TDAyUkdJMnBCeHlhaU9BTjNsSzR5SWlJaG80V0FUaElnbWNVUTZqZXFLc1cvVUJMQkUzQ2p5UGh0QXZuelZ6VXZCWmN1VzNTOGlkbGRYMXhjeDRRMXRiMi92ZC8xKy81blJhUFNhMWF0WFA5bmQzWDE3WTJQakxjYVlpbjM3OW4xcWFHaG94c2tOdjk5L09nQVVpOFdPbWE3cjcrOS9NQktKZkxDNXVmbHVBTkxiMi9zZFlIZzVURk5UMDYzVjFkVnZCNEJrTXZudnFWVHExeVBuVm94dFdNeTBtODNZYzE2djk5UmlzZGlKQ1EwUW1zSDIxWlkwdWxHQmpOOTVDWEIweklRUUVSRVJFUjAvYklJUTBTUUc2SWJJK0Iwc1JDMXhOVnBUWmRuOTVTcHNubXBwYWJuTDUvTXRUNmZUV3c0ZVBIam5WTmZzMjdmdldoR3g2dXJxcm01dWJyNFRBRG82T3E3cDZlbjU5bXpQRHdRQ2F3RWdrOGxzbmUzYVhidDIvZG5xMWF1ZmJtbHB1U2NZREs1MVhUZGZWMWYzRnlKaTUzSzVIVjFkWFY5UHBWSmJScTkvN3JubndxTy85L3Y5TGNhWTZuUTYvZnpJSWFtcHFibTh2Ny8vUVl5Wi92SDVmQ3RzMjY1TkpwTS9uYTBlR21OVjBrSmZxRUZGN1BGeE8zQlVzYjk4aFJFUkVSRXRIR2IyUzRob29YSEY3UUowUWdDcUdCR3Ixckg4MXRSM0xVeE5UVTFmcTZ1cnU2SlVLdlcxdDdmL0tZQ3BnbU1yNnVycXJxNnVybjdIMklPUlNPVGpJemtlTS9HSFFxR0xBTGlEZzRPUEgwWkpmYnQzNzc2NFVDaTBSeUtSajBhajBVOFVpOFg5ZS9ic3VXVDc5dTJyK3ZyNnZnZE1tVDhSYW0xdC9jbXBwNTY2eGUvM3J3T0ErdnI2enk1ZHV2VC9uWHJxcVQ4SGNHaWIzSEE0L0g1Z2VIbk9ZZFJEbzNxcUxSRVRoVXo0QUVMaHdDZ25RWWlJaUlqbUFKc2dSRFNaYWhkMHdwdDVWVnRkclhkU0JjODBkeTA0aXhZdCtuSXNGdnNNQVBlbGwxNzZzMncyMno3MmZEQVlQR1B4NHNXM3JsbXpabjlMUzh1M1BSN1Bva1FpOGIyZE8zZStibkJ3OEdkK3YzL044dVhMSDE2MWF0VzJhRFI2TFlCSjI2UkdJcEgxeHBoZ0twVjZBa0J5aG5KcUlwSEloNXVibTcrUnkrWGF0bTdkZXU3SVBmQjZ2VXRxYTJzL0ZBcUYxazF6cjNYS0thYzg2UGY3VDArbFVrOWtzOWxuQU9EZ3dZTjNKWlBKbjRaQ29ZdGUvZXBYUHgwTUJ0Y0FDTVJpc2V0VTFVbWxVaitlNW5tVGRwZ2hJRnlBRGRWNlRKckNWQmVPOUpTbEtDSWlJcUlGaHN0aGlHZ1NFZGt2S2tVQWl0RTN0Q0llRVYxcGUxMXU1UW5BNy9jMzFkZlgveVVBdExlM1h6MlM2MkZYVmxhZVgxVlY5ZGFhbXByMytYeStVd0ZBVloyQmdZRUhEeDQ4K0xlalMwMkdob2JlVkZOVDg4Nkdob2EvOGZ2OXB6YzNOOS9aM054OGV5cVYyakkwTkxRNWs4bjhPcGxNL3FxK3Z2NnpBTkRUMDdOaDdPdUxTQVVBUktQUlQ0YkQ0ZmRVVmxaZUpDSjJQcDkvQWNCZkFqajQ0b3N2dmo0V2k5M1kyTmo0MStGdytKSndPSHhKUHAvZk5UUTA5TWpRME5DV2JEYTdKWmZMN1Z1NmRPa0QxZFhWYjB1bFVrL3UyclhyRXJ3OEtUSzBlL2Z1ZHkxWnN1UTd0YlcxSC9GNFBNdWFtNXV2OUhnOERZbEU0cC9HTkgxaUdGNHVrd3dHZzZ1OVh1OFN4M0c0YW1xQ1ltWEI1M0U4S3dSYU1iWlBKQ0lsaGR0Wnh0S0lpSWlJRmd4K1drZEVrOFR1L3QrdkVURVBBRmdwSWdZQWRMZ2hja0FkOTJQZEVmTXJYQnBmOEZ0NlJpS1JLMnpicmpsNDhPQnRBS3pUVGp2dHNXQXdlR2phb2xnc2RpVVNpWHY3K3ZydXllVnlMMDN6R0ttdXJuNWZmWDM5cHlzcks5ZU9IbXhyYTd2Q2RWMW42ZEtsLzFRc0ZqdWVmLzc1NVJnSnBQWDcvWXRYcmx5NVYrVGxnTTE4UHI4bm1VeitlR0JnNEllcFZPcS9KcnhHYldOajQvV1JTT1NqSG8rbkNRQlV0YmhqeDQ0L2FtaG91S0dtcHVZRG1Vem12M2ZzMkhFeGdLbWFGK0wzKzlkNnZkN0ZwNXh5eWtaVkxXemZ2bjFOUHA5L0VRQWFHeHUvMk5EUThIL0czakF3TVBDdmUvYnN1ZVR3LzIrZTVEYXV0NnI3VnB6cE0vYjlBbGt1STVPWUNpZ1VIWTdqZkxqM21pLzl1dHhsRWhFUkVaM3NPQWxDUkpOa05Oc1psT0QvUUdRSmdDQUFDQ0FLVk1JeTUxWHZ6ajJkbkRwWFlrRkpKQkwzanZsUHA2MnQ3VVBMbHkvZlBEUTB0TG0vdi8vQndjSEIvOFRVR1NGamFUS1pmQ2laVEQ0VUNBVE9qa1FpVnppT2swZ2tFdDhINEkzRll0ZjA5UFRjaGpFNzhtU3oyZjVpc2JqUEdGUGQxOWYzRDMxOWZmK1N5V1IrTjhOcjlCMDRjT0N2RHh3NDhNWEt5c3JYaFVLaFB5a1dpKzNaYlBaSjEzVXptVXptbVpHdGU2ZWIzdEJzTnJzbEdBeCtISUIyZEhSOGVyUUJBZ0NaVE9hWlhDNjNYVVFxVkRXZnlXUit1M2Z2M3B0bitib1hscllsRlhhVmRZNG93aUl2TDBVVm9LaXFPMHRTbkhhTFpDSWlJaUk2ZGpnSlFrU1QvZjAxbFhWMjVNOHRzVDR2UUhUTW1ieXIrcXRTcVhSVjN5Zi9abC9aNmx0WWFnSDBUVHpvOC9sT3plZnpCd0Nrai9MNUhnQUJ6SnczY2tnb0ZIcmQwTkRRNFFTMDBoaWh1ejRYOFh1ODN4U1I5OHBJWXhFQVZIWFFGZHhSS09XL2tiem03N2lFaUlpSWlPZzRZekFxRVUwVzdja3FzQVZBY21RWkRBQkFBYStJdk1yMmVKb1J2NGlUWkhOalVnTUVBUEw1L0U0Y2ZRTUVBSW80ekFZSUFMQUI4Z29vQk1hcUU1SFhBS2g0K1RBVWtMU1c5TWxrS1owcFk0VkVSRVJFQ3dhYklFUTAyYVdibkZ6SmFuTmR2SWd4eXpBRUVGRlVBYzdhMnRxTEFtV3NrT2pFY2R1TkZSVmVzeFpBbll6OWUxZlZBZEJldE53ZCtOU2QrV252SnlJaUlxSmpoazBRSXBxU3Z5S1RCckJGZE1LMGdTQW9ybmxuMFM0dEFwZlVFYzJxMXZaRXBHVGVEVVVZNDc5bmNvQSs1Y0krN0VrY0lpSWlJam82YklJUTBaUjZTd001Vi9FYmhVNWNFdU9Ca2RWK3k3d3JmTnNOMWVXc2tXamUyM0JWd0tyd3ZVa0VaMFBnR3owOHVoVEdVWDF5cVBNQWw4SVFFUkVSelJFMlFZaG9hbGZmVTh5YXdoOVU5VGtvY3FPSEJSQ28xa0RsVCsxQVlCbldyN2ZLV1NiUlBDYlZpQzFTTlpjQitLNU0vUUFBQ1BkSlJFRlVpSTFkQ2pPeUs4d0wrWko1QnZGN3NtV3NrWWlJaUdoQllST0VpS2FWNlR6UVh6SzRIOUNEQ3JpSFRvaFlNRmhtR2U4bG9mTmFhc3BZSXRHOFZYdkhkU0dmeW5zTjhHb0l2S1BIRlZBRitxSDZ3SkRnQU1aTVdoRVJFUkhSOGNVbUNCRk5MMzV2THBjdS9VWWhqMEZ4YUdSZkFCRklTRjE5cjg4ZlBCMGJydktVczB5aWVXZmplc3N4b2VXQWVaOUFJakltQzBTQVBGejhMbS9jbitPVDhXT3h3dzhSRVJFUkhTWTJRWWhvUnBta042R2wwZ01xMmpWdUdnUXdJckxFOHBpL2lKWWFseURPbnlkRUl5UndjSFc5MStPNVVrUk9nK0RRZHRMRFV5RGE1eGozbjVPd084RXBFQ0lpSXFJNXhiWDhSRFN6elpzZDg1WUxrclp0TjRyaVZSRDRoaWRCSUFCc0tCclVBZ0xlYzdkbkhua2lWZTV5aWNxdDZydnhXcC9CRlJia0l3Q2lJb2NhaEFwb0ZxNytyRmgwL2lGM3paY1M1YXlUaUlpSWFDSGlKN2RFTkt2VTFzUkFxZVJzVXFBZENtZjArRWpRWTUxUi9hQjRLOTViL2EzUGhzdFlKbEg1M1hKVDBGZHkvOFFXWEFsQjQ1Z0dDRlJWQVRtb3J2dmdRTkJ6RUp3Q0lTSWlJcHB6bkFRaG90azk4NHpyZS92NVEwYnNrQkZkRFpIQWFNYUJDQVNRSUNDdEltWjM5dXpUOW1Iek04VXlWMHcwOSs2NHpoY09WcTIxalh6QkFLc0VjaWdyUndFVlNCTFFINlNNODJEeHo3ODBVTTVTaVlpSWlCWXFOa0dJNkxEa2YvSjQzdlBidGZzc1l5OFJrVlpnZUZrTUFFQWdBb1RGb05WYldiVTk5NFl6ZS9Eb2s2Vnkxa3MwcCs2NHpsZHRoMTlkSWRiblJlUThRQ3BHdno4VVVLaG1vZkxyZ2hhL052U0xuVzNZdnAxVElFUkVSRVJsd0NZSUVSMmVMd0w1Yyt3aGY4WGlsMFRNU29Fc2hzQStsQThpc0FRU0ZXQmx3T005bUxuNHpHNDgrbVMrM0dVVEhYZjMzUlNzMDZxMVhyRStEOEdGRUZTT2E0QUFCVlU4VnlqS2x3ZDZyTi9qVzk5aWc1Q0lpSWlvVE5nRUlhTER0M212bTNuTEdYMCtxMksvRVp3aGtOSFF4ME5CcVNKb0VKSFgrRzFQVHQ1NlhrZng0ZCtrOGNWeUYwNTBYRWpWZCtPMVZYbjdyWmFSTDBEa3ZMRU5FQUNBd29GZ3R6cjZsYjdlbnY5Qy9KWnNHZXNsSWlJaVd2RFlCQ0dpSS9QSTAwNzJ3dk42Z2o2cjM0aXNVWkdha1lCVWpMejVzd1NJR01nYTIzZ0NudDljdURkL25obkM1cjN1TEU4bU9uRnNYRzhGM25KcGc2L2tYbW5FM0NpQ1ZXT1h3QURBeUpiU1hRNmNPL05PNlVlRm0yOUxsckZpSWlJaUlnS2JJRVQwU3Z6OGlZSjU1eHNPV0hDTlFFNkR5T2luM3pLeVBNWUNwRW9ncDFrZWFmSUZXenF6Rjc4aGhYV2JDOWpNSFRIb2hDYTQ0N3FxNnN5aVZYNHgxMWxpUGl5Q0pRTHhUR3FBcUhiRDRENG5sL3QrOHJxdmRwZXphQ0lpSWlJYXhpWUlFYjBpaFo5c3p1TE5hL2Y0TE51Rm9CV1FLZ0JtM0s0eGdvQkFUakdRMS9rOVd1MEwvVkVpOTk2MVdmejdFOXc5aGs0OEcrS0JxdmVzWFZKcGdoLzJHT3NtWTh3ZkE0aUt2UHgzNlhBSUtoeUYyeVdRKy9LT2JPanY5WFJnODJZMi80aUlpSWptQVpuOUVpS2lhVW5sdCtOUnZ4YmZLcFo5Z3dBckllS2I4SW00UXRVQlpFQlZkd0h1Sm9qK3FIc3cxNFYwWlJieE9KZkowUHlsRU54Mlk0WGZxbzRHdmU2YnhlQXlFYlBLQURVS1RKeitVQUFGQUhzY2RlNXhUZjZodnYyQkEvd3pUa1JFUkRSL3NBbENSRWZ2anV1cVlyN3F0WEN0ejRqQnVTUExZOHpZU3hSUUFZcXE2RlBvVmdmNmI0N3E0eVhOZHFiY3lneDZrRU04emwwenFQeldyN2R3N3BLS1VGV2wzMXNxUmRVeWF5MGpsNGpLbVFhb1U0RlhKdno5T2JvTnJpcitSMHZ1YlRtVWZqRjA3VmY2aGs4UkVSRVIwWHpCSmdnUkhSdi9HSytJWkp6VExVdXVGMlBlQktCMnBCRXk2YzJpS0FvS1RVSWtvY0IycUx1bEpNNldYTDY0MTFzS1pBYThLQ0dhZElCcUI5am00TkpOVG5tK0tEcXByVjl2WVRVc1ZEVlo4RlZiNGNLQVhhd00rUHlPTkl0WTU0bVJ0YUx5R2dCMVVJUWhxSmpZL0FDZ3Fxb0NTYXFyVCtSTHpxMERpYjdmSWY2dFZEbStKQ0lpSWlLYUdac2dSSFRzeE9OMlZVMXBxYS9DK3FnSUxoRklJNERBeEttUUVUcXllMFllcWhrQWd3cnNVWlZ0RUtjTHFqM3Fvc2YxYUhmSmtZUmRzTFBpS2ZKVGRUb21Ta1lxUExaZEk0NGJoZXMyaU5wUmlOWXJzRUtNckJEVk1FU0NBQ3FtYXVZQm84dGZOQXZJUWFnK1hIQ0xHL29QZWw5RVBGNlkrNitJaUlpSWlBNEhteUJFZEd6RllTcHJQeGZ4ZVQxckRNeGx4dUNOVU1RZzhFM1REQUZ3S0ZDeUFFRU9RQkdDa2lwS29pZ0JjRERjTUNFNlZneWdsZ0syQURZQVcwVnNVYTJBaUhmV1A2dEFYb0dFcWo3bXFqNllsZExUbVovdjdNWW1UaTBSRVJFUnpXZHNnaERSOFJGZjd3MUVsdFlGTE8vWmxyRStxQ0lYaUNBQ3dEZkZrZ0tpZVc5c3JnMWNmZGFCUGxCeW5NY0hncDZEdURLZUszZDlSRVJFUkRRN3ZoRWhvdU1yZmtWRnphTFdtTWQxTDFUSTVXTGtOUUtFUkZBeGNYY05vdm5tNWQyTmtBT1FVc1dMVUgwZ2I5eWZKenZ0VHNUaldURDhsSWlJaU9pRXdUY2ZSRFEzNHZGQWRhUlViM3ZNR2hFNTM2aXNNd1pMRmFpRXdvOHBkdHdnS29lUjVTNUZBRmtvTWdxMEsvUXBkV1VMSER6Ykt6aUFUOGJUWVBPRGlJaUk2SVRETnh4RU5MZmlWMVJVTmJVR1RERlhaWW4zRkV0d3ZxaXNoZEhWZ0FrSVlDbGdRV0VCc0VUVVVoVURnY1VtQ1IwTEkva3pqb2k2cXVKQTRBQndCSEFVY0tESVFYV25XUEpFcWVnK1ZiVGNIUzdzNUZBNm1jWmYzcFlEbXg5RVJFUkVKeXkrb1NDaTh0bHdsU2VjQ1FUejNtQ293cGdXMjhLcGNIV1JnVjBQby9Wd0phcUNPcWdiRXpGUkVkamxMcGxPZkFvNDZtb1BSSHBFMFF0b0Q2QUhYZEV1cUJ3RW5KMUZkZHBWa1V5VzBobDg2czU4dVdzbUlpSWlJaUlpSWlJaUlpSWlJaUlpSWlJaUlpSWlJaUlpSWlJaUlpSWlJaUlpSWlJaUlpSWlJaUlpSWlJaUlpSWlJaUlpSWlJaUlpSWlJaUlpSWlJaUlpSWlJaUlpSWlJaUlpSWlJaUlpSWlJaUlpSWlJaUlpSWlJaUlpSWlJaUlpSWlJaUlpSWlJaUlpSWlJaUlpSWlJaUlpSWlJaUlpSWlJaUlpSWlJaUlpSWlJaUlpSWlJaUlpSWlJaUlpSWlJaUlpSWlJaUlpSWlJaUlpSWlJaUlpSWlJaUlpSWlJaUlpSWlJaUlpSWlJaUlpSWlJaUlpSWlJaUlpSWlJaUlpSWlJaUlpSWlJaUlpSWlJaUlpSWlJaUlpSWlJaUlpSWlJaUlpSWlJaUlpSWlJaUlpSWlJaUlpSWlJaUlpSWlJaUlpSWlJaUlpSWlJaUlpSWlJaUlpSWlJaUlpSWlJaUlpSWlJanFKL0grR1NuaUxwaU9KMkFBQUFBQkpSVTVFcmtKZ2dnPT0iLAoJIlRoZW1lIiA6ICIiLAoJIlR5cGUiIDogImZsb3ciLAoJIlZlcnNpb24iIDogIiIKfQo="/>
    </extobj>
  </extobjs>
</s:customData>
</file>

<file path=customXml/itemProps3.xml><?xml version="1.0" encoding="utf-8"?>
<ds:datastoreItem xmlns:ds="http://schemas.openxmlformats.org/officeDocument/2006/customXml" ds:itemID="s:customData">
  <ds:schemaRefs>
    <ds:schemaRef ds:uri="http://www.wps.cn/officeDocument/2013/wpsCustomData"/>
  </ds:schemaRefs>
</ds:datastoreItem>
</file>

<file path=docProps/app.xml><?xml version="1.0" encoding="utf-8"?>
<Properties xmlns="http://schemas.openxmlformats.org/officeDocument/2006/extended-properties" xmlns:vt="http://schemas.openxmlformats.org/officeDocument/2006/docPropsVTypes">
  <Template>ch1 绪论</Template>
  <TotalTime>0</TotalTime>
  <Words>15846</Words>
  <Application>WPS 文字</Application>
  <PresentationFormat>全屏显示(16:9)</PresentationFormat>
  <Paragraphs>1114</Paragraphs>
  <Slides>106</Slides>
  <Notes>57</Notes>
  <HiddenSlides>0</HiddenSlides>
  <MMClips>0</MMClips>
  <ScaleCrop>false</ScaleCrop>
  <HeadingPairs>
    <vt:vector size="6" baseType="variant">
      <vt:variant>
        <vt:lpstr>已用的字体</vt:lpstr>
      </vt:variant>
      <vt:variant>
        <vt:i4>36</vt:i4>
      </vt:variant>
      <vt:variant>
        <vt:lpstr>主题</vt:lpstr>
      </vt:variant>
      <vt:variant>
        <vt:i4>1</vt:i4>
      </vt:variant>
      <vt:variant>
        <vt:lpstr>幻灯片标题</vt:lpstr>
      </vt:variant>
      <vt:variant>
        <vt:i4>106</vt:i4>
      </vt:variant>
    </vt:vector>
  </HeadingPairs>
  <TitlesOfParts>
    <vt:vector size="143" baseType="lpstr">
      <vt:lpstr>Arial</vt:lpstr>
      <vt:lpstr>宋体</vt:lpstr>
      <vt:lpstr>Wingdings</vt:lpstr>
      <vt:lpstr>汉仪书宋二KW</vt:lpstr>
      <vt:lpstr>楷体_GB2312</vt:lpstr>
      <vt:lpstr>汉仪楷体简</vt:lpstr>
      <vt:lpstr>方正兰亭黑_GBK</vt:lpstr>
      <vt:lpstr>Times New Roman</vt:lpstr>
      <vt:lpstr>Calibri</vt:lpstr>
      <vt:lpstr>Helvetica Neue</vt:lpstr>
      <vt:lpstr>黑体</vt:lpstr>
      <vt:lpstr>汉仪中黑KW</vt:lpstr>
      <vt:lpstr>楷体</vt:lpstr>
      <vt:lpstr>汉仪楷体KW</vt:lpstr>
      <vt:lpstr>微软雅黑</vt:lpstr>
      <vt:lpstr>汉仪旗黑</vt:lpstr>
      <vt:lpstr>仿宋_GB2312</vt:lpstr>
      <vt:lpstr>宋体</vt:lpstr>
      <vt:lpstr>Arial Unicode MS</vt:lpstr>
      <vt:lpstr>等线</vt:lpstr>
      <vt:lpstr>汉仪中等线KW</vt:lpstr>
      <vt:lpstr>Cambria Math</vt:lpstr>
      <vt:lpstr>Inter</vt:lpstr>
      <vt:lpstr>Thonburi</vt:lpstr>
      <vt:lpstr>Book Antiqua</vt:lpstr>
      <vt:lpstr>方正仿宋_GBK</vt:lpstr>
      <vt:lpstr>Kingsoft Math</vt:lpstr>
      <vt:lpstr>Book Antiqua</vt:lpstr>
      <vt:lpstr>Inter</vt:lpstr>
      <vt:lpstr>Wingdings</vt:lpstr>
      <vt:lpstr>苹方-简</vt:lpstr>
      <vt:lpstr>DejaVu Math TeX Gyre</vt:lpstr>
      <vt:lpstr>BatangChe</vt:lpstr>
      <vt:lpstr>Apple SD Gothic Neo</vt:lpstr>
      <vt:lpstr>DejaVuMathTeXGyre</vt:lpstr>
      <vt:lpstr>宋体-简</vt:lpstr>
      <vt:lpstr>演示文稿2</vt:lpstr>
      <vt:lpstr>PowerPoint 演示文稿</vt:lpstr>
      <vt:lpstr>目  录</vt:lpstr>
      <vt:lpstr>PowerPoint 演示文稿</vt:lpstr>
      <vt:lpstr>PowerPoint 演示文稿</vt:lpstr>
      <vt:lpstr>自然语言处理</vt:lpstr>
      <vt:lpstr>自然语言处理</vt:lpstr>
      <vt:lpstr>自然语言处理</vt:lpstr>
      <vt:lpstr>自然语言处理</vt:lpstr>
      <vt:lpstr>自然语言处理</vt:lpstr>
      <vt:lpstr>自然语言处理</vt:lpstr>
      <vt:lpstr>自然语言处理</vt:lpstr>
      <vt:lpstr>自然语言处理</vt:lpstr>
      <vt:lpstr>1.1.1 什么是自然语言处理-概念</vt:lpstr>
      <vt:lpstr>PowerPoint 演示文稿</vt:lpstr>
      <vt:lpstr>机器翻译</vt:lpstr>
      <vt:lpstr>机器翻译</vt:lpstr>
      <vt:lpstr>文本分类和情感分析</vt:lpstr>
      <vt:lpstr>文本分类和情感分析</vt:lpstr>
      <vt:lpstr>信息抽取</vt:lpstr>
      <vt:lpstr>信息抽取</vt:lpstr>
      <vt:lpstr>信息抽取</vt:lpstr>
      <vt:lpstr>信息抽取</vt:lpstr>
      <vt:lpstr>信息抽取</vt:lpstr>
      <vt:lpstr>智能问答与聊天系统</vt:lpstr>
      <vt:lpstr>人工智能客服</vt:lpstr>
      <vt:lpstr>文本生成</vt:lpstr>
      <vt:lpstr>自动文本摘要和舆论分析</vt:lpstr>
      <vt:lpstr>自动文本摘要和舆论分析</vt:lpstr>
      <vt:lpstr>自动文本摘要和舆论分析</vt:lpstr>
      <vt:lpstr>信息检索</vt:lpstr>
      <vt:lpstr>信息检索</vt:lpstr>
      <vt:lpstr>信息检索</vt:lpstr>
      <vt:lpstr>推荐系统</vt:lpstr>
      <vt:lpstr>文本校对</vt:lpstr>
      <vt:lpstr>知识图谱</vt:lpstr>
      <vt:lpstr>知识图谱</vt:lpstr>
      <vt:lpstr>PowerPoint 演示文稿</vt:lpstr>
      <vt:lpstr>自然语言处理属于认知智能任务</vt:lpstr>
      <vt:lpstr>自然语言处理的难点与特点</vt:lpstr>
      <vt:lpstr>自然语言处理的难点与特点</vt:lpstr>
      <vt:lpstr>自然语言处理的难点与特点</vt:lpstr>
      <vt:lpstr>自然语言处理的难点与特点</vt:lpstr>
      <vt:lpstr>自然语言处理的难点与特点</vt:lpstr>
      <vt:lpstr>自然语言处理的难点与特点</vt:lpstr>
      <vt:lpstr>自然语言处理的难点与特点</vt:lpstr>
      <vt:lpstr>自然语言处理的难点与特点</vt:lpstr>
      <vt:lpstr>自然语言处理的难点与特点</vt:lpstr>
      <vt:lpstr>自然语言处理的难点与特点</vt:lpstr>
      <vt:lpstr>PowerPoint 演示文稿</vt:lpstr>
      <vt:lpstr>自然语言处理任务层级 </vt:lpstr>
      <vt:lpstr>语言模型</vt:lpstr>
      <vt:lpstr>语言模型</vt:lpstr>
      <vt:lpstr>语言模型</vt:lpstr>
      <vt:lpstr>语言模型</vt:lpstr>
      <vt:lpstr>中文分词</vt:lpstr>
      <vt:lpstr>子词切分</vt:lpstr>
      <vt:lpstr>句法分析</vt:lpstr>
      <vt:lpstr>语义分析</vt:lpstr>
      <vt:lpstr>信息抽取</vt:lpstr>
      <vt:lpstr>信息抽取</vt:lpstr>
      <vt:lpstr>情感分析</vt:lpstr>
      <vt:lpstr>问答系统</vt:lpstr>
      <vt:lpstr>问答系统</vt:lpstr>
      <vt:lpstr>更多任务</vt:lpstr>
      <vt:lpstr>归结为四个问题</vt:lpstr>
      <vt:lpstr>归结为四个问题</vt:lpstr>
      <vt:lpstr>归结为四个问题</vt:lpstr>
      <vt:lpstr>文本分类问题</vt:lpstr>
      <vt:lpstr>文本匹配问题</vt:lpstr>
      <vt:lpstr>结构预测问题</vt:lpstr>
      <vt:lpstr>序列到序列问题</vt:lpstr>
      <vt:lpstr>自然语言处理研究对象与层次</vt:lpstr>
      <vt:lpstr>自然语言处理研究对象与层次</vt:lpstr>
      <vt:lpstr>自然语言处理研究对象与层次</vt:lpstr>
      <vt:lpstr>“层次×任务”二维表 </vt:lpstr>
      <vt:lpstr>PowerPoint 演示文稿</vt:lpstr>
      <vt:lpstr>自然语言处理的发展历程</vt:lpstr>
      <vt:lpstr>自然语言处理的发展历程</vt:lpstr>
      <vt:lpstr>自然语言处理的发展历程</vt:lpstr>
      <vt:lpstr>PowerPoint 演示文稿</vt:lpstr>
      <vt:lpstr>自然语言处理的发展历程</vt:lpstr>
      <vt:lpstr>自然语言处理的发展历程</vt:lpstr>
      <vt:lpstr>自然语言处理的发展历程</vt:lpstr>
      <vt:lpstr>自然语言处理的发展历程</vt:lpstr>
      <vt:lpstr>自然语言处理的发展历程</vt:lpstr>
      <vt:lpstr>自然语言处理的发展历程</vt:lpstr>
      <vt:lpstr>自然语言处理的发展历程</vt:lpstr>
      <vt:lpstr>自然语言处理的发展历程</vt:lpstr>
      <vt:lpstr>自然语言处理的发展历程</vt:lpstr>
      <vt:lpstr>PowerPoint 演示文稿</vt:lpstr>
      <vt:lpstr>1.技术发展趋势</vt:lpstr>
      <vt:lpstr>1.技术发展趋势</vt:lpstr>
      <vt:lpstr>1.技术发展趋势</vt:lpstr>
      <vt:lpstr>1.技术发展趋势</vt:lpstr>
      <vt:lpstr>2.应用发展趋势</vt:lpstr>
      <vt:lpstr>2.应用发展趋势</vt:lpstr>
      <vt:lpstr>PowerPoint 演示文稿</vt:lpstr>
      <vt:lpstr>1.数学知识和技能要求</vt:lpstr>
      <vt:lpstr>2.计算机知识和技能要求</vt:lpstr>
      <vt:lpstr>3.人工智能知识和技能要求</vt:lpstr>
      <vt:lpstr>4.语言学知识和技能要求</vt:lpstr>
      <vt:lpstr>顶级国际学术会议</vt:lpstr>
      <vt:lpstr>顶级国际学术会议</vt:lpstr>
      <vt:lpstr>顶级国际学术会议</vt:lpstr>
      <vt:lpstr>顶级国际期刊</vt:lpstr>
      <vt:lpstr>PowerPoint 演示文稿</vt:lpstr>
    </vt:vector>
  </TitlesOfParts>
  <LinksUpToDate>false</LinksUpToDate>
  <SharedDoc>false</SharedDoc>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绿色多边形</dc:title>
  <dc:creator>第一PPT</dc:creator>
  <cp:keywords>www.1ppt.com</cp:keywords>
  <dc:description>www.1ppt.com</dc:description>
  <cp:lastModifiedBy>zyl(靓)</cp:lastModifiedBy>
  <cp:revision>277</cp:revision>
  <cp:lastPrinted>2026-03-04T13:39:09Z</cp:lastPrinted>
  <dcterms:created xsi:type="dcterms:W3CDTF">2026-03-04T13:39:09Z</dcterms:created>
  <dcterms:modified xsi:type="dcterms:W3CDTF">2026-03-04T13:39:09Z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ICV">
    <vt:lpwstr>144D8AC01CD948D591CEA5E9B27112F2</vt:lpwstr>
  </property>
  <property fmtid="{D5CDD505-2E9C-101B-9397-08002B2CF9AE}" pid="3" name="KSOProductBuildVer">
    <vt:lpwstr>2052-12.1.24031.24031</vt:lpwstr>
  </property>
  <property fmtid="{D5CDD505-2E9C-101B-9397-08002B2CF9AE}" pid="4" name="commondata">
    <vt:lpwstr>eyJoZGlkIjoiNDg1ZGZhM2IyYWRkMzA0MDQ5MWUwYzQwZDY5MmE4ZWEifQ==</vt:lpwstr>
  </property>
</Properties>
</file>